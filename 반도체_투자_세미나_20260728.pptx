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미국 Fed</c:v>
                </c:pt>
              </c:strCache>
            </c:strRef>
          </c:tx>
          <c:spPr>
            <a:solidFill>
              <a:srgbClr val="043B72"/>
            </a:solidFill>
            <a:ln w="31750" cap="flat">
              <a:solidFill>
                <a:srgbClr val="043B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43B72"/>
              </a:solidFill>
              <a:ln w="9525" cap="flat">
                <a:solidFill>
                  <a:srgbClr val="043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 상</c:v>
                  </c:pt>
                  <c:pt idx="2">
                    <c:v>2025 하</c:v>
                  </c:pt>
                  <c:pt idx="3">
                    <c:v>2026 상</c:v>
                  </c:pt>
                  <c:pt idx="4">
                    <c:v>현재(7월)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</c:v>
                </c:pt>
                <c:pt idx="1">
                  <c:v>4.6</c:v>
                </c:pt>
                <c:pt idx="2">
                  <c:v>4.1</c:v>
                </c:pt>
                <c:pt idx="3">
                  <c:v>3.9</c:v>
                </c:pt>
                <c:pt idx="4">
                  <c:v>3.6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한국 BOK</c:v>
                </c:pt>
              </c:strCache>
            </c:strRef>
          </c:tx>
          <c:spPr>
            <a:solidFill>
              <a:srgbClr val="F58220"/>
            </a:solidFill>
            <a:ln w="3175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 상</c:v>
                  </c:pt>
                  <c:pt idx="2">
                    <c:v>2025 하</c:v>
                  </c:pt>
                  <c:pt idx="3">
                    <c:v>2026 상</c:v>
                  </c:pt>
                  <c:pt idx="4">
                    <c:v>현재(7월)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3.25</c:v>
                </c:pt>
                <c:pt idx="1">
                  <c:v>3</c:v>
                </c:pt>
                <c:pt idx="2">
                  <c:v>2.75</c:v>
                </c:pt>
                <c:pt idx="3">
                  <c:v>2.5</c:v>
                </c:pt>
                <c:pt idx="4">
                  <c:v>2.75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유로존 ECB</c:v>
                </c:pt>
              </c:strCache>
            </c:strRef>
          </c:tx>
          <c:spPr>
            <a:solidFill>
              <a:srgbClr val="0086B8"/>
            </a:solidFill>
            <a:ln w="31750" cap="flat">
              <a:solidFill>
                <a:srgbClr val="0086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6B8"/>
              </a:solidFill>
              <a:ln w="9525" cap="flat">
                <a:solidFill>
                  <a:srgbClr val="0086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 상</c:v>
                  </c:pt>
                  <c:pt idx="2">
                    <c:v>2025 하</c:v>
                  </c:pt>
                  <c:pt idx="3">
                    <c:v>2026 상</c:v>
                  </c:pt>
                  <c:pt idx="4">
                    <c:v>현재(7월)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3.75</c:v>
                </c:pt>
                <c:pt idx="1">
                  <c:v>3</c:v>
                </c:pt>
                <c:pt idx="2">
                  <c:v>2.5</c:v>
                </c:pt>
                <c:pt idx="3">
                  <c:v>2.25</c:v>
                </c:pt>
                <c:pt idx="4">
                  <c:v>2.25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일본 BOJ</c:v>
                </c:pt>
              </c:strCache>
            </c:strRef>
          </c:tx>
          <c:spPr>
            <a:solidFill>
              <a:srgbClr val="CB6015"/>
            </a:solidFill>
            <a:ln w="31750" cap="flat">
              <a:solidFill>
                <a:srgbClr val="CB601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6015"/>
              </a:solidFill>
              <a:ln w="9525" cap="flat">
                <a:solidFill>
                  <a:srgbClr val="CB601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 상</c:v>
                  </c:pt>
                  <c:pt idx="2">
                    <c:v>2025 하</c:v>
                  </c:pt>
                  <c:pt idx="3">
                    <c:v>2026 상</c:v>
                  </c:pt>
                  <c:pt idx="4">
                    <c:v>현재(7월)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0.75</c:v>
                </c:pt>
                <c:pt idx="4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C6C6C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F58220">
                <a:alpha val="100000"/>
              </a:srgbClr>
            </a:solidFill>
            <a:effectLst/>
          </c:spPr>
          <c:invertIfNegative val="0"/>
          <c:dLbls>
            <c:numFmt formatCode="&quot;$&quot;#,##0&quot;B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6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AB07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알파벳(상향)</c:v>
                  </c:pt>
                  <c:pt idx="1">
                    <c:v>아마존</c:v>
                  </c:pt>
                  <c:pt idx="2">
                    <c:v>메타</c:v>
                  </c:pt>
                  <c:pt idx="3">
                    <c:v>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205</c:v>
                </c:pt>
                <c:pt idx="1">
                  <c:v>200</c:v>
                </c:pt>
                <c:pt idx="2">
                  <c:v>125</c:v>
                </c:pt>
                <c:pt idx="3">
                  <c:v>120</c:v>
                </c:pt>
              </c:numCache>
            </c:numRef>
          </c:val>
        </c:ser>
        <c:dLbls>
          <c:numFmt formatCode="&quot;$&quot;#,##0&quot;B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SK하이닉스</c:v>
                </c:pt>
              </c:strCache>
            </c:strRef>
          </c:tx>
          <c:spPr>
            <a:solidFill>
              <a:srgbClr val="F58220"/>
            </a:solidFill>
            <a:ln w="4445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58</c:v>
                </c:pt>
                <c:pt idx="2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삼성전자</c:v>
                </c:pt>
              </c:strCache>
            </c:strRef>
          </c:tx>
          <c:spPr>
            <a:solidFill>
              <a:srgbClr val="043B72"/>
            </a:solidFill>
            <a:ln w="44450" cap="flat">
              <a:solidFill>
                <a:srgbClr val="043B72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43B72"/>
              </a:solidFill>
              <a:ln w="9525" cap="flat">
                <a:solidFill>
                  <a:srgbClr val="043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</c:v>
                </c:pt>
                <c:pt idx="1">
                  <c:v>33</c:v>
                </c:pt>
                <c:pt idx="2">
                  <c:v>48</c:v>
                </c:pt>
              </c:numCache>
            </c:numRef>
          </c:val>
          <c:smooth val="0"/>
        </c:ser>
        <c:dLbls>
          <c:numFmt formatCode="#,##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C6C6C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</c:v>
                </c:pt>
              </c:strCache>
            </c:strRef>
          </c:tx>
          <c:spPr>
            <a:solidFill>
              <a:srgbClr val="F58220"/>
            </a:solidFill>
            <a:ln w="4445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CB6015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11</c:v>
                </c:pt>
              </c:numCache>
            </c:numRef>
          </c:val>
          <c:smooth val="0"/>
        </c:ser>
        <c:dLbls>
          <c:numFmt formatCode="#,##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CB6015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CB601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MIRAEASSET   ·   고객 세미나   |   2026. 7. 29 (수)   ·   미래에셋증권 마포WM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3504" y="160020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반도체, 조정 속에서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무엇을 볼 것인가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지난주 급락 → 7/27 반등  ·  이번 주 '실적 슈퍼위크'  ·  집중 분석 삼성전자·SK하이닉스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818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2Q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51960" y="470916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4818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삼성전자·아마존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63840" y="470916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4818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집중 분석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삼성·SK하이닉스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* 본 자료는 정보 제공 목적이며 특정 종목의 매매를 권유하지 않습니다. 투자에 대한 최종 판단과 책임은 투자자 본인에게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SNAPSHOT · 오늘의 시장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급락 후 반등, 이번 주가 분수령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최근 시황 (7/27 KRX 종가)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5694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181.6만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32688" y="3319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▲ 3.2%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242316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25694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25.4만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38728" y="3319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▲ 1.8%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지난주 -8%대 급락 후 반등  </a:t>
            </a:r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(한미 반도체 협력 $95B 기대)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단, 외국인 순매도 지속:  </a:t>
            </a:r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 -1.1조 · 삼성 -0.84조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043B72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이번 주 = 실적 슈퍼위크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28232" y="246888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24688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43800" y="24688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2Q — 역대 최대 전망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28232" y="3127248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31272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43800" y="31272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마이크로소프트 · 메타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28232" y="3785616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582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378561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7/30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43800" y="37856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삼성전자(부문 상세) · 아마존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28232" y="4526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미국은 이미 '실적'으로 수요 확인 → 국내는 이번 주 확인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5577840"/>
            <a:ext cx="11183112" cy="640080"/>
          </a:xfrm>
          <a:prstGeom prst="roundRect">
            <a:avLst>
              <a:gd name="adj" fmla="val 5714"/>
            </a:avLst>
          </a:prstGeom>
          <a:solidFill>
            <a:srgbClr val="F58220">
              <a:alpha val="12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오늘의 질문: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떨어지는 주가가 '수요 둔화'의 신호일까, 아니면 '차익실현'일 뿐일까?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KRX 종가(2026.07.27), 공감신문·싱글리스트·뉴스핌 (2026.07). 일정은 보도 기준.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MACRO · 거시 배경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주요국 금리 추이: '인하'에서 '인상·동결'로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1264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7424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단위: 정책금리 %  ·  미국은 목표범위 중값 기준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675120" y="1691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정책 vs 시장금리 (2026.7)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0" y="2066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국가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92440" y="2066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정책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89720" y="20665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단기*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332720" y="2066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장기(10Y)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675120" y="2377440"/>
            <a:ext cx="5010912" cy="566928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23774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한국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92440" y="23774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2.75%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89720" y="237744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3.76%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332720" y="23774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4.40%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3017520"/>
            <a:ext cx="501091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30175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미국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92440" y="30175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3.63%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89720" y="30175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4.33%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332720" y="30175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4.69%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675120" y="3657600"/>
            <a:ext cx="5010912" cy="566928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36576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유로존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92440" y="36576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2.25%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89720" y="365760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2.88%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332720" y="36576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2.95%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675120" y="4297680"/>
            <a:ext cx="501091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0" y="429768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일본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092440" y="42976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1.00%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189720" y="42976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1.5%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332720" y="429768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2.78%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675120" y="5029200"/>
            <a:ext cx="5010912" cy="960120"/>
          </a:xfrm>
          <a:prstGeom prst="roundRect">
            <a:avLst>
              <a:gd name="adj" fmla="val 4762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0" y="5120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장기 &gt; 단기 &gt; 정책금리 = 우상향 곡선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858000" y="54132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시장은 '고금리 장기화'를 반영.  금리↑ → 성장주 할인율↑(역풍).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각국 중앙은행(정책), TradingEconomics·Investing·Advisor Perspectives(국채), 2026.07.  *단기=한국 3년·그 외 2년물, 일부 근사.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쉽게 이해하기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30초 용어 정리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 자주 나올 5개 단어 — 이것만 알면 충분합니다.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350008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반도체용 초고속 메모리. AI 연산의 '병목'을 뚫는 핵심 부품 — SK·삼성의 주력.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214884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350008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043B72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(설비투자)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56832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빅테크가 데이터센터·AI칩에 쏟는 돈. 많을수록 메모리 수요가 늘어난다.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630168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0086B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593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하이퍼스케일러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구글·MS·아마존·메타 등 초대형 클라우드 기업. AI 투자의 '큰손'.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342900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630168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CB6015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3593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파운드리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56832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 위탁생산. 삼성·TSMC·인텔이 경쟁하는 시장.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70916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4910328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873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차세대(6세대) HBM. 2026년 삼성·SK 경쟁의 핵심 승부처.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99632" y="470916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846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 줄 요약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5166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"AI가 커질수록 HBM이 더 필요하고, 그 중심에 삼성·SK하이닉스가 있다."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01 · 왜 흔들렸나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방아쇠: 키미 K3와 'AI 효율화' 공포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043B7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키미 K3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2.8조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파라미터 — 중국 문샷 AI, 7/16 공개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오픈웨이트 최대 규모·저비용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→ '제2의 딥시크' 해석, 반도체주 동반 급락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920240"/>
            <a:ext cx="5742432" cy="3931920"/>
          </a:xfrm>
          <a:prstGeom prst="roundRect">
            <a:avLst>
              <a:gd name="adj" fmla="val 1395"/>
            </a:avLst>
          </a:prstGeom>
          <a:solidFill>
            <a:srgbClr val="ECEFF4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시장의 공포 (쉽게 말하면)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"AI를 더 싸게 만들 수 있다면,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비싼 AI칩·HBM은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덜 팔리는 것 아닌가?"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6217920" y="4892040"/>
            <a:ext cx="5193792" cy="777240"/>
          </a:xfrm>
          <a:prstGeom prst="roundRect">
            <a:avLst>
              <a:gd name="adj" fmla="val 5882"/>
            </a:avLst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489204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정말 그럴까? → 다음 3장에서 반박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Bloomberg, Fortune, 첨부 K-Freedom Insights (2026.07).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진짜 수요가 줄까?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반박 ① 효율화 ≠ 수요 감소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1.5TB+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K3 가중치용 HBM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88536" y="18288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64칩+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2856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슈퍼노드 클러스터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74152" y="18288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KV Cache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8472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메모리 계층 확대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역설: 초대형 K3는 오히려 메모리를 '더' 요구한다  (Bloomberg: "more about memory than compute")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11183112" cy="1874520"/>
          </a:xfrm>
          <a:prstGeom prst="roundRect">
            <a:avLst>
              <a:gd name="adj" fmla="val 2927"/>
            </a:avLst>
          </a:prstGeom>
          <a:solidFill>
            <a:srgbClr val="F58220">
              <a:alpha val="10000"/>
            </a:srgbClr>
          </a:solidFill>
          <a:ln w="15875">
            <a:solidFill>
              <a:srgbClr val="F58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제본스의 역설  —  쉽게 말하면 '싸지면 더 많이 쓴다'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비용 </a:t>
            </a:r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1/10</a:t>
            </a:r>
            <a:pPr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×  사용량 </a:t>
            </a:r>
            <a:pPr indent="0" marL="0">
              <a:buNone/>
            </a:pPr>
            <a:r>
              <a:rPr lang="en-US" sz="26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20배</a:t>
            </a:r>
            <a:pPr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=   총 수요 </a:t>
            </a:r>
            <a:pPr indent="0" marL="0">
              <a:buNone/>
            </a:pPr>
            <a:r>
              <a:rPr lang="en-US" sz="26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2배 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효율화는 수요의 '천장'이 아니라 '확산의 사다리'.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Bloomberg (2026.07.20), 첨부 K-Freedom Insights.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오히려 커진다 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반박 ② 로봇·피지컬 AI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ECEF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휴머노이드 1대 =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10배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평균 차량 대비 메모리 탑재량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(마이크론 CEO)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4663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5720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1억 대 × 300GB = 30EB</a:t>
            </a:r>
            <a:endParaRPr lang="en-US" sz="15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 글로벌 DRAM 생산능력의 약 75%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한국이 서 있는 자리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5742432" cy="868680"/>
          </a:xfrm>
          <a:prstGeom prst="roundRect">
            <a:avLst>
              <a:gd name="adj" fmla="val 5263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2532888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4048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743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학습 '디지털 트윈' 플랫폼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246120"/>
            <a:ext cx="5742432" cy="868680"/>
          </a:xfrm>
          <a:prstGeom prst="roundRect">
            <a:avLst>
              <a:gd name="adj" fmla="val 5263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3493008"/>
            <a:ext cx="384048" cy="384048"/>
          </a:xfrm>
          <a:prstGeom prst="ellipse">
            <a:avLst/>
          </a:prstGeom>
          <a:solidFill>
            <a:srgbClr val="043B72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3649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3703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레인보우로보틱스·공장 무인화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4206240"/>
            <a:ext cx="5742432" cy="868680"/>
          </a:xfrm>
          <a:prstGeom prst="roundRect">
            <a:avLst>
              <a:gd name="adj" fmla="val 5263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4453128"/>
            <a:ext cx="384048" cy="384048"/>
          </a:xfrm>
          <a:prstGeom prst="ellipse">
            <a:avLst/>
          </a:prstGeom>
          <a:solidFill>
            <a:srgbClr val="0086B8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4663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iHBM(내장 냉각)으로 발열 해법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5193792"/>
            <a:ext cx="5742432" cy="658368"/>
          </a:xfrm>
          <a:prstGeom prst="roundRect">
            <a:avLst>
              <a:gd name="adj" fmla="val 6944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51937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휴머노이드 시장  </a:t>
            </a:r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$5.4B → $50B+ </a:t>
            </a:r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(2026→2035)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Micron 실적 콜, MarketsandMarkets, 한국기계연구원 (2025~2026).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오히려 커진다 ②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반박 ③ 빅테크 Capex는 가속 중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2026E 합산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$725B+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전년비 </a:t>
            </a:r>
            <a:pPr indent="0" marL="0">
              <a:buNone/>
            </a:pPr>
            <a:r>
              <a:rPr lang="en-US" sz="18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+77%↑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4023360"/>
            <a:ext cx="4206240" cy="1783080"/>
          </a:xfrm>
          <a:prstGeom prst="roundRect">
            <a:avLst>
              <a:gd name="adj" fmla="val 2564"/>
            </a:avLst>
          </a:prstGeom>
          <a:solidFill>
            <a:srgbClr val="ECEFF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알파벳이 준 신호 (7/22 발표)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Capex $190B→$205B 상향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클라우드 +82% · 분기 Capex $44.9B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→ 데이터센터 수요는 '가속'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기업별 2026E AI Capex (십억 달러)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92040" y="224028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CNBC, Seeking Alpha, Futurum (2026.07). 알파벳은 상향 가이던스 상단.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실적이 답한다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실적 슈퍼위크: 발표된 실적이 말한다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①  이미 발표 — '실적'이 확인한 AI 수요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3630168" cy="1298448"/>
          </a:xfrm>
          <a:prstGeom prst="roundRect">
            <a:avLst>
              <a:gd name="adj" fmla="val 3521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38528"/>
            <a:ext cx="109728" cy="1298448"/>
          </a:xfrm>
          <a:prstGeom prst="roundRect">
            <a:avLst>
              <a:gd name="adj" fmla="val 16667"/>
            </a:avLst>
          </a:prstGeom>
          <a:solidFill>
            <a:srgbClr val="2E854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84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TSMC   </a:t>
            </a:r>
            <a:pPr indent="0" marL="0">
              <a:buNone/>
            </a:pPr>
            <a:r>
              <a:rPr lang="en-US" sz="11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✓ 7/16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505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순이익 +77% · AI칩 수요 '극도로 견조'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8712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애리조나 +$100B 증설 발표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9392" y="1938528"/>
            <a:ext cx="3630168" cy="1298448"/>
          </a:xfrm>
          <a:prstGeom prst="roundRect">
            <a:avLst>
              <a:gd name="adj" fmla="val 3521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1938528"/>
            <a:ext cx="109728" cy="1298448"/>
          </a:xfrm>
          <a:prstGeom prst="roundRect">
            <a:avLst>
              <a:gd name="adj" fmla="val 16667"/>
            </a:avLst>
          </a:prstGeom>
          <a:solidFill>
            <a:srgbClr val="043B72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2084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   </a:t>
            </a:r>
            <a:pPr indent="0" marL="0">
              <a:buNone/>
            </a:pPr>
            <a:r>
              <a:rPr lang="en-US" sz="11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✓ 7/22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53712" y="2505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클라우드 +82% ($24.8B)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53712" y="28712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Capex $205B로 상향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55864" y="1938528"/>
            <a:ext cx="3630168" cy="1298448"/>
          </a:xfrm>
          <a:prstGeom prst="roundRect">
            <a:avLst>
              <a:gd name="adj" fmla="val 3521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55864" y="1938528"/>
            <a:ext cx="109728" cy="1298448"/>
          </a:xfrm>
          <a:prstGeom prst="roundRect">
            <a:avLst>
              <a:gd name="adj" fmla="val 16667"/>
            </a:avLst>
          </a:prstGeom>
          <a:solidFill>
            <a:srgbClr val="0086B8"/>
          </a:solidFill>
          <a:ln/>
        </p:spPr>
      </p:sp>
      <p:sp>
        <p:nvSpPr>
          <p:cNvPr id="18" name="Text 16"/>
          <p:cNvSpPr/>
          <p:nvPr/>
        </p:nvSpPr>
        <p:spPr>
          <a:xfrm>
            <a:off x="8330184" y="2084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인텔   </a:t>
            </a:r>
            <a:pPr indent="0" marL="0">
              <a:buNone/>
            </a:pPr>
            <a:r>
              <a:rPr lang="en-US" sz="11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✓ 7/23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30184" y="2505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데이터센터·AI 매출 +22%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30184" y="28712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 개선 속 수요 증가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②  이번 주 발표 — 이제 국내 차례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3694176"/>
            <a:ext cx="11183112" cy="1481328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 w="15875">
            <a:solidFill>
              <a:srgbClr val="F58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0390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2Q 컨센서스</a:t>
            </a:r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— 7/29 발표, 분기 사상 최대 전망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4206240"/>
            <a:ext cx="2615184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279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" y="4535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84조</a:t>
            </a:r>
            <a:endParaRPr lang="en-US" sz="2500" dirty="0"/>
          </a:p>
        </p:txBody>
      </p:sp>
      <p:sp>
        <p:nvSpPr>
          <p:cNvPr id="27" name="Shape 25"/>
          <p:cNvSpPr/>
          <p:nvPr/>
        </p:nvSpPr>
        <p:spPr>
          <a:xfrm>
            <a:off x="3511296" y="4206240"/>
            <a:ext cx="2615184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4279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영업이익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4535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64조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6245352" y="4206240"/>
            <a:ext cx="2615184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4279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영업이익률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91656" y="4535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76%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8979408" y="4206240"/>
            <a:ext cx="2615184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4279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상반기 누적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25712" y="4535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≈100조</a:t>
            </a:r>
            <a:endParaRPr lang="en-US" sz="2500" dirty="0"/>
          </a:p>
        </p:txBody>
      </p:sp>
      <p:sp>
        <p:nvSpPr>
          <p:cNvPr id="36" name="Shape 34"/>
          <p:cNvSpPr/>
          <p:nvPr/>
        </p:nvSpPr>
        <p:spPr>
          <a:xfrm>
            <a:off x="502920" y="5303520"/>
            <a:ext cx="11183112" cy="749808"/>
          </a:xfrm>
          <a:prstGeom prst="roundRect">
            <a:avLst>
              <a:gd name="adj" fmla="val 6098"/>
            </a:avLst>
          </a:prstGeom>
          <a:solidFill>
            <a:srgbClr val="043B72">
              <a:alpha val="8000"/>
            </a:srgbClr>
          </a:solidFill>
          <a:ln w="12700">
            <a:solidFill>
              <a:srgbClr val="043B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30352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 7/30:  </a:t>
            </a:r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부문별 세부 실적·하반기 전망 공개. 메모리 초호황의 '영업 레버리지' 수혜 폭이 관건.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CNBC·Investing·헤럴드경제·파이낸셜뉴스 (2026.07).  ①은 발표치, ②는 컨센서스(시장 추정)로 발표로 확인 필요.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전문가 시각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IB는 상향, 국내는 엇갈림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4069080"/>
          </a:xfrm>
          <a:prstGeom prst="roundRect">
            <a:avLst>
              <a:gd name="adj" fmla="val 1348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외국계 IB — 모건스탠리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가격 전망 상향 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 DRAM 3~8% → 15~20%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01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89%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0" y="31089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이익추정 상향 폭이 역사적 고점 수준 — '단기 정점' 경고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사이클의 모양: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'V자'가 아니라 완만한 점진적 회복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48640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증권사 — 크게 엇갈림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8232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목표주가 (현재가 181.6만, 7/27)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28232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BNK (HOLD)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0" y="2779776"/>
            <a:ext cx="924501" cy="274320"/>
          </a:xfrm>
          <a:prstGeom prst="roundRect">
            <a:avLst>
              <a:gd name="adj" fmla="val 6667"/>
            </a:avLst>
          </a:prstGeom>
          <a:solidFill>
            <a:srgbClr val="6C6C6C"/>
          </a:solidFill>
          <a:ln/>
        </p:spPr>
      </p:sp>
      <p:sp>
        <p:nvSpPr>
          <p:cNvPr id="17" name="Text 15"/>
          <p:cNvSpPr/>
          <p:nvPr/>
        </p:nvSpPr>
        <p:spPr>
          <a:xfrm>
            <a:off x="9382701" y="2743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185만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28232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미래에셋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0" y="3236976"/>
            <a:ext cx="1349272" cy="274320"/>
          </a:xfrm>
          <a:prstGeom prst="roundRect">
            <a:avLst>
              <a:gd name="adj" fmla="val 6667"/>
            </a:avLst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9807472" y="32004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270만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28232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12M 평균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12480" y="3694176"/>
            <a:ext cx="1584145" cy="274320"/>
          </a:xfrm>
          <a:prstGeom prst="roundRect">
            <a:avLst>
              <a:gd name="adj" fmla="val 6667"/>
            </a:avLst>
          </a:prstGeom>
          <a:solidFill>
            <a:srgbClr val="043B7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42345" y="36576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317만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28232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SK증권(고점)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0" y="4151376"/>
            <a:ext cx="2148840" cy="274320"/>
          </a:xfrm>
          <a:prstGeom prst="roundRect">
            <a:avLst>
              <a:gd name="adj" fmla="val 6667"/>
            </a:avLst>
          </a:prstGeom>
          <a:solidFill>
            <a:srgbClr val="CB6015"/>
          </a:solidFill>
          <a:ln/>
        </p:spPr>
      </p:sp>
      <p:sp>
        <p:nvSpPr>
          <p:cNvPr id="26" name="Text 24"/>
          <p:cNvSpPr/>
          <p:nvPr/>
        </p:nvSpPr>
        <p:spPr>
          <a:xfrm>
            <a:off x="10607040" y="41148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430만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28232" y="4709160"/>
            <a:ext cx="5029200" cy="960120"/>
          </a:xfrm>
          <a:prstGeom prst="roundRect">
            <a:avLst>
              <a:gd name="adj" fmla="val 4762"/>
            </a:avLst>
          </a:prstGeom>
          <a:solidFill>
            <a:srgbClr val="ECEFF4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47091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약세론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AI 투자 속도조절 우려  ·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강세론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씨티 등 2026 이익추정 상향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Morgan Stanley, BNK투자·씨티·미래에셋 리서치, 뉴시스 (2026.07). 목표가는 시점별 제시치.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판이 바뀐다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전장: 독주에서 양강으로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수렴 전망 (UBS)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5760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623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UBS: "2027년 삼성이 SK와 대등한 HBM 점유율"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핵심 이벤트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84848" y="2450592"/>
            <a:ext cx="32004" cy="3017520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331720"/>
            <a:ext cx="329184" cy="329184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78040" y="2267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78040" y="2587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세계 최초 HBM4 양산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29400" y="3127248"/>
            <a:ext cx="329184" cy="329184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780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베라루빈 '최초 공급자' (3년 만)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29400" y="3922776"/>
            <a:ext cx="329184" cy="329184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78040" y="3858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+4개월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7804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HBM4 매출 $10억 돌파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29400" y="4718304"/>
            <a:ext cx="329184" cy="329184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78040" y="46542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방어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78040" y="4974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SK, 엔비디아 물량 약 2/3 유지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파이낸셜뉴스, DigiTimes, TrendForce, UBS (2025~2026). 전망치는 IB 추정.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DEEP DIVE · 집중 분석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집중 분석: SK하이닉스 vs 삼성전자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864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슈퍼사이클 선두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2514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58952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1위 · DRAM 글로벌 1위(34.8%)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666744"/>
            <a:ext cx="137160" cy="13716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5753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 HBM4 물량 약 2/3 확보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123944"/>
            <a:ext cx="137160" cy="13716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0325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2Q 역대 최대·이익률 76% 전망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5029200"/>
            <a:ext cx="4937760" cy="457200"/>
          </a:xfrm>
          <a:prstGeom prst="roundRect">
            <a:avLst>
              <a:gd name="adj" fmla="val 8000"/>
            </a:avLst>
          </a:prstGeom>
          <a:solidFill>
            <a:srgbClr val="ECEFF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29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촉발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실적·HBM4 ASP·iHBM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559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밸류에이션·목표가 괴리(185~430만)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1737360"/>
            <a:ext cx="54864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9050">
            <a:solidFill>
              <a:srgbClr val="043B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73736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043B72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반격 · 파운드리 · 로봇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55664" y="2514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55664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17% · DRAM 2위(34%)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73952" y="3666744"/>
            <a:ext cx="137160" cy="137160"/>
          </a:xfrm>
          <a:prstGeom prst="ellipse">
            <a:avLst/>
          </a:prstGeom>
          <a:solidFill>
            <a:srgbClr val="043B72"/>
          </a:solidFill>
          <a:ln/>
        </p:spPr>
      </p:sp>
      <p:sp>
        <p:nvSpPr>
          <p:cNvPr id="23" name="Text 21"/>
          <p:cNvSpPr/>
          <p:nvPr/>
        </p:nvSpPr>
        <p:spPr>
          <a:xfrm>
            <a:off x="6748272" y="35753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세계 최초 양산·엔비디아 첫 공급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73952" y="4123944"/>
            <a:ext cx="137160" cy="137160"/>
          </a:xfrm>
          <a:prstGeom prst="ellipse">
            <a:avLst/>
          </a:prstGeom>
          <a:solidFill>
            <a:srgbClr val="043B72"/>
          </a:solidFill>
          <a:ln/>
        </p:spPr>
      </p:sp>
      <p:sp>
        <p:nvSpPr>
          <p:cNvPr id="25" name="Text 23"/>
          <p:cNvSpPr/>
          <p:nvPr/>
        </p:nvSpPr>
        <p:spPr>
          <a:xfrm>
            <a:off x="6748272" y="40325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파운드리 18A 수율 65→85%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73952" y="5029200"/>
            <a:ext cx="4937760" cy="457200"/>
          </a:xfrm>
          <a:prstGeom prst="roundRect">
            <a:avLst>
              <a:gd name="adj" fmla="val 8000"/>
            </a:avLst>
          </a:prstGeom>
          <a:solidFill>
            <a:srgbClr val="ECEFF4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5029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촉발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회복(2027 수렴)·파운드리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73952" y="5559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열위·파운드리 수익성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IDC·UBS·TrendForce·파이낸셜뉴스 (2025~2026). 본 비교는 산업 이해를 위한 예시이며 매수·매도 권유가 아님.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조심할 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리스크: 중국 CXMT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CXMT 글로벌 DRAM 점유율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5321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1Q26 8% (1Q25 3%)  ·  월 생산 35~40만장  ·  10년 만에 글로벌 4위권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08192" y="1874520"/>
            <a:ext cx="5577840" cy="1874520"/>
          </a:xfrm>
          <a:prstGeom prst="roundRect">
            <a:avLst>
              <a:gd name="adj" fmla="val 2927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— 최근 공세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36792" y="2395728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DDR4·DDR5 반값 공급 + 6.5조원 증설로 레거시 D램 가격 압박. 점유율 3%→8%(1Q26) 급등, 상하이 IPO 추진.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08192" y="3931920"/>
            <a:ext cx="55778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9050">
            <a:solidFill>
              <a:srgbClr val="043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4041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완충 (쉽게 말하면 '급은 다르다')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36792" y="4425696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HBM은 2026 허베이 팹서 양산 '시도' 시작 — 그러나 HBM4·고부가 격차는 여전. 증설분 상당수는 중국 내수로 소화.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Counterpoint, 뉴스핌, 헤럴드경제, SemiAnalysis, DigiTimes (2026.07).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투자 심리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쉽게 보는 PER vs PBR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F58220">
              <a:alpha val="10000"/>
            </a:srgbClr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사는 사람 = PER로 본다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"이익이 계속 는다"에 주목 — HBM4·서버 DRAM 이익 레벨업, 사이클 상승 지속.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9632" y="192024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043B72">
              <a:alpha val="10000"/>
            </a:srgbClr>
          </a:solidFill>
          <a:ln w="19050">
            <a:solidFill>
              <a:srgbClr val="04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파는 사람 = PBR로 본다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73952" y="2697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"곧 정점이다"에 주목 — 자산가치·사이클 고점 부담, 다운사이클 재현 우려.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4663440"/>
            <a:ext cx="11183112" cy="1234440"/>
          </a:xfrm>
          <a:prstGeom prst="roundRect">
            <a:avLst>
              <a:gd name="adj" fmla="val 4444"/>
            </a:avLst>
          </a:prstGeom>
          <a:solidFill>
            <a:srgbClr val="ECEF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280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수급 경고 — 레버리지 ETF의 '변동성 감가'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5230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오를 때 더 사고 내릴 때 더 파는 구조 → 변동성을 키운다. 한 종목에 쏠렸다면 두 시각을 함께 볼 것.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'PER과 심리학', '레버리지 ETF 변동성 감가'.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투자 기준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무엇에 집중할까: 통제의 경계선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3977640"/>
          </a:xfrm>
          <a:prstGeom prst="roundRect">
            <a:avLst>
              <a:gd name="adj" fmla="val 137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✕  통제 불가 (예측 말 것)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데이터센터 증설 속도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401568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015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메모리 가격 사이클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151376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5137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효율화·단기 수요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901184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90118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매크로·환율·지정학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9632" y="1874520"/>
            <a:ext cx="54864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22225">
            <a:solidFill>
              <a:srgbClr val="F58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✓  통제 가능 (여기에 집중)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73952" y="2651760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702552" y="26517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더 낮은 전력·더 높은 성능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73952" y="3401568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702552" y="34015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높은 수율의 공정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73952" y="4151376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02552" y="415137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패키징 장비·소재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73952" y="4901184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490118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효율적 설계 소프트웨어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'투자 기준의 재점검' 재구성.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9601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사이클이 아니라 '기술의 방향'을 보라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같은 전력, 더 빠르게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전력 효율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787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전기·비용 절감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35624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364224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미세화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4224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더 잘 만드는 공정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51976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80576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9" name="Text 17"/>
          <p:cNvSpPr/>
          <p:nvPr/>
        </p:nvSpPr>
        <p:spPr>
          <a:xfrm>
            <a:off x="9180576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패키징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80576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칩을 쌓는 기술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11183112" cy="1874520"/>
          </a:xfrm>
          <a:prstGeom prst="roundRect">
            <a:avLst>
              <a:gd name="adj" fmla="val 2927"/>
            </a:avLst>
          </a:prstGeom>
          <a:solidFill>
            <a:srgbClr val="0A4E8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이번 주 체크리스트 (7/29~7/30)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7/29 실적·HBM4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7/30 부문 실적·전망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MS·메타·아마존 Capex 유지?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메모리 수요 언급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 사이클은 변해도, 기술 로드맵의 방향은 쉽게 바뀌지 않는다.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FC3D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반도체 산업 이해를 돕기 위한 교육·세미나용 자료이며, 특정 종목의 매수·매도 권유가 아닙니다. 언급된 기업은 예시이며 투자판단·손익의 책임은 투자자 본인에게 있습니다.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2026-07-28T00:36:19Z</dcterms:created>
  <dcterms:modified xsi:type="dcterms:W3CDTF">2026-07-28T00:36:19Z</dcterms:modified>
</cp:coreProperties>
</file>