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15968"/>
            <a:ext cx="4023360" cy="4114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B9C6DC"/>
                </a:solidFill>
                <a:latin typeface="맑은 고딕"/>
                <a:ea typeface="맑은 고딕"/>
              </a:rPr>
              <a:t>미래에셋증권  |  DC · IRP 투자가이드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맑은 고딕"/>
                <a:ea typeface="맑은 고딕"/>
              </a:rPr>
              <a:t>DC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4612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2B68A"/>
                </a:solidFill>
                <a:latin typeface="맑은 고딕"/>
                <a:ea typeface="맑은 고딕"/>
              </a:rPr>
              <a:t>IRP 위험자산 비중별 포트폴리오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D7DFEC"/>
                </a:solidFill>
                <a:latin typeface="맑은 고딕"/>
                <a:ea typeface="맑은 고딕"/>
              </a:rPr>
              <a:t>위험자산 30% · 50% · 70%   |   ETF + 원리금보장 예금 2종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0644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2026년 7월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598932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50" b="0">
                <a:solidFill>
                  <a:srgbClr val="9FB0CB"/>
                </a:solidFill>
                <a:latin typeface="맑은 고딕"/>
                <a:ea typeface="맑은 고딕"/>
              </a:rPr>
              <a:t>기준일 2026.06.25  ·  금리적용기간 2026.7.1~7.31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2296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IRP 포트폴리오 제안  ·  안정추구형</a:t>
            </a:r>
          </a:p>
          <a:p>
            <a:pPr algn="l"/>
            <a:r>
              <a:rPr sz="1200" b="0">
                <a:solidFill>
                  <a:srgbClr val="BBC8DD"/>
                </a:solidFill>
                <a:latin typeface="맑은 고딕"/>
                <a:ea typeface="맑은 고딕"/>
              </a:rPr>
              <a:t>ETF + 원리금보장 예금 2종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146304"/>
            <a:ext cx="2331720" cy="658368"/>
          </a:xfrm>
          <a:prstGeom prst="round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146304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위험자산 비중  </a:t>
            </a: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30%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7635239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/>
                <a:gridCol w="3977639"/>
                <a:gridCol w="1051560"/>
                <a:gridCol w="658368"/>
                <a:gridCol w="658368"/>
                <a:gridCol w="63093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상품명 / 투자전략 · 특징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합성총보수(연,%)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금리(연,%,세전)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미국필라델피아반도체나스닥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글로벌AI액티브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코리아TOP10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시총 상위 10종목 · 메모리 부족·CAPEX 확산의 한국 반도체 수혜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CD금리플러스액티브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91일물 CD금리 추종 파킹형 · 시장 변동성 확대 대비 유동성 확보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99A06"/>
                          </a:solidFill>
                          <a:latin typeface="맑은 고딕"/>
                          <a:ea typeface="맑은 고딕"/>
                        </a:rPr>
                        <a:t>보통위험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0.03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예금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</a:rPr>
                        <a:t>한국증권금융 정기예금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원리금보장 · 예금자보호(1인 1억원) · AAA 최고 신용등급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위험자산 변동성에 대한 안전판(확정금리) 역할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매우낮은위험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70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3.70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79008"/>
            <a:ext cx="7635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A6372"/>
                </a:solidFill>
                <a:latin typeface="맑은 고딕"/>
                <a:ea typeface="맑은 고딕"/>
              </a:rPr>
              <a:t>※ 합성총보수는 연 % · ETF는 실적배당(원금 손실 가능) · 예금은 1년만기 세전 금리 · 기준일 2026.06.25(출처: KG제로인) · 금리적용기간 2026.7.1~7.31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456432" cy="51206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0" y="1417320"/>
          <a:ext cx="3182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8439912" y="3291840"/>
            <a:ext cx="82296" cy="256032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3273552"/>
            <a:ext cx="29992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42A4C"/>
                </a:solidFill>
                <a:latin typeface="맑은 고딕"/>
                <a:ea typeface="맑은 고딕"/>
              </a:rPr>
              <a:t>투자 포인트 (2026.07 시황)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602736"/>
            <a:ext cx="3072384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원금 안정성을 최우선. 안전자산(예금)으로 확정금리를 확보하고, 위험자산은 AI·반도체 핵심에 집중하되 파킹형으로 변동성을 완충합니다.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AI·반도체 이익전망 상향 지속 → 미국 반도체·글로벌 AI 코어 편입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금(金)은 조정국면·적극배분 시점 아님 →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5212079"/>
            <a:ext cx="31272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285231"/>
            <a:ext cx="290779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42A4C"/>
                </a:solidFill>
                <a:latin typeface="맑은 고딕"/>
                <a:ea typeface="맑은 고딕"/>
              </a:rPr>
              <a:t>포트폴리오 요약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 확정금리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연 3.70%</a:t>
            </a:r>
            <a:r>
              <a:rPr sz="800" b="0">
                <a:solidFill>
                  <a:srgbClr val="5A6372"/>
                </a:solidFill>
                <a:latin typeface="맑은 고딕"/>
                <a:ea typeface="맑은 고딕"/>
              </a:rPr>
              <a:t>  (세전)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ETF 블렌디드 보수  </a:t>
            </a:r>
            <a:r>
              <a:rPr sz="1000" b="1">
                <a:solidFill>
                  <a:srgbClr val="F26A1B"/>
                </a:solidFill>
                <a:latin typeface="맑은 고딕"/>
                <a:ea typeface="맑은 고딕"/>
              </a:rPr>
              <a:t>연 0.14%</a:t>
            </a:r>
          </a:p>
          <a:p>
            <a:pPr algn="l"/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예금자보호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1인 1억원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780" b="0">
                <a:solidFill>
                  <a:srgbClr val="C3CEE0"/>
                </a:solidFill>
                <a:latin typeface="맑은 고딕"/>
                <a:ea typeface="맑은 고딕"/>
              </a:rPr>
              <a:t>본 자료는 청약의 권유를 목적으로 하지 않으며 정보 제공용입니다. ETF는 원금 손실이 발생할 수 있고 그 책임은 투자자에게 귀속됩니다. 퇴직연금 위험자산은 최대 70%까지 편입 가능합니다.  |  미래에셋증권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2296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IRP 포트폴리오 제안  ·  위험중립형</a:t>
            </a:r>
          </a:p>
          <a:p>
            <a:pPr algn="l"/>
            <a:r>
              <a:rPr sz="1200" b="0">
                <a:solidFill>
                  <a:srgbClr val="BBC8DD"/>
                </a:solidFill>
                <a:latin typeface="맑은 고딕"/>
                <a:ea typeface="맑은 고딕"/>
              </a:rPr>
              <a:t>ETF + 원리금보장 예금 2종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146304"/>
            <a:ext cx="2331720" cy="658368"/>
          </a:xfrm>
          <a:prstGeom prst="round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146304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위험자산 비중  </a:t>
            </a: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50%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7635239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/>
                <a:gridCol w="3977639"/>
                <a:gridCol w="1051560"/>
                <a:gridCol w="658368"/>
                <a:gridCol w="658368"/>
                <a:gridCol w="63093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상품명 / 투자전략 · 특징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합성총보수(연,%)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금리(연,%,세전)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미국필라델피아반도체나스닥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글로벌AI액티브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코리아TOP10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시총 상위 10종목 · 메모리 부족·CAPEX 확산의 한국 반도체 수혜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미국우주테크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Space X 25% 편입 · 미국 우주테크 밸류체인 10종목 (성장 위성)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0.49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CD금리플러스액티브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91일물 CD금리 추종 파킹형 · 시장 변동성 확대 대비 유동성 확보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99A06"/>
                          </a:solidFill>
                          <a:latin typeface="맑은 고딕"/>
                          <a:ea typeface="맑은 고딕"/>
                        </a:rPr>
                        <a:t>보통위험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0.03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예금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</a:rPr>
                        <a:t>한국증권금융 정기예금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원리금보장 · 예금자보호(1인 1억원) · AAA 최고 신용등급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위험자산 변동성에 대한 안전판(확정금리) 역할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매우낮은위험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50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3.70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79008"/>
            <a:ext cx="7635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A6372"/>
                </a:solidFill>
                <a:latin typeface="맑은 고딕"/>
                <a:ea typeface="맑은 고딕"/>
              </a:rPr>
              <a:t>※ 합성총보수는 연 % · ETF는 실적배당(원금 손실 가능) · 예금은 1년만기 세전 금리 · 기준일 2026.06.25(출처: KG제로인) · 금리적용기간 2026.7.1~7.31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456432" cy="51206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0" y="1417320"/>
          <a:ext cx="3182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8439912" y="3291840"/>
            <a:ext cx="82296" cy="256032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3273552"/>
            <a:ext cx="29992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42A4C"/>
                </a:solidFill>
                <a:latin typeface="맑은 고딕"/>
                <a:ea typeface="맑은 고딕"/>
              </a:rPr>
              <a:t>투자 포인트 (2026.07 시황)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602736"/>
            <a:ext cx="3072384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수익과 안정의 균형. AI·반도체 코어를 확대하고 한국 대형주와 소액 우주테크 위성을 더하며, 예금 50%로 하방을 방어합니다.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AI·반도체 이익전망 상향 지속 → 미국 반도체·글로벌 AI 코어 편입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금(金)은 조정국면·적극배분 시점 아님 →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5212079"/>
            <a:ext cx="31272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285231"/>
            <a:ext cx="290779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42A4C"/>
                </a:solidFill>
                <a:latin typeface="맑은 고딕"/>
                <a:ea typeface="맑은 고딕"/>
              </a:rPr>
              <a:t>포트폴리오 요약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 확정금리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연 3.70%</a:t>
            </a:r>
            <a:r>
              <a:rPr sz="800" b="0">
                <a:solidFill>
                  <a:srgbClr val="5A6372"/>
                </a:solidFill>
                <a:latin typeface="맑은 고딕"/>
                <a:ea typeface="맑은 고딕"/>
              </a:rPr>
              <a:t>  (세전)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ETF 블렌디드 보수  </a:t>
            </a:r>
            <a:r>
              <a:rPr sz="1000" b="1">
                <a:solidFill>
                  <a:srgbClr val="F26A1B"/>
                </a:solidFill>
                <a:latin typeface="맑은 고딕"/>
                <a:ea typeface="맑은 고딕"/>
              </a:rPr>
              <a:t>연 0.26%</a:t>
            </a:r>
          </a:p>
          <a:p>
            <a:pPr algn="l"/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예금자보호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1인 1억원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780" b="0">
                <a:solidFill>
                  <a:srgbClr val="C3CEE0"/>
                </a:solidFill>
                <a:latin typeface="맑은 고딕"/>
                <a:ea typeface="맑은 고딕"/>
              </a:rPr>
              <a:t>본 자료는 청약의 권유를 목적으로 하지 않으며 정보 제공용입니다. ETF는 원금 손실이 발생할 수 있고 그 책임은 투자자에게 귀속됩니다. 퇴직연금 위험자산은 최대 70%까지 편입 가능합니다.  |  미래에셋증권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82296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IRP 포트폴리오 제안  ·  수익추구형</a:t>
            </a:r>
          </a:p>
          <a:p>
            <a:pPr algn="l"/>
            <a:r>
              <a:rPr sz="1200" b="0">
                <a:solidFill>
                  <a:srgbClr val="BBC8DD"/>
                </a:solidFill>
                <a:latin typeface="맑은 고딕"/>
                <a:ea typeface="맑은 고딕"/>
              </a:rPr>
              <a:t>ETF + 원리금보장 예금 2종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146304"/>
            <a:ext cx="2331720" cy="658368"/>
          </a:xfrm>
          <a:prstGeom prst="round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146304"/>
            <a:ext cx="23317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위험자산 비중  </a:t>
            </a: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70%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7635239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/>
                <a:gridCol w="3977639"/>
                <a:gridCol w="1051560"/>
                <a:gridCol w="658368"/>
                <a:gridCol w="658368"/>
                <a:gridCol w="63093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상품명 / 투자전략 · 특징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위험등급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합성총보수(연,%)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금리(연,%,세전)</a:t>
                      </a:r>
                    </a:p>
                  </a:txBody>
                  <a:tcPr anchor="ctr" marL="50800" marR="50800" marT="38100" marB="38100">
                    <a:solidFill>
                      <a:srgbClr val="142A4C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미국필라델피아반도체나스닥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매우높은위험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글로벌AI액티브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코리아TOP10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시총 상위 10종목 · 메모리 부족·CAPEX 확산의 한국 반도체 수혜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미국우주테크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Space X 25% 편입 · 미국 우주테크 밸류체인 10종목 (성장 위성)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E0671B"/>
                          </a:solidFill>
                          <a:latin typeface="맑은 고딕"/>
                          <a:ea typeface="맑은 고딕"/>
                        </a:rPr>
                        <a:t>높은위험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0.49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EF2F7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ETF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TIGER CD금리플러스액티브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국내 91일물 CD금리 추종 파킹형 · 시장 변동성 확대 대비 유동성 확보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99A06"/>
                          </a:solidFill>
                          <a:latin typeface="맑은 고딕"/>
                          <a:ea typeface="맑은 고딕"/>
                        </a:rPr>
                        <a:t>보통위험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26A1B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0.03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예금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</a:rPr>
                        <a:t>한국증권금융 정기예금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원리금보장 · 예금자보호(1인 1억원) · AAA 최고 신용등급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>
                          <a:solidFill>
                            <a:srgbClr val="5A6372"/>
                          </a:solidFill>
                          <a:latin typeface="맑은 고딕"/>
                          <a:ea typeface="맑은 고딕"/>
                        </a:rPr>
                        <a:t>위험자산 변동성에 대한 안전판(확정금리) 역할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매우낮은위험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A38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6DB4"/>
                          </a:solidFill>
                          <a:latin typeface="맑은 고딕"/>
                          <a:ea typeface="맑은 고딕"/>
                        </a:rPr>
                        <a:t>3.70</a:t>
                      </a:r>
                    </a:p>
                  </a:txBody>
                  <a:tcPr anchor="ctr" marL="63500" marR="63500" marT="38100" marB="38100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79008"/>
            <a:ext cx="7635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A6372"/>
                </a:solidFill>
                <a:latin typeface="맑은 고딕"/>
                <a:ea typeface="맑은 고딕"/>
              </a:rPr>
              <a:t>※ 합성총보수는 연 % · ETF는 실적배당(원금 손실 가능) · 예금은 1년만기 세전 금리 · 기준일 2026.06.25(출처: KG제로인) · 금리적용기간 2026.7.1~7.31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456432" cy="51206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0" y="1417320"/>
          <a:ext cx="318211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8439912" y="3291840"/>
            <a:ext cx="82296" cy="256032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3273552"/>
            <a:ext cx="29992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42A4C"/>
                </a:solidFill>
                <a:latin typeface="맑은 고딕"/>
                <a:ea typeface="맑은 고딕"/>
              </a:rPr>
              <a:t>투자 포인트 (2026.07 시황)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602736"/>
            <a:ext cx="3072384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퇴직연금 위험자산 최대 한도(70%) 활용. 미국 반도체·글로벌 AI 성장 테마 비중을 극대화하고, 예금 30%로 최소 안전판을 둡니다.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AI·반도체 이익전망 상향 지속 → 미국 반도체·글로벌 AI 코어 편입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F26A1B"/>
                </a:solidFill>
                <a:latin typeface="맑은 고딕"/>
                <a:ea typeface="맑은 고딕"/>
              </a:rPr>
              <a:t>• </a:t>
            </a:r>
            <a:r>
              <a:rPr sz="950" b="0">
                <a:solidFill>
                  <a:srgbClr val="222A38"/>
                </a:solidFill>
                <a:latin typeface="맑은 고딕"/>
                <a:ea typeface="맑은 고딕"/>
              </a:rPr>
              <a:t>금(金)은 조정국면·적극배분 시점 아님 →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9912" y="5212079"/>
            <a:ext cx="31272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285231"/>
            <a:ext cx="290779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42A4C"/>
                </a:solidFill>
                <a:latin typeface="맑은 고딕"/>
                <a:ea typeface="맑은 고딕"/>
              </a:rPr>
              <a:t>포트폴리오 요약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 확정금리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연 3.70%</a:t>
            </a:r>
            <a:r>
              <a:rPr sz="800" b="0">
                <a:solidFill>
                  <a:srgbClr val="5A6372"/>
                </a:solidFill>
                <a:latin typeface="맑은 고딕"/>
                <a:ea typeface="맑은 고딕"/>
              </a:rPr>
              <a:t>  (세전)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ETF 블렌디드 보수  </a:t>
            </a:r>
            <a:r>
              <a:rPr sz="1000" b="1">
                <a:solidFill>
                  <a:srgbClr val="F26A1B"/>
                </a:solidFill>
                <a:latin typeface="맑은 고딕"/>
                <a:ea typeface="맑은 고딕"/>
              </a:rPr>
              <a:t>연 0.39%</a:t>
            </a:r>
          </a:p>
          <a:p>
            <a:pPr algn="l"/>
            <a:r>
              <a:rPr sz="900" b="0">
                <a:solidFill>
                  <a:srgbClr val="5A6372"/>
                </a:solidFill>
                <a:latin typeface="맑은 고딕"/>
                <a:ea typeface="맑은 고딕"/>
              </a:rPr>
              <a:t>예금자보호  </a:t>
            </a:r>
            <a:r>
              <a:rPr sz="1000" b="1">
                <a:solidFill>
                  <a:srgbClr val="2E6DB4"/>
                </a:solidFill>
                <a:latin typeface="맑은 고딕"/>
                <a:ea typeface="맑은 고딕"/>
              </a:rPr>
              <a:t>1인 1억원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780" b="0">
                <a:solidFill>
                  <a:srgbClr val="C3CEE0"/>
                </a:solidFill>
                <a:latin typeface="맑은 고딕"/>
                <a:ea typeface="맑은 고딕"/>
              </a:rPr>
              <a:t>본 자료는 청약의 권유를 목적으로 하지 않으며 정보 제공용입니다. ETF는 원금 손실이 발생할 수 있고 그 책임은 투자자에게 귀속됩니다. 퇴직연금 위험자산은 최대 70%까지 편입 가능합니다.  |  미래에셋증권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