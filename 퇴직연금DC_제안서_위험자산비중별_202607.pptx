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배분</c:v>
                </c:pt>
              </c:strCache>
            </c:strRef>
          </c:tx>
          <c:dPt>
            <c:idx val="0"/>
            <c:spPr>
              <a:solidFill>
                <a:srgbClr val="F26A1B"/>
              </a:solidFill>
            </c:spPr>
          </c:dPt>
          <c:dPt>
            <c:idx val="1"/>
            <c:spPr>
              <a:solidFill>
                <a:srgbClr val="2E6DB4"/>
              </a:solidFill>
            </c:spPr>
          </c:dPt>
          <c:cat>
            <c:strRef>
              <c:f>Sheet1!$A$2:$A$3</c:f>
              <c:strCache>
                <c:ptCount val="2"/>
                <c:pt idx="0">
                  <c:v>위험자산(ETF)</c:v>
                </c:pt>
                <c:pt idx="1">
                  <c:v>안전자산(예금)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70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  <a:latin typeface="맑은 고딕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배분</c:v>
                </c:pt>
              </c:strCache>
            </c:strRef>
          </c:tx>
          <c:dPt>
            <c:idx val="0"/>
            <c:spPr>
              <a:solidFill>
                <a:srgbClr val="F26A1B"/>
              </a:solidFill>
            </c:spPr>
          </c:dPt>
          <c:dPt>
            <c:idx val="1"/>
            <c:spPr>
              <a:solidFill>
                <a:srgbClr val="2E6DB4"/>
              </a:solidFill>
            </c:spPr>
          </c:dPt>
          <c:cat>
            <c:strRef>
              <c:f>Sheet1!$A$2:$A$3</c:f>
              <c:strCache>
                <c:ptCount val="2"/>
                <c:pt idx="0">
                  <c:v>위험자산(ETF)</c:v>
                </c:pt>
                <c:pt idx="1">
                  <c:v>안전자산(예금)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  <a:latin typeface="맑은 고딕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배분</c:v>
                </c:pt>
              </c:strCache>
            </c:strRef>
          </c:tx>
          <c:dPt>
            <c:idx val="0"/>
            <c:spPr>
              <a:solidFill>
                <a:srgbClr val="F26A1B"/>
              </a:solidFill>
            </c:spPr>
          </c:dPt>
          <c:dPt>
            <c:idx val="1"/>
            <c:spPr>
              <a:solidFill>
                <a:srgbClr val="2E6DB4"/>
              </a:solidFill>
            </c:spPr>
          </c:dPt>
          <c:cat>
            <c:strRef>
              <c:f>Sheet1!$A$2:$A$3</c:f>
              <c:strCache>
                <c:ptCount val="2"/>
                <c:pt idx="0">
                  <c:v>위험자산(ETF)</c:v>
                </c:pt>
                <c:pt idx="1">
                  <c:v>안전자산(예금)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  <a:latin typeface="맑은 고딕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82296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15968"/>
            <a:ext cx="4023360" cy="41148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78992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맑은 고딕"/>
                <a:ea typeface="맑은 고딕"/>
              </a:rPr>
              <a:t>퇴직연금 DC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06324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F2B68A"/>
                </a:solidFill>
                <a:latin typeface="맑은 고딕"/>
                <a:ea typeface="맑은 고딕"/>
              </a:rPr>
              <a:t>위험자산 비중별 포트폴리오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0">
                <a:solidFill>
                  <a:srgbClr val="D7DFEC"/>
                </a:solidFill>
                <a:latin typeface="맑은 고딕"/>
                <a:ea typeface="맑은 고딕"/>
              </a:rPr>
              <a:t>위험자산 30% · 50% · 70%   |   ETF + 원리금보장 예금 2종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623560"/>
            <a:ext cx="6400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C6DC"/>
                </a:solidFill>
                <a:latin typeface="맑은 고딕"/>
                <a:ea typeface="맑은 고딕"/>
              </a:rPr>
              <a:t>미래에셋증권 마포WM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2026년 7월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82296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퇴직연금 DC 포트폴리오  ·  안정추구형</a:t>
            </a:r>
          </a:p>
          <a:p>
            <a:pPr algn="l"/>
            <a:r>
              <a:rPr sz="1200" b="0">
                <a:solidFill>
                  <a:srgbClr val="BBC8DD"/>
                </a:solidFill>
                <a:latin typeface="맑은 고딕"/>
                <a:ea typeface="맑은 고딕"/>
              </a:rPr>
              <a:t>ETF + 원리금보장 예금 2종 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57055" y="146304"/>
            <a:ext cx="2331720" cy="658368"/>
          </a:xfrm>
          <a:prstGeom prst="round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146304"/>
            <a:ext cx="23317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위험자산 비중  </a:t>
            </a: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30%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34440"/>
          <a:ext cx="7635240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2880360"/>
                <a:gridCol w="914400"/>
                <a:gridCol w="548640"/>
                <a:gridCol w="621792"/>
                <a:gridCol w="553212"/>
                <a:gridCol w="553212"/>
                <a:gridCol w="553212"/>
                <a:gridCol w="553212"/>
              </a:tblGrid>
              <a:tr h="310896"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상품명 / 투자전략 · 특징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위험등급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금리(연,%,세전)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gridSpan="4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기간별 수익률 (%)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hMerge="1">
                  <a:txBody>
                    <a:bodyPr wrap="square"/>
                    <a:lstStyle/>
                    <a:p/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hMerge="1">
                  <a:txBody>
                    <a:bodyPr wrap="square"/>
                    <a:lstStyle/>
                    <a:p/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hMerge="1">
                  <a:txBody>
                    <a:bodyPr wrap="square"/>
                    <a:lstStyle/>
                    <a:p/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</a:tr>
              <a:tr h="274320">
                <a:tc vMerge="1">
                  <a:txBody>
                    <a:bodyPr wrap="square"/>
                    <a:lstStyle/>
                    <a:p/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vMerge="1">
                  <a:txBody>
                    <a:bodyPr wrap="square"/>
                    <a:lstStyle/>
                    <a:p/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vMerge="1">
                  <a:txBody>
                    <a:bodyPr wrap="square"/>
                    <a:lstStyle/>
                    <a:p/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vMerge="1">
                  <a:txBody>
                    <a:bodyPr wrap="square"/>
                    <a:lstStyle/>
                    <a:p/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vMerge="1">
                  <a:txBody>
                    <a:bodyPr wrap="square"/>
                    <a:lstStyle/>
                    <a:p/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1개월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3개월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6개월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1년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</a:tr>
              <a:tr h="9966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ETF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TIGER 미국필라델피아반도체나스닥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미국 상장 반도체 시총 상위 30종목 · AI 인프라(전력·데이터센터) 실적 가시성 최선호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매우높은위험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6FB2"/>
                          </a:solidFill>
                          <a:latin typeface="맑은 고딕"/>
                          <a:ea typeface="맑은 고딕"/>
                        </a:rPr>
                        <a:t>-7.72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+36.51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+62.40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+133.88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ETF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TIGER 글로벌AI액티브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AI 성장 수혜 글로벌 기업에 액티브 투자 · 공급망 전반 확산 수혜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E0671B"/>
                          </a:solidFill>
                          <a:latin typeface="맑은 고딕"/>
                          <a:ea typeface="맑은 고딕"/>
                        </a:rPr>
                        <a:t>높은위험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6FB2"/>
                          </a:solidFill>
                          <a:latin typeface="맑은 고딕"/>
                          <a:ea typeface="맑은 고딕"/>
                        </a:rPr>
                        <a:t>-12.27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+23.93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+45.90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+94.51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</a:tr>
              <a:tr h="9966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ETF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TIGER 반도체TOP10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국내 반도체 시총 상위 10종목 · 메모리 부족·CAPEX 확산의 한국 반도체 집중 수혜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매우높은위험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6FB2"/>
                          </a:solidFill>
                          <a:latin typeface="맑은 고딕"/>
                          <a:ea typeface="맑은 고딕"/>
                        </a:rPr>
                        <a:t>-32.23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+3.82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+54.79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+198.59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E6DB4"/>
                          </a:solidFill>
                          <a:latin typeface="맑은 고딕"/>
                          <a:ea typeface="맑은 고딕"/>
                        </a:rPr>
                        <a:t>예금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</a:rPr>
                        <a:t>한국증권금융 정기예금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원리금보장 · 예금자보호(1인 1억원) · AAA 최고 신용등급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위험자산 변동성에 대한 안전판(확정금리) 역할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E6DB4"/>
                          </a:solidFill>
                          <a:latin typeface="맑은 고딕"/>
                          <a:ea typeface="맑은 고딕"/>
                        </a:rPr>
                        <a:t>매우낮은위험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6DB4"/>
                          </a:solidFill>
                          <a:latin typeface="맑은 고딕"/>
                          <a:ea typeface="맑은 고딕"/>
                        </a:rPr>
                        <a:t>70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6DB4"/>
                          </a:solidFill>
                          <a:latin typeface="맑은 고딕"/>
                          <a:ea typeface="맑은 고딕"/>
                        </a:rPr>
                        <a:t>3.70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843016"/>
            <a:ext cx="7635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0">
                <a:solidFill>
                  <a:srgbClr val="5A6372"/>
                </a:solidFill>
                <a:latin typeface="맑은 고딕"/>
                <a:ea typeface="맑은 고딕"/>
              </a:rPr>
              <a:t>※ 기간별 수익률(1·3·6개월·1년)은 과거 성과로 미래 수익을 보장하지 않으며, 상승(+)은 적색·하락(−)은 청색 · ETF는 실적배당으로 원금 손실 가능 · 예금은 1년만기 세전 금리, 금리적용기간 2026.7.1~7.31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234440"/>
            <a:ext cx="3456432" cy="51206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412480" y="1417320"/>
          <a:ext cx="3182112" cy="1783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8439912" y="3291840"/>
            <a:ext cx="82296" cy="256032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04504" y="3273552"/>
            <a:ext cx="2999232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42A4C"/>
                </a:solidFill>
                <a:latin typeface="맑은 고딕"/>
                <a:ea typeface="맑은 고딕"/>
              </a:rPr>
              <a:t>투자 포인트 (2026.07 시황)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3602736"/>
            <a:ext cx="3072384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F26A1B"/>
                </a:solidFill>
                <a:latin typeface="맑은 고딕"/>
                <a:ea typeface="맑은 고딕"/>
              </a:rPr>
              <a:t>• </a:t>
            </a:r>
            <a:r>
              <a:rPr sz="950" b="0">
                <a:solidFill>
                  <a:srgbClr val="222A38"/>
                </a:solidFill>
                <a:latin typeface="맑은 고딕"/>
                <a:ea typeface="맑은 고딕"/>
              </a:rPr>
              <a:t>원금 안정성을 최우선. 안전자산(예금) 70%로 확정금리를 확보하고, 위험자산은 미국·한국 반도체와 글로벌 AI 핵심에 집중합니다.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F26A1B"/>
                </a:solidFill>
                <a:latin typeface="맑은 고딕"/>
                <a:ea typeface="맑은 고딕"/>
              </a:rPr>
              <a:t>• </a:t>
            </a:r>
            <a:r>
              <a:rPr sz="950" b="0">
                <a:solidFill>
                  <a:srgbClr val="222A38"/>
                </a:solidFill>
                <a:latin typeface="맑은 고딕"/>
                <a:ea typeface="맑은 고딕"/>
              </a:rPr>
              <a:t>AI·반도체 이익전망 상향 지속 → 미국 반도체·글로벌 AI 코어 편입</a:t>
            </a:r>
          </a:p>
          <a:p>
            <a:pPr algn="l">
              <a:lnSpc>
                <a:spcPct val="112000"/>
              </a:lnSpc>
            </a:pPr>
            <a:r>
              <a:rPr sz="950" b="1">
                <a:solidFill>
                  <a:srgbClr val="F26A1B"/>
                </a:solidFill>
                <a:latin typeface="맑은 고딕"/>
                <a:ea typeface="맑은 고딕"/>
              </a:rPr>
              <a:t>• </a:t>
            </a:r>
            <a:r>
              <a:rPr sz="950" b="0">
                <a:solidFill>
                  <a:srgbClr val="222A38"/>
                </a:solidFill>
                <a:latin typeface="맑은 고딕"/>
                <a:ea typeface="맑은 고딕"/>
              </a:rPr>
              <a:t>금(金)은 조정국면·적극배분 시점 아님 → 제외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39912" y="5212079"/>
            <a:ext cx="31272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86216" y="5285231"/>
            <a:ext cx="2907792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42A4C"/>
                </a:solidFill>
                <a:latin typeface="맑은 고딕"/>
                <a:ea typeface="맑은 고딕"/>
              </a:rPr>
              <a:t>포트폴리오 요약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A6372"/>
                </a:solidFill>
                <a:latin typeface="맑은 고딕"/>
                <a:ea typeface="맑은 고딕"/>
              </a:rPr>
              <a:t>예금 확정금리  </a:t>
            </a:r>
            <a:r>
              <a:rPr sz="1000" b="1">
                <a:solidFill>
                  <a:srgbClr val="2E6DB4"/>
                </a:solidFill>
                <a:latin typeface="맑은 고딕"/>
                <a:ea typeface="맑은 고딕"/>
              </a:rPr>
              <a:t>연 3.70%</a:t>
            </a:r>
            <a:r>
              <a:rPr sz="800" b="0">
                <a:solidFill>
                  <a:srgbClr val="5A6372"/>
                </a:solidFill>
                <a:latin typeface="맑은 고딕"/>
                <a:ea typeface="맑은 고딕"/>
              </a:rPr>
              <a:t>  (세전)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A6372"/>
                </a:solidFill>
                <a:latin typeface="맑은 고딕"/>
                <a:ea typeface="맑은 고딕"/>
              </a:rPr>
              <a:t>위험 · 안전 비중  </a:t>
            </a:r>
            <a:r>
              <a:rPr sz="1000" b="1">
                <a:solidFill>
                  <a:srgbClr val="F26A1B"/>
                </a:solidFill>
                <a:latin typeface="맑은 고딕"/>
                <a:ea typeface="맑은 고딕"/>
              </a:rPr>
              <a:t>30 : 70</a:t>
            </a:r>
          </a:p>
          <a:p>
            <a:pPr algn="l"/>
            <a:r>
              <a:rPr sz="900" b="0">
                <a:solidFill>
                  <a:srgbClr val="5A6372"/>
                </a:solidFill>
                <a:latin typeface="맑은 고딕"/>
                <a:ea typeface="맑은 고딕"/>
              </a:rPr>
              <a:t>예금자보호  </a:t>
            </a:r>
            <a:r>
              <a:rPr sz="1000" b="1">
                <a:solidFill>
                  <a:srgbClr val="2E6DB4"/>
                </a:solidFill>
                <a:latin typeface="맑은 고딕"/>
                <a:ea typeface="맑은 고딕"/>
              </a:rPr>
              <a:t>1인 1억원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1247120" cy="3474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780" b="0">
                <a:solidFill>
                  <a:srgbClr val="C3CEE0"/>
                </a:solidFill>
                <a:latin typeface="맑은 고딕"/>
                <a:ea typeface="맑은 고딕"/>
              </a:rPr>
              <a:t>본 자료는 청약의 권유를 목적으로 하지 않으며 정보 제공용입니다. ETF는 원금 손실이 발생할 수 있고 그 책임은 투자자에게 귀속됩니다. 퇴직연금 위험자산은 최대 70%까지 편입 가능합니다.  |  미래에셋증권 마포WM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82296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퇴직연금 DC 포트폴리오  ·  위험중립형</a:t>
            </a:r>
          </a:p>
          <a:p>
            <a:pPr algn="l"/>
            <a:r>
              <a:rPr sz="1200" b="0">
                <a:solidFill>
                  <a:srgbClr val="BBC8DD"/>
                </a:solidFill>
                <a:latin typeface="맑은 고딕"/>
                <a:ea typeface="맑은 고딕"/>
              </a:rPr>
              <a:t>ETF + 원리금보장 예금 2종 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57055" y="146304"/>
            <a:ext cx="2331720" cy="658368"/>
          </a:xfrm>
          <a:prstGeom prst="round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146304"/>
            <a:ext cx="23317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위험자산 비중  </a:t>
            </a: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50%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34440"/>
          <a:ext cx="7635240" cy="4571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2880360"/>
                <a:gridCol w="914400"/>
                <a:gridCol w="548640"/>
                <a:gridCol w="621792"/>
                <a:gridCol w="553212"/>
                <a:gridCol w="553212"/>
                <a:gridCol w="553212"/>
                <a:gridCol w="553212"/>
              </a:tblGrid>
              <a:tr h="310896"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상품명 / 투자전략 · 특징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위험등급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금리(연,%,세전)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gridSpan="4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기간별 수익률 (%)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hMerge="1">
                  <a:txBody>
                    <a:bodyPr wrap="square"/>
                    <a:lstStyle/>
                    <a:p/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hMerge="1">
                  <a:txBody>
                    <a:bodyPr wrap="square"/>
                    <a:lstStyle/>
                    <a:p/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hMerge="1">
                  <a:txBody>
                    <a:bodyPr wrap="square"/>
                    <a:lstStyle/>
                    <a:p/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</a:tr>
              <a:tr h="274320">
                <a:tc vMerge="1">
                  <a:txBody>
                    <a:bodyPr wrap="square"/>
                    <a:lstStyle/>
                    <a:p/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vMerge="1">
                  <a:txBody>
                    <a:bodyPr wrap="square"/>
                    <a:lstStyle/>
                    <a:p/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vMerge="1">
                  <a:txBody>
                    <a:bodyPr wrap="square"/>
                    <a:lstStyle/>
                    <a:p/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vMerge="1">
                  <a:txBody>
                    <a:bodyPr wrap="square"/>
                    <a:lstStyle/>
                    <a:p/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vMerge="1">
                  <a:txBody>
                    <a:bodyPr wrap="square"/>
                    <a:lstStyle/>
                    <a:p/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1개월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3개월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6개월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1년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</a:tr>
              <a:tr h="79735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ETF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TIGER 미국필라델피아반도체나스닥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미국 상장 반도체 시총 상위 30종목 · AI 인프라(전력·데이터센터) 실적 가시성 최선호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매우높은위험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20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6FB2"/>
                          </a:solidFill>
                          <a:latin typeface="맑은 고딕"/>
                          <a:ea typeface="맑은 고딕"/>
                        </a:rPr>
                        <a:t>-7.72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+36.51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+62.40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+133.88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79735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ETF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TIGER 글로벌AI액티브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AI 성장 수혜 글로벌 기업에 액티브 투자 · 공급망 전반 확산 수혜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E0671B"/>
                          </a:solidFill>
                          <a:latin typeface="맑은 고딕"/>
                          <a:ea typeface="맑은 고딕"/>
                        </a:rPr>
                        <a:t>높은위험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6FB2"/>
                          </a:solidFill>
                          <a:latin typeface="맑은 고딕"/>
                          <a:ea typeface="맑은 고딕"/>
                        </a:rPr>
                        <a:t>-12.27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+23.93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+45.90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+94.51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</a:tr>
              <a:tr h="79735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ETF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TIGER 반도체TOP10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국내 반도체 시총 상위 10종목 · 메모리 부족·CAPEX 확산의 한국 반도체 집중 수혜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매우높은위험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6FB2"/>
                          </a:solidFill>
                          <a:latin typeface="맑은 고딕"/>
                          <a:ea typeface="맑은 고딕"/>
                        </a:rPr>
                        <a:t>-32.23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+3.82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+54.79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+198.59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79735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ETF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TIGER 차이나반도체FACTSET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중국·홍콩 상장 반도체 시총 상위 25종목 · H200 규제에 따른 반도체 자급·AI 인프라 수혜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매우높은위험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+19.25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+71.73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+71.26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+187.44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</a:tr>
              <a:tr h="79735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E6DB4"/>
                          </a:solidFill>
                          <a:latin typeface="맑은 고딕"/>
                          <a:ea typeface="맑은 고딕"/>
                        </a:rPr>
                        <a:t>예금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</a:rPr>
                        <a:t>한국증권금융 정기예금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원리금보장 · 예금자보호(1인 1억원) · AAA 최고 신용등급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위험자산 변동성에 대한 안전판(확정금리) 역할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E6DB4"/>
                          </a:solidFill>
                          <a:latin typeface="맑은 고딕"/>
                          <a:ea typeface="맑은 고딕"/>
                        </a:rPr>
                        <a:t>매우낮은위험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6DB4"/>
                          </a:solidFill>
                          <a:latin typeface="맑은 고딕"/>
                          <a:ea typeface="맑은 고딕"/>
                        </a:rPr>
                        <a:t>50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6DB4"/>
                          </a:solidFill>
                          <a:latin typeface="맑은 고딕"/>
                          <a:ea typeface="맑은 고딕"/>
                        </a:rPr>
                        <a:t>3.70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843016"/>
            <a:ext cx="7635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0">
                <a:solidFill>
                  <a:srgbClr val="5A6372"/>
                </a:solidFill>
                <a:latin typeface="맑은 고딕"/>
                <a:ea typeface="맑은 고딕"/>
              </a:rPr>
              <a:t>※ 기간별 수익률(1·3·6개월·1년)은 과거 성과로 미래 수익을 보장하지 않으며, 상승(+)은 적색·하락(−)은 청색 · ETF는 실적배당으로 원금 손실 가능 · 예금은 1년만기 세전 금리, 금리적용기간 2026.7.1~7.31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234440"/>
            <a:ext cx="3456432" cy="51206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412480" y="1417320"/>
          <a:ext cx="3182112" cy="1783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8439912" y="3291840"/>
            <a:ext cx="82296" cy="256032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04504" y="3273552"/>
            <a:ext cx="2999232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42A4C"/>
                </a:solidFill>
                <a:latin typeface="맑은 고딕"/>
                <a:ea typeface="맑은 고딕"/>
              </a:rPr>
              <a:t>투자 포인트 (2026.07 시황)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3602736"/>
            <a:ext cx="3072384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F26A1B"/>
                </a:solidFill>
                <a:latin typeface="맑은 고딕"/>
                <a:ea typeface="맑은 고딕"/>
              </a:rPr>
              <a:t>• </a:t>
            </a:r>
            <a:r>
              <a:rPr sz="950" b="0">
                <a:solidFill>
                  <a:srgbClr val="222A38"/>
                </a:solidFill>
                <a:latin typeface="맑은 고딕"/>
                <a:ea typeface="맑은 고딕"/>
              </a:rPr>
              <a:t>수익과 안정의 균형. 미국·한국 반도체와 글로벌 AI 코어에 중국 반도체 위성을 더하고, 예금 50%로 하방을 방어합니다.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F26A1B"/>
                </a:solidFill>
                <a:latin typeface="맑은 고딕"/>
                <a:ea typeface="맑은 고딕"/>
              </a:rPr>
              <a:t>• </a:t>
            </a:r>
            <a:r>
              <a:rPr sz="950" b="0">
                <a:solidFill>
                  <a:srgbClr val="222A38"/>
                </a:solidFill>
                <a:latin typeface="맑은 고딕"/>
                <a:ea typeface="맑은 고딕"/>
              </a:rPr>
              <a:t>AI·반도체 이익전망 상향 지속 → 미국 반도체·글로벌 AI 코어 편입</a:t>
            </a:r>
          </a:p>
          <a:p>
            <a:pPr algn="l">
              <a:lnSpc>
                <a:spcPct val="112000"/>
              </a:lnSpc>
            </a:pPr>
            <a:r>
              <a:rPr sz="950" b="1">
                <a:solidFill>
                  <a:srgbClr val="F26A1B"/>
                </a:solidFill>
                <a:latin typeface="맑은 고딕"/>
                <a:ea typeface="맑은 고딕"/>
              </a:rPr>
              <a:t>• </a:t>
            </a:r>
            <a:r>
              <a:rPr sz="950" b="0">
                <a:solidFill>
                  <a:srgbClr val="222A38"/>
                </a:solidFill>
                <a:latin typeface="맑은 고딕"/>
                <a:ea typeface="맑은 고딕"/>
              </a:rPr>
              <a:t>금(金)은 조정국면·적극배분 시점 아님 → 제외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39912" y="5212079"/>
            <a:ext cx="31272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86216" y="5285231"/>
            <a:ext cx="2907792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42A4C"/>
                </a:solidFill>
                <a:latin typeface="맑은 고딕"/>
                <a:ea typeface="맑은 고딕"/>
              </a:rPr>
              <a:t>포트폴리오 요약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A6372"/>
                </a:solidFill>
                <a:latin typeface="맑은 고딕"/>
                <a:ea typeface="맑은 고딕"/>
              </a:rPr>
              <a:t>예금 확정금리  </a:t>
            </a:r>
            <a:r>
              <a:rPr sz="1000" b="1">
                <a:solidFill>
                  <a:srgbClr val="2E6DB4"/>
                </a:solidFill>
                <a:latin typeface="맑은 고딕"/>
                <a:ea typeface="맑은 고딕"/>
              </a:rPr>
              <a:t>연 3.70%</a:t>
            </a:r>
            <a:r>
              <a:rPr sz="800" b="0">
                <a:solidFill>
                  <a:srgbClr val="5A6372"/>
                </a:solidFill>
                <a:latin typeface="맑은 고딕"/>
                <a:ea typeface="맑은 고딕"/>
              </a:rPr>
              <a:t>  (세전)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A6372"/>
                </a:solidFill>
                <a:latin typeface="맑은 고딕"/>
                <a:ea typeface="맑은 고딕"/>
              </a:rPr>
              <a:t>위험 · 안전 비중  </a:t>
            </a:r>
            <a:r>
              <a:rPr sz="1000" b="1">
                <a:solidFill>
                  <a:srgbClr val="F26A1B"/>
                </a:solidFill>
                <a:latin typeface="맑은 고딕"/>
                <a:ea typeface="맑은 고딕"/>
              </a:rPr>
              <a:t>50 : 50</a:t>
            </a:r>
          </a:p>
          <a:p>
            <a:pPr algn="l"/>
            <a:r>
              <a:rPr sz="900" b="0">
                <a:solidFill>
                  <a:srgbClr val="5A6372"/>
                </a:solidFill>
                <a:latin typeface="맑은 고딕"/>
                <a:ea typeface="맑은 고딕"/>
              </a:rPr>
              <a:t>예금자보호  </a:t>
            </a:r>
            <a:r>
              <a:rPr sz="1000" b="1">
                <a:solidFill>
                  <a:srgbClr val="2E6DB4"/>
                </a:solidFill>
                <a:latin typeface="맑은 고딕"/>
                <a:ea typeface="맑은 고딕"/>
              </a:rPr>
              <a:t>1인 1억원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1247120" cy="3474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780" b="0">
                <a:solidFill>
                  <a:srgbClr val="C3CEE0"/>
                </a:solidFill>
                <a:latin typeface="맑은 고딕"/>
                <a:ea typeface="맑은 고딕"/>
              </a:rPr>
              <a:t>본 자료는 청약의 권유를 목적으로 하지 않으며 정보 제공용입니다. ETF는 원금 손실이 발생할 수 있고 그 책임은 투자자에게 귀속됩니다. 퇴직연금 위험자산은 최대 70%까지 편입 가능합니다.  |  미래에셋증권 마포WM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82296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퇴직연금 DC 포트폴리오  ·  수익추구형</a:t>
            </a:r>
          </a:p>
          <a:p>
            <a:pPr algn="l"/>
            <a:r>
              <a:rPr sz="1200" b="0">
                <a:solidFill>
                  <a:srgbClr val="BBC8DD"/>
                </a:solidFill>
                <a:latin typeface="맑은 고딕"/>
                <a:ea typeface="맑은 고딕"/>
              </a:rPr>
              <a:t>ETF + 원리금보장 예금 2종 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57055" y="146304"/>
            <a:ext cx="2331720" cy="658368"/>
          </a:xfrm>
          <a:prstGeom prst="round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146304"/>
            <a:ext cx="23317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위험자산 비중  </a:t>
            </a: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70%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34440"/>
          <a:ext cx="7635240" cy="4571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2880360"/>
                <a:gridCol w="914400"/>
                <a:gridCol w="548640"/>
                <a:gridCol w="621792"/>
                <a:gridCol w="553212"/>
                <a:gridCol w="553212"/>
                <a:gridCol w="553212"/>
                <a:gridCol w="553212"/>
              </a:tblGrid>
              <a:tr h="310896"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상품명 / 투자전략 · 특징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위험등급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금리(연,%,세전)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gridSpan="4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기간별 수익률 (%)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hMerge="1">
                  <a:txBody>
                    <a:bodyPr wrap="square"/>
                    <a:lstStyle/>
                    <a:p/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hMerge="1">
                  <a:txBody>
                    <a:bodyPr wrap="square"/>
                    <a:lstStyle/>
                    <a:p/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hMerge="1">
                  <a:txBody>
                    <a:bodyPr wrap="square"/>
                    <a:lstStyle/>
                    <a:p/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</a:tr>
              <a:tr h="274320">
                <a:tc vMerge="1">
                  <a:txBody>
                    <a:bodyPr wrap="square"/>
                    <a:lstStyle/>
                    <a:p/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vMerge="1">
                  <a:txBody>
                    <a:bodyPr wrap="square"/>
                    <a:lstStyle/>
                    <a:p/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vMerge="1">
                  <a:txBody>
                    <a:bodyPr wrap="square"/>
                    <a:lstStyle/>
                    <a:p/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vMerge="1">
                  <a:txBody>
                    <a:bodyPr wrap="square"/>
                    <a:lstStyle/>
                    <a:p/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 vMerge="1">
                  <a:txBody>
                    <a:bodyPr wrap="square"/>
                    <a:lstStyle/>
                    <a:p/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1개월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3개월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6개월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1년</a:t>
                      </a:r>
                    </a:p>
                  </a:txBody>
                  <a:tcPr anchor="ctr" marL="50800" marR="50800" marT="25400" marB="25400">
                    <a:solidFill>
                      <a:srgbClr val="142A4C"/>
                    </a:solidFill>
                  </a:tcPr>
                </a:tc>
              </a:tr>
              <a:tr h="79735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ETF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TIGER 미국필라델피아반도체나스닥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미국 상장 반도체 시총 상위 30종목 · AI 인프라(전력·데이터센터) 실적 가시성 최선호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매우높은위험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28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6FB2"/>
                          </a:solidFill>
                          <a:latin typeface="맑은 고딕"/>
                          <a:ea typeface="맑은 고딕"/>
                        </a:rPr>
                        <a:t>-7.72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+36.51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+62.40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+133.88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79735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ETF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TIGER 글로벌AI액티브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AI 성장 수혜 글로벌 기업에 액티브 투자 · 공급망 전반 확산 수혜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E0671B"/>
                          </a:solidFill>
                          <a:latin typeface="맑은 고딕"/>
                          <a:ea typeface="맑은 고딕"/>
                        </a:rPr>
                        <a:t>높은위험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22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6FB2"/>
                          </a:solidFill>
                          <a:latin typeface="맑은 고딕"/>
                          <a:ea typeface="맑은 고딕"/>
                        </a:rPr>
                        <a:t>-12.27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+23.93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+45.90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+94.51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</a:tr>
              <a:tr h="79735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ETF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TIGER 반도체TOP10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국내 반도체 시총 상위 10종목 · 메모리 부족·CAPEX 확산의 한국 반도체 집중 수혜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매우높은위험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14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6FB2"/>
                          </a:solidFill>
                          <a:latin typeface="맑은 고딕"/>
                          <a:ea typeface="맑은 고딕"/>
                        </a:rPr>
                        <a:t>-32.23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+3.82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+54.79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+198.59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79735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ETF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TIGER 차이나반도체FACTSET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중국·홍콩 상장 반도체 시총 상위 25종목 · H200 규제에 따른 반도체 자급·AI 인프라 수혜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매우높은위험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+19.25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+71.73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+71.26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+187.44</a:t>
                      </a:r>
                    </a:p>
                  </a:txBody>
                  <a:tcPr anchor="ctr" marL="50800" marR="50800" marT="25400" marB="25400">
                    <a:solidFill>
                      <a:srgbClr val="EEF2F7"/>
                    </a:solidFill>
                  </a:tcPr>
                </a:tc>
              </a:tr>
              <a:tr h="79735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E6DB4"/>
                          </a:solidFill>
                          <a:latin typeface="맑은 고딕"/>
                          <a:ea typeface="맑은 고딕"/>
                        </a:rPr>
                        <a:t>예금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</a:rPr>
                        <a:t>한국증권금융 정기예금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원리금보장 · 예금자보호(1인 1억원) · AAA 최고 신용등급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위험자산 변동성에 대한 안전판(확정금리) 역할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E6DB4"/>
                          </a:solidFill>
                          <a:latin typeface="맑은 고딕"/>
                          <a:ea typeface="맑은 고딕"/>
                        </a:rPr>
                        <a:t>매우낮은위험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6DB4"/>
                          </a:solidFill>
                          <a:latin typeface="맑은 고딕"/>
                          <a:ea typeface="맑은 고딕"/>
                        </a:rPr>
                        <a:t>30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6DB4"/>
                          </a:solidFill>
                          <a:latin typeface="맑은 고딕"/>
                          <a:ea typeface="맑은 고딕"/>
                        </a:rPr>
                        <a:t>3.70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anchor="ctr" marL="50800" marR="50800" marT="25400" marB="25400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843016"/>
            <a:ext cx="7635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0">
                <a:solidFill>
                  <a:srgbClr val="5A6372"/>
                </a:solidFill>
                <a:latin typeface="맑은 고딕"/>
                <a:ea typeface="맑은 고딕"/>
              </a:rPr>
              <a:t>※ 기간별 수익률(1·3·6개월·1년)은 과거 성과로 미래 수익을 보장하지 않으며, 상승(+)은 적색·하락(−)은 청색 · ETF는 실적배당으로 원금 손실 가능 · 예금은 1년만기 세전 금리, 금리적용기간 2026.7.1~7.31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234440"/>
            <a:ext cx="3456432" cy="51206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412480" y="1417320"/>
          <a:ext cx="3182112" cy="1783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8439912" y="3291840"/>
            <a:ext cx="82296" cy="256032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04504" y="3273552"/>
            <a:ext cx="2999232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42A4C"/>
                </a:solidFill>
                <a:latin typeface="맑은 고딕"/>
                <a:ea typeface="맑은 고딕"/>
              </a:rPr>
              <a:t>투자 포인트 (2026.07 시황)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3602736"/>
            <a:ext cx="3072384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F26A1B"/>
                </a:solidFill>
                <a:latin typeface="맑은 고딕"/>
                <a:ea typeface="맑은 고딕"/>
              </a:rPr>
              <a:t>• </a:t>
            </a:r>
            <a:r>
              <a:rPr sz="950" b="0">
                <a:solidFill>
                  <a:srgbClr val="222A38"/>
                </a:solidFill>
                <a:latin typeface="맑은 고딕"/>
                <a:ea typeface="맑은 고딕"/>
              </a:rPr>
              <a:t>퇴직연금 위험자산 최대 한도(70%) 활용. 미국 반도체·글로벌 AI 성장 테마 비중을 극대화하고, 예금 30%로 최소 안전판을 둡니다.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F26A1B"/>
                </a:solidFill>
                <a:latin typeface="맑은 고딕"/>
                <a:ea typeface="맑은 고딕"/>
              </a:rPr>
              <a:t>• </a:t>
            </a:r>
            <a:r>
              <a:rPr sz="950" b="0">
                <a:solidFill>
                  <a:srgbClr val="222A38"/>
                </a:solidFill>
                <a:latin typeface="맑은 고딕"/>
                <a:ea typeface="맑은 고딕"/>
              </a:rPr>
              <a:t>AI·반도체 이익전망 상향 지속 → 미국 반도체·글로벌 AI 코어 편입</a:t>
            </a:r>
          </a:p>
          <a:p>
            <a:pPr algn="l">
              <a:lnSpc>
                <a:spcPct val="112000"/>
              </a:lnSpc>
            </a:pPr>
            <a:r>
              <a:rPr sz="950" b="1">
                <a:solidFill>
                  <a:srgbClr val="F26A1B"/>
                </a:solidFill>
                <a:latin typeface="맑은 고딕"/>
                <a:ea typeface="맑은 고딕"/>
              </a:rPr>
              <a:t>• </a:t>
            </a:r>
            <a:r>
              <a:rPr sz="950" b="0">
                <a:solidFill>
                  <a:srgbClr val="222A38"/>
                </a:solidFill>
                <a:latin typeface="맑은 고딕"/>
                <a:ea typeface="맑은 고딕"/>
              </a:rPr>
              <a:t>금(金)은 조정국면·적극배분 시점 아님 → 제외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39912" y="5212079"/>
            <a:ext cx="31272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86216" y="5285231"/>
            <a:ext cx="2907792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42A4C"/>
                </a:solidFill>
                <a:latin typeface="맑은 고딕"/>
                <a:ea typeface="맑은 고딕"/>
              </a:rPr>
              <a:t>포트폴리오 요약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A6372"/>
                </a:solidFill>
                <a:latin typeface="맑은 고딕"/>
                <a:ea typeface="맑은 고딕"/>
              </a:rPr>
              <a:t>예금 확정금리  </a:t>
            </a:r>
            <a:r>
              <a:rPr sz="1000" b="1">
                <a:solidFill>
                  <a:srgbClr val="2E6DB4"/>
                </a:solidFill>
                <a:latin typeface="맑은 고딕"/>
                <a:ea typeface="맑은 고딕"/>
              </a:rPr>
              <a:t>연 3.70%</a:t>
            </a:r>
            <a:r>
              <a:rPr sz="800" b="0">
                <a:solidFill>
                  <a:srgbClr val="5A6372"/>
                </a:solidFill>
                <a:latin typeface="맑은 고딕"/>
                <a:ea typeface="맑은 고딕"/>
              </a:rPr>
              <a:t>  (세전)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A6372"/>
                </a:solidFill>
                <a:latin typeface="맑은 고딕"/>
                <a:ea typeface="맑은 고딕"/>
              </a:rPr>
              <a:t>위험 · 안전 비중  </a:t>
            </a:r>
            <a:r>
              <a:rPr sz="1000" b="1">
                <a:solidFill>
                  <a:srgbClr val="F26A1B"/>
                </a:solidFill>
                <a:latin typeface="맑은 고딕"/>
                <a:ea typeface="맑은 고딕"/>
              </a:rPr>
              <a:t>70 : 30</a:t>
            </a:r>
          </a:p>
          <a:p>
            <a:pPr algn="l"/>
            <a:r>
              <a:rPr sz="900" b="0">
                <a:solidFill>
                  <a:srgbClr val="5A6372"/>
                </a:solidFill>
                <a:latin typeface="맑은 고딕"/>
                <a:ea typeface="맑은 고딕"/>
              </a:rPr>
              <a:t>예금자보호  </a:t>
            </a:r>
            <a:r>
              <a:rPr sz="1000" b="1">
                <a:solidFill>
                  <a:srgbClr val="2E6DB4"/>
                </a:solidFill>
                <a:latin typeface="맑은 고딕"/>
                <a:ea typeface="맑은 고딕"/>
              </a:rPr>
              <a:t>1인 1억원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1247120" cy="3474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780" b="0">
                <a:solidFill>
                  <a:srgbClr val="C3CEE0"/>
                </a:solidFill>
                <a:latin typeface="맑은 고딕"/>
                <a:ea typeface="맑은 고딕"/>
              </a:rPr>
              <a:t>본 자료는 청약의 권유를 목적으로 하지 않으며 정보 제공용입니다. ETF는 원금 손실이 발생할 수 있고 그 책임은 투자자에게 귀속됩니다. 퇴직연금 위험자산은 최대 70%까지 편입 가능합니다.  |  미래에셋증권 마포WM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