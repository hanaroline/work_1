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SOX</c:v>
                </c:pt>
              </c:strCache>
            </c:strRef>
          </c:tx>
          <c:spPr>
            <a:solidFill>
              <a:srgbClr val="F58220"/>
            </a:solidFill>
            <a:ln w="38100" cap="flat">
              <a:solidFill>
                <a:srgbClr val="F5822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43B72"/>
                    </a:solidFill>
                    <a:latin typeface="Spoqa Han Sans Neo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4월</c:v>
                  </c:pt>
                  <c:pt idx="1">
                    <c:v>5월</c:v>
                  </c:pt>
                  <c:pt idx="2">
                    <c:v>6/22(고점)</c:v>
                  </c:pt>
                  <c:pt idx="3">
                    <c:v>7/10</c:v>
                  </c:pt>
                  <c:pt idx="4">
                    <c:v>7/18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11800</c:v>
                </c:pt>
                <c:pt idx="1">
                  <c:v>13200</c:v>
                </c:pt>
                <c:pt idx="2">
                  <c:v>14655</c:v>
                </c:pt>
                <c:pt idx="3">
                  <c:v>12967</c:v>
                </c:pt>
                <c:pt idx="4">
                  <c:v>12550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43B72"/>
                  </a:solidFill>
                  <a:latin typeface="Spoqa Han Sans Neo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C6C6C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500"/>
          <c:min val="11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F58220">
                <a:alpha val="100000"/>
              </a:srgbClr>
            </a:solidFill>
            <a:effectLst/>
          </c:spPr>
          <c:invertIfNegative val="0"/>
          <c:dLbls>
            <c:numFmt formatCode="&quot;$&quot;#,##0&quot;B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Spoqa Han Sans Ne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86B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AB07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아마존</c:v>
                  </c:pt>
                  <c:pt idx="1">
                    <c:v>알파벳</c:v>
                  </c:pt>
                  <c:pt idx="2">
                    <c:v>메타</c:v>
                  </c:pt>
                  <c:pt idx="3">
                    <c:v>마이크로소프트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200</c:v>
                </c:pt>
                <c:pt idx="1">
                  <c:v>185</c:v>
                </c:pt>
                <c:pt idx="2">
                  <c:v>125</c:v>
                </c:pt>
                <c:pt idx="3">
                  <c:v>120</c:v>
                </c:pt>
              </c:numCache>
            </c:numRef>
          </c:val>
        </c:ser>
        <c:dLbls>
          <c:numFmt formatCode="&quot;$&quot;#,##0&quot;B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Spoqa Han Sans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기존 전망(하단)</c:v>
                </c:pt>
              </c:strCache>
            </c:strRef>
          </c:tx>
          <c:spPr>
            <a:solidFill>
              <a:srgbClr val="CDCECB"/>
            </a:solidFill>
            <a:effectLst/>
          </c:spPr>
          <c:invertIfNegative val="0"/>
          <c:dLbls>
            <c:numFmt formatCode="#,##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Spoqa Han Sans Ne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PC DRAM</c:v>
                  </c:pt>
                  <c:pt idx="1">
                    <c:v>엔터프라이즈 SSD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</c:v>
                </c:pt>
                <c:pt idx="1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상향 전망(하단)</c:v>
                </c:pt>
              </c:strCache>
            </c:strRef>
          </c:tx>
          <c:spPr>
            <a:solidFill>
              <a:srgbClr val="F58220"/>
            </a:solidFill>
            <a:effectLst/>
          </c:spPr>
          <c:invertIfNegative val="0"/>
          <c:dLbls>
            <c:numFmt formatCode="#,##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Spoqa Han Sans Ne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PC DRAM</c:v>
                  </c:pt>
                  <c:pt idx="1">
                    <c:v>엔터프라이즈 SSD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</c:v>
                </c:pt>
                <c:pt idx="1">
                  <c:v>18</c:v>
                </c:pt>
              </c:numCache>
            </c:numRef>
          </c:val>
        </c:ser>
        <c:dLbls>
          <c:numFmt formatCode="#,##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Spoqa Han Sans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C6C6C"/>
              </a:solidFill>
              <a:latin typeface="Spoqa Han Sans Neo"/>
              <a:cs typeface="Spoqa Han Sans Ne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목표주가(만원)</c:v>
                </c:pt>
              </c:strCache>
            </c:strRef>
          </c:tx>
          <c:spPr>
            <a:solidFill>
              <a:srgbClr val="6C6C6C"/>
            </a:solidFill>
            <a:effectLst/>
          </c:spPr>
          <c:invertIfNegative val="0"/>
          <c:dLbls>
            <c:numFmt formatCode="#,##0&quot;만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Spoqa Han Sans Ne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C6C6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1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BNK투자</c:v>
                  </c:pt>
                  <c:pt idx="1">
                    <c:v>현재가(7/5)</c:v>
                  </c:pt>
                  <c:pt idx="2">
                    <c:v>12M 평균</c:v>
                  </c:pt>
                  <c:pt idx="3">
                    <c:v>미래에셋</c:v>
                  </c:pt>
                  <c:pt idx="4">
                    <c:v>SK증권(고점)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185</c:v>
                </c:pt>
                <c:pt idx="1">
                  <c:v>242.5</c:v>
                </c:pt>
                <c:pt idx="2">
                  <c:v>317</c:v>
                </c:pt>
                <c:pt idx="3">
                  <c:v>270</c:v>
                </c:pt>
                <c:pt idx="4">
                  <c:v>430</c:v>
                </c:pt>
              </c:numCache>
            </c:numRef>
          </c:val>
        </c:ser>
        <c:dLbls>
          <c:numFmt formatCode="#,##0&quot;만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Spoqa Han Sans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DRAM 점유율(%)</c:v>
                </c:pt>
              </c:strCache>
            </c:strRef>
          </c:tx>
          <c:spPr>
            <a:solidFill>
              <a:srgbClr val="F58220"/>
            </a:solidFill>
            <a:ln w="38100" cap="flat">
              <a:solidFill>
                <a:srgbClr val="F58220"/>
              </a:solidFill>
              <a:prstDash val="solid"/>
              <a:round/>
            </a:ln>
            <a:effectLst/>
          </c:spPr>
          <c:invertIfNegative val="0"/>
          <c:dLbls>
            <c:numFmt formatCode="#,##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CB6015"/>
                    </a:solidFill>
                    <a:latin typeface="Spoqa Han Sans Neo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6</c:v>
                </c:pt>
                <c:pt idx="2">
                  <c:v>9</c:v>
                </c:pt>
                <c:pt idx="3">
                  <c:v>11</c:v>
                </c:pt>
              </c:numCache>
            </c:numRef>
          </c:val>
          <c:smooth val="0"/>
        </c:ser>
        <c:dLbls>
          <c:numFmt formatCode="#,##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CB6015"/>
                  </a:solidFill>
                  <a:latin typeface="Spoqa Han Sans Neo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3959352" cy="6858000"/>
          </a:xfrm>
          <a:prstGeom prst="rect">
            <a:avLst/>
          </a:prstGeom>
          <a:solidFill>
            <a:srgbClr val="CB6015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85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반도체 투자 세미나  ·  2026. 07. 21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3504" y="1691640"/>
            <a:ext cx="10515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최근 반도체 주가 조정과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투자 기준의 재점검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AI 효율화 논쟁 · 하이퍼스케일러 실적 시즌 · 메모리 슈퍼사이클 점검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4800600"/>
            <a:ext cx="21488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48006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7/22 알파벳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971800" y="4800600"/>
            <a:ext cx="21488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2971800" y="48006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7/23 인텔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303520" y="4800600"/>
            <a:ext cx="21488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303520" y="48006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MS·메타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635240" y="4800600"/>
            <a:ext cx="21488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7635240" y="48006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7/30 아마존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54132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미국 하이퍼스케일러 2026년 2분기 실적 발표 캘린더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주식 투자 세미나 강의안  |  발표자 준비자료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502920" cy="45720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6035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84632" y="89611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오늘 세미나의 흐름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11183112" cy="786384"/>
          </a:xfrm>
          <a:prstGeom prst="roundRect">
            <a:avLst>
              <a:gd name="adj" fmla="val 4651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05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783080" y="190195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조정의 진단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709160" y="1783080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무엇이 반도체 주가를 흔들었나 — SOX 조정과 키미 K3 쇼크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688336"/>
            <a:ext cx="11183112" cy="786384"/>
          </a:xfrm>
          <a:prstGeom prst="roundRect">
            <a:avLst>
              <a:gd name="adj" fmla="val 4651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88336"/>
            <a:ext cx="1005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783080" y="280720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논쟁의 해부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09160" y="2688336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AI 효율화·데이터센터 과잉투자, 우려의 실체를 나눠보기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593592"/>
            <a:ext cx="11183112" cy="786384"/>
          </a:xfrm>
          <a:prstGeom prst="roundRect">
            <a:avLst>
              <a:gd name="adj" fmla="val 4651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593592"/>
            <a:ext cx="1005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03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783080" y="371246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실적 시즌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09160" y="3593592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7/22~7/30 하이퍼스케일러 실적과 $725B Capex의 무게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498848"/>
            <a:ext cx="11183112" cy="786384"/>
          </a:xfrm>
          <a:prstGeom prst="roundRect">
            <a:avLst>
              <a:gd name="adj" fmla="val 4651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498848"/>
            <a:ext cx="1005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04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783080" y="46177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전망의 비교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709160" y="4498848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모건스탠리·외국계 IB vs 국내 증권사, 그리고 중국 CXMT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5404104"/>
            <a:ext cx="11183112" cy="786384"/>
          </a:xfrm>
          <a:prstGeom prst="roundRect">
            <a:avLst>
              <a:gd name="adj" fmla="val 4651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404104"/>
            <a:ext cx="1005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05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783080" y="552297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투자 기준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709160" y="5404104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통제 불가능한 사이클 vs 통제 가능한 기술 로드맵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1292840" y="63276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502920" cy="45720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6035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01 · 진단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84632" y="89611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반도체 주가, 왜 흔들렸나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4892040" cy="123444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56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SOX 지수 고점 대비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2176272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-11.5%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3337560" y="22860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6/22 14,655 → 7/10 12,967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3200400"/>
            <a:ext cx="4892040" cy="123444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3284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(7/18)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13232" y="3547872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-13%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337560" y="3657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장중 189만 원대까지 급락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4572000"/>
            <a:ext cx="4892040" cy="123444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대만 가권 / 일본 닛케이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13232" y="4919472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-6% / -4%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3337560" y="50292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7/18 아시아 반도체 동반 약세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806440" y="173736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필라델피아 반도체지수(SOX) 추이 — 2026</a:t>
            </a:r>
            <a:endParaRPr lang="en-US" sz="13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5760720" y="2103120"/>
          <a:ext cx="59436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Text 16"/>
          <p:cNvSpPr/>
          <p:nvPr/>
        </p:nvSpPr>
        <p:spPr>
          <a:xfrm>
            <a:off x="5760720" y="544068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한때 두 달여 만에 +24% 급등했던 지수가 고점 이후 가파른 되돌림. '실적 기대 선반영 + 차익실현 + AI 효율화 우려'가 겹친 조정.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02920" y="63550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Investing.com, 시장 뉴스 종합 (2026.07). 지수는 발표자료용 근사치.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11292840" y="63276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502920" cy="45720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6035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01 · 트리거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84632" y="89611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조정의 방아쇠: 키미(Kimi) K3 쇼크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5486400" cy="4114800"/>
          </a:xfrm>
          <a:prstGeom prst="roundRect">
            <a:avLst>
              <a:gd name="adj" fmla="val 889"/>
            </a:avLst>
          </a:prstGeom>
          <a:solidFill>
            <a:srgbClr val="ECEFF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무슨 일이 있었나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2542032"/>
            <a:ext cx="1143000" cy="310896"/>
          </a:xfrm>
          <a:prstGeom prst="roundRect">
            <a:avLst>
              <a:gd name="adj" fmla="val 8824"/>
            </a:avLst>
          </a:prstGeom>
          <a:solidFill>
            <a:srgbClr val="F58220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54203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7/16~17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057400" y="246888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중국 문샷 AI, 오픈웨이트 최대 규모 '키미 K3'(2.8조 파라미터) 공개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3364992"/>
            <a:ext cx="1143000" cy="310896"/>
          </a:xfrm>
          <a:prstGeom prst="roundRect">
            <a:avLst>
              <a:gd name="adj" fmla="val 8824"/>
            </a:avLst>
          </a:prstGeom>
          <a:solidFill>
            <a:srgbClr val="F58220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3649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성능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57400" y="329184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일부 벤치마크에서 미국 최상위 모델에 근접 — 저비용·개방형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7240" y="4187952"/>
            <a:ext cx="1143000" cy="310896"/>
          </a:xfrm>
          <a:prstGeom prst="roundRect">
            <a:avLst>
              <a:gd name="adj" fmla="val 8824"/>
            </a:avLst>
          </a:prstGeom>
          <a:solidFill>
            <a:srgbClr val="F58220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18795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7/18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057400" y="411480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'제2의 딥시크' 해석 → 글로벌 반도체주 동반 급락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5010912"/>
            <a:ext cx="1143000" cy="310896"/>
          </a:xfrm>
          <a:prstGeom prst="roundRect">
            <a:avLst>
              <a:gd name="adj" fmla="val 8824"/>
            </a:avLst>
          </a:prstGeom>
          <a:solidFill>
            <a:srgbClr val="F58220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1091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논리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057400" y="493776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"같은 성능을 더 적은 고가 GPU·HBM으로?" → AI 인프라 수요 축소 우려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9632" y="1828800"/>
            <a:ext cx="5486400" cy="4114800"/>
          </a:xfrm>
          <a:prstGeom prst="roundRect">
            <a:avLst>
              <a:gd name="adj" fmla="val 889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73952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2025 딥시크 충격과 같은 논리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73952" y="24688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"프런티어 AI 모델을 예상보다 싸게 만들 수 있다면,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고성능 AI 칩 수요 전망을 하향해야 하는가?"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73952" y="3703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핵심 질문 — 효율화가 곧 수요 감소인가?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시장은 '축소' 시나리오에 즉각 반응했지만,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정작 K3의 실제 구조는 반대 방향을 가리킨다 (→ 다음 장).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73952" y="5029200"/>
            <a:ext cx="4937760" cy="731520"/>
          </a:xfrm>
          <a:prstGeom prst="roundRect">
            <a:avLst>
              <a:gd name="adj" fmla="val 5000"/>
            </a:avLst>
          </a:prstGeom>
          <a:solidFill>
            <a:srgbClr val="F58220">
              <a:alpha val="12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56832" y="50292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첨부 K-Freedom Insights: "효율 향상이 총수요 감소를 의미하지는 않는다"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63550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Bloomberg, Fortune, 첨부 K-Freedom Insights (2026.07).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3276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502920" cy="45720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6035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02 · 해부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84632" y="89611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역설: K3는 오히려 '메모리'를 더 먹는다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11183112" cy="685800"/>
          </a:xfrm>
          <a:prstGeom prst="roundRect">
            <a:avLst>
              <a:gd name="adj" fmla="val 5333"/>
            </a:avLst>
          </a:prstGeom>
          <a:solidFill>
            <a:srgbClr val="043B72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Bloomberg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"Moonshot's Kimi K3 May Be More About Memory Than Compute"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3611880" cy="1691640"/>
          </a:xfrm>
          <a:prstGeom prst="roundRect">
            <a:avLst>
              <a:gd name="adj" fmla="val 2162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9260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1.5TB+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31520" y="3611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가중치(weights) 저장에만 필요한 HBM 용량 — 초대형 모델의 무게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88536" y="2743200"/>
            <a:ext cx="3611880" cy="1691640"/>
          </a:xfrm>
          <a:prstGeom prst="roundRect">
            <a:avLst>
              <a:gd name="adj" fmla="val 2162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17136" y="29260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64칩+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517136" y="3611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효율적 추론 위한 슈퍼노드 클러스터 (NVIDIA GB200/GB300 NVL72급)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4152" y="2743200"/>
            <a:ext cx="3611880" cy="1691640"/>
          </a:xfrm>
          <a:prstGeom prst="roundRect">
            <a:avLst>
              <a:gd name="adj" fmla="val 2162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02752" y="29260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KV Cache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302752" y="3611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CPU·DDR5·NVMe로 대량 오프로딩 → 메모리 계층 전반 수요 확대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4663440"/>
            <a:ext cx="11183112" cy="1234440"/>
          </a:xfrm>
          <a:prstGeom prst="roundRect">
            <a:avLst>
              <a:gd name="adj" fmla="val 2963"/>
            </a:avLst>
          </a:prstGeom>
          <a:solidFill>
            <a:srgbClr val="F58220">
              <a:alpha val="10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800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제본스의 역설 (Jevons Paradox)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5166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AI 사용 비용이 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1/10</a:t>
            </a:r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로 낮아져도 사용량이 </a:t>
            </a:r>
            <a:pPr indent="0" marL="0">
              <a:buNone/>
            </a:pPr>
            <a:r>
              <a:rPr lang="en-US" sz="13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20배</a:t>
            </a:r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늘면 →  총 연산 수요는 오히려 </a:t>
            </a:r>
            <a:pPr indent="0" marL="0">
              <a:buNone/>
            </a:pPr>
            <a:r>
              <a:rPr lang="en-US" sz="14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2배 증가</a:t>
            </a:r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.  효율화는 수요의 '천장'이 아니라 '확산의 사다리'.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63550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Bloomberg (2026.07.20), Yahoo Finance, 첨부 K-Freedom Insights.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3276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502920" cy="45720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6035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02 · 해부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84632" y="89611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데이터센터, 과잉투자인가 선행투자인가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5394960" cy="4069080"/>
          </a:xfrm>
          <a:prstGeom prst="roundRect">
            <a:avLst>
              <a:gd name="adj" fmla="val 89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116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우려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4231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•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지난 2년간 하이퍼스케일러의 공격적 GPU·데이터센터 확보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326440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•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시장의 질문이 이동: '얼마나 투자했나' → '매출·이익으로 이어지나'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4105656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•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모델 간 성능 격차 축소 + 개발비 하락 → 필요 연산자원 감소 기대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77240" y="4946904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•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결과: 향후 증설 규모가 당초 예상보다 작아질 수 있다는 우려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08192" y="1828800"/>
            <a:ext cx="5577840" cy="4069080"/>
          </a:xfrm>
          <a:prstGeom prst="roundRect">
            <a:avLst>
              <a:gd name="adj" fmla="val 899"/>
            </a:avLst>
          </a:prstGeom>
          <a:solidFill>
            <a:srgbClr val="FFFFFF"/>
          </a:solidFill>
          <a:ln w="15875">
            <a:solidFill>
              <a:srgbClr val="043B7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82512" y="20116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관점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82512" y="239572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인프라 투자는 언제나 선행한다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82512" y="26974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인터넷·클라우드도 초기엔 '과잉투자'로 불렸다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82512" y="3236976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시간이 수요를 채웠다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82512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전자상거래·스트리밍·모바일이 유휴 인프라를 흡수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382512" y="407822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단기 vs 장기를 분리하라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82512" y="437997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설비투자 사이클(단기) ≠ AI 보급 추세(장기)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382512" y="491947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진짜 질문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82512" y="522122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'너무 많다'가 아니라, AI 활용 증가 속도가 증설을 따라오는가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02920" y="63550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첨부 K-Freedom Insights '데이터센터 과잉투자 우려' 요약.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3276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502920" cy="45720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6035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03 · 실적 시즌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84632" y="89611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7/22~7/30 하이퍼스케일러 실적 캘린더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이번 조정 국면의 최대 이벤트. 관전 포인트는 매출·이익보다 'Capex 가이던스와 AI 수익화'.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10515600" cy="27432"/>
          </a:xfrm>
          <a:prstGeom prst="rect">
            <a:avLst/>
          </a:prstGeom>
          <a:solidFill>
            <a:srgbClr val="CDCECB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2395728"/>
            <a:ext cx="274320" cy="274320"/>
          </a:xfrm>
          <a:prstGeom prst="ellipse">
            <a:avLst/>
          </a:prstGeom>
          <a:solidFill>
            <a:srgbClr val="F5822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874520"/>
            <a:ext cx="1005840" cy="310896"/>
          </a:xfrm>
          <a:prstGeom prst="roundRect">
            <a:avLst>
              <a:gd name="adj" fmla="val 8824"/>
            </a:avLst>
          </a:prstGeom>
          <a:solidFill>
            <a:srgbClr val="F58220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87452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880360"/>
            <a:ext cx="1965960" cy="2331720"/>
          </a:xfrm>
          <a:prstGeom prst="roundRect">
            <a:avLst>
              <a:gd name="adj" fmla="val 1860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30175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알파벳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94360" y="33832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Google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" y="3703320"/>
            <a:ext cx="1645920" cy="0"/>
          </a:xfrm>
          <a:prstGeom prst="line">
            <a:avLst/>
          </a:prstGeom>
          <a:noFill/>
          <a:ln w="9525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79476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 Capex $185B로 상향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클라우드·TPU 수요 확인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474720" y="2395728"/>
            <a:ext cx="274320" cy="274320"/>
          </a:xfrm>
          <a:prstGeom prst="ellipse">
            <a:avLst/>
          </a:prstGeom>
          <a:solidFill>
            <a:srgbClr val="043B7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08960" y="1874520"/>
            <a:ext cx="1005840" cy="310896"/>
          </a:xfrm>
          <a:prstGeom prst="roundRect">
            <a:avLst>
              <a:gd name="adj" fmla="val 8824"/>
            </a:avLst>
          </a:prstGeom>
          <a:solidFill>
            <a:srgbClr val="043B72"/>
          </a:solidFill>
          <a:ln/>
        </p:spPr>
      </p:sp>
      <p:sp>
        <p:nvSpPr>
          <p:cNvPr id="17" name="Text 15"/>
          <p:cNvSpPr/>
          <p:nvPr/>
        </p:nvSpPr>
        <p:spPr>
          <a:xfrm>
            <a:off x="3108960" y="187452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108960" y="2880360"/>
            <a:ext cx="1965960" cy="2331720"/>
          </a:xfrm>
          <a:prstGeom prst="roundRect">
            <a:avLst>
              <a:gd name="adj" fmla="val 1860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0" y="30175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인텔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200400" y="33832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Intel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46120" y="3703320"/>
            <a:ext cx="1645920" cy="0"/>
          </a:xfrm>
          <a:prstGeom prst="line">
            <a:avLst/>
          </a:prstGeom>
          <a:noFill/>
          <a:ln w="9525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0" y="379476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18A 파운드리·수율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컨센서스 매출 $14.4B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080760" y="2395728"/>
            <a:ext cx="274320" cy="274320"/>
          </a:xfrm>
          <a:prstGeom prst="ellipse">
            <a:avLst/>
          </a:prstGeom>
          <a:solidFill>
            <a:srgbClr val="F5822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15000" y="1874520"/>
            <a:ext cx="1005840" cy="310896"/>
          </a:xfrm>
          <a:prstGeom prst="roundRect">
            <a:avLst>
              <a:gd name="adj" fmla="val 8824"/>
            </a:avLst>
          </a:prstGeom>
          <a:solidFill>
            <a:srgbClr val="F58220"/>
          </a:solidFill>
          <a:ln/>
        </p:spPr>
      </p:sp>
      <p:sp>
        <p:nvSpPr>
          <p:cNvPr id="25" name="Text 23"/>
          <p:cNvSpPr/>
          <p:nvPr/>
        </p:nvSpPr>
        <p:spPr>
          <a:xfrm>
            <a:off x="5715000" y="187452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715000" y="2880360"/>
            <a:ext cx="1965960" cy="2331720"/>
          </a:xfrm>
          <a:prstGeom prst="roundRect">
            <a:avLst>
              <a:gd name="adj" fmla="val 1860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06440" y="30175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마이크로소프트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806440" y="33832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Microsoft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852160" y="3703320"/>
            <a:ext cx="1645920" cy="0"/>
          </a:xfrm>
          <a:prstGeom prst="line">
            <a:avLst/>
          </a:prstGeom>
          <a:noFill/>
          <a:ln w="9525">
            <a:solidFill>
              <a:srgbClr val="CDCEC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06440" y="379476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Azure 성장·Capex $120B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AI 매출 기여도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183880" y="2395728"/>
            <a:ext cx="274320" cy="274320"/>
          </a:xfrm>
          <a:prstGeom prst="ellipse">
            <a:avLst/>
          </a:prstGeom>
          <a:solidFill>
            <a:srgbClr val="0086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18120" y="1874520"/>
            <a:ext cx="1005840" cy="310896"/>
          </a:xfrm>
          <a:prstGeom prst="roundRect">
            <a:avLst>
              <a:gd name="adj" fmla="val 8824"/>
            </a:avLst>
          </a:prstGeom>
          <a:solidFill>
            <a:srgbClr val="0086B8"/>
          </a:solidFill>
          <a:ln/>
        </p:spPr>
      </p:sp>
      <p:sp>
        <p:nvSpPr>
          <p:cNvPr id="33" name="Text 31"/>
          <p:cNvSpPr/>
          <p:nvPr/>
        </p:nvSpPr>
        <p:spPr>
          <a:xfrm>
            <a:off x="7818120" y="187452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818120" y="2880360"/>
            <a:ext cx="1965960" cy="2331720"/>
          </a:xfrm>
          <a:prstGeom prst="roundRect">
            <a:avLst>
              <a:gd name="adj" fmla="val 1860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909560" y="30175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메타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909560" y="33832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Meta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955280" y="3703320"/>
            <a:ext cx="1645920" cy="0"/>
          </a:xfrm>
          <a:prstGeom prst="line">
            <a:avLst/>
          </a:prstGeom>
          <a:noFill/>
          <a:ln w="9525">
            <a:solidFill>
              <a:srgbClr val="CDCEC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09560" y="379476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Capex $125B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광고 외 AI 수익화 설득력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0287000" y="2395728"/>
            <a:ext cx="274320" cy="274320"/>
          </a:xfrm>
          <a:prstGeom prst="ellipse">
            <a:avLst/>
          </a:prstGeom>
          <a:solidFill>
            <a:srgbClr val="043B7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921240" y="1874520"/>
            <a:ext cx="1005840" cy="310896"/>
          </a:xfrm>
          <a:prstGeom prst="roundRect">
            <a:avLst>
              <a:gd name="adj" fmla="val 8824"/>
            </a:avLst>
          </a:prstGeom>
          <a:solidFill>
            <a:srgbClr val="043B72"/>
          </a:solidFill>
          <a:ln/>
        </p:spPr>
      </p:sp>
      <p:sp>
        <p:nvSpPr>
          <p:cNvPr id="41" name="Text 39"/>
          <p:cNvSpPr/>
          <p:nvPr/>
        </p:nvSpPr>
        <p:spPr>
          <a:xfrm>
            <a:off x="9921240" y="187452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7/30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9921240" y="2880360"/>
            <a:ext cx="1965960" cy="2331720"/>
          </a:xfrm>
          <a:prstGeom prst="roundRect">
            <a:avLst>
              <a:gd name="adj" fmla="val 1860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012680" y="30175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아마존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0012680" y="33832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Amazon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10058400" y="3703320"/>
            <a:ext cx="1645920" cy="0"/>
          </a:xfrm>
          <a:prstGeom prst="line">
            <a:avLst/>
          </a:prstGeom>
          <a:noFill/>
          <a:ln w="9525">
            <a:solidFill>
              <a:srgbClr val="CDCEC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12680" y="379476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AWS·Capex $200B(최대)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Trainium 자체칩 진척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02920" y="5440680"/>
            <a:ext cx="11183112" cy="685800"/>
          </a:xfrm>
          <a:prstGeom prst="roundRect">
            <a:avLst>
              <a:gd name="adj" fmla="val 5333"/>
            </a:avLst>
          </a:prstGeom>
          <a:solidFill>
            <a:srgbClr val="043B72">
              <a:alpha val="8000"/>
            </a:srgbClr>
          </a:solidFill>
          <a:ln w="12700">
            <a:solidFill>
              <a:srgbClr val="043B7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77240" y="54406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메모리 관점의 함의:  </a:t>
            </a:r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빅테크가 Capex 가이던스를 유지·상향하면 → HBM·서버 DRAM 수요 지속의 강력한 확인 신호.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502920" y="63550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IG, CNBC, Alphastreet (2026.07). 일정·수치는 시장 컨센서스 기준.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11292840" y="63276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502920" cy="45720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6035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03 · 실적 시즌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84632" y="89611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빅테크 AI Capex: $725B의 무게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2026E 4대 빅테크 합산 Capex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$725B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502920" y="33375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전년 대비 </a:t>
            </a:r>
            <a:pPr indent="0" marL="0">
              <a:buNone/>
            </a:pPr>
            <a:r>
              <a:rPr lang="en-US" sz="15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+77%</a:t>
            </a:r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 ($410B → $725B)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886200"/>
            <a:ext cx="4206240" cy="2011680"/>
          </a:xfrm>
          <a:prstGeom prst="roundRect">
            <a:avLst>
              <a:gd name="adj" fmla="val 1818"/>
            </a:avLst>
          </a:prstGeom>
          <a:solidFill>
            <a:srgbClr val="ECEFF4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핵심 논쟁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343400"/>
            <a:ext cx="3749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"$725B 인프라 투자를 정당화할 만큼 AI 매출이 빠르게 성장하고 있는가?"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→ 이번 실적 시즌이 답할 바로 그 질문.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29200" y="182880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기업별 2026E AI Capex (십억 달러)</a:t>
            </a:r>
            <a:endParaRPr lang="en-US" sz="13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892040" y="2194560"/>
          <a:ext cx="685800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/>
          <p:nvPr/>
        </p:nvSpPr>
        <p:spPr>
          <a:xfrm>
            <a:off x="502920" y="63550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Futurum, ValueAdd, CNBC (2026). 2026E 기준 합산 근사치.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11292840" y="63276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502920" cy="45720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6035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04 · 전망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84632" y="89611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모건스탠리 &amp; 외국계 IB의 두 얼굴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모건스탠리 Q3'26 메모리 가격 전망 상향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148840"/>
          <a:ext cx="557784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52578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PC DRAM 상승률 전망 3~8% → 15~20%로 상향. 서버 DRAM·GDDR·SSD도 동반 상향.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263640" y="1783080"/>
            <a:ext cx="5422392" cy="196596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5875">
            <a:solidFill>
              <a:srgbClr val="D4A01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92240" y="1920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17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그러나 — '단기 모멘텀 정점' 경고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73952" y="22402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4A017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89%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8503920" y="22860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DRAM 이익추정 상향 폭(revision breadth)이 역사적 고점 수준(≈89%)에 근접 — 추가 상향 여력 축소 신호.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63640" y="3931920"/>
            <a:ext cx="5422392" cy="1737360"/>
          </a:xfrm>
          <a:prstGeom prst="roundRect">
            <a:avLst>
              <a:gd name="adj" fmla="val 2105"/>
            </a:avLst>
          </a:prstGeom>
          <a:solidFill>
            <a:srgbClr val="ECEFF4"/>
          </a:solidFill>
          <a:ln/>
        </p:spPr>
      </p:sp>
      <p:sp>
        <p:nvSpPr>
          <p:cNvPr id="13" name="Text 10"/>
          <p:cNvSpPr/>
          <p:nvPr/>
        </p:nvSpPr>
        <p:spPr>
          <a:xfrm>
            <a:off x="6492240" y="40690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사이클의 모양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92240" y="43891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과거식 'V자 반등'이 아니라 </a:t>
            </a:r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완만한 점진적 회복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시나리오. 다운사이클이 길었던 만큼 상승도 길게, 그러나 기울기는 완만.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502920" y="63550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Morgan Stanley 리서치 요약 (KuCoin, k4i.com, 2026.07).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1292840" y="63276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502920" cy="45720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6035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04 · 전망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84632" y="89611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국내 증권사: 크게 엇갈리는 시각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6459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목표주가 — 저점 185만 원(BNK) vs 고점 430만 원(SK증권). 단일 종목에 200만 원 이상의 괴리.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148840"/>
          <a:ext cx="676656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452360" y="2103120"/>
            <a:ext cx="4233672" cy="3749040"/>
          </a:xfrm>
          <a:prstGeom prst="roundRect">
            <a:avLst>
              <a:gd name="adj" fmla="val 976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0" y="2240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의견 분화의 이유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680960" y="26517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상향 논리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680960" y="290779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하반기 HBM4 반영 → HBM ASP 상승 본격화. 내년 HBM 가격 +100% 전망도.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80960" y="343814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하향 논리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680960" y="369417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가격 상승세·이익 성장률 둔화 가능성. 밸류에이션 부담에 목표가 하향·매도 리포트도.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680960" y="4224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미래에셋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680960" y="448056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목표주가 200만 → 270만 원(+35%) 상향.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80960" y="50109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680960" y="5266944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최고 목표가 58.5~61만 원 제시. 2월 업계 최초 HBM4 양산 출하.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02920" y="63550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뉴시스, 파이낸셜뉴스, 비즈워치, 미래에셋증권 리서치 (2026.06~07). 목표가는 시점별 제시치.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11292840" y="63276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502920" cy="45720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6035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04 · 변수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84632" y="89611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중국 CXMT: 공급 변수의 실체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CXMT 글로벌 DRAM 점유율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14884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521208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2026E 약 350K WSPM — 마이크론과 격차 25K WSPM까지 축소. 세계 2위 DRAM 생산기지 부상.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108192" y="1828800"/>
            <a:ext cx="5577840" cy="1920240"/>
          </a:xfrm>
          <a:prstGeom prst="roundRect">
            <a:avLst>
              <a:gd name="adj" fmla="val 1905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36792" y="19659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 — 범용 DRAM 가격 압박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336792" y="228600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공격적 증설이 레거시·범용 DRAM 가격의 상단을 누를 수 있음. 2023→2026 점유율 4%→11%로 3배 가까이 확대.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08192" y="3886200"/>
            <a:ext cx="5577840" cy="20116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5875">
            <a:solidFill>
              <a:srgbClr val="043B7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36792" y="40233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완충 — AI 메모리는 다른 리그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336792" y="437083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•  </a:t>
            </a:r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증설 상당분은 중국 내수 소화 → 글로벌 과잉으로 직결되지 않음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336792" y="48554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•  </a:t>
            </a:r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양산은 아직 미검증 — 핵심 고부가 영역의 격차는 여전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336792" y="534009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•  </a:t>
            </a:r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2027년 말 서버 DRAM+HBM이 DRAM 시장의 50%+ 차지 전망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02920" y="63550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Tom's Hardware, SemiAnalysis, Counterpoint, DigiTimes (2026.07).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11292840" y="63276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502920" cy="45720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6035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05 · 심리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84632" y="89611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확신은 어떻게 만들어지나 — PER vs PBR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5486400" cy="2468880"/>
          </a:xfrm>
          <a:prstGeom prst="roundRect">
            <a:avLst>
              <a:gd name="adj" fmla="val 1481"/>
            </a:avLst>
          </a:prstGeom>
          <a:solidFill>
            <a:srgbClr val="F58220">
              <a:alpha val="10000"/>
            </a:srgbClr>
          </a:solidFill>
          <a:ln w="15875">
            <a:solidFill>
              <a:srgbClr val="F582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매수자는 PER로 말한다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42316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이익 성장 스토리에 주목 — HBM4·서버 DRAM의 이익 레벨 업, 사이클 상승 지속을 근거로 밸류에이션을 정당화.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9632" y="1828800"/>
            <a:ext cx="5486400" cy="2468880"/>
          </a:xfrm>
          <a:prstGeom prst="roundRect">
            <a:avLst>
              <a:gd name="adj" fmla="val 1481"/>
            </a:avLst>
          </a:prstGeom>
          <a:solidFill>
            <a:srgbClr val="043B72">
              <a:alpha val="10000"/>
            </a:srgbClr>
          </a:solidFill>
          <a:ln w="15875">
            <a:solidFill>
              <a:srgbClr val="043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매도자는 PBR로 말한다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73952" y="242316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자산가치·사이클 고점 부담에 주목 — 이익의 정점 통과 가능성, 다운사이클 재현 리스크를 근거로 눈높이를 낮춤.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4526280"/>
            <a:ext cx="11183112" cy="1371600"/>
          </a:xfrm>
          <a:prstGeom prst="roundRect">
            <a:avLst>
              <a:gd name="adj" fmla="val 2667"/>
            </a:avLst>
          </a:prstGeom>
          <a:solidFill>
            <a:srgbClr val="ECEFF4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663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수급 경고 — 단일종목 레버리지 ETF의 변동성 감가(Volatility Decay)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50292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레버리지 ETF는 상승 시 추가 매수·하락 시 추가 매도하는 구조 → 시장 변동성을 증폭. 특정 국가·특정 메모리 비중이 과도하다면, PER과 PBR 두 관점을 균형 있게 점검할 필요.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" y="63550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첨부 K-Freedom Insights 'PER과 심리학', '레버리지 ETF 변동성 감가'.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1292840" y="63276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502920" cy="45720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6035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05 · 기준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84632" y="89611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투자 기준의 재점검: 통제의 경계선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5486400" cy="4023360"/>
          </a:xfrm>
          <a:prstGeom prst="roundRect">
            <a:avLst>
              <a:gd name="adj" fmla="val 90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✕  기업이 통제하기 어려운 변수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39572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단기 실적·주가에 큰 영향을 주지만, 예측도 어렵고 기업이 바꿀 수도 없다.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77240" y="3017520"/>
            <a:ext cx="493776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0175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고객사의 데이터센터 증설 속도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3675888"/>
            <a:ext cx="493776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67588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메모리 가격 사이클(업/다운)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493776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33425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AI 효율화가 바꾸는 단기 수요 전망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992624"/>
            <a:ext cx="493776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992624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매크로·환율·지정학 리스크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99632" y="1828800"/>
            <a:ext cx="5486400" cy="402336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9050">
            <a:solidFill>
              <a:srgbClr val="F582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73952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✓  기업이 스스로 만드는 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73952" y="239572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고객사의 투자 속도와 무관하게 지속적으로 발전해야 하는 영역.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73952" y="3017520"/>
            <a:ext cx="4937760" cy="548640"/>
          </a:xfrm>
          <a:prstGeom prst="roundRect">
            <a:avLst>
              <a:gd name="adj" fmla="val 5000"/>
            </a:avLst>
          </a:prstGeom>
          <a:solidFill>
            <a:srgbClr val="F58220">
              <a:alpha val="1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6656832" y="30175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더 낮은 전력 · 더 높은 성능 기술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73952" y="3675888"/>
            <a:ext cx="4937760" cy="548640"/>
          </a:xfrm>
          <a:prstGeom prst="roundRect">
            <a:avLst>
              <a:gd name="adj" fmla="val 5000"/>
            </a:avLst>
          </a:prstGeom>
          <a:solidFill>
            <a:srgbClr val="F58220">
              <a:alpha val="1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656832" y="367588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높은 수율을 확보하는 공정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73952" y="4334256"/>
            <a:ext cx="4937760" cy="548640"/>
          </a:xfrm>
          <a:prstGeom prst="roundRect">
            <a:avLst>
              <a:gd name="adj" fmla="val 5000"/>
            </a:avLst>
          </a:prstGeom>
          <a:solidFill>
            <a:srgbClr val="F58220">
              <a:alpha val="1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6656832" y="433425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첨단 패키징 장비·소재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73952" y="4992624"/>
            <a:ext cx="4937760" cy="548640"/>
          </a:xfrm>
          <a:prstGeom prst="roundRect">
            <a:avLst>
              <a:gd name="adj" fmla="val 5000"/>
            </a:avLst>
          </a:prstGeom>
          <a:solidFill>
            <a:srgbClr val="F58220">
              <a:alpha val="1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6656832" y="4992624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효율적 설계를 지원하는 소프트웨어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02920" y="63550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첨부 K-Freedom Insights '투자 기준의 재점검' 재구성.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292840" y="63276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43B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0080"/>
            <a:ext cx="502920" cy="45720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7498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84632" y="105156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핵심 결론: 사이클이 아니라 '기술 로드맵의 방향'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CE6F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반도체 투자의 핵심은 고객사의 증설 사이클을 예측하는 것이 아니라, 기술 발전의 방향에서 필수적인 역할을 수행하고 스스로 제품 로드맵을 발전시키는 기업을 찾는 데 있다.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880360"/>
            <a:ext cx="269748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3108960"/>
            <a:ext cx="457200" cy="45720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657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성능 향상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4023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동일 전력 대비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더 높은 연산 성능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9272" y="2880360"/>
            <a:ext cx="269748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3547872" y="3108960"/>
            <a:ext cx="457200" cy="45720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3657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전력 효율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47872" y="4023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AI 시스템의 전력·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비용을 낮추는 기술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35624" y="2880360"/>
            <a:ext cx="269748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364224" y="3108960"/>
            <a:ext cx="457200" cy="45720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6" name="Text 14"/>
          <p:cNvSpPr/>
          <p:nvPr/>
        </p:nvSpPr>
        <p:spPr>
          <a:xfrm>
            <a:off x="6364224" y="3657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공정 미세화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64224" y="4023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높은 수율의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첨단 공정 로드맵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951976" y="2880360"/>
            <a:ext cx="269748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9180576" y="3108960"/>
            <a:ext cx="457200" cy="45720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20" name="Text 18"/>
          <p:cNvSpPr/>
          <p:nvPr/>
        </p:nvSpPr>
        <p:spPr>
          <a:xfrm>
            <a:off x="9180576" y="3657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첨단 패키징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80576" y="4023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이종집적·2.5D/3D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장비와 소재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02920" y="4983480"/>
            <a:ext cx="11183112" cy="960120"/>
          </a:xfrm>
          <a:prstGeom prst="roundRect">
            <a:avLst>
              <a:gd name="adj" fmla="val 3810"/>
            </a:avLst>
          </a:prstGeom>
          <a:solidFill>
            <a:srgbClr val="F58220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498348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단기 투자 사이클은 변할 수 있지만, 성능·전력효율·미세화·첨단패키징이라는 기술 로드맵의 방향은 쉽게 바뀌지 않는다.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1292840" y="63276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502920" cy="45720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6035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SUMMARY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84632" y="89611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요약 &amp; 실적 시즌 관전 포인트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오늘의 5가지 메시지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286000"/>
            <a:ext cx="384048" cy="384048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2212848"/>
            <a:ext cx="4892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조정의 방아쇠는 키미 K3발 'AI 효율화' 우려 — 딥시크와 같은 논리.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953512"/>
            <a:ext cx="384048" cy="384048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953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51560" y="2880360"/>
            <a:ext cx="4892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그러나 K3는 초대형 모델로 오히려 HBM·메모리 수요를 키운다.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621024"/>
            <a:ext cx="384048" cy="384048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621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51560" y="3547872"/>
            <a:ext cx="4892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데이터센터 투자는 선행한다 — 단기 Capex와 장기 AI 보급은 분리.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4288536"/>
            <a:ext cx="384048" cy="384048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4288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4215384"/>
            <a:ext cx="4892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IB 전망은 상향과 '정점 경고'가 공존 — 완만한 회복 시나리오.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4956048"/>
            <a:ext cx="384048" cy="384048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4956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51560" y="4882896"/>
            <a:ext cx="4892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통제 가능한 '기술 로드맵'을 갖춘 기업에 집중하라.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9632" y="1783080"/>
            <a:ext cx="5486400" cy="3794760"/>
          </a:xfrm>
          <a:prstGeom prst="roundRect">
            <a:avLst>
              <a:gd name="adj" fmla="val 964"/>
            </a:avLst>
          </a:prstGeom>
          <a:solidFill>
            <a:srgbClr val="ECEFF4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1965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실적 시즌 체크리스트 (7/22~7/30)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46520" y="2423160"/>
            <a:ext cx="201168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F582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84848" y="233172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Capex 가이던스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784848" y="259689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유지·상향 여부 = HBM 수요 지속 신호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46520" y="3044952"/>
            <a:ext cx="201168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F582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84848" y="295351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AI 수익화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784848" y="321868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$725B 투자 대비 매출 성장 속도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46520" y="3666744"/>
            <a:ext cx="201168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F5822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84848" y="357530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클라우드 성장률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784848" y="38404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Azure·GCP·AWS 재가속 여부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46520" y="4288536"/>
            <a:ext cx="201168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F5822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84848" y="419709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자체 칩(ASIC)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784848" y="446227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TPU·Trainium·MAIA 진척 → HBM 수요처 다변화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46520" y="4910328"/>
            <a:ext cx="201168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F5822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84848" y="481888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코멘트 톤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784848" y="508406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'효율화'를 절감이 아닌 확산으로 말하는가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02920" y="5715000"/>
            <a:ext cx="11183112" cy="54864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" y="5715000"/>
            <a:ext cx="10835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본 자료는 반도체 산업 이해를 돕기 위한 교육·세미나용 자료이며, 특정 종목의 매수·매도 권유가 아닙니다. 언급된 기업은 예시이며 투자판단·손익의 책임은 투자자 본인에게 있습니다.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1292840" y="63276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2026-07-21T06:23:45Z</dcterms:created>
  <dcterms:modified xsi:type="dcterms:W3CDTF">2026-07-21T06:23:45Z</dcterms:modified>
</cp:coreProperties>
</file>