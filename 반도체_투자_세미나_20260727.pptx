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Capex</c:v>
                </c:pt>
              </c:strCache>
            </c:strRef>
          </c:tx>
          <c:spPr>
            <a:solidFill>
              <a:srgbClr val="F58220">
                <a:alpha val="100000"/>
              </a:srgbClr>
            </a:solidFill>
            <a:effectLst/>
          </c:spPr>
          <c:invertIfNegative val="0"/>
          <c:dLbls>
            <c:numFmt formatCode="&quot;$&quot;#,##0&quot;B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1A1A"/>
                    </a:solidFill>
                    <a:latin typeface="Spoqa Han Sans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822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43B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86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AB07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알파벳(상향)</c:v>
                  </c:pt>
                  <c:pt idx="1">
                    <c:v>아마존</c:v>
                  </c:pt>
                  <c:pt idx="2">
                    <c:v>메타</c:v>
                  </c:pt>
                  <c:pt idx="3">
                    <c:v>MS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205</c:v>
                </c:pt>
                <c:pt idx="1">
                  <c:v>200</c:v>
                </c:pt>
                <c:pt idx="2">
                  <c:v>125</c:v>
                </c:pt>
                <c:pt idx="3">
                  <c:v>120</c:v>
                </c:pt>
              </c:numCache>
            </c:numRef>
          </c:val>
        </c:ser>
        <c:dLbls>
          <c:numFmt formatCode="&quot;$&quot;#,##0&quot;B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A1A1A"/>
                  </a:solidFill>
                  <a:latin typeface="Spoqa Han Sans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SK하이닉스</c:v>
                </c:pt>
              </c:strCache>
            </c:strRef>
          </c:tx>
          <c:spPr>
            <a:solidFill>
              <a:srgbClr val="F58220"/>
            </a:solidFill>
            <a:ln w="44450" cap="flat">
              <a:solidFill>
                <a:srgbClr val="F58220"/>
              </a:solidFill>
              <a:prstDash val="solid"/>
              <a:round/>
            </a:ln>
            <a:effectLst/>
          </c:spPr>
          <c:invertIfNegative val="0"/>
          <c:dLbls>
            <c:numFmt formatCode="#,##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1A1A"/>
                    </a:solidFill>
                    <a:latin typeface="Spoqa Han Sans Neo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8220"/>
              </a:solidFill>
              <a:ln w="9525" cap="flat">
                <a:solidFill>
                  <a:srgbClr val="F582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2025</c:v>
                  </c:pt>
                  <c:pt idx="1">
                    <c:v>2026E</c:v>
                  </c:pt>
                  <c:pt idx="2">
                    <c:v>2027E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58</c:v>
                </c:pt>
                <c:pt idx="2">
                  <c:v>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삼성전자</c:v>
                </c:pt>
              </c:strCache>
            </c:strRef>
          </c:tx>
          <c:spPr>
            <a:solidFill>
              <a:srgbClr val="043B72"/>
            </a:solidFill>
            <a:ln w="44450" cap="flat">
              <a:solidFill>
                <a:srgbClr val="043B72"/>
              </a:solidFill>
              <a:prstDash val="solid"/>
              <a:round/>
            </a:ln>
            <a:effectLst/>
          </c:spPr>
          <c:invertIfNegative val="0"/>
          <c:dLbls>
            <c:numFmt formatCode="#,##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1A1A"/>
                    </a:solidFill>
                    <a:latin typeface="Spoqa Han Sans Neo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43B72"/>
              </a:solidFill>
              <a:ln w="9525" cap="flat">
                <a:solidFill>
                  <a:srgbClr val="043B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2025</c:v>
                  </c:pt>
                  <c:pt idx="1">
                    <c:v>2026E</c:v>
                  </c:pt>
                  <c:pt idx="2">
                    <c:v>2027E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</c:v>
                </c:pt>
                <c:pt idx="1">
                  <c:v>33</c:v>
                </c:pt>
                <c:pt idx="2">
                  <c:v>48</c:v>
                </c:pt>
              </c:numCache>
            </c:numRef>
          </c:val>
          <c:smooth val="0"/>
        </c:ser>
        <c:dLbls>
          <c:numFmt formatCode="#,##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A1A1A"/>
                  </a:solidFill>
                  <a:latin typeface="Spoqa Han Sans Neo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C6C6C"/>
              </a:solidFill>
              <a:latin typeface="Spoqa Han Sans Neo"/>
              <a:cs typeface="Spoqa Han Sans Ne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점유율</c:v>
                </c:pt>
              </c:strCache>
            </c:strRef>
          </c:tx>
          <c:spPr>
            <a:solidFill>
              <a:srgbClr val="F58220"/>
            </a:solidFill>
            <a:ln w="44450" cap="flat">
              <a:solidFill>
                <a:srgbClr val="F58220"/>
              </a:solidFill>
              <a:prstDash val="solid"/>
              <a:round/>
            </a:ln>
            <a:effectLst/>
          </c:spPr>
          <c:invertIfNegative val="0"/>
          <c:dLbls>
            <c:numFmt formatCode="#,##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CB6015"/>
                    </a:solidFill>
                    <a:latin typeface="Spoqa Han Sans Neo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8220"/>
              </a:solidFill>
              <a:ln w="9525" cap="flat">
                <a:solidFill>
                  <a:srgbClr val="F582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9</c:v>
                </c:pt>
                <c:pt idx="3">
                  <c:v>11</c:v>
                </c:pt>
              </c:numCache>
            </c:numRef>
          </c:val>
          <c:smooth val="0"/>
        </c:ser>
        <c:dLbls>
          <c:numFmt formatCode="#,##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CB6015"/>
                  </a:solidFill>
                  <a:latin typeface="Spoqa Han Sans Neo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8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CB6015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반도체 투자 세미나  ·  2026. 07. 27 (월)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1737360"/>
            <a:ext cx="10607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반도체, 조정 속에서</a:t>
            </a:r>
            <a:endParaRPr lang="en-US" sz="50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무엇을 볼 것인가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4069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이번 주 '실적 슈퍼위크' · AI 수요의 실체 · 관심종목 삼성전자·SK하이닉스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4846320"/>
            <a:ext cx="33832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956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212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 2Q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51960" y="4846320"/>
            <a:ext cx="33832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4956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7/30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5212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삼성전자·아마존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863840" y="4846320"/>
            <a:ext cx="33832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092440" y="4956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관심종목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92440" y="5212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삼성·SK하이닉스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주식 투자 세미나 강의안  |  발표자 준비자료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SNAPSHOT · 오늘의 시장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지난주 급락, 이번 주가 분수령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지난주 급락 (7/24 종가)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246888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56946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175.9만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32688" y="33192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▼ 8.3%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37560" y="2423160"/>
            <a:ext cx="246888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256946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삼성전자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24.95만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38728" y="33192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▼ 7.6%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3977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외국인 순매도 전환:  </a:t>
            </a:r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 -1.76조 · 삼성 -0.87조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617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차익실현·AI 효율화 우려로 변동성 확대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99632" y="178308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043B72"/>
          </a:solidFill>
          <a:ln/>
        </p:spPr>
      </p:sp>
      <p:sp>
        <p:nvSpPr>
          <p:cNvPr id="18" name="Text 16"/>
          <p:cNvSpPr/>
          <p:nvPr/>
        </p:nvSpPr>
        <p:spPr>
          <a:xfrm>
            <a:off x="6428232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이번 주 = 실적 슈퍼위크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28232" y="2468880"/>
            <a:ext cx="960120" cy="502920"/>
          </a:xfrm>
          <a:prstGeom prst="roundRect">
            <a:avLst>
              <a:gd name="adj" fmla="val 7273"/>
            </a:avLst>
          </a:prstGeom>
          <a:solidFill>
            <a:srgbClr val="F58220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24688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7/29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43800" y="246888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 2Q — 역대 최대 전망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28232" y="3127248"/>
            <a:ext cx="960120" cy="502920"/>
          </a:xfrm>
          <a:prstGeom prst="roundRect">
            <a:avLst>
              <a:gd name="adj" fmla="val 7273"/>
            </a:avLst>
          </a:prstGeom>
          <a:solidFill>
            <a:srgbClr val="F58220"/>
          </a:solidFill>
          <a:ln/>
        </p:spPr>
      </p:sp>
      <p:sp>
        <p:nvSpPr>
          <p:cNvPr id="23" name="Text 21"/>
          <p:cNvSpPr/>
          <p:nvPr/>
        </p:nvSpPr>
        <p:spPr>
          <a:xfrm>
            <a:off x="6428232" y="312724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7/29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43800" y="312724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마이크로소프트 · 메타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28232" y="3785616"/>
            <a:ext cx="960120" cy="502920"/>
          </a:xfrm>
          <a:prstGeom prst="roundRect">
            <a:avLst>
              <a:gd name="adj" fmla="val 7273"/>
            </a:avLst>
          </a:prstGeom>
          <a:solidFill>
            <a:srgbClr val="F58220"/>
          </a:solidFill>
          <a:ln/>
        </p:spPr>
      </p:sp>
      <p:sp>
        <p:nvSpPr>
          <p:cNvPr id="26" name="Text 24"/>
          <p:cNvSpPr/>
          <p:nvPr/>
        </p:nvSpPr>
        <p:spPr>
          <a:xfrm>
            <a:off x="6428232" y="378561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7/30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43800" y="3785616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삼성전자(부문 상세) · 아마존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28232" y="45262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F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미국은 이미 '실적'으로 수요 확인 → 국내는 이번 주 확인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02920" y="5577840"/>
            <a:ext cx="11183112" cy="640080"/>
          </a:xfrm>
          <a:prstGeom prst="roundRect">
            <a:avLst>
              <a:gd name="adj" fmla="val 5714"/>
            </a:avLst>
          </a:prstGeom>
          <a:solidFill>
            <a:srgbClr val="F58220">
              <a:alpha val="12000"/>
            </a:srgbClr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5778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오늘의 질문:  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떨어지는 주가가 '수요 둔화'의 신호일까, 아니면 '차익실현'일 뿐일까?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톱스타뉴스, 파이낸셜뉴스, CNBC (2026.07.24~27). 종가·일정은 보도 기준.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쉽게 이해하기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30초 용어 정리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오늘 자주 나올 5개 단어 — 이것만 알면 충분합니다.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2350008"/>
            <a:ext cx="128016" cy="731520"/>
          </a:xfrm>
          <a:prstGeom prst="roundRect">
            <a:avLst>
              <a:gd name="adj" fmla="val 14286"/>
            </a:avLst>
          </a:prstGeom>
          <a:solidFill>
            <a:srgbClr val="F58220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3134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697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AI 반도체용 초고속 메모리. AI 연산의 '병목'을 뚫는 핵심 부품 — SK·삼성의 주력.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214884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350008"/>
            <a:ext cx="128016" cy="731520"/>
          </a:xfrm>
          <a:prstGeom prst="roundRect">
            <a:avLst>
              <a:gd name="adj" fmla="val 14286"/>
            </a:avLst>
          </a:prstGeom>
          <a:solidFill>
            <a:srgbClr val="043B72"/>
          </a:solidFill>
          <a:ln/>
        </p:spPr>
      </p:sp>
      <p:sp>
        <p:nvSpPr>
          <p:cNvPr id="12" name="Text 10"/>
          <p:cNvSpPr/>
          <p:nvPr/>
        </p:nvSpPr>
        <p:spPr>
          <a:xfrm>
            <a:off x="6656832" y="23134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Capex (설비투자)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56832" y="2697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빅테크가 데이터센터·AI칩에 쏟는 돈. 많을수록 메모리 수요가 늘어난다.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42900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630168"/>
            <a:ext cx="128016" cy="731520"/>
          </a:xfrm>
          <a:prstGeom prst="roundRect">
            <a:avLst>
              <a:gd name="adj" fmla="val 14286"/>
            </a:avLst>
          </a:prstGeom>
          <a:solidFill>
            <a:srgbClr val="0086B8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59359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86B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하이퍼스케일러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3977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구글·MS·아마존·메타 등 초대형 클라우드 기업. AI 투자의 '큰손'.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99632" y="342900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3630168"/>
            <a:ext cx="128016" cy="731520"/>
          </a:xfrm>
          <a:prstGeom prst="roundRect">
            <a:avLst>
              <a:gd name="adj" fmla="val 14286"/>
            </a:avLst>
          </a:prstGeom>
          <a:solidFill>
            <a:srgbClr val="CB6015"/>
          </a:solidFill>
          <a:ln/>
        </p:spPr>
      </p:sp>
      <p:sp>
        <p:nvSpPr>
          <p:cNvPr id="20" name="Text 18"/>
          <p:cNvSpPr/>
          <p:nvPr/>
        </p:nvSpPr>
        <p:spPr>
          <a:xfrm>
            <a:off x="6656832" y="359359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파운드리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56832" y="3977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반도체 위탁생산. 삼성·TSMC·인텔이 경쟁하는 시장.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470916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" y="4910328"/>
            <a:ext cx="128016" cy="731520"/>
          </a:xfrm>
          <a:prstGeom prst="roundRect">
            <a:avLst>
              <a:gd name="adj" fmla="val 14286"/>
            </a:avLst>
          </a:prstGeom>
          <a:solidFill>
            <a:srgbClr val="D4A017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48737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" y="5257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차세대(6세대) HBM. 2026년 삼성·SK 경쟁의 핵심 승부처.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99632" y="470916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58220">
              <a:alpha val="10000"/>
            </a:srgbClr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846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한 줄 요약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0" y="51663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"AI가 커질수록 HBM이 더 필요하고, 그 중심에 삼성·SK하이닉스가 있다."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01 · 왜 흔들렸나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방아쇠: 키미 K3와 'AI 효율화' 공포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212080" cy="3931920"/>
          </a:xfrm>
          <a:prstGeom prst="roundRect">
            <a:avLst>
              <a:gd name="adj" fmla="val 1395"/>
            </a:avLst>
          </a:prstGeom>
          <a:solidFill>
            <a:srgbClr val="043B7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94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키미 K3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2.8조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77240" y="39776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파라미터 — 중국 문샷 AI, 7/16 공개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오픈웨이트 최대 규모·저비용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50749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→ '제2의 딥시크' 해석, 반도체주 동반 급락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1920240"/>
            <a:ext cx="5742432" cy="3931920"/>
          </a:xfrm>
          <a:prstGeom prst="roundRect">
            <a:avLst>
              <a:gd name="adj" fmla="val 1395"/>
            </a:avLst>
          </a:prstGeom>
          <a:solidFill>
            <a:srgbClr val="ECEFF4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148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시장의 공포 (쉽게 말하면)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265176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3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"AI를 더 싸게 만들 수 있다면,</a:t>
            </a:r>
            <a:endParaRPr lang="en-US" sz="23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3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비싼 AI칩·HBM은</a:t>
            </a:r>
            <a:endParaRPr lang="en-US" sz="23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3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덜 팔리는 것 아닌가?"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6217920" y="4892040"/>
            <a:ext cx="5193792" cy="777240"/>
          </a:xfrm>
          <a:prstGeom prst="roundRect">
            <a:avLst>
              <a:gd name="adj" fmla="val 5882"/>
            </a:avLst>
          </a:prstGeom>
          <a:solidFill>
            <a:srgbClr val="F58220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4892040"/>
            <a:ext cx="5193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정말 그럴까? → 다음 3장에서 반박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Bloomberg, Fortune, 첨부 K-Freedom Insights (2026.07).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02 · 진짜 수요가 줄까?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반박 ① 효율화 ≠ 수요 감소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611880" cy="1554480"/>
          </a:xfrm>
          <a:prstGeom prst="roundRect">
            <a:avLst>
              <a:gd name="adj" fmla="val 3529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1.5TB+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K3 가중치용 HBM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88536" y="1828800"/>
            <a:ext cx="3611880" cy="1554480"/>
          </a:xfrm>
          <a:prstGeom prst="roundRect">
            <a:avLst>
              <a:gd name="adj" fmla="val 3529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2856" y="2057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64칩+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2856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슈퍼노드 클러스터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74152" y="1828800"/>
            <a:ext cx="3611880" cy="1554480"/>
          </a:xfrm>
          <a:prstGeom prst="roundRect">
            <a:avLst>
              <a:gd name="adj" fmla="val 3529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2057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6B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KV Cache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8472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메모리 계층 확대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5204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역설: 초대형 K3는 오히려 메모리를 '더' 요구한다  (Bloomberg: "more about memory than compute")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977640"/>
            <a:ext cx="11183112" cy="1874520"/>
          </a:xfrm>
          <a:prstGeom prst="roundRect">
            <a:avLst>
              <a:gd name="adj" fmla="val 2927"/>
            </a:avLst>
          </a:prstGeom>
          <a:solidFill>
            <a:srgbClr val="F58220">
              <a:alpha val="10000"/>
            </a:srgbClr>
          </a:solidFill>
          <a:ln w="15875">
            <a:solidFill>
              <a:srgbClr val="F582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1605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제본스의 역설  —  쉽게 말하면 '싸지면 더 많이 쓴다'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709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비용 </a:t>
            </a:r>
            <a:pPr indent="0" marL="0">
              <a:buNone/>
            </a:pPr>
            <a:r>
              <a:rPr lang="en-US" sz="26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1/10</a:t>
            </a:r>
            <a:pPr indent="0" marL="0">
              <a:buNone/>
            </a:pPr>
            <a:r>
              <a:rPr lang="en-US" sz="2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  ×  사용량 </a:t>
            </a:r>
            <a:pPr indent="0" marL="0">
              <a:buNone/>
            </a:pPr>
            <a:r>
              <a:rPr lang="en-US" sz="2600" b="1" dirty="0">
                <a:solidFill>
                  <a:srgbClr val="2E854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20배</a:t>
            </a:r>
            <a:pPr indent="0" marL="0">
              <a:buNone/>
            </a:pPr>
            <a:r>
              <a:rPr lang="en-US" sz="2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   =   총 수요 </a:t>
            </a:r>
            <a:pPr indent="0" marL="0">
              <a:buNone/>
            </a:pPr>
            <a:r>
              <a:rPr lang="en-US" sz="26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2배 ↑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240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효율화는 수요의 '천장'이 아니라 '확산의 사다리'.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Bloomberg (2026.07.20), 첨부 K-Freedom Insights.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02 · 오히려 커진다 ①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반박 ② 로봇·피지컬 AI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212080" cy="4023360"/>
          </a:xfrm>
          <a:prstGeom prst="roundRect">
            <a:avLst>
              <a:gd name="adj" fmla="val 1364"/>
            </a:avLst>
          </a:prstGeom>
          <a:solidFill>
            <a:srgbClr val="ECEFF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휴머노이드 1대 =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10배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평균 차량 대비 메모리 탑재량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(마이크론 CEO)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4434840"/>
            <a:ext cx="46634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57200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로봇 1억 대 × 300GB = 30EB</a:t>
            </a:r>
            <a:endParaRPr lang="en-US" sz="15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 글로벌 DRAM 생산능력의 약 75%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한국이 서 있는 자리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0" y="2286000"/>
            <a:ext cx="5742432" cy="868680"/>
          </a:xfrm>
          <a:prstGeom prst="roundRect">
            <a:avLst>
              <a:gd name="adj" fmla="val 5263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44768" y="2532888"/>
            <a:ext cx="384048" cy="384048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4048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엔비디아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20840" y="27432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로봇 학습 '디지털 트윈' 플랫폼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3246120"/>
            <a:ext cx="5742432" cy="868680"/>
          </a:xfrm>
          <a:prstGeom prst="roundRect">
            <a:avLst>
              <a:gd name="adj" fmla="val 5263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44768" y="3493008"/>
            <a:ext cx="384048" cy="384048"/>
          </a:xfrm>
          <a:prstGeom prst="ellipse">
            <a:avLst/>
          </a:prstGeom>
          <a:solidFill>
            <a:srgbClr val="043B72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336499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삼성전자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20840" y="37033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레인보우로보틱스·공장 무인화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4206240"/>
            <a:ext cx="5742432" cy="868680"/>
          </a:xfrm>
          <a:prstGeom prst="roundRect">
            <a:avLst>
              <a:gd name="adj" fmla="val 5263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44768" y="4453128"/>
            <a:ext cx="384048" cy="384048"/>
          </a:xfrm>
          <a:prstGeom prst="ellipse">
            <a:avLst/>
          </a:prstGeom>
          <a:solidFill>
            <a:srgbClr val="0086B8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43251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20840" y="46634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iHBM(내장 냉각)으로 발열 해법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0" y="5193792"/>
            <a:ext cx="5742432" cy="658368"/>
          </a:xfrm>
          <a:prstGeom prst="roundRect">
            <a:avLst>
              <a:gd name="adj" fmla="val 6944"/>
            </a:avLst>
          </a:prstGeom>
          <a:solidFill>
            <a:srgbClr val="F58220">
              <a:alpha val="10000"/>
            </a:srgbClr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4768" y="519379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휴머노이드 시장  </a:t>
            </a:r>
            <a:pPr indent="0" marL="0">
              <a:buNone/>
            </a:pPr>
            <a:r>
              <a:rPr lang="en-US" sz="15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$5.4B → $50B+ </a:t>
            </a:r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(2026→2035)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Micron 실적 콜, MarketsandMarkets, 한국기계연구원 (2025~2026).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02 · 오히려 커진다 ②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반박 ③ 빅테크 Capex는 가속 중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2026E 합산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$725B+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502920" y="3474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전년비 </a:t>
            </a:r>
            <a:pPr indent="0" marL="0">
              <a:buNone/>
            </a:pPr>
            <a:r>
              <a:rPr lang="en-US" sz="1800" b="1" dirty="0">
                <a:solidFill>
                  <a:srgbClr val="2E854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+77%↑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4023360"/>
            <a:ext cx="4206240" cy="1783080"/>
          </a:xfrm>
          <a:prstGeom prst="roundRect">
            <a:avLst>
              <a:gd name="adj" fmla="val 2564"/>
            </a:avLst>
          </a:prstGeom>
          <a:solidFill>
            <a:srgbClr val="ECEFF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160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알파벳이 준 신호 (7/22)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5262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Capex $185B→$205B 상향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클라우드 +82%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→ 데이터센터 수요는 '가속'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8745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기업별 2026E AI Capex (십억 달러)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92040" y="2240280"/>
          <a:ext cx="6858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CNBC, Seeking Alpha, Futurum (2026.07). 알파벳은 상향 가이던스 상단.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03 · 실적이 답한다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실적 슈퍼위크 (7/22~7/30)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157984" cy="502920"/>
          </a:xfrm>
          <a:prstGeom prst="roundRect">
            <a:avLst>
              <a:gd name="adj" fmla="val 9091"/>
            </a:avLst>
          </a:prstGeom>
          <a:solidFill>
            <a:srgbClr val="2E854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916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알파벳 ✓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70632" y="1691640"/>
            <a:ext cx="2157984" cy="502920"/>
          </a:xfrm>
          <a:prstGeom prst="roundRect">
            <a:avLst>
              <a:gd name="adj" fmla="val 9091"/>
            </a:avLst>
          </a:prstGeom>
          <a:solidFill>
            <a:srgbClr val="2E8540"/>
          </a:solidFill>
          <a:ln/>
        </p:spPr>
      </p:sp>
      <p:sp>
        <p:nvSpPr>
          <p:cNvPr id="8" name="Text 6"/>
          <p:cNvSpPr/>
          <p:nvPr/>
        </p:nvSpPr>
        <p:spPr>
          <a:xfrm>
            <a:off x="2770632" y="16916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인텔 ✓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38344" y="1691640"/>
            <a:ext cx="2157984" cy="502920"/>
          </a:xfrm>
          <a:prstGeom prst="roundRect">
            <a:avLst>
              <a:gd name="adj" fmla="val 9091"/>
            </a:avLst>
          </a:prstGeom>
          <a:solidFill>
            <a:srgbClr val="F58220"/>
          </a:solidFill>
          <a:ln/>
        </p:spPr>
      </p:sp>
      <p:sp>
        <p:nvSpPr>
          <p:cNvPr id="10" name="Text 8"/>
          <p:cNvSpPr/>
          <p:nvPr/>
        </p:nvSpPr>
        <p:spPr>
          <a:xfrm>
            <a:off x="5038344" y="16916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7/29 SK하이닉스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06056" y="1691640"/>
            <a:ext cx="2157984" cy="502920"/>
          </a:xfrm>
          <a:prstGeom prst="roundRect">
            <a:avLst>
              <a:gd name="adj" fmla="val 9091"/>
            </a:avLst>
          </a:prstGeom>
          <a:solidFill>
            <a:srgbClr val="043B72"/>
          </a:solidFill>
          <a:ln/>
        </p:spPr>
      </p:sp>
      <p:sp>
        <p:nvSpPr>
          <p:cNvPr id="12" name="Text 10"/>
          <p:cNvSpPr/>
          <p:nvPr/>
        </p:nvSpPr>
        <p:spPr>
          <a:xfrm>
            <a:off x="7306056" y="16916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7/29 MS·메타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573768" y="1691640"/>
            <a:ext cx="2157984" cy="502920"/>
          </a:xfrm>
          <a:prstGeom prst="roundRect">
            <a:avLst>
              <a:gd name="adj" fmla="val 9091"/>
            </a:avLst>
          </a:prstGeom>
          <a:solidFill>
            <a:srgbClr val="043B72"/>
          </a:solidFill>
          <a:ln/>
        </p:spPr>
      </p:sp>
      <p:sp>
        <p:nvSpPr>
          <p:cNvPr id="14" name="Text 12"/>
          <p:cNvSpPr/>
          <p:nvPr/>
        </p:nvSpPr>
        <p:spPr>
          <a:xfrm>
            <a:off x="9573768" y="16916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7/30 삼성·아마존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2423160"/>
            <a:ext cx="11183112" cy="2331720"/>
          </a:xfrm>
          <a:prstGeom prst="roundRect">
            <a:avLst>
              <a:gd name="adj" fmla="val 2353"/>
            </a:avLst>
          </a:prstGeom>
          <a:solidFill>
            <a:srgbClr val="F7F8FA"/>
          </a:solidFill>
          <a:ln w="15875">
            <a:solidFill>
              <a:srgbClr val="F582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5786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 2Q 실적 컨센서스</a:t>
            </a:r>
            <a:pPr indent="0" marL="0">
              <a:buNone/>
            </a:pPr>
            <a:r>
              <a:rPr lang="en-US" sz="12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   — 7/29 발표, 분기 사상 최대 전망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" y="3017520"/>
            <a:ext cx="2615184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154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매출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1832" y="36118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84조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3511296" y="3017520"/>
            <a:ext cx="2615184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94176" y="3154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영업이익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75888" y="36118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64조</a:t>
            </a:r>
            <a:endParaRPr lang="en-US" sz="3400" dirty="0"/>
          </a:p>
        </p:txBody>
      </p:sp>
      <p:sp>
        <p:nvSpPr>
          <p:cNvPr id="23" name="Shape 21"/>
          <p:cNvSpPr/>
          <p:nvPr/>
        </p:nvSpPr>
        <p:spPr>
          <a:xfrm>
            <a:off x="6245352" y="3017520"/>
            <a:ext cx="2615184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8232" y="3154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영업이익률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9944" y="36118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854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76%</a:t>
            </a:r>
            <a:endParaRPr lang="en-US" sz="3400" dirty="0"/>
          </a:p>
        </p:txBody>
      </p:sp>
      <p:sp>
        <p:nvSpPr>
          <p:cNvPr id="26" name="Shape 24"/>
          <p:cNvSpPr/>
          <p:nvPr/>
        </p:nvSpPr>
        <p:spPr>
          <a:xfrm>
            <a:off x="8979408" y="3017520"/>
            <a:ext cx="2615184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62288" y="3154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상반기 누적 영업이익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0" y="36118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≈100조</a:t>
            </a:r>
            <a:endParaRPr lang="en-US" sz="3400" dirty="0"/>
          </a:p>
        </p:txBody>
      </p:sp>
      <p:sp>
        <p:nvSpPr>
          <p:cNvPr id="29" name="Shape 27"/>
          <p:cNvSpPr/>
          <p:nvPr/>
        </p:nvSpPr>
        <p:spPr>
          <a:xfrm>
            <a:off x="502920" y="4937760"/>
            <a:ext cx="11183112" cy="914400"/>
          </a:xfrm>
          <a:prstGeom prst="roundRect">
            <a:avLst>
              <a:gd name="adj" fmla="val 5000"/>
            </a:avLst>
          </a:prstGeom>
          <a:solidFill>
            <a:srgbClr val="043B72">
              <a:alpha val="8000"/>
            </a:srgbClr>
          </a:solidFill>
          <a:ln w="12700">
            <a:solidFill>
              <a:srgbClr val="043B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9377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삼성전자 7/30:  </a:t>
            </a:r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사업부문별 세부 실적·하반기 전망 공개.  DRAM+NAND '최대 생산능력' → 메모리 초호황의 영업 레버리지 수혜 관건.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헤럴드경제, 파이낸셜뉴스, 스톡플러스 (2026.07). 컨센서스(시장 추정)이며 발표로 확인 필요.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03 · 전문가 시각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IB는 상향, 국내는 엇갈림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86400" cy="4069080"/>
          </a:xfrm>
          <a:prstGeom prst="roundRect">
            <a:avLst>
              <a:gd name="adj" fmla="val 1348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외국계 IB — 모건스탠리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54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가격 전망 상향 </a:t>
            </a:r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PC DRAM 3~8% → 15~20%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971800"/>
            <a:ext cx="502920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5875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10896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4A017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89%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743200" y="31089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이익추정 상향 폭이 역사적 고점 수준 — '단기 정점' 경고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사이클의 모양: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'V자'가 아니라 완만한 점진적 회복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99632" y="1783080"/>
            <a:ext cx="5486400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국내 증권사 — 크게 엇갈림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28232" y="2377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 목표주가 (현재가 175.9만)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28232" y="2743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BNK (HOLD)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12480" y="2779776"/>
            <a:ext cx="924501" cy="274320"/>
          </a:xfrm>
          <a:prstGeom prst="roundRect">
            <a:avLst>
              <a:gd name="adj" fmla="val 6667"/>
            </a:avLst>
          </a:prstGeom>
          <a:solidFill>
            <a:srgbClr val="6C6C6C"/>
          </a:solidFill>
          <a:ln/>
        </p:spPr>
      </p:sp>
      <p:sp>
        <p:nvSpPr>
          <p:cNvPr id="17" name="Text 15"/>
          <p:cNvSpPr/>
          <p:nvPr/>
        </p:nvSpPr>
        <p:spPr>
          <a:xfrm>
            <a:off x="9382701" y="27432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185만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28232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미래에셋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412480" y="3236976"/>
            <a:ext cx="1349272" cy="274320"/>
          </a:xfrm>
          <a:prstGeom prst="roundRect">
            <a:avLst>
              <a:gd name="adj" fmla="val 6667"/>
            </a:avLst>
          </a:prstGeom>
          <a:solidFill>
            <a:srgbClr val="F58220"/>
          </a:solidFill>
          <a:ln/>
        </p:spPr>
      </p:sp>
      <p:sp>
        <p:nvSpPr>
          <p:cNvPr id="20" name="Text 18"/>
          <p:cNvSpPr/>
          <p:nvPr/>
        </p:nvSpPr>
        <p:spPr>
          <a:xfrm>
            <a:off x="9807472" y="32004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270만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28232" y="3657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12M 평균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412480" y="3694176"/>
            <a:ext cx="1584145" cy="274320"/>
          </a:xfrm>
          <a:prstGeom prst="roundRect">
            <a:avLst>
              <a:gd name="adj" fmla="val 6667"/>
            </a:avLst>
          </a:prstGeom>
          <a:solidFill>
            <a:srgbClr val="043B72"/>
          </a:solidFill>
          <a:ln/>
        </p:spPr>
      </p:sp>
      <p:sp>
        <p:nvSpPr>
          <p:cNvPr id="23" name="Text 21"/>
          <p:cNvSpPr/>
          <p:nvPr/>
        </p:nvSpPr>
        <p:spPr>
          <a:xfrm>
            <a:off x="10042345" y="36576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317만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28232" y="4114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SK증권(고점)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412480" y="4151376"/>
            <a:ext cx="2148840" cy="274320"/>
          </a:xfrm>
          <a:prstGeom prst="roundRect">
            <a:avLst>
              <a:gd name="adj" fmla="val 6667"/>
            </a:avLst>
          </a:prstGeom>
          <a:solidFill>
            <a:srgbClr val="CB6015"/>
          </a:solidFill>
          <a:ln/>
        </p:spPr>
      </p:sp>
      <p:sp>
        <p:nvSpPr>
          <p:cNvPr id="26" name="Text 24"/>
          <p:cNvSpPr/>
          <p:nvPr/>
        </p:nvSpPr>
        <p:spPr>
          <a:xfrm>
            <a:off x="10607040" y="41148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430만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28232" y="4709160"/>
            <a:ext cx="5029200" cy="960120"/>
          </a:xfrm>
          <a:prstGeom prst="roundRect">
            <a:avLst>
              <a:gd name="adj" fmla="val 4762"/>
            </a:avLst>
          </a:prstGeom>
          <a:solidFill>
            <a:srgbClr val="ECEFF4"/>
          </a:solidFill>
          <a:ln/>
        </p:spPr>
      </p:sp>
      <p:sp>
        <p:nvSpPr>
          <p:cNvPr id="28" name="Text 26"/>
          <p:cNvSpPr/>
          <p:nvPr/>
        </p:nvSpPr>
        <p:spPr>
          <a:xfrm>
            <a:off x="6611112" y="470916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약세론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 AI 투자 속도조절 우려  ·  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E854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강세론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 씨티 등 2026 이익추정 상향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Morgan Stanley, BNK투자·씨티·미래에셋 리서치, 뉴시스 (2026.07). 목표가는 시점별 제시치.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03 · 판이 바뀐다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HBM4 전장: 독주에서 양강으로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 점유율 수렴 전망 (UBS)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194560"/>
          <a:ext cx="57607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6235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UBS: "2027년 삼성이 SK와 대등한 HBM 점유율"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HBM4 핵심 이벤트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784848" y="2450592"/>
            <a:ext cx="32004" cy="3017520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2331720"/>
            <a:ext cx="329184" cy="329184"/>
          </a:xfrm>
          <a:prstGeom prst="ellipse">
            <a:avLst/>
          </a:prstGeom>
          <a:solidFill>
            <a:srgbClr val="F582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78040" y="22677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2026.02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178040" y="25877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 세계 최초 HBM4 양산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629400" y="3127248"/>
            <a:ext cx="329184" cy="329184"/>
          </a:xfrm>
          <a:prstGeom prst="ellipse">
            <a:avLst/>
          </a:prstGeom>
          <a:solidFill>
            <a:srgbClr val="043B7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7804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엔비디아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17804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베라루빈 '최초 공급자' (3년 만)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629400" y="3922776"/>
            <a:ext cx="329184" cy="329184"/>
          </a:xfrm>
          <a:prstGeom prst="ellipse">
            <a:avLst/>
          </a:prstGeom>
          <a:solidFill>
            <a:srgbClr val="F582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78040" y="3858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+4개월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178040" y="4178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 HBM4 매출 $10억 돌파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629400" y="4718304"/>
            <a:ext cx="329184" cy="329184"/>
          </a:xfrm>
          <a:prstGeom prst="ellipse">
            <a:avLst/>
          </a:prstGeom>
          <a:solidFill>
            <a:srgbClr val="043B7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78040" y="46542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방어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178040" y="49743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SK, 엔비디아 물량 약 2/3 유지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파이낸셜뉴스, DigiTimes, TrendForce, UBS (2025~2026). 전망치는 IB 추정.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WATCHLIST · 관심종목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관심종목: SK하이닉스 vs 삼성전자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4864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9050">
            <a:solidFill>
              <a:srgbClr val="F582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37360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F5822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 슈퍼사이클 선두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58952" y="25146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62%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58952" y="3200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 점유율 1위 · DRAM 글로벌 1위(34.8%)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3666744"/>
            <a:ext cx="137160" cy="137160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575304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엔비디아 HBM4 물량 약 2/3 확보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4123944"/>
            <a:ext cx="137160" cy="137160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032504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7/29 2Q 역대 최대·이익률 76% 전망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5029200"/>
            <a:ext cx="4937760" cy="457200"/>
          </a:xfrm>
          <a:prstGeom prst="roundRect">
            <a:avLst>
              <a:gd name="adj" fmla="val 8000"/>
            </a:avLst>
          </a:prstGeom>
          <a:solidFill>
            <a:srgbClr val="ECEFF4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029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촉발  </a:t>
            </a:r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7/29 실적·HBM4 ASP·iHBM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5595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리스크  </a:t>
            </a:r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밸류에이션·목표가 괴리(185~430만)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99632" y="1737360"/>
            <a:ext cx="54864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9050">
            <a:solidFill>
              <a:srgbClr val="043B7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1737360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043B72"/>
          </a:solidFill>
          <a:ln/>
        </p:spPr>
      </p:sp>
      <p:sp>
        <p:nvSpPr>
          <p:cNvPr id="19" name="Text 17"/>
          <p:cNvSpPr/>
          <p:nvPr/>
        </p:nvSpPr>
        <p:spPr>
          <a:xfrm>
            <a:off x="6428232" y="173736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삼성전자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반격 · 파운드리 · 로봇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55664" y="25146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455664" y="3200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 점유율 17% · DRAM 2위(34%)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73952" y="3666744"/>
            <a:ext cx="137160" cy="137160"/>
          </a:xfrm>
          <a:prstGeom prst="ellipse">
            <a:avLst/>
          </a:prstGeom>
          <a:solidFill>
            <a:srgbClr val="043B72"/>
          </a:solidFill>
          <a:ln/>
        </p:spPr>
      </p:sp>
      <p:sp>
        <p:nvSpPr>
          <p:cNvPr id="23" name="Text 21"/>
          <p:cNvSpPr/>
          <p:nvPr/>
        </p:nvSpPr>
        <p:spPr>
          <a:xfrm>
            <a:off x="6748272" y="3575304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HBM4 세계 최초 양산·엔비디아 첫 공급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73952" y="4123944"/>
            <a:ext cx="137160" cy="137160"/>
          </a:xfrm>
          <a:prstGeom prst="ellipse">
            <a:avLst/>
          </a:prstGeom>
          <a:solidFill>
            <a:srgbClr val="043B72"/>
          </a:solidFill>
          <a:ln/>
        </p:spPr>
      </p:sp>
      <p:sp>
        <p:nvSpPr>
          <p:cNvPr id="25" name="Text 23"/>
          <p:cNvSpPr/>
          <p:nvPr/>
        </p:nvSpPr>
        <p:spPr>
          <a:xfrm>
            <a:off x="6748272" y="4032504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파운드리 18A 수율 65→85%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73952" y="5029200"/>
            <a:ext cx="4937760" cy="457200"/>
          </a:xfrm>
          <a:prstGeom prst="roundRect">
            <a:avLst>
              <a:gd name="adj" fmla="val 8000"/>
            </a:avLst>
          </a:prstGeom>
          <a:solidFill>
            <a:srgbClr val="ECEFF4"/>
          </a:solidFill>
          <a:ln/>
        </p:spPr>
      </p:sp>
      <p:sp>
        <p:nvSpPr>
          <p:cNvPr id="27" name="Text 25"/>
          <p:cNvSpPr/>
          <p:nvPr/>
        </p:nvSpPr>
        <p:spPr>
          <a:xfrm>
            <a:off x="6611112" y="5029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촉발  </a:t>
            </a:r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 점유율 회복(2027 수렴)·파운드리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73952" y="55595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리스크  </a:t>
            </a:r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 점유율 열위·파운드리 수익성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IDC·UBS·TrendForce·파이낸셜뉴스 (2025~2026). 관심종목은 예시이며 매수·매도 권유가 아님.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04 · 조심할 것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리스크: 중국 CXMT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CXMT 글로벌 DRAM 점유율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19456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532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2026E 약 350K WSPM — 세계 2위 부상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08192" y="1874520"/>
            <a:ext cx="5577840" cy="1874520"/>
          </a:xfrm>
          <a:prstGeom prst="roundRect">
            <a:avLst>
              <a:gd name="adj" fmla="val 2927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36792" y="2011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리스크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336792" y="24231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공격적 증설이 레거시·범용 DRAM 가격 상단을 압박. 점유율 4%→11%로 확대.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08192" y="3931920"/>
            <a:ext cx="55778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9050">
            <a:solidFill>
              <a:srgbClr val="043B7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36792" y="4069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완충 (쉽게 말하면 '급은 다르다')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336792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 양산은 미검증 — 고부가 영역 격차 여전. 증설은 상당분 중국 내수로 소화.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Tom's Hardware, SemiAnalysis, Counterpoint, DigiTimes (2026.07).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04 · 투자 심리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쉽게 보는 PER vs PBR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86400" cy="2514600"/>
          </a:xfrm>
          <a:prstGeom prst="roundRect">
            <a:avLst>
              <a:gd name="adj" fmla="val 2182"/>
            </a:avLst>
          </a:prstGeom>
          <a:solidFill>
            <a:srgbClr val="F58220">
              <a:alpha val="10000"/>
            </a:srgbClr>
          </a:solidFill>
          <a:ln w="19050">
            <a:solidFill>
              <a:srgbClr val="F582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48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사는 사람 = PER로 본다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"이익이 계속 는다"에 주목 — HBM4·서버 DRAM 이익 레벨업, 사이클 상승 지속.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9632" y="1920240"/>
            <a:ext cx="5486400" cy="2514600"/>
          </a:xfrm>
          <a:prstGeom prst="roundRect">
            <a:avLst>
              <a:gd name="adj" fmla="val 2182"/>
            </a:avLst>
          </a:prstGeom>
          <a:solidFill>
            <a:srgbClr val="043B72">
              <a:alpha val="10000"/>
            </a:srgbClr>
          </a:solidFill>
          <a:ln w="19050">
            <a:solidFill>
              <a:srgbClr val="043B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2148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파는 사람 = PBR로 본다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73952" y="26974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"곧 정점이다"에 주목 — 자산가치·사이클 고점 부담, 다운사이클 재현 우려.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4663440"/>
            <a:ext cx="11183112" cy="1234440"/>
          </a:xfrm>
          <a:prstGeom prst="roundRect">
            <a:avLst>
              <a:gd name="adj" fmla="val 4444"/>
            </a:avLst>
          </a:prstGeom>
          <a:solidFill>
            <a:srgbClr val="ECEFF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8280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수급 경고 — 레버리지 ETF의 '변동성 감가'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52303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오를 때 더 사고 내릴 때 더 파는 구조 → 변동성을 키운다. 한 종목에 쏠렸다면 두 시각을 함께 볼 것.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첨부 K-Freedom Insights 'PER과 심리학', '레버리지 ETF 변동성 감가'.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04 · 투자 기준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무엇에 집중할까: 통제의 경계선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486400" cy="3977640"/>
          </a:xfrm>
          <a:prstGeom prst="roundRect">
            <a:avLst>
              <a:gd name="adj" fmla="val 1379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✕  통제 불가 (예측 말 것)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2651760"/>
            <a:ext cx="493776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65176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데이터센터 증설 속도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3401568"/>
            <a:ext cx="493776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40156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메모리 가격 사이클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4151376"/>
            <a:ext cx="493776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151376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AI 효율화·단기 수요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4901184"/>
            <a:ext cx="493776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901184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매크로·환율·지정학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99632" y="1874520"/>
            <a:ext cx="548640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22225">
            <a:solidFill>
              <a:srgbClr val="F582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2057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✓  통제 가능 (여기에 집중)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73952" y="2651760"/>
            <a:ext cx="4937760" cy="621792"/>
          </a:xfrm>
          <a:prstGeom prst="roundRect">
            <a:avLst>
              <a:gd name="adj" fmla="val 5882"/>
            </a:avLst>
          </a:prstGeom>
          <a:solidFill>
            <a:srgbClr val="F58220">
              <a:alpha val="1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702552" y="265176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더 낮은 전력·더 높은 성능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73952" y="3401568"/>
            <a:ext cx="4937760" cy="621792"/>
          </a:xfrm>
          <a:prstGeom prst="roundRect">
            <a:avLst>
              <a:gd name="adj" fmla="val 5882"/>
            </a:avLst>
          </a:prstGeom>
          <a:solidFill>
            <a:srgbClr val="F58220">
              <a:alpha val="1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702552" y="340156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높은 수율의 공정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73952" y="4151376"/>
            <a:ext cx="4937760" cy="621792"/>
          </a:xfrm>
          <a:prstGeom prst="roundRect">
            <a:avLst>
              <a:gd name="adj" fmla="val 5882"/>
            </a:avLst>
          </a:prstGeom>
          <a:solidFill>
            <a:srgbClr val="F58220">
              <a:alpha val="1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702552" y="4151376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첨단 패키징 장비·소재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73952" y="4901184"/>
            <a:ext cx="4937760" cy="621792"/>
          </a:xfrm>
          <a:prstGeom prst="roundRect">
            <a:avLst>
              <a:gd name="adj" fmla="val 5882"/>
            </a:avLst>
          </a:prstGeom>
          <a:solidFill>
            <a:srgbClr val="F58220">
              <a:alpha val="1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702552" y="4901184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효율적 설계 소프트웨어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첨부 K-Freedom Insights '투자 기준의 재점검' 재구성.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4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9601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사이클이 아니라 '기술의 방향'을 보라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057400"/>
            <a:ext cx="411480" cy="411480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성능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같은 전력, 더 빠르게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19272" y="187452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547872" y="2057400"/>
            <a:ext cx="411480" cy="411480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전력 효율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47872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전기·비용 절감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35624" y="187452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364224" y="2057400"/>
            <a:ext cx="411480" cy="411480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15" name="Text 13"/>
          <p:cNvSpPr/>
          <p:nvPr/>
        </p:nvSpPr>
        <p:spPr>
          <a:xfrm>
            <a:off x="6364224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미세화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64224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더 잘 만드는 공정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51976" y="187452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9180576" y="2057400"/>
            <a:ext cx="411480" cy="411480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19" name="Text 17"/>
          <p:cNvSpPr/>
          <p:nvPr/>
        </p:nvSpPr>
        <p:spPr>
          <a:xfrm>
            <a:off x="9180576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첨단 패키징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80576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칩을 쌓는 기술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657600"/>
            <a:ext cx="11183112" cy="1874520"/>
          </a:xfrm>
          <a:prstGeom prst="roundRect">
            <a:avLst>
              <a:gd name="adj" fmla="val 2927"/>
            </a:avLst>
          </a:prstGeom>
          <a:solidFill>
            <a:srgbClr val="0A4E86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이번 주 체크리스트 (7/29~7/30)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206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☐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 7/29 실적·HBM4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66160" y="4206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☐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 7/30 부문 실적·전망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55080" y="4206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☐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MS·메타·아마존 Capex 유지?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0" y="4206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☐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로봇 메모리 수요 언급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단기 사이클은 변해도, 기술 로드맵의 방향은 쉽게 바뀌지 않는다.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580644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AFC3D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본 자료는 반도체 산업 이해를 돕기 위한 교육·세미나용 자료이며, 특정 종목의 매수·매도 권유가 아닙니다. 언급된 기업은 예시이며 투자판단·손익의 책임은 투자자 본인에게 있습니다.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2026-07-27T02:22:32Z</dcterms:created>
  <dcterms:modified xsi:type="dcterms:W3CDTF">2026-07-27T02:22:32Z</dcterms:modified>
</cp:coreProperties>
</file>