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(9종)</c:v>
                  </c:pt>
                  <c:pt idx="1">
                    <c:v>혼합형 (3종)</c:v>
                  </c:pt>
                  <c:pt idx="2">
                    <c:v>종목형 (7종)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</c:v>
                </c:pt>
                <c:pt idx="1">
                  <c:v>19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제38205회 S&amp;P500·KOSPI200·Nikkei225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Sheet1!$B$2:$B$20</c:f>
              <c:numCache>
                <c:formatCode>General</c:formatCode>
                <c:ptCount val="19"/>
                <c:pt idx="0">
                  <c:v>8.5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제38206회 EuroStoxx50·S&amp;P500·Nikkei225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Sheet1!$C$2:$C$20</c:f>
              <c:numCache>
                <c:formatCode>General</c:formatCode>
                <c:ptCount val="19"/>
                <c:pt idx="0">
                  <c:v/>
                </c:pt>
                <c:pt idx="1">
                  <c:v>9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제38207회 EuroStoxx50·KOSPI200·Nikkei225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Sheet1!$D$2:$D$20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>9.4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제38208회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Sheet1!$E$2:$E$20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10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제38209회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Sheet1!$F$2:$F$20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10.2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제38210회 EuroStoxx50·S&amp;P500·KOSPI200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Sheet1!$G$2:$G$20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10.5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제38211회 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Sheet1!$H$2:$H$20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11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제38212회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Sheet1!$I$2:$I$20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12.4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제38213회 KOSPI200·삼성전자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Sheet1!$J$2:$J$20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12.7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제38214회 S&amp;P500·KOSPI200·SK하이닉스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Sheet1!$K$2:$K$20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15.1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제38215회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Sheet1!$L$2:$L$20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18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제38216회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Sheet1!$M$2:$M$20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9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제38217회 S&amp;P500·HSCEI·Nikkei225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Sheet1!$N$2:$N$20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9.2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제38218회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Sheet1!$O$2:$O$20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13.5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제38219회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Sheet1!$P$2:$P$20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17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제38220회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Sheet1!$Q$2:$Q$20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20.5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제38221회 어플라이드 머티어리얼즈·AMD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Sheet1!$R$2:$R$20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17.5</c:v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7"/>
          <c:order val="17"/>
          <c:tx>
            <c:strRef>
              <c:f>Sheet1!$S$1</c:f>
              <c:strCache>
                <c:ptCount val="1"/>
                <c:pt idx="0">
                  <c:v>제38222회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Sheet1!$S$2:$S$20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12.6</c:v>
                </c:pt>
                <c:pt idx="18">
                  <c:v/>
                </c:pt>
              </c:numCache>
            </c:numRef>
          </c:yVal>
          <c:smooth val="0"/>
        </c:ser>
        <c:ser>
          <c:idx val="18"/>
          <c:order val="18"/>
          <c:tx>
            <c:strRef>
              <c:f>Sheet1!$T$1</c:f>
              <c:strCache>
                <c:ptCount val="1"/>
                <c:pt idx="0">
                  <c:v>제38223회 삼성전자·SK하이닉스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Sheet1!$T$2:$T$20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19종. 청약 2026.10.19~2026.10.28.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2026.10.28이 아니라 10월 23일(금)이 개인 일반투자자의 마감입니다. 단, 제38222·38223회는 별도 공시(청약 2026.10.15~2026.10.22)라 개인 일반투자자 마감이 10월 19일(월)로 이미 지났습니다.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제38205~38223회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분석자료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2026.10.16 공시 원문 기준 · 전 19종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2026.10.28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2026.10.29 / 2029.10.29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55280" y="42428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제38222·38223회는 별도 공시 — 개인 마감 2026.10.19(지남), 전체 2026.10.15~2026.10.22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8.5%  ·  손실 12.7%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제38207회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9.4%  ·  손실 13.6%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제38210회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10.5%  ·  손실 18.3%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2026.10.20(화) 11:12 — 현재 청약 진행중 34건.  개인 일반투자자 청약 마감은 10월 23일(금)입니다.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2026.10.19~2026.10.28입니다.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19일(월)~10월 23일(금) · 5일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2026.10.27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2026.10.28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28일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2026.10.29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10월 23일(금)까지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2026.10.28까지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56692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제38222·38223회는 별도 공시(청약 2026.10.15~2026.10.22)라 개인 일반투자자 마감이 10월 19일(월)로 이미 지났습니다.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9494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9 · 섞임 3 · 개별 종목 7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8.5~21.0%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2798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제38223회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36102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2029.10.29까지 · 중간에 끝날 수 있음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12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94063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전부 원금을 잃을 수 있는 상품이고, 위험등급도 가장 높은 1등급입니다. 이 문서가 붙인 등급은 안전하다는 뜻이 아니라 19종끼리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제38207회는 9,705원, 가장 나쁜 제38220회는 6,145원입니다.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22.7%입니다. 가장 낮은 제38205회 12.7%부터 가장 높은 제38220회 57.7%까지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1.9배입니다.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2003.01.06~2023.10.06 사이 매일 하루도 빠짐없이 가입했다고 치고 계산 (제38205회 4,711번)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54.6%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31.6%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1.9배이고, 가격 출렁임도 36% 대 67%로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제38222회가 23.5%로 종목 섞인 상품 대부분보다 위험하고, 제38213회는 17.4%로 19종 중 5번째로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"기초자산끼리 얼마나 같이 움직이는가"였습니다. 제38222회는 선이 45%(이번 주에서 높은 축이라 여유가 적음)에 가장 따로 노는 쌍 0.16, 제38213회는 선이 35%에 같이 움직임 0.96입니다.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0.77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0.41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41.4%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0.84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0.54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26.6%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0.94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6종 = 넣는 순간의 값어치가 제값보다 5% 넘게 깎이지는 않은 상품 — 나머지 13종은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19종으로 만들 수 있는 171짝 중 142짝에서 "수익률 높은 쪽이 손실 확률도 높다"가 맞았습니다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 멀쩡한 6종에서 수익률을 1%p 더 받을 때 손실 확률은 평균 1.99%p 오르지만, 상품마다 그 몇 배씩 들쭉날쭉합니다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0.36%(제38220회) ~ 0.81%(제38223회). 정확히 비례한다면 전부 같아야 합니다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0.54인데, 잃을 때 얼마나 잃는지까지 곱하면 0.83로 올라갑니다. 확률이 못 잡는 부분이 손실의 크기입니다 — 지수만 담은 상품은 손해가 나면 62% 남짓, 개별 종목 상품은 78%가량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 놓고 보면 이렇습니다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19종을 손실 확률(B)과 연 수익률로 찍었습니다. 왼쪽 위가 적은 위험에 많이 받는 자리, 오른쪽 아래가 위험만 큰 자리입니다. PPT 파일에서는 점에 마우스를 올리면 회차와 기초자산이 뜹니다.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7406640" cy="4041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115568" y="5468112"/>
            <a:ext cx="109728" cy="109728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930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035808" y="5468112"/>
            <a:ext cx="109728" cy="109728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954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12종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56048" y="5468112"/>
            <a:ext cx="109728" cy="1097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2978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02168" y="131673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02168" y="1316736"/>
            <a:ext cx="45720" cy="129844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85048" y="142646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위로 갈수록 좋습니다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385048" y="170078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위험을 지고 가장 많이 받는 쪽은 값어치 멀쩡한 상품 중에서 제38207회(연 9.4% · 손실 확률 13.6%)입니다.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02168" y="277977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02168" y="2779776"/>
            <a:ext cx="45720" cy="129844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85048" y="288950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아래가 피할 자리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385048" y="316382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제38220회는 연 20.5%를 받자고 손실 확률 57.7%를 집니다 — 손실 확률 1%당 0.36%뿐입니다.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02168" y="424281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2168" y="4242816"/>
            <a:ext cx="45720" cy="1298448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5048" y="435254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 아니라 구름입니다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385048" y="462686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정비례한다면 점들이 한 줄에 놓여야 합니다. 흩어진 폭이 곧 고를 자리이고, 이번 회차는 위험당 대가가 2.3배까지 벌어집니다.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4종은 기초자산도, 기간(36개월)도 똑같고 적용 변동성도 56.8~57.4%로 거의 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제38223회 손실 확률 25.9% · 연 21.0%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제38212회 손실 확률 21.4% · 연 12.4%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8.6%p 더 주지만 손실 확률은 4.5%p나 더 집니다 — 손실 확률 1%당 받는 돈으로 바꾸면 0.58%에서 0.81%로 올라갑니다. 원금 지키는 선이 40%냐 25%냐, 미리 끝나는 기준선이 85-85-80-80-75-70이냐 90-85-85-80-75-70이냐가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제38220회는 연 20.5%인데 손실 확률이 57.7%나 됩니다 — 손실 확률 1%당 0.36%로 이번 회차 꼴찌입니다. 넣는 순간의 값어치가 제값보다 38.5%나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13종만 빼도 수익률과 변동성의 관계가 0.77 → 0.41로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제38207회(추천 2번) — 값어치 멀쩡한 상품 중 손실 확률 1%당 수익률 1등. 이 우위가 공시 상관 0.22~0.76에 얹혀 있는지 흔들어 봤습니다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 (모든 쌍)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0.22~0.76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서류값보다 0.1씩만 낮춰도 손실 확률 1%당 수익률이 0.65%로 제38205회(0.67%)보다 낮아져 1등을 내줍니다(0.5씩 낮추면 손실 확률 13.7% → 16.7%). 이 상품의 우위는 세 자산이 서류에 적힌 만큼(0.22~0.76) 같이 움직인다는 전제에 기대고 있습니다. 칸 머리의 −0.1 등은 3쌍 모두를 서류값에서 그만큼 낮춘 것입니다(0 아래로는 내리지 않음).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21.0%짜리도 있는데 왜 9.4%짜리를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1.4배까지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Nikkei225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10,425원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Nikkei225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85% 이상(-15%까지 떨어져도 괜찮다는 뜻)이면 그 자리에서 끝나고 1만원이 10,425원이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4,711번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평균 22.7%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9,664원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-3.36%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따로 노는 쌍 0.17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제38207회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10,470원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90% 이상(-10%까지 떨어져도 괜찮다는 뜻)이면 그 자리에서 끝나고 1만원이 10,470원이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4,801번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13.6%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평균 22.7% · 낮은 쪽 2번째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9,705원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-2.95%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따로 노는 쌍 0.22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권할 수 있는 상품 중에서 가장 큽니다 — 같은 위험이면 그만큼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제38210회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S&amp;P500 · KOSPI200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10,525원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S&amp;P500 · KOSPI200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90% 이상(-10%까지 떨어져도 괜찮다는 뜻)이면 그 자리에서 끝나고 1만원이 10,525원이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40%(처음 가격에서 -60%)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0.02%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4,941번 중 1번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18.3%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평균 22.7% · 낮은 쪽 9번째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9,570원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-4.30%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따로 노는 쌍 0.17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값어치가 크게 깎이지 않은 상품 중에서 가장 높은 수익률입니다. 더 높은 회차는 값어치가 깎였거나 손실 확률이 높아 권하지 않습니다.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19종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0.98%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9,458원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0.02%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9,570원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4.67%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9,206원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9,157원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9,242원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 · AMD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7,555원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2.76%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6,145원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870448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20.5%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57.7%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6,145원밖에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3.0년(760번)뿐 — 큰 폭락장이 빠져 손실 2.76%를 20년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제38221회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AMD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17.5%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39.3%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39번이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7,555원밖에 안 됨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제38219회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34.0%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34번이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8,268원밖에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3.0년(760번)뿐 — 큰 폭락장이 빠져 손실 4.21%를 20년 상품과 견줄 수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제38223회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25.9%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26번이 손실 (이번 주 평균 23번)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783080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10월 23일(금)입니다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2026.10.19~2026.10.28로 나오지만 개인 일반투자자는 10월 23일(금)까지만 청약할 수 있습니다. 이후는 숙려·가입의사확인 기간이라 주문을 받을 수 없습니다. 단, 제38222·38223회는 별도 공시(청약 2026.10.15~2026.10.22)라 개인 일반투자자 마감이 10월 19일(월)로 이미 지났습니다.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9,705원부터 6,145원까지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제38205회도 서류로는 0.00%지만 똑같은 조건으로 다시 돌리면 12.7%입니다.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제38205회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10월 23일(금)까지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컴퓨터로 같은 조건을 돌려보면 53%가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"S&amp;P500 · KOSPI200 · Nikkei225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13%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2026.10.29에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1.9배입니다. 다만 이번 주 추천 3종은 모두 지수만 담은 상품이라, 그 걱정은 이 세 종에는 해당하지 않습니다."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제38205~38223회 ELS 분석자료</dc:title>
  <dc:subject>PptxGenJS Presentation</dc:subject>
  <dc:creator>미래에셋증권</dc:creator>
  <cp:lastModifiedBy>미래에셋증권</cp:lastModifiedBy>
  <cp:revision>1</cp:revision>
  <dcterms:created xsi:type="dcterms:W3CDTF">2026-10-20T02:13:50Z</dcterms:created>
  <dcterms:modified xsi:type="dcterms:W3CDTF">2026-10-20T02:13:50Z</dcterms:modified>
</cp:coreProperties>
</file>