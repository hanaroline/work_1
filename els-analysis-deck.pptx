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맑은 고딕"/>
              </a:rPr>
              <a:t>무엇을 담았느냐에 따른 손해 볼 가능성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손해 볼 가능성(평균)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601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지수형 (9종)</c:v>
                  </c:pt>
                  <c:pt idx="1">
                    <c:v>혼합형 (3종)</c:v>
                  </c:pt>
                  <c:pt idx="2">
                    <c:v>종목형 (7종)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19</c:v>
                </c:pt>
                <c:pt idx="2">
                  <c:v>31.6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D3D3D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1270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4888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제38205회 S&amp;P500·KOSPI200·Nikkei225</c:v>
                </c:pt>
              </c:strCache>
            </c:strRef>
          </c:tx>
          <c:spPr>
            <a:solidFill>
              <a:srgbClr val="F5822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Sheet1!$B$2:$B$20</c:f>
              <c:numCache>
                <c:formatCode>General</c:formatCode>
                <c:ptCount val="19"/>
                <c:pt idx="0">
                  <c:v>8.5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제38206회 EuroStoxx50·S&amp;P500·Nikkei225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Sheet1!$C$2:$C$20</c:f>
              <c:numCache>
                <c:formatCode>General</c:formatCode>
                <c:ptCount val="19"/>
                <c:pt idx="0">
                  <c:v/>
                </c:pt>
                <c:pt idx="1">
                  <c:v>9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제38207회 EuroStoxx50·KOSPI200·Nikkei225</c:v>
                </c:pt>
              </c:strCache>
            </c:strRef>
          </c:tx>
          <c:spPr>
            <a:solidFill>
              <a:srgbClr val="F5822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Sheet1!$D$2:$D$20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>9.4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제38208회 KOSPI200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Sheet1!$E$2:$E$20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10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제38209회 KOSPI200·HSCEI·Nikkei225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Sheet1!$F$2:$F$20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10.2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제38210회 EuroStoxx50·S&amp;P500·KOSPI200</c:v>
                </c:pt>
              </c:strCache>
            </c:strRef>
          </c:tx>
          <c:spPr>
            <a:solidFill>
              <a:srgbClr val="F5822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Sheet1!$G$2:$G$20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10.5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제38211회 KOSPI200·SK하이닉스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Sheet1!$H$2:$H$20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11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제38212회 삼성전자·SK하이닉스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Sheet1!$I$2:$I$20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12.4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제38213회 KOSPI200·삼성전자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Sheet1!$J$2:$J$20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12.7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제38214회 S&amp;P500·KOSPI200·SK하이닉스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Sheet1!$K$2:$K$20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15.1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제38215회 삼성전자·SK하이닉스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Sheet1!$L$2:$L$20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제38216회 KOSPI200·HSCEI·Nikkei225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Sheet1!$M$2:$M$20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9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제38217회 S&amp;P500·HSCEI·Nikkei225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Sheet1!$N$2:$N$20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9.2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제38218회 삼성전자·SK하이닉스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Sheet1!$O$2:$O$20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13.5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제38219회 테슬라·팔란티어 테크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Sheet1!$P$2:$P$20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>17</c:v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제38220회 마이크론 테크놀로지·팔란티어 테크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Sheet1!$Q$2:$Q$20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20.5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제38221회 어플라이드 머티어리얼즈·AMD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Sheet1!$R$2:$R$20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17.5</c:v>
                </c:pt>
                <c:pt idx="17">
                  <c:v/>
                </c:pt>
                <c:pt idx="18">
                  <c:v/>
                </c:pt>
              </c:numCache>
            </c:numRef>
          </c:yVal>
          <c:smooth val="0"/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제38222회 S&amp;P500·KOSPI200·Nikkei225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Sheet1!$S$2:$S$20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12.6</c:v>
                </c:pt>
                <c:pt idx="18">
                  <c:v/>
                </c:pt>
              </c:numCache>
            </c:numRef>
          </c:yVal>
          <c:smooth val="0"/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제38223회 삼성전자·SK하이닉스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Sheet1!$A$2:$A$20</c:f>
              <c:numCache>
                <c:formatCode>General</c:formatCode>
                <c:ptCount val="19"/>
                <c:pt idx="0">
                  <c:v>12.7</c:v>
                </c:pt>
                <c:pt idx="1">
                  <c:v>14.9</c:v>
                </c:pt>
                <c:pt idx="2">
                  <c:v>13.6</c:v>
                </c:pt>
                <c:pt idx="3">
                  <c:v>15.5</c:v>
                </c:pt>
                <c:pt idx="4">
                  <c:v>18.1</c:v>
                </c:pt>
                <c:pt idx="5">
                  <c:v>18.3</c:v>
                </c:pt>
                <c:pt idx="6">
                  <c:v>17.5</c:v>
                </c:pt>
                <c:pt idx="7">
                  <c:v>21.4</c:v>
                </c:pt>
                <c:pt idx="8">
                  <c:v>17.4</c:v>
                </c:pt>
                <c:pt idx="9">
                  <c:v>22.1</c:v>
                </c:pt>
                <c:pt idx="10">
                  <c:v>23.4</c:v>
                </c:pt>
                <c:pt idx="11">
                  <c:v>17.5</c:v>
                </c:pt>
                <c:pt idx="12">
                  <c:v>19</c:v>
                </c:pt>
                <c:pt idx="13">
                  <c:v>19.7</c:v>
                </c:pt>
                <c:pt idx="14">
                  <c:v>34</c:v>
                </c:pt>
                <c:pt idx="15">
                  <c:v>57.7</c:v>
                </c:pt>
                <c:pt idx="16">
                  <c:v>39.3</c:v>
                </c:pt>
                <c:pt idx="17">
                  <c:v>23.5</c:v>
                </c:pt>
                <c:pt idx="18">
                  <c:v>25.9</c:v>
                </c:pt>
              </c:numCache>
            </c:numRef>
          </c:xVal>
          <c:yVal>
            <c:numRef>
              <c:f>Sheet1!$T$2:$T$20</c:f>
              <c:numCache>
                <c:formatCode>General</c:formatCode>
                <c:ptCount val="1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21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맑은 고딕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맑은 고딕"/>
                  </a:rPr>
                  <a:t>손실 확률 B (%) — 오른쪽일수록 위험하다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orientation val="minMax"/>
          <c:max val="25"/>
          <c:min val="5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맑은 고딕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맑은 고딕"/>
                  </a:rPr>
                  <a:t>연 수익률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회차 19종. 청약 2026.10.19~2026.10.28. 전부 원금비보장 1등급입니다.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마감일을 잘못 안내하면 고객이 청약 기회를 놓칩니다. 홈페이지의 2026.10.28이 아니라 10월 23일(금)이 개인 일반투자자의 마감입니다.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등급은 안전 등급이 아니라 이번 회차 안에서의 상대 순서라는 점을 먼저 말씀하십시오.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서류에 적힌 손실 숫자를 그대로 "이 상품의 손실 확률"이라고 말하면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"종목 들어간 건 위험하지 않나요"라고 물으면 이 장을 펴십시오. 일반론은 맞고, 상품별로는 확인이 필요하다는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"수익률 높으면 위험한 거 아니냐"는 질문에 이 장을 펴십시오. 맞다고 인정하고 시작하되, 같은 위험을 지고도 더 받는 상품이 있다는 것이 다음 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수익률만 유난히 높고 위험은 안 높아 보이면 셋 중 하나입니다 — 조건 덕이거나, 값어치가 깎여 있거나, 아직 못 본 위험이 있거나. 앞의 것들로 설명이 안 되면 마지막입니다.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지수만 담은 상품이라 자산 종류로 들어오는 반박은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지수만 담은 상품이라 자산 종류로 들어오는 반박은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지수만 담은 상품이라 자산 종류로 들어오는 반박은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1번은 이번 주에만 해당하는 이야기가 아니라 매 회차 반복됩니다. 마감일을 잘못 안내하면 고객이 청약 기회를 놓칩니다.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서류의 "낙인", "공정가액" 같은 말을 짚으며 물으실 때 이 장을 펴십시오. 왼쪽이 서류에 적힌 말, 가운데가 바꿔 말씀하실 쉬운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MIRAE ASSET · ELS WEEKLY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제38205~38223회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ELS 분석자료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투자설명서(일괄신고추가서류) 2026.10.16 공시 원문 기준 · 전 19종 분석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737360"/>
            <a:ext cx="365760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 청약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2026.10.19 ~ 2026.10.23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0" y="2688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청약기간 (숙려 대상 아닌 경우)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29077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2026.10.19 ~ 2026.10.28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34564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발행일 / 만기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2026.10.29 / 2029.10.29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133088"/>
            <a:ext cx="69494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24281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 추천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5354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제38205회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연 8.5%  ·  손실 12.7%</a:t>
            </a:r>
            <a:pPr indent="0" marL="0">
              <a:lnSpc>
                <a:spcPts val="1500"/>
              </a:lnSpc>
              <a:buNone/>
            </a:pPr>
            <a:endParaRPr lang="en-US" sz="15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원금을 지키는 게 먼저인 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45354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제38207회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연 9.4%  ·  손실 13.6%</a:t>
            </a:r>
            <a:pPr indent="0" marL="0">
              <a:lnSpc>
                <a:spcPts val="1500"/>
              </a:lnSpc>
              <a:buNone/>
            </a:pPr>
            <a:endParaRPr lang="en-US" sz="15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수익과 안정을 반반 보는 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0368" y="45354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제38210회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연 10.5%  ·  손실 18.3%</a:t>
            </a:r>
            <a:pPr indent="0" marL="0">
              <a:lnSpc>
                <a:spcPts val="1500"/>
              </a:lnSpc>
              <a:buNone/>
            </a:pPr>
            <a:endParaRPr lang="en-US" sz="15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수익률을 먼저 보는 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3949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확인 2026.10.19(월) 15:04 — 현재 청약 진행중 34건.  개인 일반투자자 청약 마감은 10월 23일(금)입니다.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572414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원금비보장 · 상품위험등급 1등급(매우높은위험) · 투자 권유 참고자료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청약해야 하나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홈페이지와 공시 표지의 청약기간은 2026.10.19~2026.10.28입니다. 그런데 개인 일반투자자는 그 뒤쪽 절반을 쓸 수 없습니다 — 숙려기간과 가입의사확인기간에는 청약 자체가 불가능합니다.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11057839" cy="713232"/>
          </a:xfrm>
          <a:prstGeom prst="rect">
            <a:avLst/>
          </a:prstGeom>
          <a:solidFill>
            <a:srgbClr val="F4F8F5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3167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81328" y="131673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접수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90672" y="13167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2026.10.19 ~ 2026.10.23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9824" y="1316736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19일(월)~10월 23일(금) · 5일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308031" y="1527048"/>
            <a:ext cx="1133856" cy="292608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08031" y="152704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이때만 주문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12264"/>
            <a:ext cx="11057839" cy="713232"/>
          </a:xfrm>
          <a:prstGeom prst="rect">
            <a:avLst/>
          </a:prstGeom>
          <a:solidFill>
            <a:srgbClr val="FDF6F6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1122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81328" y="211226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숙려기간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90672" y="21122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2026.10.26 ~ 2026.10.27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9824" y="2112264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2영업일 이상 · 최대 원금손실 가능금액을 고지받습니다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308031" y="2322576"/>
            <a:ext cx="1133856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08031" y="232257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불가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907792"/>
            <a:ext cx="11057839" cy="713232"/>
          </a:xfrm>
          <a:prstGeom prst="rect">
            <a:avLst/>
          </a:prstGeom>
          <a:solidFill>
            <a:srgbClr val="FDF6F6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90779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81328" y="29077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가입의사 확인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0672" y="29077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2026.10.28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2907792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10월 28일 오후 5시까지 · 확인을 못 받으면 청약금은 환불됩니다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08031" y="3118104"/>
            <a:ext cx="1133856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8031" y="311810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불가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703320"/>
            <a:ext cx="110578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7033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81328" y="37033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090672" y="3703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2026.10.29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9824" y="3703320"/>
            <a:ext cx="47484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 · 배정 · 환불 · 최초기준가격 평가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308031" y="3913632"/>
            <a:ext cx="1133856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8031" y="391363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608576"/>
            <a:ext cx="11057839" cy="676656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608576"/>
            <a:ext cx="106555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상담에서 이렇게 말씀하십시오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"청약은 10월 23일(금)까지 넣으셔야 합니다. 그 뒤 이틀은 법으로 정해진 숙려기간이라 주문을 받을 수 없고, 숙려기간이 끝나면 저희가 다시 연락드려 최종 의사를 확인합니다. 그때 확인이 안 되면 청약이 집행되지 않습니다."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5376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전문투자자·법인 등 숙려제도 대상이 아닌 경우에만 2026.10.28까지 청약할 수 있습니다. 만 65세 이상 고령투자자는 별도 확인 절차가 더해질 수 있습니다.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상품, 한눈에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조건과 값어치는 투자설명서에 적힌 그대로이고, 손해 볼 가능성은 두 가지 방법으로 각각 쟀습니다.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4944" y="2322576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지수만 9 · 섞임 3 · 개별 종목 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1136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4560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8.5~21.0%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7984" y="2322576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제일 높은 건 제38223회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4176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묶이는 기간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97600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최장 36개월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61024" y="2322576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2029.10.29까지 · 중간에 끝날 수 있음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316736"/>
            <a:ext cx="2558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7215" y="1481328"/>
            <a:ext cx="215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문서가 매긴 등급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30639" y="1737360"/>
            <a:ext cx="222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 / 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94063" y="2322576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방어적 / 중간 / 공격적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017520"/>
            <a:ext cx="1105783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 전부 원금을 잃을 수 있는 상품이고, 위험등급도 가장 높은 1등급입니다. 이 문서가 붙인 등급은 안전하다는 뜻이 아니라 19종끼리 줄 세운 순서입니다.</a:t>
            </a:r>
            <a:endParaRPr lang="en-US" sz="1400" dirty="0"/>
          </a:p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1만원을 넣어도 실제 값어치가 다릅니다. 가장 좋은 제38207회는 9,705원, 가장 나쁜 제38220회는 6,145원입니다. 홈페이지 상품 목록에는 나오지 않는 차이입니다.</a:t>
            </a:r>
            <a:endParaRPr lang="en-US" sz="1400" dirty="0"/>
          </a:p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다시 돌린 손해 볼 가능성은 이번 주 평균 22.7%입니다. 가장 낮은 제38205회 12.7%부터 가장 높은 제38220회 57.7%까지 벌어집니다.</a:t>
            </a:r>
            <a:endParaRPr lang="en-US" sz="1400" dirty="0"/>
          </a:p>
          <a:p>
            <a:pPr marL="342900" indent="-3429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종목이 섞이면 손해 볼 가능성이 지수만 담은 상품의 1.9배입니다. 다만 상품 하나하나로 보면 뒤집히는 경우가 있어, 자산 종류가 아니라 상품별 가능성으로 등급을 매겼습니다.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볼 가능성, 두 가지로 쟀습니다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질문에 답하는 숫자라 값도 꽤 다릅니다. 하나만 보고 말씀드리면 틀린 안내가 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53734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99616"/>
            <a:ext cx="391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발행사 20년 백테스트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15104" y="1517904"/>
            <a:ext cx="987552" cy="256032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5104" y="15179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투자설명서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828800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"지난 20년이 그대로 되풀이된다면?"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185416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2003.01.06~2023.10.06 사이 매일 하루도 빠짐없이 가입했다고 치고 계산 (제38205회 4,711번)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9992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29718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값이 아니라 실제로 있었던 가격입니다. 2008년 금융위기도 들어 있습니다.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37856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3758184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20년은 대체로 오르는 장이었고, 상품마다 돌려본 기간도 다릅니다. 기간이 다른 두 상품을 나란히 놓고 비교하면 안 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1296" y="1316736"/>
            <a:ext cx="53734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1499616"/>
            <a:ext cx="391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같은 조건 시뮬레이션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399471" y="1517904"/>
            <a:ext cx="987552" cy="25603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99471" y="15179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계산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89040" y="1828800"/>
            <a:ext cx="489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"회사가 값 매길 때 잡은 만큼 실제로 출렁인다면?"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89040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74256" y="2185416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 전부를 똑같은 횟수(100,000번)·똑같은 기간·똑같은 규칙으로. 출렁임과 같이 움직이는 정도는 투자설명서 값 그대로.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89040" y="29992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74256" y="297180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차이가 없어져서 전 상품을 공평하게 줄 세울 수 있습니다.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89040" y="378561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74256" y="3758184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자산도 오른다고 보지 않았고, 회사가 쓴 출렁임 수치는 실제보다 크게 잡히는 게 보통입니다. 넉넉하게 잡은 최대치로 읽으셔야 합니다.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828032"/>
            <a:ext cx="11057839" cy="56692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828032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법  </a:t>
            </a:r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값은 A와 B 사이 어딘가입니다. 상품끼리 견줄 때는 B를, "그래서 얼마나 위험하냐"를 가늠할 때는 A와 B를 같이 보십시오. "자산이 해마다 6%씩 오른다"고 바꿔 돌려도 순서는 거의 그대로였습니다.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종목이 섞이면 더 위험한가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개별 종목이 들어간 ELS가 지수만 담은 것보다 위험하다고 봅니다. 이번 주 상품에서 그 말이 맞는지 B로 확인했습니다.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316736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88736" y="1316736"/>
          <a:ext cx="5736031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86384"/>
                <a:gridCol w="1078992"/>
                <a:gridCol w="1280160"/>
                <a:gridCol w="10332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기초자산 종류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손해 볼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수익률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35.8%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혼합형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54.6%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31.6%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88736" y="3017520"/>
            <a:ext cx="573603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평균으로 보면 맞는 말입니다. 개별 종목만 담은 상품이 지수만 담은 것의 1.9배이고, 가격 출렁임도 36% 대 67%로 갈립니다.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상품 하나하나로 내려가면 뒤집힙니다. 지수만 담은 제38222회가 23.5%로 종목 섞인 상품 대부분보다 위험하고, 제38213회는 17.4%로 19종 중 5번째로 낮습니다.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갈라놓은 건 자산 종류가 아니라 "원금 지키는 선이 얼마나 아래인가"와 "두 자산이 얼마나 같이 움직이는가"였습니다. 제38222회는 선이 45%(이번 주에서 높은 축이라 여유가 적음)에 같이 움직임 0.16, 제38213회는 선이 35%에 같이 움직임 0.96입니다.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66928" y="5029200"/>
            <a:ext cx="5029200" cy="786384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49808" y="502920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자산이 따로 놀수록 "더 많이 떨어진 하나로 판정한다"는 조건에서 크게 불리해집니다. 무엇을 담았느냐보다 이쪽이 결정적입니다.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수익률이 높으면 그만큼 위험한가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"수익률이 높으면 그만큼 위험한 것 아니냐" — 맞는 말씀입니다. 다만 정확히 비례하지는 않고, 그 어긋나는 자리가 바로 상품을 고르는 자리입니다.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57839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  <a:gridCol w="301111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수익률과 무엇의 관계인가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19종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값어치 멀쩡한 6종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 (적용 변동성)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0.77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 미만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0.41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41.4% · 우연일 수도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확률 — 이 문서가 등급을 매기는 기준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 미만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0.54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26.6% · 우연일 수도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 · 손실 확률 × 잃을 때의 크기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0.1% 미만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488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우연일 확률 4.2%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2944368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1에 가까울수록 "수익률 높은 상품이 손실 확률도 높다"가 잘 들어맞고, 0이면 아무 관계가 없다는 뜻입니다(순서를 견주는 방식으로 쟀습니다).  값어치 멀쩡한 6종 = 넣는 순간의 값어치가 제값보다 5% 넘게 깎이지는 않은 상품 — 나머지 13종은 높은 수익률이 위험의 대가가 아니라 비용으로 빠져나간 상품이라 이 법칙 자체가 통하지 않습니다.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" y="3529584"/>
            <a:ext cx="3503066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639312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짝지어 세면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" y="3840480"/>
            <a:ext cx="3100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68096" y="4261104"/>
            <a:ext cx="31007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19종으로 만들 수 있는 171짝 중 142짝에서 "수익률 높은 쪽이 손실 확률도 높다"가 맞았습니다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44314" y="3529584"/>
            <a:ext cx="3503066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5482" y="3639312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수익률로 맞히는 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45482" y="3840480"/>
            <a:ext cx="3100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6A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45482" y="4261104"/>
            <a:ext cx="31007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값어치 멀쩡한 6종에서 수익률을 1%p 더 받을 때 손실 확률은 평균 1.99%p 오르지만, 상품마다 그 몇 배씩 들쭉날쭉합니다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21701" y="3529584"/>
            <a:ext cx="3503066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2869" y="3639312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1%당 연 수익률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322869" y="3840480"/>
            <a:ext cx="31007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2.3배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322869" y="4261104"/>
            <a:ext cx="31007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0.36%(제38220회) ~ 0.81%(제38223회). 정확히 비례한다면 전부 같아야 합니다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" y="4901184"/>
            <a:ext cx="53917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5010912"/>
            <a:ext cx="498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그런가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" y="5266944"/>
            <a:ext cx="498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ELS의 수익률은 고객이 회사에 "많이 떨어지면 그 손해는 제가 떠안겠습니다"라는 약속을 팔고 받는 값입니다. "많이 안 떨어지면 이자를 드리겠다"를 뒤집으면 "떨어지면 고객이 부담한다"는 뜻이고, 그 약속의 가격이 곧 수익률입니다. 심하게 출렁일수록 그 약속이 비싸집니다. 관행이 아니라 값 매기는 계산식 자체가 그렇습니다.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33008" y="4901184"/>
            <a:ext cx="539176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4176" y="5010912"/>
            <a:ext cx="498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확률만 보면 왜 느슨해지나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34176" y="5266944"/>
            <a:ext cx="498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확률은 0.54인데, 잃을 때 얼마나 잃는지까지 곱하면 0.83로 올라갑니다. 확률이 못 잡는 부분이 손실의 크기입니다 — 지수만 담은 상품은 손해가 나면 62% 남짓, 개별 종목 상품은 78%가량 잃습니다. 등급이 같은 두 상품이면 개별 종목 쪽이 더 비싼 위험입니다.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 놓고 보면 이렇습니다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19종을 손실 확률(B)과 연 수익률로 찍었습니다. 왼쪽 위가 적은 위험에 많이 받는 자리, 오른쪽 아래가 위험만 큰 자리입니다. PPT 파일에서는 점에 마우스를 올리면 회차와 기초자산이 뜹니다.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316736"/>
          <a:ext cx="7406640" cy="4041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115568" y="5468112"/>
            <a:ext cx="109728" cy="10972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9304" y="5385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3종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35808" y="5468112"/>
            <a:ext cx="109728" cy="109728"/>
          </a:xfrm>
          <a:prstGeom prst="ellipse">
            <a:avLst/>
          </a:prstGeom>
          <a:solidFill>
            <a:srgbClr val="9AA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9544" y="5385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12종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56048" y="5468112"/>
            <a:ext cx="109728" cy="1097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9784" y="5385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권하지 않는 4종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02168" y="1316736"/>
            <a:ext cx="3422599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02168" y="1316736"/>
            <a:ext cx="45720" cy="1298448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5048" y="1426464"/>
            <a:ext cx="3056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위로 갈수록 좋습니다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385048" y="1700784"/>
            <a:ext cx="30568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위험을 지고 가장 많이 받는 쪽은 제38207회(연 9.4% · 손실 확률 13.6%)입니다.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02168" y="2779776"/>
            <a:ext cx="3422599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02168" y="2779776"/>
            <a:ext cx="45720" cy="129844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5048" y="2889504"/>
            <a:ext cx="3056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아래가 피할 자리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385048" y="3163824"/>
            <a:ext cx="30568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제38220회는 연 20.5%를 받자고 손실 확률 57.7%를 집니다 — 손실 확률 1%당 0.36%뿐입니다.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02168" y="4242816"/>
            <a:ext cx="3422599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02168" y="4242816"/>
            <a:ext cx="45720" cy="1298448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85048" y="4352544"/>
            <a:ext cx="3056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 아니라 구름입니다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385048" y="4626864"/>
            <a:ext cx="30568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정비례한다면 점들이 한 줄에 놓여야 합니다. 흩어진 폭이 곧 고를 자리이고, 이번 회차는 위험당 대가가 2.3배까지 벌어집니다.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어디서 갈라지나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수익률과 손실 확률이 어긋나는 이유는 이번 회차에서 두 가지입니다. 이번 회차 데이터에서 그대로 확인됩니다.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539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44752"/>
            <a:ext cx="498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조건이 달라서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755648"/>
            <a:ext cx="49894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삼성전자·SK하이닉스 4종은 기초자산도, 적용 변동성(56.8%)도, 기간(36개월)도 똑같은데 수익률만 갈립니다.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제38223회 손실 확률 25.9% · 연 21.0%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제38212회 손실 확률 21.4% · 연 12.4%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수익률은 8.6%p 더 주지만 손실 확률은 4.5%p나 더 집니다 — 손실 확률 1%당 받는 돈으로 바꾸면 0.58%에서 0.81%로 올라갑니다. 원금 지키는 선이 40%냐 25%냐, 미리 끝나는 기준선이 85-85-80-80-75-70이냐 90-85-85-80-75-70이냐가 갈랐습니다.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33008" y="1316736"/>
            <a:ext cx="539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4176" y="1444752"/>
            <a:ext cx="498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값어치가 깎여서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4176" y="1755648"/>
            <a:ext cx="49894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제38220회는 연 20.5%인데 손실 확률이 57.7%나 됩니다 — 손실 확률 1%당 0.36%로 이번 회차 꼴찌입니다. 넣는 순간의 값어치가 제값보다 38.5%나 깎여 있기 때문입니다.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수익률이 위험을 진 대가로 돌아오는 게 아니라 비용으로 새어나간 경우입니다.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깎인 13종만 빼도 수익률과 변동성의 관계가 0.77 → 0.41로 올라갑니다. 이 법칙은 제값 받는 상품에서만 통합니다.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5661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제38207회(추천 2번) — 값어치 멀쩡한 상품 중 손실 확률 1%당 수익률 1등. 이 우위가 공시 상관 0.22 하나에 얹혀 있는지 흔들어 봤습니다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58768"/>
          <a:ext cx="11057839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6253"/>
                <a:gridCol w="1416253"/>
                <a:gridCol w="1416253"/>
                <a:gridCol w="1416253"/>
                <a:gridCol w="1416253"/>
                <a:gridCol w="1416253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같이 움직이는 정도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서류값 0.22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확률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11.3%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12.3%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14.8%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확률 1%당 연 수익률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0.76%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4919472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움직이는 정도를 0.50까지만 낮춰도 손실 확률 1%당 수익률이 0.64%로 제38205회(0.67%)보다 낮아져 1등을 내줍니다(0.50이면 손실 확률 13.7% → 14.8%). 이 상품의 우위는 두 자산이 서류값 0.22만큼 같이 움직인다는 전제에 기대고 있습니다.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5687568"/>
            <a:ext cx="11057839" cy="65836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687568"/>
            <a:ext cx="106555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"연 21.0%짜리도 있는데 왜 9.4%짜리를 먼저 권하나요?"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"수익률이 높으면 위험도 큰 것, 맞습니다. 다만 같은 손실 확률을 지고도 남들보다 많이 받는 상품이 따로 있습니다. 이번 회차는 그 차이가 1.4배까지 벌어집니다."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1 — 원금을 지키는 게 먼저인 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제38205회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solidFill>
            <a:srgbClr val="E7F1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S&amp;P500 · KOSPI200 · Nikkei225  ·  36개월  ·  6개월마다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1005840"/>
            <a:ext cx="312724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05088" y="1335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8.5</a:t>
            </a:r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 → 빠르면 6개월 뒤 10,425원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55648" y="22311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S&amp;P500 · KOSPI200 · Nikkei225 중 더 많이 떨어진 하나로 판정합니다. 하나만 나빠도 그쪽을 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끝나나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26883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6개월마다 확인해서 처음 가격의 85% 이상(-15%까지 떨어져도 괜찮다는 뜻)이면 그 자리에서 끝나고 1만원이 10,425원이 되어 돌아옵니다.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지키기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55648" y="31455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종가가 단 한 번도 35%(처음 가격에서 -65%) 아래로 안 내려가면, 마지막에 얼마가 됐든 원금과 이자를 다 받습니다.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나는 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55648" y="36027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35% 아래를 한 번이라도 밟았고 마지막 날에도 70% 아래면, 떨어진 만큼 그대로 손실입니다.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발행사 20년 백테스트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4,711번 중 0번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6252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2556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같은 조건 시뮬레이션 손실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32556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12.7%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32556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 평균 22.7% · 낮은 쪽 1번째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5576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1880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1만원의 실제 값어치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1880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9,664원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1880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제값보다 -3.36%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24899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203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71203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37.8%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203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같이 움직임 0.17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5321808"/>
            <a:ext cx="11057839" cy="5120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321808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상품을 권하는 이유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돌려봤을 때 이번 회차에서 손해 볼 가능성이 가장 낮습니다.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2 — 수익과 안정을 반반 보는 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제38207회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solidFill>
            <a:srgbClr val="E7F1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EuroStoxx50 · KOSPI200 · Nikkei225  ·  36개월  ·  6개월마다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1005840"/>
            <a:ext cx="312724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05088" y="1335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9.4</a:t>
            </a:r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 → 빠르면 6개월 뒤 10,470원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55648" y="22311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EuroStoxx50 · KOSPI200 · Nikkei225 중 더 많이 떨어진 하나로 판정합니다. 하나만 나빠도 그쪽을 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끝나나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26883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6개월마다 확인해서 처음 가격의 90% 이상(-10%까지 떨어져도 괜찮다는 뜻)이면 그 자리에서 끝나고 1만원이 10,470원이 되어 돌아옵니다.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지키기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55648" y="31455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종가가 단 한 번도 35%(처음 가격에서 -65%) 아래로 안 내려가면, 마지막에 얼마가 됐든 원금과 이자를 다 받습니다.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나는 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55648" y="36027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35% 아래를 한 번이라도 밟았고 마지막 날에도 70% 아래면, 떨어진 만큼 그대로 손실입니다.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발행사 20년 백테스트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4,801번 중 0번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6252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2556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같은 조건 시뮬레이션 손실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32556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13.6%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32556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 평균 22.7% · 낮은 쪽 2번째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5576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1880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1만원의 실제 값어치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1880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9,705원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1880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제값보다 -2.95%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24899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203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71203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37.8%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203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같이 움직임 0.22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5321808"/>
            <a:ext cx="11057839" cy="5120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321808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상품을 권하는 이유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지는 위험 1%당 받는 수익률이 권할 수 있는 상품 중에서 가장 큽니다 — 같은 위험이면 그만큼 많이 줍니다.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3 — 수익률을 먼저 보는 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제38210회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solidFill>
            <a:srgbClr val="FBF2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A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2736" y="114300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EuroStoxx50 · S&amp;P500 · KOSPI200  ·  36개월  ·  6개월마다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1005840"/>
            <a:ext cx="312724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1155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연 수익률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05088" y="1335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10.5</a:t>
            </a:r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 → 빠르면 6개월 뒤 10,525원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677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55648" y="22311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EuroStoxx50 · S&amp;P500 · KOSPI200 중 더 많이 떨어진 하나로 판정합니다. 하나만 나빠도 그쪽을 봅니다.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끝나나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26883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6개월마다 확인해서 처음 가격의 90% 이상(-10%까지 떨어져도 괜찮다는 뜻)이면 그 자리에서 끝나고 1만원이 10,525원이 되어 돌아옵니다.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821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 지키기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55648" y="31455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종가가 단 한 번도 40%(처음 가격에서 -60%) 아래로 안 내려가면, 마지막에 얼마가 됐든 원금과 이자를 다 받습니다.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93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 나는 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55648" y="3602736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 아래를 한 번이라도 밟았고 마지막 날에도 70% 아래면, 떨어진 만큼 그대로 손실입니다.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발행사 20년 백테스트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0.02%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4,941번 중 1번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6252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2556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같은 조건 시뮬레이션 손실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32556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18.3%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32556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19종 평균 22.7% · 낮은 쪽 9번째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5576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1880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1만원의 실제 값어치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1880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9,570원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1880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제값보다 -4.30%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24899" y="4224528"/>
            <a:ext cx="2599868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203" y="43251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출렁임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71203" y="4544568"/>
            <a:ext cx="2307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37.8%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203" y="4846320"/>
            <a:ext cx="230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같이 움직임 0.17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5321808"/>
            <a:ext cx="11057839" cy="51206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321808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상품을 권하는 이유  </a:t>
            </a:r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넣는 순간의 값어치가 크게 깎이지 않은 상품 중에서 가장 높은 수익률입니다. 더 높은 회차는 값어치가 깎였거나 손실 확률이 높아 권하지 않습니다.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 전체 19종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조건으로 돌린 손실 확률(B)이 낮은 순서. A 옆 괄호는 그 상품의 표본 구간 길이 — 10년에 못 미치면(빨강) 다른 상품과 나란히 비교할 수 없습니다.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57839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496312"/>
                <a:gridCol w="402336"/>
                <a:gridCol w="676656"/>
                <a:gridCol w="786384"/>
                <a:gridCol w="841248"/>
                <a:gridCol w="713232"/>
                <a:gridCol w="859536"/>
                <a:gridCol w="566928"/>
                <a:gridCol w="603504"/>
                <a:gridCol w="603504"/>
                <a:gridCol w="1005840"/>
                <a:gridCol w="770839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수익률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조기상환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낙인 배리어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변동성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시뮬레이션 손실 확률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1차 상환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만기 도달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설명서상 백테스트 손실 확률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제38205회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S&amp;P500 · KOSPI200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9,664원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제38207회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 · KOSPI200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9,705원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제38206회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 · S&amp;P500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3.35%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9,657원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제38208회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9,543원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제38213회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삼성전자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9,443원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제38211회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1.31%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9,278원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제38216회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HSCEI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0.98%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9,394원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제38209회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 · HSCEI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2.77%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9,458원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제38210회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 · S&amp;P500 · KOSPI200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0.02%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9,570원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제38217회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S&amp;P500 · HSCEI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4.67%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9,502원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제38218회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58.6%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0.55%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9,206원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제38212회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1.94%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9,157원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제38214회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S&amp;P500 · KOSPI200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58.0%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1.01%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9,236원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제38215회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1.39%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9,311원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제38222회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S&amp;P500 · KOSPI200 · Nikkei225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90%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2.65%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9,441원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제38223회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 · SK하이닉스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1.09%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9,242원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제38219회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테슬라 · 팔란티어 테크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75%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4.21%  (3.0년)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8,268원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제38221회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어플라이드 머티어리얼즈 · AMD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10.67%  (20년)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7,555원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제38220회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마이크론 테크놀로지 · 팔란티어 테크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6개월 / 85%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93.1%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2.76%  (3.0년)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6,145원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70448"/>
            <a:ext cx="110578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"만기만" = 낙인이 없어 만기 그날만 봅니다. B. 1차 상환 = 첫 확인일에 끝날 확률, B. 만기 도달 = 한 번도 조기상환되지 않고 만기를 맞을 확률 — 그 안에 앞의 손실 확률이 들어 있고, 빼면 만기까지 가서도 약정 수익을 받는 몫입니다. 손실은 만기에만 확정되기 때문입니다. 등급은 B(같은 조건으로 돌린 손실 확률) 하나로만 가릅니다 — 15% 이하 방어적, 15~25% 중간, 25% 초과 공격적. 수익률이나 기초자산 종류는 등급에 넣지 않았습니다. 모두 원금비보장 1등급 상품이므로 "안전"이 아니라 서로 견준 순서입니다.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주에는 권하지 않는 상품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수익률만 보면 눈에 띄지만, 그 대가를 손해 볼 가능성이나 값어치에서 치르고 있습니다. 가능성이 큰 순서입니다.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제38220회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마이크론 테크놀로지 · 팔란티어 테크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20.5%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57.7%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688336"/>
            <a:ext cx="22203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58번이 손실 (이번 주 평균 23번)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넣는 순간의 실제 값어치가 6,145원밖에 안 됨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회사가 돌려본 기간이 3.0년(760번)뿐 — 큰 폭락장이 빠져 손실 2.76%를 20년 상품과 견줄 수 없음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0824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3704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제38221회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73704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어플라이드 머티어리얼즈 · AMD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73704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17.5%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39.3%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3704" y="2688336"/>
            <a:ext cx="22203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39번이 손실 (이번 주 평균 23번)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넣는 순간의 실제 값어치가 7,555원밖에 안 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4720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7600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제38219회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97600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테슬라 · 팔란티어 테크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7600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17.0%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34.0%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7600" y="2688336"/>
            <a:ext cx="22203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34번이 손실 (이번 주 평균 23번)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넣는 순간의 실제 값어치가 8,268원밖에 안 됨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회사가 돌려본 기간이 3.0년(760번)뿐 — 큰 폭락장이 빠져 손실 4.21%를 20년 상품과 견줄 수 없음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8615" y="1316736"/>
            <a:ext cx="258615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1495" y="1517904"/>
            <a:ext cx="222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제38223회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21495" y="1847088"/>
            <a:ext cx="2220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21495" y="2359152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21.0%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손해 25.9%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21495" y="2688336"/>
            <a:ext cx="22203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컴퓨터로 똑같이 돌리면 100번 중 26번이 손실 (이번 주 평균 23번)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11057839" cy="804672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754880"/>
            <a:ext cx="1065550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거르는 기준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컴퓨터로 돌린 손해 볼 가능성이 25%를 넘거나  ② 1만원을 넣는 순간의 값어치가 제값보다 10% 넘게 깎였거나  ③ 회사가 과거로 돌려본 기간이 10년에 못 미쳐 다른 상품과 비교할 수 없는 경우. 셋 중 하나라도 걸리면 이 자리로 내립니다. 수익률이 높아 먼저 눈에 띄는 상품들이라, 상담 전에 걸러두는 편이 낫습니다.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전에 꼭 짚어드릴 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상담에서 이 여섯 가지를 빠뜨리면 나중에 문제가 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3527450" cy="1783080"/>
          </a:xfrm>
          <a:prstGeom prst="rect">
            <a:avLst/>
          </a:prstGeom>
          <a:solidFill>
            <a:srgbClr val="FDF6F6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444752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마감은 10월 23일(금)입니다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31616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홈페이지에는 2026.10.19~2026.10.28로 나오지만 개인 일반투자자는 10월 23일(금)까지만 청약할 수 있습니다. 이후는 숙려·가입의사확인 기간이라 주문을 받을 수 없습니다.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2122" y="1316736"/>
            <a:ext cx="3527450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5002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80762" y="1444752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1만원을 넣어도 1만원어치가 아닙니다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15002" y="2011680"/>
            <a:ext cx="31616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넣는 순간의 실제 값어치가 9,705원부터 6,145원까지 벌어집니다. 차액은 회사 몫과 비용이고, 이마저도 앞으로 들 비용을 이미 뺀 값입니다.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7317" y="1316736"/>
            <a:ext cx="3527450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0197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45957" y="1444752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빼면 손해입니다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80197" y="2011680"/>
            <a:ext cx="31616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전에 빼시면 원금이 아니라 그날 계산한 값어치의 95%(가입 6개월 안이면 90%)만 받습니다. 36개월 동안 안 쓸 돈으로만 하셔야 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27450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447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447288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그날 종가로만 합니다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" y="4014216"/>
            <a:ext cx="31616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장중에 잠깐 뚫고 내려가도 종가가 선 위면 아무 일 없고, 종가가 딱 한 번이라도 아래면 그걸로 기록이 남습니다.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32122" y="3319272"/>
            <a:ext cx="3527450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5002" y="3447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80762" y="3447288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서류의 손실 숫자를 그대로 옮기지 마십시오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15002" y="4014216"/>
            <a:ext cx="31616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서류의 손실 숫자는 "지난 20년이 되풀이된다면"의 답입니다. 추천 1번 제38205회도 서류로는 0.00%지만 똑같은 조건으로 다시 돌리면 12.7%입니다.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7317" y="3319272"/>
            <a:ext cx="3527450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0197" y="3447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45957" y="3447288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내용은 녹음됩니다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80197" y="4014216"/>
            <a:ext cx="31616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일반투자자는 녹음 파일을 달라고 하실 수 있고, 위험을 한 장으로 정리한 설명서도 받습니다. "최대 얼마까지 잃을 수 있는지"는 숙려기간에 따로 알려드립니다. 설명을 건너뛰면 그것도 그대로 기록에 남습니다.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상담할 때 이 순서로 말씀하시면 됩니다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1번 제38205회 기준입니다. 다른 상품이면 회차·기간·원금 지키는 선 숫자만 바꾸십시오.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31673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"먼저 일정부터 말씀드리면, 청약은 10월 23일(금)까지 넣으셔야 합니다. 그 뒤 이틀은 법으로 정해진 숙려기간이라 주문을 받을 수 없습니다."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883664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8288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상품은 최장 36개월짜리인데, 6개월마다 끝날 기회가 옵니다. 컴퓨터로 같은 조건을 돌려보면 53%가 첫 번째에 끝났습니다."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34086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"S&amp;P500 · KOSPI200 · Nikkei225 중 더 많이 떨어진 하나로 판정합니다."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07792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85292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"올라야 버는 게 아니라, 많이 안 떨어지면 버는 구조입니다. 제자리여도 약속한 이자를 다 받습니다."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419856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336499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"대신 35% 아래로 크게 떨어지면 떨어진 만큼 그대로 손실입니다. 원금은 보장되지 않습니다."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931920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3877056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"지난 20년으로 돌려보면 손실은 0.00%였는데 그 기간이 좋았던 덕도 있습니다. 넉넉하게 잡으면 13% 정도로 봅니다."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443984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443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4389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"36개월 동안 안 쓸 돈인지부터 확인해 주세요. 중간에 빼시면 그날 계산한 값어치의 95%만 받습니다."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347472" cy="34747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90118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"청약을 넣으셔도 바로 확정되는 게 아닙니다. 이틀 숙려기간을 거친 뒤 저희가 다시 연락드려 최종 의사를 확인합니다. 그때 확인이 안 되면 청약금은 2026.10.29에 돌려드립니다."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541264"/>
            <a:ext cx="11057839" cy="69494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541264"/>
            <a:ext cx="10655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"개별 종목이 들어간 건 더 위험하지 않나요?"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"맞습니다. 이번 주도 종목만 담은 상품의 손해 볼 가능성이 지수만 담은 것의 1.9배입니다. 다만 이번 주 추천 3종은 모두 지수만 담은 상품이라, 그 걱정은 이 세 종에는 해당하지 않습니다."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풀이 — 서류의 말을 쉬운 말로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투자설명서나 홈페이지를 펴 놓고 "여기 이건 무슨 말이냐" 물으실 때 쓰십시오. 왼쪽에서 그 말을 찾아, 가운데 말로 바꿔 말씀하시면 됩니다.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539176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1481328"/>
                <a:gridCol w="24839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서류·홈페이지 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쉬운 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뜻인가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기초자산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자산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상품의 성패를 정하는 주식·지수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최초기준가격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 가격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시작하는 날의 종가. 모든 %의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조기상환 배리어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 끝나는 기준선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위에 있으면 이자까지 얹어 그 자리에서 끝남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스텝다운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뒤로 갈수록 낮아지는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시간이 갈수록 끝나기 쉬워지는 구조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낙인(KI) 배리어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원금 지키는 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번도 이 밑으로 안 가면 원금·이자를 다 받음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워스트 퍼포머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떨어진 하나로 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오른 쪽은 안 보고 제일 못한 하나만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(내재)변동성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출렁임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앞으로 1년간 얼마나 흔들릴지 시장이 보는 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316736"/>
          <a:ext cx="539176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1481328"/>
                <a:gridCol w="24839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서류·홈페이지 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쉬운 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뜻인가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상관계수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같이 움직이는 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1이면 완전히 같이, 0에 가까우면 따로 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공정가액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값어치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1만원 넣는 순간 이 상품이 실제로 갖는 값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기대손실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평균적으로 잃는 크기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손해 볼 가능성 × 손해 날 때 잃는 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숙려기간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다시 생각하는 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법이 비워 둔 2영업일 이상. 이때는 청약 못 넣음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가입의사 확인기간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정말 하실 건지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회사가 연락해 확인. 안 닿으면 청약 취소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중도상환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중간에 해지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원금이 아니라 그날 값어치의 95%(6개월 내 90%)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위험등급 1등급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위험한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제일 좋다가 아니라 가장 위험하다는 뜻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66928" y="6473952"/>
            <a:ext cx="104177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금융감독원 전자공시시스템(DART)에 2026.10.16 올라온 투자설명서 (접수번호 20261016000319)  ·  원금을 잃을 수 있는 상품입니다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제38205~38223회 ELS 분석자료</dc:title>
  <dc:subject>PptxGenJS Presentation</dc:subject>
  <dc:creator>미래에셋증권</dc:creator>
  <cp:lastModifiedBy>미래에셋증권</cp:lastModifiedBy>
  <cp:revision>1</cp:revision>
  <dcterms:created xsi:type="dcterms:W3CDTF">2026-10-19T06:07:48Z</dcterms:created>
  <dcterms:modified xsi:type="dcterms:W3CDTF">2026-10-19T06:07:48Z</dcterms:modified>
</cp:coreProperties>
</file>