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Spoqa Han Sans Neo"/>
              </a:defRPr>
            </a:pPr>
            <a:r>
              <a:rPr sz="1050" b="0" i="0" u="none" strike="noStrike">
                <a:solidFill>
                  <a:srgbClr val="1A1A1A"/>
                </a:solidFill>
                <a:latin typeface="Spoqa Han Sans Neo"/>
              </a:rPr>
              <a:t>운용사 분산 (신규 운용 13.28억 = 100%)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운용사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bubble3D val="0"/>
            <c:spPr>
              <a:solidFill>
                <a:srgbClr val="FAB072"/>
              </a:solidFill>
              <a:effectLst/>
            </c:spPr>
          </c:dPt>
          <c:dPt>
            <c:idx val="3"/>
            <c:bubble3D val="0"/>
            <c:spPr>
              <a:solidFill>
                <a:srgbClr val="0086B8"/>
              </a:solidFill>
              <a:effectLst/>
            </c:spPr>
          </c:dPt>
          <c:dPt>
            <c:idx val="4"/>
            <c:bubble3D val="0"/>
            <c:spPr>
              <a:solidFill>
                <a:srgbClr val="AD624E"/>
              </a:solidFill>
              <a:effectLst/>
            </c:spPr>
          </c:dPt>
          <c:dPt>
            <c:idx val="5"/>
            <c:bubble3D val="0"/>
            <c:spPr>
              <a:solidFill>
                <a:srgbClr val="00A9CE"/>
              </a:solidFill>
              <a:effectLst/>
            </c:spPr>
          </c:dPt>
          <c:dPt>
            <c:idx val="6"/>
            <c:bubble3D val="0"/>
            <c:spPr>
              <a:solidFill>
                <a:srgbClr val="F0B26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0.0&quot;%&quot;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미래에셋</c:v>
                </c:pt>
                <c:pt idx="1">
                  <c:v>삼성</c:v>
                </c:pt>
                <c:pt idx="2">
                  <c:v>한국투자신탁운용</c:v>
                </c:pt>
                <c:pt idx="3">
                  <c:v>하나</c:v>
                </c:pt>
                <c:pt idx="4">
                  <c:v>코레이트</c:v>
                </c:pt>
                <c:pt idx="5">
                  <c:v>피델리티</c:v>
                </c:pt>
                <c:pt idx="6">
                  <c:v>은행 예금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39.4</c:v>
                </c:pt>
                <c:pt idx="1">
                  <c:v>31.6</c:v>
                </c:pt>
                <c:pt idx="2">
                  <c:v>14.3</c:v>
                </c:pt>
                <c:pt idx="3">
                  <c:v>4.5</c:v>
                </c:pt>
                <c:pt idx="4">
                  <c:v>3.8</c:v>
                </c:pt>
                <c:pt idx="5">
                  <c:v>3.4</c:v>
                </c:pt>
                <c:pt idx="6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Spoqa Han Sans Neo"/>
              </a:defRPr>
            </a:pPr>
            <a:r>
              <a:rPr sz="1050" b="0" i="0" u="none" strike="noStrike">
                <a:solidFill>
                  <a:srgbClr val="1A1A1A"/>
                </a:solidFill>
                <a:latin typeface="Spoqa Han Sans Neo"/>
              </a:rPr>
              <a:t>자산 유형별 구성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금액(억)</c:v>
                </c:pt>
              </c:strCache>
            </c:strRef>
          </c:tx>
          <c:spPr>
            <a:solidFill>
              <a:srgbClr val="043B72">
                <a:alpha val="100000"/>
              </a:srgbClr>
            </a:solidFill>
            <a:effectLst/>
          </c:spPr>
          <c:invertIfNegative val="0"/>
          <c:dLbls>
            <c:numFmt formatCode="0.00&quot;억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888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ETF</c:v>
                  </c:pt>
                  <c:pt idx="1">
                    <c:v>채권형 펀드</c:v>
                  </c:pt>
                  <c:pt idx="2">
                    <c:v>원리금보장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10.03</c:v>
                </c:pt>
                <c:pt idx="1">
                  <c:v>2.85</c:v>
                </c:pt>
                <c:pt idx="2">
                  <c:v>0.4</c:v>
                </c:pt>
              </c:numCache>
            </c:numRef>
          </c:val>
        </c:ser>
        <c:dLbls>
          <c:numFmt formatCode="0.00&quot;억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9525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Spoqa Han Sans Neo"/>
              </a:defRPr>
            </a:pPr>
            <a:r>
              <a:rPr sz="1050" b="0" i="0" u="none" strike="noStrike">
                <a:solidFill>
                  <a:srgbClr val="1A1A1A"/>
                </a:solidFill>
                <a:latin typeface="Spoqa Han Sans Neo"/>
              </a:rPr>
              <a:t>단계별 월 현금흐름 (만원) — 필요 750만원 대비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연금소득</c:v>
                </c:pt>
              </c:strCache>
            </c:strRef>
          </c:tx>
          <c:spPr>
            <a:solidFill>
              <a:srgbClr val="043B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Spoqa Han Sans Ne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1
2029.7~2031</c:v>
                  </c:pt>
                  <c:pt idx="1">
                    <c:v>Phase 3
2031~2034</c:v>
                  </c:pt>
                  <c:pt idx="2">
                    <c:v>Phase 4
2034~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280</c:v>
                </c:pt>
                <c:pt idx="2">
                  <c:v>530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포트폴리오 인컴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Spoqa Han Sans Ne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1
2029.7~2031</c:v>
                  </c:pt>
                  <c:pt idx="1">
                    <c:v>Phase 3
2031~2034</c:v>
                  </c:pt>
                  <c:pt idx="2">
                    <c:v>Phase 4
2034~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407</c:v>
                </c:pt>
                <c:pt idx="1">
                  <c:v>500</c:v>
                </c:pt>
                <c:pt idx="2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Spoqa Han Sans Ne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9525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개정판. 운용사 제약을 풀고 채권형 펀드를 편입해 전체 기대수익률 6.82% → 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안전자산 2.2억 = 30.2% · 안전 4.59% / 위험 8.36%.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안전자산 2.2억 = 30.2% 충족. 채권형 펀드 2.85억 편입.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[고객 제안용 · 개정판]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은퇴자산 운용 제안서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전체 운용사 ETF + 채권형 펀드로 구성한 인컴 포트폴리오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27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ETF 1167종 · 공모펀드 3194종 실측 비교로 선별 (수익률 기준일 2026-09-04)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가구 총자산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19.38억원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목표 / 설계안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7.0% / 7.00%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운용사 분산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7개사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작성 기준일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2026.09.07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85800" y="5175504"/>
            <a:ext cx="10817352" cy="10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5413248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대상: 만 57세 남성(은퇴 2029년 7월 예정) · 배우자 만 58세(2028년 은퇴, 월 280만원 연금 수령)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기대수익률은 3년 실측 총수익을 감액 적용한 설계 가정이며 미래 수익을 보장하지 않습니다. 펀드 수익률·보수는 실제 매수 가능한 클래스 기준입니다.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무엇을 바꿨나 — 운용사 제약을 풀고, 채권형 펀드를 넣었다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ETF 1167종과 공모펀드 3194종을 성과 기준으로 다시 비교해 선별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9893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8745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초판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개정판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차이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 범위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ETF 중심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7개 운용사 ETF + 채권형 펀드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성과 기준으로 재선별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자산 유형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ETF 100%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ETF 75.5% · 펀드 21.5% · 예금 3%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이머징국공채·하이일드 추가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안전자산 슬리브 기대수익률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3.18%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4.59%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+1.41%p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전체 기대수익률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6.82%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7.00%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+0.18%p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목표 연 7% 달성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미달 (−0.18%p)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달성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규제 비용 축소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5989320" cy="1965960"/>
          </a:xfrm>
          <a:prstGeom prst="rect">
            <a:avLst/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24281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안전자산 슬리브를 어떻게 끌어올렸나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72000"/>
            <a:ext cx="56235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초판은 안전자산 2.2억을 머니마켓·만기매칭 채권으로 채워 기대수익률이 3.18%에 묶였다</a:t>
            </a:r>
            <a:endParaRPr lang="en-US" sz="90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개정판은 퇴직연금 클래스 채권형 펀드를 넣었다 — 삼성 누버거버먼 이머징국공채플러스(H) S-P는 3년 연율 10.45%에 총보수 0.34%</a:t>
            </a:r>
            <a:endParaRPr lang="en-US" sz="90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채권형 펀드는 퇴직연금에서 안전자산으로 분류되므로, 30% 의무를 지키면서 수익률을 4.59%까지 올렸다 (규제 비용 0.43%p로 축소)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20840" y="1298448"/>
            <a:ext cx="5010912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22008" y="1444752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전체 기대수익률 (목표 연 7.0%)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922008" y="1755648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7.00%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922008" y="2212848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초판 6.82% 대비 +0.18%p. 2031년 예금 만기 후 재투자 시 7.46%(+0.46%p).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720840" y="2743200"/>
            <a:ext cx="5010912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22008" y="288950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운용사 분산 (신규 운용자산 기준)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922008" y="3200400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7개사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22008" y="3657600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미래에셋 39.4% · 삼성 31.6% · 한국투자신탁운용 14.3% · 하나 4.5% · 코레이트 3.8% 등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720840" y="4187952"/>
            <a:ext cx="5010912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22008" y="4334256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채권 자산 편입 (ETF 외 공모펀드)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922008" y="4645152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2.85억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922008" y="510235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크레딧·단기채와 해외 이머징국공채·아시아하이일드. ETF만으로는 담기 어려운 영역을 펀드로 채웠다.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상품 지표는 국내 상장 ETF 1167종·국내 설정 공모펀드 3194종 실측 데이터셋 (naver 수집 2026-09-07, 수익률 기준일 2026-09-04)에서 인용했습니다. ETF 3년은 연율, 펀드 3년은 누적이므로 펀드는 연율로 환산해 비교했습니다.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시점별 자금흐름 로드맵 — 5단계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지금 운용할 자산 / DC의 IRP 이전 / 예금 만기 / 국민연금 개시 시점을 하나의 흐름으로 배치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2228027" cy="566928"/>
          </a:xfrm>
          <a:prstGeom prst="chevron">
            <a:avLst/>
          </a:prstGeom>
          <a:solidFill>
            <a:srgbClr val="F582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2026.9~2029.6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12659" y="1243584"/>
            <a:ext cx="2228027" cy="566928"/>
          </a:xfrm>
          <a:prstGeom prst="chevron">
            <a:avLst/>
          </a:prstGeom>
          <a:solidFill>
            <a:srgbClr val="CB60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86979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86979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2029.7~2031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68118" y="1243584"/>
            <a:ext cx="2228027" cy="566928"/>
          </a:xfrm>
          <a:prstGeom prst="chevron">
            <a:avLst/>
          </a:prstGeom>
          <a:solidFill>
            <a:srgbClr val="8488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42438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42438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2031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577" y="1243584"/>
            <a:ext cx="2228027" cy="566928"/>
          </a:xfrm>
          <a:prstGeom prst="chevron">
            <a:avLst/>
          </a:prstGeom>
          <a:solidFill>
            <a:srgbClr val="043B7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7897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497897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2031~2034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479036" y="1243584"/>
            <a:ext cx="2228027" cy="566928"/>
          </a:xfrm>
          <a:prstGeom prst="chevron">
            <a:avLst/>
          </a:prstGeom>
          <a:solidFill>
            <a:srgbClr val="0086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53356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753356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2034~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56816"/>
          <a:ext cx="1127729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40280"/>
                <a:gridCol w="1234440"/>
                <a:gridCol w="822960"/>
                <a:gridCol w="1051560"/>
                <a:gridCol w="5150815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단계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주요 이벤트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월 유입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월 필요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판정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실행 조치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 재직 · 배우자 은퇴(2028)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근로소득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+ 280 (2028~)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750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근로소득 충당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DC 6.40억 계좌 내 전환 · 증권현금 2.00억 · 배우자 4.00억 편입. 퇴직연금 클래스 펀드는 DC 계좌에서 바로 매수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1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 은퇴(만 60) · DC→IRP 이전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280 + 인컴 407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= 687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750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부족 63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DC+IRP 7.28억 통합. 부족분은 연금계좌에서 연 760만원 인출 (사적연금 1,500만원 한도 이내)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4888B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2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은행예금 만기 · 자녀 결혼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만기 원리금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4.48억 유입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3.00억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일시 지출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목적자금 집행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결혼자금 3.00억 지급 후 잔여 1.48억 재투자 → 월 인컴 +94만원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3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 자립기 (국민연금 개시 전)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280 + 인컴 500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= 780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750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여유 30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예금이 5% 확정에서 인컴 포트폴리오로 넘어와 전체 기대수익률 7.00% → 7.46%로 상승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86B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4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 국민연금 개시(만 65)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530 + 인컴 500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= 1030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750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여유 280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잉여 280만원으로 의료·장기요양 준비금 별도 적립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단위: 만원/월(별도 표기 제외). 본인 은퇴시점은 2026.09 기준 잔여 2년 10개월을 적용해 2029년 7월로 산정. 은행예금 만기는 자녀 결혼 시점과 일치한다는 고객 진술에 따라 2031년으로 가정했으며 원리금 4.48억은 단리·이자소득세 15.4% 차감 기준입니다. 월 인컴은 ETF 실측 분배율과, 분배율이 확인되지 않은 채권형 펀드는 기대수익률의 50%만 현금으로 보는 보수적 가정으로 산출했습니다.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자산배분 — 목표 연 7.0%, 설계안 7.00%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신규 주식 편입 없이 이자·배당·옵션프리미엄으로 구성하고, 운용사와 자산 유형을 분산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07008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" y="370332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63040"/>
          <a:ext cx="5788152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96012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자산 블록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금액(억)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기대수익률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수익(억)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은행 정기예금 — 확정금리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3.70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5.00%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0.185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기존 보유주식 — 유지, 가정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2.40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8.00%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0.192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신규 인컴 포트폴리오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13.28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7.37%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0.979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가구 전체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19.38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7.00%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1.356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943600" y="3200400"/>
            <a:ext cx="5788152" cy="621792"/>
          </a:xfrm>
          <a:prstGeom prst="rect">
            <a:avLst/>
          </a:prstGeom>
          <a:solidFill>
            <a:srgbClr val="F582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목표 연 7.00% → 설계안 7.00% 달성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2031년 예금 만기 후 7.46% (+0.46%p)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5943600" y="3968496"/>
            <a:ext cx="578815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126480" y="409651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 배분이 지키는 제약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126480" y="4425696"/>
            <a:ext cx="54223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연금계좌 안전자산 2.2억(30.2%) — 위험자산 70% 한도 규정 충족. 채권형 펀드를 활용해 슬리브 기대수익률 4.59%</a:t>
            </a:r>
            <a:endParaRPr lang="en-US" sz="85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직접 주식은 기존 보유 2.40억뿐, 신규 편입 0. 은행예금·보유주식 6.10억은 손대지 않음</a:t>
            </a:r>
            <a:endParaRPr lang="en-US" sz="85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1년 총수익이 마이너스인 고분배 상품(미국 장기국채 커버드콜류)은 전부 제외 — 6페이지 참조</a:t>
            </a:r>
            <a:endParaRPr lang="en-US" sz="85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581558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은행예금 5.00%는 확정금리(고객 제공)이며, 주식 8.00%와 신규 인컴 포트폴리오 7.37%는 설계 가정으로 수익을 보장하지 않습니다. 커버드콜·리츠 상품의 기초자산은 주식·부동산이며, 주가 상승 참여를 제한하는 대신 옵션프리미엄·임대수익을 현금으로 받는 구조입니다.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실행 상품 — 운용사 무관 성과 기준 선별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ETF 1167종·공모펀드 3194종 비교. 펀드는 실제 매수 가능한 클래스 기준 (수익률 기준일 2026-09-04)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566160" cy="53035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" y="1216152"/>
            <a:ext cx="3273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트랙 A · 퇴직연금 DC → IRP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45389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7.28억 · 기대 연 7.22% · 안전자산 30.2%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15968" y="1188720"/>
            <a:ext cx="3566160" cy="530352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62272" y="1216152"/>
            <a:ext cx="3273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트랙 B · 증권 일반계좌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145389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2.00억 · 기대 연 6.96%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174736" y="1188720"/>
            <a:ext cx="3566160" cy="530352"/>
          </a:xfrm>
          <a:prstGeom prst="rect">
            <a:avLst/>
          </a:prstGeom>
          <a:solidFill>
            <a:srgbClr val="0086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216152"/>
            <a:ext cx="3273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트랙 C · 배우자 자산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145389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4.00억 · 기대 연 7.86%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2224"/>
          <a:ext cx="11277295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3858768"/>
                <a:gridCol w="914400"/>
                <a:gridCol w="914400"/>
                <a:gridCol w="566928"/>
                <a:gridCol w="621792"/>
                <a:gridCol w="658368"/>
                <a:gridCol w="658368"/>
                <a:gridCol w="548640"/>
                <a:gridCol w="512064"/>
                <a:gridCol w="512064"/>
                <a:gridCol w="521208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상품명 · 클래스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종목코드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운용사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총보수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분배율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총수익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3년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총수익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1년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기대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A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B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C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ETF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KODEX 미국배당커버드콜액티브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441640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0.19%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9.38%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17.3%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16.0%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8.9%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1.40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0.60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0.90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ETF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미국배당다우존스타겟커버드콜2호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458760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미래에셋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0.39%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9.96%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25.6%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1.20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0.70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ETF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미국나스닥100커버드콜(합성)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441680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미래에셋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0.37%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12.65%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13.9%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19.6%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9.4%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1.00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0.55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ETF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리츠부동산인프라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329200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미래에셋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0.08%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9.77%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4.7%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3.3%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6.0%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0.78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0.35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ETF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ACE 미국배당다우존스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402970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한국투신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0.01%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2.95%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16.3%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26.7%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8.0%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0.70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0.70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펀드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 누버거버먼 이머징국공채플러스(H)S-P(퇴직연금)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SNB_SP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0.34%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4888B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미확인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10.5%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6.5%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0.80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펀드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하나 월지급식 글로벌이머징국공채ClassC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HANA_C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하나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1.048%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4888B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미확인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6.5%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0.60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펀드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코레이트 셀렉트단기채_C-P2e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KORT_CP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코레이트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0.22%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4888B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미확인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4.2%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3.3%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0.50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펀드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한국투자 크레딧포커스ESG(S-P)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KIM_SP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한국투신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0.271%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4888B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미확인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1.3%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3.8%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0.50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ETF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KODEX CD금리액티브(합성)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459580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0.02%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2.75%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3.1%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2.8%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3.1%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0.20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펀드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피델리티 월지급식 아시아하이일드A-e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FID_AE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피델리티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0.493%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4888B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미확인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8.6%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6.0%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6.0%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0.45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4888B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예금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원리금보장 정기예금 (IRP 예금)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84888B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미확인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3.0%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0.40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ETF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미국배당다우존스타겟데일리커버드콜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0008S0</a:t>
                      </a:r>
                      <a:endParaRPr lang="en-US" sz="6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미래에셋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0.25%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11.75%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25.4%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9.0%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0.35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·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합계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7.28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2.00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4.00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5349240"/>
            <a:ext cx="11277295" cy="6583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8368" y="541324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펀드를 볼 때 반드시 클래스로 봐야 하는 이유   </a:t>
            </a:r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데이터셋의 모(母)펀드 레코드와 실제 매수 가능한 클래스의 수익률은 크게 다릅니다. iM에셋 월지급 미국달러하이일드의 경우 모펀드 1년 수익률은 9.58%지만, 판매 클래스는 1.77~3.19%였습니다. 이 제안서의 펀드 수익률·총보수는 전부 판매 클래스 기준입니다.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상품 지표는 국내 상장 ETF 1167종·국내 설정 공모펀드 3194종 실측 데이터셋 (naver 수집 2026-09-07, 수익률 기준일 2026-09-04)에서 인용했습니다. ETF 3년은 연율, 펀드 3년은 누적이므로 펀드는 연율로 환산해 비교했습니다. 펀드 분배율은 데이터셋에 없어 '미확인'으로 표기했으며, 월지급식 여부와 실제 분배금은 실행 전 판매사에서 확인해야 합니다. 퇴직연금 클래스(S-P·C-P) 채권형 펀드는 안전자산으로 분류되나 세부 분류는 금융기관 내부기준에 따라 달라질 수 있어 매수 전 확인이 필요합니다. 기대수익률은 3년 실측 총수익을 45~70% 수준으로 감액한 설계 가정입니다.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현금흐름 검증 · 제외 판정 · 세제 전략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 필요자금 750만원을 어떤 재원으로, 어떤 세율로 조달하는가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577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478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판정  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1 부족 63만원 → 연금계좌에서 연 760만원 인출(1,500만원 한도 이내) · Phase 3 여유 30만원 · Phase 4 여유 280만원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188720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제외 판정 — 고분배인데 총수익이 마이너스인 상품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81328"/>
          <a:ext cx="5422392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658368"/>
                <a:gridCol w="822960"/>
                <a:gridCol w="1152144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상품명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분배율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총수익 1년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판정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미국30년국채커버드콜액티브(H)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13.35%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-2.3%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제외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KODEX 미국30년국채타겟커버드콜(합성 H)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13.12%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-1.6%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제외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SOL 미국30년국채커버드콜(합성)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13.01%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-1.5%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제외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KODEX 미국30년국채액티브(H)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5.20%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-2.2%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제외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ACE 미국30년국채액티브(H)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4.15%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-2.4%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제외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KODEX 한국부동산리츠인프라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8.54%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-3.4%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제외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종합채권(AA-이상)액티브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1.33%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-6.1%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제외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309360" y="3675888"/>
            <a:ext cx="5422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개정판에서는 이 7종을 전부 제외했다. 분배율 13%대 미국 장기국채 커버드콜은 분배금의 상당 부분이 원금 반환이어서 1년 총수익이 마이너스다. 그 자리를 3년 실적이 검증된 채권형 펀드로 대체했다.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57200" y="4224528"/>
            <a:ext cx="5577840" cy="1856232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43525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세제 전략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4681728"/>
            <a:ext cx="5212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퇴직급여는 연금으로 수령 — 이연퇴직소득의 연금소득세율은 퇴직소득세율의 70%(10년차까지), 11년차 이후 60%. 일시금 대비 약 30~40% 절감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1 연금 인출액 연 760만원은 사적연금 1,500만원 종합과세 기준 이내. Phase 3부터 인출을 멈춰 과세이연 유지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금융소득종합과세 기준 연 2,000만원 — 본인 1,845만원(이내), 배우자 3,036만원(초과). 부부 ISA 한도를 매년 소진하면 약 854만원을 과세대상에서 제외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309360" y="4224528"/>
            <a:ext cx="5422392" cy="1856232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92240" y="4352544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리스크와 실행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4681728"/>
            <a:ext cx="505663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이머징 채권·하이일드 편입으로 신용·환 리스크가 늘었다. 해외채권 펀드 비중을 신규 운용자산의 21.5% 이내로 유지하고 반기 1회 재점검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펀드 총보수는 ETF보다 높다(0.22~1.05%). 같은 전략에 더 싼 클래스가 있으면 교체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1개월 내 DC 6.40억 전환·증권 현금 2.00억 편입·부부 ISA 개설 / 3개월 내 배우자 4.00억 재배치 / 2029년 7월 DC를 IRP로 이전해 7.28억 통합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1996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상품 지표는 국내 상장 ETF 1167종·국내 설정 공모펀드 3194종 실측 데이터셋 (naver 수집 2026-09-07, 수익률 기준일 2026-09-04)에서 인용했습니다. ETF 3년은 연율, 펀드 3년은 누적이므로 펀드는 연율로 환산해 비교했습니다. 세율·한도는 2026년 기준이며 세법 개정 시 달라집니다. 개별 세액은 다른 소득과 합산해 산정되므로 실행 전 세무 상담을 권합니다. 사적연금 인출액의 건강보험료 부과 여부는 국민건강보험공단 1차 자료로 확인하지 못해 단정하지 않았습니다.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은퇴자산 운용 제안서</dc:title>
  <dc:subject>PptxGenJS Presentation</dc:subject>
  <dc:creator>미래에셋증권</dc:creator>
  <cp:lastModifiedBy>미래에셋증권</cp:lastModifiedBy>
  <cp:revision>1</cp:revision>
  <dcterms:created xsi:type="dcterms:W3CDTF">2026-09-07T08:17:18Z</dcterms:created>
  <dcterms:modified xsi:type="dcterms:W3CDTF">2026-09-07T08:17:18Z</dcterms:modified>
</cp:coreProperties>
</file>