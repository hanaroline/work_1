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Spoqa Han Sans Neo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Spoqa Han Sans Neo"/>
              </a:rPr>
              <a:t>자산군별 배분 (가구 총자산 19.38억 = 100%)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자산군 비중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bubble3D val="0"/>
            <c:spPr>
              <a:solidFill>
                <a:srgbClr val="043B72"/>
              </a:solidFill>
              <a:effectLst/>
            </c:spPr>
          </c:dPt>
          <c:dPt>
            <c:idx val="2"/>
            <c:bubble3D val="0"/>
            <c:spPr>
              <a:solidFill>
                <a:srgbClr val="FAB072"/>
              </a:solidFill>
              <a:effectLst/>
            </c:spPr>
          </c:dPt>
          <c:dPt>
            <c:idx val="3"/>
            <c:bubble3D val="0"/>
            <c:spPr>
              <a:solidFill>
                <a:srgbClr val="0086B8"/>
              </a:solidFill>
              <a:effectLst/>
            </c:spPr>
          </c:dPt>
          <c:dPt>
            <c:idx val="4"/>
            <c:bubble3D val="0"/>
            <c:spPr>
              <a:solidFill>
                <a:srgbClr val="AD624E"/>
              </a:solidFill>
              <a:effectLst/>
            </c:spPr>
          </c:dPt>
          <c:dPt>
            <c:idx val="5"/>
            <c:bubble3D val="0"/>
            <c:spPr>
              <a:solidFill>
                <a:srgbClr val="00A9CE"/>
              </a:solidFill>
              <a:effectLst/>
            </c:spPr>
          </c:dPt>
          <c:dPt>
            <c:idx val="6"/>
            <c:bubble3D val="0"/>
            <c:spPr>
              <a:solidFill>
                <a:srgbClr val="F0B26B"/>
              </a:solidFill>
              <a:effectLst/>
            </c:spPr>
          </c:dPt>
          <c:dPt>
            <c:idx val="7"/>
            <c:bubble3D val="0"/>
            <c:spPr>
              <a:solidFill>
                <a:srgbClr val="7E9FC3"/>
              </a:solidFill>
              <a:effectLst/>
            </c:spPr>
          </c:dPt>
          <c:dPt>
            <c:idx val="8"/>
            <c:bubble3D val="0"/>
            <c:spPr>
              <a:solidFill>
                <a:srgbClr val="84888B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0.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0.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0.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은행 정기예금(만기보유)</c:v>
                </c:pt>
                <c:pt idx="1">
                  <c:v>미국 배당+커버드콜</c:v>
                </c:pt>
                <c:pt idx="2">
                  <c:v>미국 장기국채 커버드콜</c:v>
                </c:pt>
                <c:pt idx="3">
                  <c:v>기존 보유주식(유지)</c:v>
                </c:pt>
                <c:pt idx="4">
                  <c:v>기타 인컴자산</c:v>
                </c:pt>
                <c:pt idx="5">
                  <c:v>국내 리츠·인프라</c:v>
                </c:pt>
                <c:pt idx="6">
                  <c:v>나스닥100 커버드콜</c:v>
                </c:pt>
                <c:pt idx="7">
                  <c:v>국내 우량채권(AA-이상)</c:v>
                </c:pt>
                <c:pt idx="8">
                  <c:v>원리금보장·파킹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19.1</c:v>
                </c:pt>
                <c:pt idx="1">
                  <c:v>18.1</c:v>
                </c:pt>
                <c:pt idx="2">
                  <c:v>13.2</c:v>
                </c:pt>
                <c:pt idx="3">
                  <c:v>12.4</c:v>
                </c:pt>
                <c:pt idx="4">
                  <c:v>8.9</c:v>
                </c:pt>
                <c:pt idx="5">
                  <c:v>7.7</c:v>
                </c:pt>
                <c:pt idx="6">
                  <c:v>7.2</c:v>
                </c:pt>
                <c:pt idx="7">
                  <c:v>7.2</c:v>
                </c:pt>
                <c:pt idx="8">
                  <c:v>6.2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50"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Spoqa Han Sans Neo"/>
              </a:defRPr>
            </a:pPr>
            <a:r>
              <a:rPr sz="1050" b="0" i="0" u="none" strike="noStrike">
                <a:solidFill>
                  <a:srgbClr val="1A1A1A"/>
                </a:solidFill>
                <a:latin typeface="Spoqa Han Sans Neo"/>
              </a:rPr>
              <a:t>단계별 월 현금흐름 (만원) — 필요 750만원 대비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연금소득</c:v>
                </c:pt>
              </c:strCache>
            </c:strRef>
          </c:tx>
          <c:spPr>
            <a:solidFill>
              <a:srgbClr val="043B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Spoqa Han Sans Ne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Phase 1
2029.7~2031</c:v>
                  </c:pt>
                  <c:pt idx="1">
                    <c:v>Phase 3
2031~2034</c:v>
                  </c:pt>
                  <c:pt idx="2">
                    <c:v>Phase 4
2034~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</c:v>
                </c:pt>
                <c:pt idx="1">
                  <c:v>280</c:v>
                </c:pt>
                <c:pt idx="2">
                  <c:v>530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포트폴리오 인컴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Spoqa Han Sans Ne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Phase 1
2029.7~2031</c:v>
                  </c:pt>
                  <c:pt idx="1">
                    <c:v>Phase 3
2031~2034</c:v>
                  </c:pt>
                  <c:pt idx="2">
                    <c:v>Phase 4
2034~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431</c:v>
                </c:pt>
                <c:pt idx="1">
                  <c:v>523</c:v>
                </c:pt>
                <c:pt idx="2">
                  <c:v>523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Spoqa Han Sans Ne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D3D3D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9525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가구 총자산 19.38억(본인 15.38 + 배우자 4.00). 목표수익률 연 7%는 고객 지정값이며, 예금·주식을 포함한 전체 자산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DC 기회비용 = 6.40억 x (7.25% - 2.50%) = 연 3,039만원. 34개월 누적 8,611만원. 신규 운용 요구수익률 = (1.3566 - 0.185 - 0.192) / 13.28 = 7.38%.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예금 만기: 3.70억 x 5% x 5년 = 세전 0.925억 → 세후 이자 0.783억 → 원리금 4.48억. 3억 지출 후 1.48억 재투자 → 7.39% 적용 시 월 91만원.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0.185 + 0.192 + 0.981 = 1.358억 / 19.38억 = 7.01%. 목표 7.00% 대비 +0.01%p.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트랙 A 안전자산 2.20억 = 1.00 + 0.80 + 0.40 → 7.28억의 30.2%로 규정 충족. 고분배 커버드콜을 연금계좌에 우선 배치한 이유는 계좌 내 분배금이 과세되지 않고 재투자되기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1: 280 + 431 = 711 vs 750 → 부족 39 → 연 466만원 인출. Phase 3: 예금 만기 잔여 1.48억 재투자로 인컴 +91만원 → 523만원. Phase 4: 국민연금 250 추가 → 연금 530 + 인컴 523 = 1,053만원.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[고객 제안용]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은퇴자산 운용 제안서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인컴 중심 노후 현금흐름 설계 — 이자·배당으로 매월 생활비를 만드는 구조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160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가구 총자산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19.38억원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4160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목표수익률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7.0%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4160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설계 구간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 → 2034+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4160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작성 기준일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2026.09.07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85800" y="5212080"/>
            <a:ext cx="10817352" cy="10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54406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대상: 만 57세 남성(은퇴 2029년 7월 예정) · 배우자 만 58세(2028년 은퇴, 월 280만원 연금 수령)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 제안서는 고객이 제공한 자산 현황을 기초로 작성된 참고자료입니다. 기재된 기대수익률·분배율은 설계 가정 또는 과거 실적이며 미래 수익을 보장하지 않습니다.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현황 진단 — 자산은 충분하나, 현금흐름 배치가 비어 있다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가구 총자산 19.38억 · 즉시 재배치 가능 13.28억(68.5%) · 만기·유지 제약 6.10억(31.5%)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598932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417320"/>
                <a:gridCol w="841248"/>
                <a:gridCol w="3072384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자산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금액(억)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현재 상태 / 제약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본인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퇴직연금 DC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6.40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현금성 자산으로 방치 — 즉시 전환 대상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본인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개인 IRP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0.88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운용 중 — 재배치 대상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본인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은행 5년 정기예금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3.70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 5% 확정 · 만기까지 인출 불가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본인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증권 현금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2.00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미운용 — 즉시 전환 대상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본인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국내·해외주식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2.40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매도하지 않고 그대로 유지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배우자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보유자산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4.00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전액 재배치 가능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합계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가구 전체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19.38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본인 15.38 + 배우자 4.00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05072"/>
            <a:ext cx="5989320" cy="2075688"/>
          </a:xfrm>
          <a:prstGeom prst="rect">
            <a:avLst/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133088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핵심 과제 — 이 셋을 동시에 풀어야 한다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462272"/>
            <a:ext cx="56235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현금성 6.40억의 즉시 전환 — 퇴직연금 DC가 현금으로 놀고 있어, 은퇴까지 34개월간 약 8,600만원의 수익 기회를 잃는 상태</a:t>
            </a:r>
            <a:endParaRPr lang="en-US" sz="9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5년의 소득 공백 — 본인 은퇴(2029.7)부터 국민연금 개시(2034)까지는 배우자 연금 280만원이 유일한 확정 소득</a:t>
            </a:r>
            <a:endParaRPr lang="en-US" sz="9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제약 안에서의 연 7% — 은행예금 3.70억은 만기까지 묶여 있고 주식 2.40억은 유지 대상이므로, 남은 13.28억만으로 목표를 만들어야 함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720840" y="1298448"/>
            <a:ext cx="5010912" cy="129844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22008" y="1444752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DC 6.4억을 현금성으로 두는 데 드는 기회비용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922008" y="1755648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3,039만원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922008" y="2212848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제안 포트폴리오 7.25% vs 대기성 현금 2.50%(가정) 격차 4.75%p. 은퇴까지 남은 34개월 누적 약 8,600만원.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720840" y="2743200"/>
            <a:ext cx="5010912" cy="129844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22008" y="288950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매월 필요자금 (생활 650 + 부모님 용돈 100)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922008" y="3200400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750만원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922008" y="3657600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생활자금 600~700만원의 중간값 기준. 확보된 연금은 배우자 280만원(2028~), 본인 국민연금 250만원(2034~).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720840" y="4187952"/>
            <a:ext cx="5010912" cy="129844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22008" y="4334256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목표 연 7%를 위해 신규 운용자산이 내야 할 수익률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922008" y="4645152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7.38%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6922008" y="5102352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예금 3.70억(5%)·주식 2.40억(8% 가정) 기여를 제외하면, 남은 13.28억이 연 7.38%를 내야 전체 7%가 성립.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217920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자산·지출·연금 금액은 고객 제공 자료(2026.09.07 기준). 대기성 현금 2.50%와 주식 기대수익률 8.00%는 제안자 설계 가정으로 보장되지 않습니다. 은행예금 연 5%는 기존 가입 상품의 확정금리이며, 2026년 9월 신규 5년 예금 시장금리(3%대)보다 크게 높은 이례적 조건입니다.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시점별 자금흐름 로드맵 — 5단계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지금 운용할 자산 / DC의 IRP 이전 / 예금 만기 / 국민연금 개시 시점을 하나의 흐름으로 배치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2228027" cy="566928"/>
          </a:xfrm>
          <a:prstGeom prst="chevron">
            <a:avLst/>
          </a:prstGeom>
          <a:solidFill>
            <a:srgbClr val="F582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298448"/>
            <a:ext cx="17525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527048"/>
            <a:ext cx="175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2026.9~2029.6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12659" y="1243584"/>
            <a:ext cx="2228027" cy="566928"/>
          </a:xfrm>
          <a:prstGeom prst="chevron">
            <a:avLst/>
          </a:prstGeom>
          <a:solidFill>
            <a:srgbClr val="CB601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86979" y="1298448"/>
            <a:ext cx="17525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1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986979" y="1527048"/>
            <a:ext cx="175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2029.7~2031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68118" y="1243584"/>
            <a:ext cx="2228027" cy="566928"/>
          </a:xfrm>
          <a:prstGeom prst="chevron">
            <a:avLst/>
          </a:prstGeom>
          <a:solidFill>
            <a:srgbClr val="84888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42438" y="1298448"/>
            <a:ext cx="17525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242438" y="1527048"/>
            <a:ext cx="175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2031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23577" y="1243584"/>
            <a:ext cx="2228027" cy="566928"/>
          </a:xfrm>
          <a:prstGeom prst="chevron">
            <a:avLst/>
          </a:prstGeom>
          <a:solidFill>
            <a:srgbClr val="043B7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7897" y="1298448"/>
            <a:ext cx="17525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3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497897" y="1527048"/>
            <a:ext cx="175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2031~2034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479036" y="1243584"/>
            <a:ext cx="2228027" cy="566928"/>
          </a:xfrm>
          <a:prstGeom prst="chevron">
            <a:avLst/>
          </a:prstGeom>
          <a:solidFill>
            <a:srgbClr val="0086B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53356" y="1298448"/>
            <a:ext cx="17525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753356" y="1527048"/>
            <a:ext cx="175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2034~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56816"/>
          <a:ext cx="1127729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240280"/>
                <a:gridCol w="1234440"/>
                <a:gridCol w="822960"/>
                <a:gridCol w="1051560"/>
                <a:gridCol w="5150815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단계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주요 이벤트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월 유입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월 필요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판정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실행 조치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Phase 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본인 재직 · 배우자 은퇴(2028)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근로소득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+ 280 (2028~)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750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근로소득 충당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DC 6.40억 계좌 내 운용 전환 · 증권현금 2.00억 · 배우자 4.00억 인컴 편입. 발생 인컴은 전액 재투자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Phase 1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본인 은퇴(만 60) · DC→IRP 이전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280 + 인컴 431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= 711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750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부족 39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DC+IRP 7.28억 통합. 부족분은 연금계좌에서 연 466만원 인출(사적연금 1,500만원 한도 이내)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84888B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Phase 2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은행예금 만기 · 자녀 결혼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만기 원리금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4.48억 유입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3.00억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일시 지출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목적자금 집행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결혼자금 3.00억 지급 후 잔여 1.48억을 인컴 포트폴리오로 재투자 → 월 인컴 +91만원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Phase 3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인컴 자립기 (국민연금 개시 전)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280 + 인컴 523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= 803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750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여유 53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연금계좌 인출 중단 → 과세이연 유지. 잉여 53만원은 인컴 재투자로 복리 누적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86B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Phase 4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본인 국민연금 개시(만 65)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530 + 인컴 523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= 1,053</a:t>
                      </a:r>
                      <a:endParaRPr lang="en-US" sz="8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750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여유 303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잉여 303만원으로 의료·장기요양 준비금 별도 적립. 인플레이션 대응 인출률 상향 여력 확보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457200" y="6355080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단위: 만원/월(별도 표기 제외). 본인 은퇴시점은 2026.09 기준 잔여 2년 10개월을 적용해 2029년 7월로 산정. 은행예금 만기는 자녀 결혼 시점(5년 후)과 일치한다는 고객 진술에 따라 2031년으로 가정했으며, 만기 원리금 4.48억은 단리·이자소득세 15.4% 차감 기준입니다. 인컴 수익은 설계 가정 분배율에 기초한 추정치입니다.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자산배분 — 목표 연 7.0%를 만드는 구조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신규 주식 편입 없이, 이자·배당·옵션프리미엄으로 수익원을 구성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55778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72768"/>
          <a:ext cx="5422392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914400"/>
                <a:gridCol w="1051560"/>
                <a:gridCol w="1051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자산 블록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금액(억)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기대수익률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 수익(억)</a:t>
                      </a:r>
                      <a:endParaRPr lang="en-US" sz="9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은행 정기예금 — 확정금리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3.70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5.00%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0.185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기존 보유주식 — 유지, 가정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2.40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8.00%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0.192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신규 인컴 포트폴리오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13.28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7.39%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0.981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가구 전체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19.38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7.01%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1.358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309360" y="3520440"/>
            <a:ext cx="5422392" cy="384048"/>
          </a:xfrm>
          <a:prstGeom prst="rect">
            <a:avLst/>
          </a:prstGeom>
          <a:solidFill>
            <a:srgbClr val="F582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목표 연 7.00% → 설계안 7.01%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309360" y="4069080"/>
            <a:ext cx="5422392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92240" y="4197096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 배분이 지키는 세 가지 제약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4526280"/>
            <a:ext cx="5056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직접 주식 12.4% — 기존 보유 2.40억뿐, 신규 주식 편입은 0</a:t>
            </a:r>
            <a:endParaRPr lang="en-US" sz="9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연금계좌 안전자산 30.2% — DC·IRP 위험자산 70% 한도 규정 충족</a:t>
            </a:r>
            <a:endParaRPr lang="en-US" sz="9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은행예금·보유주식 6.10억은 손대지 않고 만기·유지 그대로 반영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5742432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기타 인컴자산 8.9% = 채권혼합 커버드콜 4.1% + 해외 투자등급 회사채 3.0% + 미국 배당성장 1.8%. 은행예금 5.00%는 확정금리(고객 제공)이며, 주식 8.00%와 신규 인컴 포트폴리오 7.39%는 제안자 설계 가정으로 수익을 보장하지 않습니다. 커버드콜 상품의 분배금에는 원금 일부 반환 성격이 포함될 수 있어 분배율과 총수익률은 다릅니다.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계좌별 실행 상품 — 국내 상장 ETF 중심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계좌의 세제·규제 특성에 맞춰 상품을 배치. 고분배 상품은 저율과세 연금계좌에 우선 편입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547872" cy="5669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3504" y="128016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트랙 A · 퇴직연금 DC → IRP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527048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7.28억 · 기대 연 7.25% · 안전자산 30.2%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01368"/>
          <a:ext cx="3547872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960120"/>
                <a:gridCol w="612648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상품명 · 종목코드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배분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종합채권(AA-이상)액티브 · 451540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1.00억 · 13.7%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안전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채권혼합형 커버드콜 ETF (주식 50% 미만)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0.80억 · 11.0%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안전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원리금보장 정기예금 (IRP 예금)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0.40억 · 5.5%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안전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미국배당다우존스타겟커버드콜2호 · 458760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1.70억 · 23.4%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위험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미국30년국채커버드콜액티브(H) · 476550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1.40억 · 19.2%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위험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미국나스닥100커버드콜(합성) · 441680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0.70억 · 9.6%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위험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리츠부동산인프라 · 329200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0.70억 · 9.6%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위험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미국투자등급회사채액티브(H) · 458260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0.58억 · 8.0%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위험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279392" y="1234440"/>
            <a:ext cx="3547872" cy="56692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25696" y="128016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트랙 B · 증권 일반계좌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425696" y="1527048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2.00억 · 기대 연 7.98% · 유동성 버퍼 포함</a:t>
            </a:r>
            <a:endParaRPr lang="en-US" sz="8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79392" y="1801368"/>
          <a:ext cx="3547872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960120"/>
                <a:gridCol w="612648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상품명 · 종목코드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배분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미국배당다우존스타겟커버드콜2호 · 458760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0.60억 · 30.0%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인컴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미국30년국채커버드콜액티브(H) · 476550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0.50억 · 25.0%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인컴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미국나스닥100커버드콜(합성) · 441680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0.40억 · 20.0%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인컴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리츠부동산인프라 · 329200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0.20억 · 10.0%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인컴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파킹형 MMF · 단기채 (생활비 6개월분)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0.30억 · 15.0%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유동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8101584" y="1234440"/>
            <a:ext cx="3547872" cy="566928"/>
          </a:xfrm>
          <a:prstGeom prst="rect">
            <a:avLst/>
          </a:prstGeom>
          <a:solidFill>
            <a:srgbClr val="0086B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47888" y="128016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트랙 C · 배우자 자산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247888" y="1527048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4.00억 · 기대 연 7.36% · ISA 한도 우선 활용</a:t>
            </a:r>
            <a:endParaRPr lang="en-US" sz="8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01584" y="1801368"/>
          <a:ext cx="3547872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960120"/>
                <a:gridCol w="612648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상품명 · 종목코드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배분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8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미국배당다우존스타겟커버드콜2호 · 458760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1.20억 · 30.0%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인컴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미국30년국채커버드콜액티브(H) · 476550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0.65억 · 16.2%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인컴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리츠부동산인프라 · 329200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0.60억 · 15.0%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인컴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파킹형 MMF · 단기채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0.50억 · 12.5%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유동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종합채권(AA-이상)액티브 · 451540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0.40억 · 10.0%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채권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미국배당다우존스 · 458730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0.35억 · 8.8%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배당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미국나스닥100커버드콜(합성) · 441680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0.30억 · 7.5%</a:t>
                      </a:r>
                      <a:endParaRPr lang="en-US" sz="7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B6015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인컴</a:t>
                      </a:r>
                      <a:endParaRPr lang="en-US" sz="7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457200" y="5257800"/>
            <a:ext cx="11277295" cy="82296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58368" y="5340096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참고 · 과거 12개월 분배율 (실적치, 미래 분배 보장 아님 — 실행 전 발행사 확인 필요)
</a:t>
            </a:r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458760 약 8.6% · 476550 약 13.2% · 329200 약 7.8% · 441680 12.1%(2023년 확정, 2024.01.04 보도). 458760·476550·329200 수치는 집계 사이트 기준으로 집계 기준일이 명시되지 않아 미확인 항목입니다. 채권혼합형 커버드콜 ETF는 증권사별 위험자산 분류 기준이 달라 상품 선정을 실행 시점에 확정합니다.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144768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종목코드는 2026.09.07 기준 한국거래소 상장 코드로, 2개 이상 출처에서 교차확인했습니다. TIGER 종합채권(AA-이상)액티브는 451540이며 356540(ACE 종합채권)과 다른 상품입니다. 연금계좌(DC·IRP)는 위험자산 70% 한도가 적용되어 안전자산 30% 이상 편입이 필요하며, 해외 직상장 ETF·레버리지 상품은 편입할 수 없습니다.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현금흐름 검증 · 세제 전략 · 리스크 관리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월 필요자금 750만원을 어떤 재원으로, 어떤 세율로 조달하는가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07008"/>
          <a:ext cx="5577840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71246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판정   </a:t>
            </a:r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1 부족 39만원(연금계좌 인출)   ·   Phase 3 여유 53만원   ·   Phase 4 여유 303만원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309360" y="1207008"/>
            <a:ext cx="5422392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335024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세제 전략 — 같은 돈을 더 낮은 세율로 받는다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664208"/>
            <a:ext cx="505663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퇴직급여는 일시금이 아니라 연금으로 수령 — 이연퇴직소득의 연금소득세율은 퇴직소득세율의 70%(연금수령 10년차까지), 11년차 이후 60%. 일시금 대비 약 30~40% 절감</a:t>
            </a:r>
            <a:endParaRPr lang="en-US" sz="8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DC 원본에서 나오는 연금은 사적연금 연 1,500만원 종합과세 기준과 무관하게 분리과세. 한도 대상은 IRP 자기부담금·운용수익분뿐</a:t>
            </a:r>
            <a:endParaRPr lang="en-US" sz="8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1 인출액 연 466만원은 1,500만원 한도 이내. Phase 3부터 인출을 멈춰 과세이연 유지</a:t>
            </a:r>
            <a:endParaRPr lang="en-US" sz="8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금융소득종합과세 기준 연 2,000만원 — 설계안대로면 부부 합산 약 5,170만원으로 초과. 부부 각자 ISA 납입한도를 매년 소진해 과세대상 축소 필요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4114800"/>
            <a:ext cx="5577840" cy="196596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42428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주요 리스크와 대응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572000"/>
            <a:ext cx="521208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분배금 변동 — 커버드콜 분배금은 옵션프리미엄에 연동되어 시장 변동성이 낮아지면 감소. 원금 일부 반환 성격도 포함되므로 분배율을 수익률로 읽지 않음</a:t>
            </a:r>
            <a:endParaRPr lang="en-US" sz="8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환율 — (H) 표기 상품은 환헤지, 미표기 상품은 환노출. 환헤지 비중을 절반 수준으로 유지해 방향성 위험을 분산</a:t>
            </a:r>
            <a:endParaRPr lang="en-US" sz="8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건강보험료 — 은퇴 후 지역가입자 전환 시 금융소득이 보험료에 반영. 전환 전 공단 모의계산으로 영향 확인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309360" y="4114800"/>
            <a:ext cx="5422392" cy="196596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4242816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실행 로드맵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4572000"/>
            <a:ext cx="50566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1개월 내 — DC 6.40억 상품 전환, 증권 현금 2.00억 인컴 편입, 부부 ISA 개설·한도 소진</a:t>
            </a:r>
            <a:endParaRPr lang="en-US" sz="8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3개월 내 — 배우자 4.00억 재배치, 개인 IRP 0.88억 리밸런싱, 분배금 수령계좌 일원화</a:t>
            </a:r>
            <a:endParaRPr lang="en-US" sz="8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2029년 7월 은퇴 — DC를 IRP로 이전해 7.28억 통합, 연금수령 10년 이상 분할 신청</a:t>
            </a:r>
            <a:endParaRPr lang="en-US" sz="85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반기 1회 — 분배율·환헤지 비중·안전자산 30% 준수 점검 및 리밸런싱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172200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세율·한도는 2026년 기준이며 세법 개정 시 달라집니다. 개별 세액은 다른 소득과 합산해 산정되므로 실행 전 세무 상담을 권합니다. 2026.08.31 퇴직연금감독규정 개정으로 100% 편입 가능 상품 범위가 확대된 것으로 확인되나 시행일과 대상 상품은 확인하지 못했으므로, 실행 시점에 금융위 보도자료를 직접 확인해야 합니다. 사적연금 인출액의 건강보험료 부과 여부는 국민건강보험공단 1차 자료로 확인하지 못해 단정하지 않았습니다.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은퇴자산 운용 제안서</dc:title>
  <dc:subject>PptxGenJS Presentation</dc:subject>
  <dc:creator>미래에셋증권</dc:creator>
  <cp:lastModifiedBy>미래에셋증권</cp:lastModifiedBy>
  <cp:revision>1</cp:revision>
  <dcterms:created xsi:type="dcterms:W3CDTF">2026-09-07T07:44:36Z</dcterms:created>
  <dcterms:modified xsi:type="dcterms:W3CDTF">2026-09-07T07:44:36Z</dcterms:modified>
</cp:coreProperties>
</file>