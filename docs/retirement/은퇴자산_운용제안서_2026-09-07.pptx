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A1A1A"/>
                </a:solidFill>
                <a:latin typeface="Spoqa Han Sans Neo"/>
              </a:defRPr>
            </a:pPr>
            <a:r>
              <a:rPr sz="1100" b="0" i="0" u="none" strike="noStrike">
                <a:solidFill>
                  <a:srgbClr val="1A1A1A"/>
                </a:solidFill>
                <a:latin typeface="Spoqa Han Sans Neo"/>
              </a:rPr>
              <a:t>자산군별 배분 (가구 총자산 19.38억 = 100%)</a:t>
            </a:r>
          </a:p>
        </c:rich>
      </c:tx>
      <c:layout/>
      <c:overlay val="0"/>
    </c:title>
    <c:autoTitleDeleted val="0"/>
    <c:plotArea>
      <c:layout/>
      <c:doughnutChart>
        <c:varyColors val="1"/>
        <c:ser>
          <c:idx val="0"/>
          <c:order val="0"/>
          <c:tx>
            <c:strRef>
              <c:f>Sheet1!$B$1</c:f>
              <c:strCache>
                <c:ptCount val="1"/>
                <c:pt idx="0">
                  <c:v>자산군 비중</c:v>
                </c:pt>
              </c:strCache>
            </c:strRef>
          </c:tx>
          <c:spPr>
            <a:solidFill>
              <a:schemeClr val="accent1"/>
            </a:solidFill>
            <a:ln w="9525" cap="flat">
              <a:solidFill>
                <a:srgbClr val="F9F9F9"/>
              </a:solidFill>
              <a:prstDash val="solid"/>
              <a:round/>
            </a:ln>
            <a:effectLst/>
          </c:spPr>
          <c:dPt>
            <c:idx val="0"/>
            <c:bubble3D val="0"/>
            <c:spPr>
              <a:solidFill>
                <a:srgbClr val="F58220"/>
              </a:solidFill>
              <a:effectLst/>
            </c:spPr>
          </c:dPt>
          <c:dPt>
            <c:idx val="1"/>
            <c:bubble3D val="0"/>
            <c:spPr>
              <a:solidFill>
                <a:srgbClr val="043B72"/>
              </a:solidFill>
              <a:effectLst/>
            </c:spPr>
          </c:dPt>
          <c:dPt>
            <c:idx val="2"/>
            <c:bubble3D val="0"/>
            <c:spPr>
              <a:solidFill>
                <a:srgbClr val="FAB072"/>
              </a:solidFill>
              <a:effectLst/>
            </c:spPr>
          </c:dPt>
          <c:dPt>
            <c:idx val="3"/>
            <c:bubble3D val="0"/>
            <c:spPr>
              <a:solidFill>
                <a:srgbClr val="0086B8"/>
              </a:solidFill>
              <a:effectLst/>
            </c:spPr>
          </c:dPt>
          <c:dPt>
            <c:idx val="4"/>
            <c:bubble3D val="0"/>
            <c:spPr>
              <a:solidFill>
                <a:srgbClr val="AD624E"/>
              </a:solidFill>
              <a:effectLst/>
            </c:spPr>
          </c:dPt>
          <c:dPt>
            <c:idx val="5"/>
            <c:bubble3D val="0"/>
            <c:spPr>
              <a:solidFill>
                <a:srgbClr val="00A9CE"/>
              </a:solidFill>
              <a:effectLst/>
            </c:spPr>
          </c:dPt>
          <c:dPt>
            <c:idx val="6"/>
            <c:bubble3D val="0"/>
            <c:spPr>
              <a:solidFill>
                <a:srgbClr val="F0B26B"/>
              </a:solidFill>
              <a:effectLst/>
            </c:spPr>
          </c:dPt>
          <c:dPt>
            <c:idx val="7"/>
            <c:bubble3D val="0"/>
            <c:spPr>
              <a:solidFill>
                <a:srgbClr val="7E9FC3"/>
              </a:solidFill>
              <a:effectLst/>
            </c:spPr>
          </c:dPt>
          <c:dPt>
            <c:idx val="8"/>
            <c:bubble3D val="0"/>
            <c:spPr>
              <a:solidFill>
                <a:srgbClr val="84888B"/>
              </a:solidFill>
              <a:effectLst/>
            </c:spPr>
          </c:dPt>
          <c:dLbls>
            <c:dLbl>
              <c:idx val="0"/>
              <c:numFmt formatCode="0.0&quot;%&quot;" sourceLinked="0"/>
              <c:spPr/>
              <c:txPr>
                <a:bodyPr/>
                <a:lstStyle/>
                <a:p>
                  <a:pPr>
                    <a:defRPr sz="850" b="0" i="0" u="none" strike="noStrike">
                      <a:solidFill>
                        <a:srgbClr val="FFFFFF"/>
                      </a:solidFill>
                      <a:latin typeface="Spoqa Han Sans Neo"/>
                    </a:defRPr>
                  </a:pPr>
                </a:p>
              </c:txPr>
              <c:showLegendKey val="0"/>
              <c:showVal val="1"/>
              <c:showCatName val="0"/>
              <c:showSerName val="0"/>
              <c:showPercent val="0"/>
              <c:showBubbleSize val="0"/>
            </c:dLbl>
            <c:dLbl>
              <c:idx val="1"/>
              <c:numFmt formatCode="0.0&quot;%&quot;" sourceLinked="0"/>
              <c:spPr/>
              <c:txPr>
                <a:bodyPr/>
                <a:lstStyle/>
                <a:p>
                  <a:pPr>
                    <a:defRPr sz="850" b="0" i="0" u="none" strike="noStrike">
                      <a:solidFill>
                        <a:srgbClr val="FFFFFF"/>
                      </a:solidFill>
                      <a:latin typeface="Spoqa Han Sans Neo"/>
                    </a:defRPr>
                  </a:pPr>
                </a:p>
              </c:txPr>
              <c:showLegendKey val="0"/>
              <c:showVal val="1"/>
              <c:showCatName val="0"/>
              <c:showSerName val="0"/>
              <c:showPercent val="0"/>
              <c:showBubbleSize val="0"/>
            </c:dLbl>
            <c:dLbl>
              <c:idx val="2"/>
              <c:numFmt formatCode="0.0&quot;%&quot;" sourceLinked="0"/>
              <c:spPr/>
              <c:txPr>
                <a:bodyPr/>
                <a:lstStyle/>
                <a:p>
                  <a:pPr>
                    <a:defRPr sz="850" b="0" i="0" u="none" strike="noStrike">
                      <a:solidFill>
                        <a:srgbClr val="FFFFFF"/>
                      </a:solidFill>
                      <a:latin typeface="Spoqa Han Sans Neo"/>
                    </a:defRPr>
                  </a:pPr>
                </a:p>
              </c:txPr>
              <c:showLegendKey val="0"/>
              <c:showVal val="1"/>
              <c:showCatName val="0"/>
              <c:showSerName val="0"/>
              <c:showPercent val="0"/>
              <c:showBubbleSize val="0"/>
            </c:dLbl>
            <c:dLbl>
              <c:idx val="3"/>
              <c:numFmt formatCode="0.0&quot;%&quot;" sourceLinked="0"/>
              <c:spPr/>
              <c:txPr>
                <a:bodyPr/>
                <a:lstStyle/>
                <a:p>
                  <a:pPr>
                    <a:defRPr sz="850" b="0" i="0" u="none" strike="noStrike">
                      <a:solidFill>
                        <a:srgbClr val="FFFFFF"/>
                      </a:solidFill>
                      <a:latin typeface="Spoqa Han Sans Neo"/>
                    </a:defRPr>
                  </a:pPr>
                </a:p>
              </c:txPr>
              <c:showLegendKey val="0"/>
              <c:showVal val="1"/>
              <c:showCatName val="0"/>
              <c:showSerName val="0"/>
              <c:showPercent val="0"/>
              <c:showBubbleSize val="0"/>
            </c:dLbl>
            <c:dLbl>
              <c:idx val="4"/>
              <c:numFmt formatCode="0.0&quot;%&quot;" sourceLinked="0"/>
              <c:spPr/>
              <c:txPr>
                <a:bodyPr/>
                <a:lstStyle/>
                <a:p>
                  <a:pPr>
                    <a:defRPr sz="850" b="0" i="0" u="none" strike="noStrike">
                      <a:solidFill>
                        <a:srgbClr val="FFFFFF"/>
                      </a:solidFill>
                      <a:latin typeface="Spoqa Han Sans Neo"/>
                    </a:defRPr>
                  </a:pPr>
                </a:p>
              </c:txPr>
              <c:showLegendKey val="0"/>
              <c:showVal val="1"/>
              <c:showCatName val="0"/>
              <c:showSerName val="0"/>
              <c:showPercent val="0"/>
              <c:showBubbleSize val="0"/>
            </c:dLbl>
            <c:dLbl>
              <c:idx val="5"/>
              <c:numFmt formatCode="0.0&quot;%&quot;" sourceLinked="0"/>
              <c:spPr/>
              <c:txPr>
                <a:bodyPr/>
                <a:lstStyle/>
                <a:p>
                  <a:pPr>
                    <a:defRPr sz="850" b="0" i="0" u="none" strike="noStrike">
                      <a:solidFill>
                        <a:srgbClr val="FFFFFF"/>
                      </a:solidFill>
                      <a:latin typeface="Spoqa Han Sans Neo"/>
                    </a:defRPr>
                  </a:pPr>
                </a:p>
              </c:txPr>
              <c:showLegendKey val="0"/>
              <c:showVal val="1"/>
              <c:showCatName val="0"/>
              <c:showSerName val="0"/>
              <c:showPercent val="0"/>
              <c:showBubbleSize val="0"/>
            </c:dLbl>
            <c:dLbl>
              <c:idx val="6"/>
              <c:numFmt formatCode="0.0&quot;%&quot;" sourceLinked="0"/>
              <c:spPr/>
              <c:txPr>
                <a:bodyPr/>
                <a:lstStyle/>
                <a:p>
                  <a:pPr>
                    <a:defRPr sz="850" b="0" i="0" u="none" strike="noStrike">
                      <a:solidFill>
                        <a:srgbClr val="FFFFFF"/>
                      </a:solidFill>
                      <a:latin typeface="Spoqa Han Sans Neo"/>
                    </a:defRPr>
                  </a:pPr>
                </a:p>
              </c:txPr>
              <c:showLegendKey val="0"/>
              <c:showVal val="1"/>
              <c:showCatName val="0"/>
              <c:showSerName val="0"/>
              <c:showPercent val="0"/>
              <c:showBubbleSize val="0"/>
            </c:dLbl>
            <c:dLbl>
              <c:idx val="7"/>
              <c:numFmt formatCode="0.0&quot;%&quot;" sourceLinked="0"/>
              <c:spPr/>
              <c:txPr>
                <a:bodyPr/>
                <a:lstStyle/>
                <a:p>
                  <a:pPr>
                    <a:defRPr sz="850" b="0" i="0" u="none" strike="noStrike">
                      <a:solidFill>
                        <a:srgbClr val="FFFFFF"/>
                      </a:solidFill>
                      <a:latin typeface="Spoqa Han Sans Neo"/>
                    </a:defRPr>
                  </a:pPr>
                </a:p>
              </c:txPr>
              <c:showLegendKey val="0"/>
              <c:showVal val="1"/>
              <c:showCatName val="0"/>
              <c:showSerName val="0"/>
              <c:showPercent val="0"/>
              <c:showBubbleSize val="0"/>
            </c:dLbl>
            <c:dLbl>
              <c:idx val="8"/>
              <c:numFmt formatCode="0.0&quot;%&quot;" sourceLinked="0"/>
              <c:spPr/>
              <c:txPr>
                <a:bodyPr/>
                <a:lstStyle/>
                <a:p>
                  <a:pPr>
                    <a:defRPr sz="850" b="0" i="0" u="none" strike="noStrike">
                      <a:solidFill>
                        <a:srgbClr val="FFFFFF"/>
                      </a:solidFill>
                      <a:latin typeface="Spoqa Han Sans Neo"/>
                    </a:defRPr>
                  </a:pPr>
                </a:p>
              </c:txPr>
              <c:showLegendKey val="0"/>
              <c:showVal val="1"/>
              <c:showCatName val="0"/>
              <c:showSerName val="0"/>
              <c:showPercent val="0"/>
              <c:showBubbleSize val="0"/>
            </c:dLbl>
            <c:numFmt formatCode="0.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Sheet1!$A$2:$A$10</c:f>
              <c:strCache>
                <c:ptCount val="9"/>
                <c:pt idx="0">
                  <c:v>미국 배당+커버드콜</c:v>
                </c:pt>
                <c:pt idx="1">
                  <c:v>은행 정기예금(만기보유)</c:v>
                </c:pt>
                <c:pt idx="2">
                  <c:v>기존 보유주식(유지)</c:v>
                </c:pt>
                <c:pt idx="3">
                  <c:v>나스닥100 커버드콜</c:v>
                </c:pt>
                <c:pt idx="4">
                  <c:v>머니마켓·파킹</c:v>
                </c:pt>
                <c:pt idx="5">
                  <c:v>국내 리츠·인프라</c:v>
                </c:pt>
                <c:pt idx="6">
                  <c:v>만기매칭 회사채</c:v>
                </c:pt>
                <c:pt idx="7">
                  <c:v>원리금보장</c:v>
                </c:pt>
                <c:pt idx="8">
                  <c:v>기타 인컴자산</c:v>
                </c:pt>
              </c:strCache>
            </c:strRef>
          </c:cat>
          <c:val>
            <c:numRef>
              <c:f>Sheet1!$B$2:$B$10</c:f>
              <c:numCache>
                <c:ptCount val="9"/>
                <c:pt idx="0">
                  <c:v>29.2</c:v>
                </c:pt>
                <c:pt idx="1">
                  <c:v>19.1</c:v>
                </c:pt>
                <c:pt idx="2">
                  <c:v>12.4</c:v>
                </c:pt>
                <c:pt idx="3">
                  <c:v>11.4</c:v>
                </c:pt>
                <c:pt idx="4">
                  <c:v>7.7</c:v>
                </c:pt>
                <c:pt idx="5">
                  <c:v>6.9</c:v>
                </c:pt>
                <c:pt idx="6">
                  <c:v>4.1</c:v>
                </c:pt>
                <c:pt idx="7">
                  <c:v>3.1</c:v>
                </c:pt>
                <c:pt idx="8">
                  <c:v>6.2</c:v>
                </c:pt>
              </c:numCache>
            </c:numRef>
          </c:val>
        </c:ser>
        <c:firstSliceAng val="0"/>
        <c:holeSize val="52"/>
      </c:doughnutChart>
      <c:spPr>
        <a:noFill/>
        <a:ln>
          <a:noFill/>
        </a:ln>
        <a:effectLst/>
      </c:spPr>
    </c:plotArea>
    <c:legend>
      <c:legendPos val="r"/>
      <c:overlay val="0"/>
      <c:txPr>
        <a:bodyPr/>
        <a:lstStyle/>
        <a:p>
          <a:pPr>
            <a:defRPr sz="850">
              <a:latin typeface="Spoqa Han Sans Neo"/>
              <a:cs typeface="Spoqa Han Sans Ne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A1A1A"/>
                </a:solidFill>
                <a:latin typeface="Spoqa Han Sans Neo"/>
              </a:defRPr>
            </a:pPr>
            <a:r>
              <a:rPr sz="1050" b="0" i="0" u="none" strike="noStrike">
                <a:solidFill>
                  <a:srgbClr val="1A1A1A"/>
                </a:solidFill>
                <a:latin typeface="Spoqa Han Sans Neo"/>
              </a:rPr>
              <a:t>단계별 월 현금흐름 (만원) — 필요 750만원 대비</a:t>
            </a:r>
          </a:p>
        </c:rich>
      </c:tx>
      <c:layout/>
      <c:overlay val="0"/>
    </c:title>
    <c:autoTitleDeleted val="0"/>
    <c:plotArea>
      <c:layout/>
      <c:barChart>
        <c:barDir val="col"/>
        <c:grouping val="stacked"/>
        <c:varyColors val="0"/>
        <c:ser>
          <c:idx val="0"/>
          <c:order val="0"/>
          <c:tx>
            <c:strRef>
              <c:f>Sheet1!$B$1</c:f>
              <c:strCache>
                <c:ptCount val="1"/>
                <c:pt idx="0">
                  <c:v>연금소득</c:v>
                </c:pt>
              </c:strCache>
            </c:strRef>
          </c:tx>
          <c:spPr>
            <a:solidFill>
              <a:srgbClr val="043B72"/>
            </a:solidFill>
            <a:effectLst/>
          </c:spPr>
          <c:invertIfNegative val="0"/>
          <c:dLbls>
            <c:numFmt formatCode="#,##0" sourceLinked="0"/>
            <c:txPr>
              <a:bodyPr/>
              <a:lstStyle/>
              <a:p>
                <a:pPr>
                  <a:defRPr b="0" i="0" strike="noStrike" sz="900" u="none">
                    <a:solidFill>
                      <a:srgbClr val="FFFFFF"/>
                    </a:solidFill>
                    <a:latin typeface="Spoqa Han Sans Neo"/>
                  </a:defRPr>
                </a:pPr>
              </a:p>
            </c:txPr>
            <c:dLblPos val="ctr"/>
            <c:showLegendKey val="0"/>
            <c:showVal val="1"/>
            <c:showCatName val="0"/>
            <c:showSerName val="0"/>
            <c:showPercent val="0"/>
            <c:showBubbleSize val="0"/>
            <c:showLeaderLines val="0"/>
          </c:dLbls>
          <c:cat>
            <c:multiLvlStrRef>
              <c:f>Sheet1!$A$2:$A$4</c:f>
              <c:multiLvlStrCache>
                <c:ptCount val="3"/>
                <c:lvl>
                  <c:pt idx="0">
                    <c:v>Phase 1
2029.7~2031</c:v>
                  </c:pt>
                  <c:pt idx="1">
                    <c:v>Phase 3
2031~2034</c:v>
                  </c:pt>
                  <c:pt idx="2">
                    <c:v>Phase 4
2034~</c:v>
                  </c:pt>
                </c:lvl>
              </c:multiLvlStrCache>
            </c:multiLvlStrRef>
          </c:cat>
          <c:val>
            <c:numRef>
              <c:f>Sheet1!$B$2:$B$4</c:f>
              <c:numCache>
                <c:formatCode>General</c:formatCode>
                <c:ptCount val="3"/>
                <c:pt idx="0">
                  <c:v>280</c:v>
                </c:pt>
                <c:pt idx="1">
                  <c:v>280</c:v>
                </c:pt>
                <c:pt idx="2">
                  <c:v>530</c:v>
                </c:pt>
              </c:numCache>
            </c:numRef>
          </c:val>
        </c:ser>
        <c:ser>
          <c:idx val="1"/>
          <c:order val="1"/>
          <c:tx>
            <c:strRef>
              <c:f>Sheet1!$C$1</c:f>
              <c:strCache>
                <c:ptCount val="1"/>
                <c:pt idx="0">
                  <c:v>포트폴리오 인컴</c:v>
                </c:pt>
              </c:strCache>
            </c:strRef>
          </c:tx>
          <c:spPr>
            <a:solidFill>
              <a:srgbClr val="F58220"/>
            </a:solidFill>
            <a:effectLst/>
          </c:spPr>
          <c:invertIfNegative val="0"/>
          <c:dLbls>
            <c:numFmt formatCode="#,##0" sourceLinked="0"/>
            <c:txPr>
              <a:bodyPr/>
              <a:lstStyle/>
              <a:p>
                <a:pPr>
                  <a:defRPr b="0" i="0" strike="noStrike" sz="900" u="none">
                    <a:solidFill>
                      <a:srgbClr val="FFFFFF"/>
                    </a:solidFill>
                    <a:latin typeface="Spoqa Han Sans Neo"/>
                  </a:defRPr>
                </a:pPr>
              </a:p>
            </c:txPr>
            <c:dLblPos val="ctr"/>
            <c:showLegendKey val="0"/>
            <c:showVal val="1"/>
            <c:showCatName val="0"/>
            <c:showSerName val="0"/>
            <c:showPercent val="0"/>
            <c:showBubbleSize val="0"/>
            <c:showLeaderLines val="0"/>
          </c:dLbls>
          <c:cat>
            <c:multiLvlStrRef>
              <c:f>Sheet1!$A$2:$A$4</c:f>
              <c:multiLvlStrCache>
                <c:ptCount val="3"/>
                <c:lvl>
                  <c:pt idx="0">
                    <c:v>Phase 1
2029.7~2031</c:v>
                  </c:pt>
                  <c:pt idx="1">
                    <c:v>Phase 3
2031~2034</c:v>
                  </c:pt>
                  <c:pt idx="2">
                    <c:v>Phase 4
2034~</c:v>
                  </c:pt>
                </c:lvl>
              </c:multiLvlStrCache>
            </c:multiLvlStrRef>
          </c:cat>
          <c:val>
            <c:numRef>
              <c:f>Sheet1!$C$2:$C$4</c:f>
              <c:numCache>
                <c:formatCode>General</c:formatCode>
                <c:ptCount val="3"/>
                <c:pt idx="0">
                  <c:v>474</c:v>
                </c:pt>
                <c:pt idx="1">
                  <c:v>577</c:v>
                </c:pt>
                <c:pt idx="2">
                  <c:v>577</c:v>
                </c:pt>
              </c:numCache>
            </c:numRef>
          </c:val>
        </c:ser>
        <c:dLbls>
          <c:numFmt formatCode="#,##0" sourceLinked="0"/>
          <c:txPr>
            <a:bodyPr/>
            <a:lstStyle/>
            <a:p>
              <a:pPr>
                <a:defRPr b="0" i="0" strike="noStrike" sz="900" u="none">
                  <a:solidFill>
                    <a:srgbClr val="FFFFFF"/>
                  </a:solidFill>
                  <a:latin typeface="Spoqa Han Sans Neo"/>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D3D3D"/>
                </a:solidFill>
                <a:latin typeface="Spoqa Han Sans Neo"/>
              </a:defRPr>
            </a:pPr>
            <a:endParaRPr lang="en-US"/>
          </a:p>
        </c:txPr>
        <c:crossAx val="2094734552"/>
        <c:crosses val="autoZero"/>
        <c:auto val="1"/>
        <c:lblAlgn val="ctr"/>
        <c:noMultiLvlLbl val="1"/>
      </c:catAx>
      <c:valAx>
        <c:axId val="2094734552"/>
        <c:scaling>
          <c:orientation val="minMax"/>
          <c:max val="1200"/>
          <c:min val="0"/>
        </c:scaling>
        <c:delete val="0"/>
        <c:axPos val="l"/>
        <c:majorGridlines>
          <c:spPr>
            <a:ln w="9525" cap="flat">
              <a:solidFill>
                <a:srgbClr val="E5E4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6C6C6C"/>
                </a:solidFill>
                <a:latin typeface="Spoqa Han Sans Neo"/>
              </a:defRPr>
            </a:pPr>
            <a:endParaRPr lang="en-US"/>
          </a:p>
        </c:txPr>
        <c:crossAx val="2094734554"/>
        <c:crosses val="autoZero"/>
        <c:crossBetween val="between"/>
      </c:valAx>
      <c:spPr>
        <a:noFill/>
        <a:ln>
          <a:noFill/>
        </a:ln>
        <a:effectLst/>
      </c:spPr>
    </c:plotArea>
    <c:legend>
      <c:legendPos val="b"/>
      <c:overlay val="0"/>
      <c:txPr>
        <a:bodyPr/>
        <a:lstStyle/>
        <a:p>
          <a:pPr>
            <a:defRPr sz="900">
              <a:latin typeface="Spoqa Han Sans Neo"/>
              <a:cs typeface="Spoqa Han Sans Ne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가구 총자산 19.38억(본인 15.38 + 배우자 4). 목표 연 7%는 고객 지정값. 설계안 기대수익률 6.82%, 예금 만기 후 7.23%.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 기회비용 = 6.40억 x (6.47% - 2.5%) = 연 2,543만원, 34개월 누적 7,206만원.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예금 만기: 3.70억 x 5% x 5년 = 세전 0.925억 → 세후 이자 0.7825억 → 원리금 4.48억. 3억 지출 후 1.48억 재투자 → 월 102만원.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0.185 + 0.192 + 0.9439 = 1.3209억 / 19.38억 = 6.82%. 예금 만기 후 577억 / 17.16억 = 7.23%.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연금계좌 안전자산 2.2억 = 30.2%로 규정 충족. 안전 슬리브 3.18% / 위험 슬리브 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280 + 474 = 754 vs 750 → 여유 4. 부부 합산 과세대상 금융소득 5,693만원 (본인 2,375 + 배우자 3,318).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58220"/>
          </a:solidFill>
          <a:ln/>
        </p:spPr>
      </p:sp>
      <p:sp>
        <p:nvSpPr>
          <p:cNvPr id="3" name="Text 1"/>
          <p:cNvSpPr txBox="1"/>
          <p:nvPr/>
        </p:nvSpPr>
        <p:spPr>
          <a:xfrm>
            <a:off x="685800" y="548640"/>
            <a:ext cx="3657600" cy="274320"/>
          </a:xfrm>
          <a:prstGeom prst="rect">
            <a:avLst/>
          </a:prstGeom>
          <a:noFill/>
          <a:ln/>
        </p:spPr>
        <p:txBody>
          <a:bodyPr wrap="square" lIns="0" tIns="0" rIns="0" bIns="0" rtlCol="0" anchor="ctr"/>
          <a:lstStyle/>
          <a:p>
            <a:pPr indent="0" marL="0">
              <a:buNone/>
            </a:pPr>
            <a:r>
              <a:rPr lang="en-US" sz="1050" spc="100" kern="0" dirty="0">
                <a:solidFill>
                  <a:srgbClr val="FFFFFF"/>
                </a:solidFill>
                <a:latin typeface="Spoqa Han Sans Neo" pitchFamily="34" charset="0"/>
                <a:ea typeface="Spoqa Han Sans Neo" pitchFamily="34" charset="-122"/>
                <a:cs typeface="Spoqa Han Sans Neo" pitchFamily="34" charset="-120"/>
              </a:rPr>
              <a:t>[고객 제안용]</a:t>
            </a:r>
            <a:endParaRPr lang="en-US" sz="1050" dirty="0"/>
          </a:p>
        </p:txBody>
      </p:sp>
      <p:sp>
        <p:nvSpPr>
          <p:cNvPr id="4" name="Text 2"/>
          <p:cNvSpPr txBox="1"/>
          <p:nvPr/>
        </p:nvSpPr>
        <p:spPr>
          <a:xfrm>
            <a:off x="685800" y="1783080"/>
            <a:ext cx="10515600" cy="914400"/>
          </a:xfrm>
          <a:prstGeom prst="rect">
            <a:avLst/>
          </a:prstGeom>
          <a:noFill/>
          <a:ln/>
        </p:spPr>
        <p:txBody>
          <a:bodyPr wrap="square" lIns="0" tIns="0" rIns="0" bIns="0" rtlCol="0" anchor="ctr"/>
          <a:lstStyle/>
          <a:p>
            <a:pPr indent="0" marL="0">
              <a:buNone/>
            </a:pPr>
            <a:r>
              <a:rPr lang="en-US" sz="4400" b="1" spc="-100" kern="0" dirty="0">
                <a:solidFill>
                  <a:srgbClr val="FFFFFF"/>
                </a:solidFill>
                <a:latin typeface="Spoqa Han Sans Neo" pitchFamily="34" charset="0"/>
                <a:ea typeface="Spoqa Han Sans Neo" pitchFamily="34" charset="-122"/>
                <a:cs typeface="Spoqa Han Sans Neo" pitchFamily="34" charset="-120"/>
              </a:rPr>
              <a:t>은퇴자산 운용 제안서</a:t>
            </a:r>
            <a:endParaRPr lang="en-US" sz="4400" dirty="0"/>
          </a:p>
        </p:txBody>
      </p:sp>
      <p:sp>
        <p:nvSpPr>
          <p:cNvPr id="5" name="Text 3"/>
          <p:cNvSpPr txBox="1"/>
          <p:nvPr/>
        </p:nvSpPr>
        <p:spPr>
          <a:xfrm>
            <a:off x="685800" y="2788920"/>
            <a:ext cx="10515600" cy="457200"/>
          </a:xfrm>
          <a:prstGeom prst="rect">
            <a:avLst/>
          </a:prstGeom>
          <a:noFill/>
          <a:ln/>
        </p:spPr>
        <p:txBody>
          <a:bodyPr wrap="square" lIns="0" tIns="0" rIns="0" bIns="0" rtlCol="0" anchor="ctr"/>
          <a:lstStyle/>
          <a:p>
            <a:pPr indent="0" marL="0">
              <a:buNone/>
            </a:pPr>
            <a:r>
              <a:rPr lang="en-US" sz="1800" dirty="0">
                <a:solidFill>
                  <a:srgbClr val="FFFFFF"/>
                </a:solidFill>
                <a:latin typeface="Spoqa Han Sans Neo" pitchFamily="34" charset="0"/>
                <a:ea typeface="Spoqa Han Sans Neo" pitchFamily="34" charset="-122"/>
                <a:cs typeface="Spoqa Han Sans Neo" pitchFamily="34" charset="-120"/>
              </a:rPr>
              <a:t>인컴 중심 노후 현금흐름 설계 — 이자·배당으로 매월 생활비를 만드는 구조</a:t>
            </a:r>
            <a:endParaRPr lang="en-US" sz="1800" dirty="0"/>
          </a:p>
        </p:txBody>
      </p:sp>
      <p:sp>
        <p:nvSpPr>
          <p:cNvPr id="6" name="Text 4"/>
          <p:cNvSpPr txBox="1"/>
          <p:nvPr/>
        </p:nvSpPr>
        <p:spPr>
          <a:xfrm>
            <a:off x="685800" y="4160520"/>
            <a:ext cx="2468880" cy="256032"/>
          </a:xfrm>
          <a:prstGeom prst="rect">
            <a:avLst/>
          </a:prstGeom>
          <a:noFill/>
          <a:ln/>
        </p:spPr>
        <p:txBody>
          <a:bodyPr wrap="square" lIns="0" tIns="0" rIns="0" bIns="0" rtlCol="0" anchor="ctr"/>
          <a:lstStyle/>
          <a:p>
            <a:pPr indent="0" marL="0">
              <a:buNone/>
            </a:pPr>
            <a:r>
              <a:rPr lang="en-US" sz="1000" spc="60" kern="0" dirty="0">
                <a:solidFill>
                  <a:srgbClr val="FFFFFF"/>
                </a:solidFill>
                <a:latin typeface="Spoqa Han Sans Neo" pitchFamily="34" charset="0"/>
                <a:ea typeface="Spoqa Han Sans Neo" pitchFamily="34" charset="-122"/>
                <a:cs typeface="Spoqa Han Sans Neo" pitchFamily="34" charset="-120"/>
              </a:rPr>
              <a:t>가구 총자산</a:t>
            </a:r>
            <a:endParaRPr lang="en-US" sz="1000" dirty="0"/>
          </a:p>
        </p:txBody>
      </p:sp>
      <p:sp>
        <p:nvSpPr>
          <p:cNvPr id="7" name="Text 5"/>
          <p:cNvSpPr txBox="1"/>
          <p:nvPr/>
        </p:nvSpPr>
        <p:spPr>
          <a:xfrm>
            <a:off x="685800" y="4434840"/>
            <a:ext cx="2468880" cy="457200"/>
          </a:xfrm>
          <a:prstGeom prst="rect">
            <a:avLst/>
          </a:prstGeom>
          <a:noFill/>
          <a:ln/>
        </p:spPr>
        <p:txBody>
          <a:bodyPr wrap="square" lIns="0" tIns="0" rIns="0" bIns="0" rtlCol="0" anchor="ctr"/>
          <a:lstStyle/>
          <a:p>
            <a:pPr indent="0" marL="0">
              <a:buNone/>
            </a:pPr>
            <a:r>
              <a:rPr lang="en-US" sz="2200" b="1" dirty="0">
                <a:solidFill>
                  <a:srgbClr val="FFFFFF"/>
                </a:solidFill>
                <a:latin typeface="Spoqa Han Sans Neo" pitchFamily="34" charset="0"/>
                <a:ea typeface="Spoqa Han Sans Neo" pitchFamily="34" charset="-122"/>
                <a:cs typeface="Spoqa Han Sans Neo" pitchFamily="34" charset="-120"/>
              </a:rPr>
              <a:t>19.38억원</a:t>
            </a:r>
            <a:endParaRPr lang="en-US" sz="2200" dirty="0"/>
          </a:p>
        </p:txBody>
      </p:sp>
      <p:sp>
        <p:nvSpPr>
          <p:cNvPr id="8" name="Text 6"/>
          <p:cNvSpPr txBox="1"/>
          <p:nvPr/>
        </p:nvSpPr>
        <p:spPr>
          <a:xfrm>
            <a:off x="3429000" y="4160520"/>
            <a:ext cx="2468880" cy="256032"/>
          </a:xfrm>
          <a:prstGeom prst="rect">
            <a:avLst/>
          </a:prstGeom>
          <a:noFill/>
          <a:ln/>
        </p:spPr>
        <p:txBody>
          <a:bodyPr wrap="square" lIns="0" tIns="0" rIns="0" bIns="0" rtlCol="0" anchor="ctr"/>
          <a:lstStyle/>
          <a:p>
            <a:pPr indent="0" marL="0">
              <a:buNone/>
            </a:pPr>
            <a:r>
              <a:rPr lang="en-US" sz="1000" spc="60" kern="0" dirty="0">
                <a:solidFill>
                  <a:srgbClr val="FFFFFF"/>
                </a:solidFill>
                <a:latin typeface="Spoqa Han Sans Neo" pitchFamily="34" charset="0"/>
                <a:ea typeface="Spoqa Han Sans Neo" pitchFamily="34" charset="-122"/>
                <a:cs typeface="Spoqa Han Sans Neo" pitchFamily="34" charset="-120"/>
              </a:rPr>
              <a:t>목표수익률</a:t>
            </a:r>
            <a:endParaRPr lang="en-US" sz="1000" dirty="0"/>
          </a:p>
        </p:txBody>
      </p:sp>
      <p:sp>
        <p:nvSpPr>
          <p:cNvPr id="9" name="Text 7"/>
          <p:cNvSpPr txBox="1"/>
          <p:nvPr/>
        </p:nvSpPr>
        <p:spPr>
          <a:xfrm>
            <a:off x="3429000" y="4434840"/>
            <a:ext cx="2468880" cy="457200"/>
          </a:xfrm>
          <a:prstGeom prst="rect">
            <a:avLst/>
          </a:prstGeom>
          <a:noFill/>
          <a:ln/>
        </p:spPr>
        <p:txBody>
          <a:bodyPr wrap="square" lIns="0" tIns="0" rIns="0" bIns="0" rtlCol="0" anchor="ctr"/>
          <a:lstStyle/>
          <a:p>
            <a:pPr indent="0" marL="0">
              <a:buNone/>
            </a:pPr>
            <a:r>
              <a:rPr lang="en-US" sz="2200" b="1" dirty="0">
                <a:solidFill>
                  <a:srgbClr val="FFFFFF"/>
                </a:solidFill>
                <a:latin typeface="Spoqa Han Sans Neo" pitchFamily="34" charset="0"/>
                <a:ea typeface="Spoqa Han Sans Neo" pitchFamily="34" charset="-122"/>
                <a:cs typeface="Spoqa Han Sans Neo" pitchFamily="34" charset="-120"/>
              </a:rPr>
              <a:t>연 7.0%</a:t>
            </a:r>
            <a:endParaRPr lang="en-US" sz="2200" dirty="0"/>
          </a:p>
        </p:txBody>
      </p:sp>
      <p:sp>
        <p:nvSpPr>
          <p:cNvPr id="10" name="Text 8"/>
          <p:cNvSpPr txBox="1"/>
          <p:nvPr/>
        </p:nvSpPr>
        <p:spPr>
          <a:xfrm>
            <a:off x="6172200" y="4160520"/>
            <a:ext cx="2468880" cy="256032"/>
          </a:xfrm>
          <a:prstGeom prst="rect">
            <a:avLst/>
          </a:prstGeom>
          <a:noFill/>
          <a:ln/>
        </p:spPr>
        <p:txBody>
          <a:bodyPr wrap="square" lIns="0" tIns="0" rIns="0" bIns="0" rtlCol="0" anchor="ctr"/>
          <a:lstStyle/>
          <a:p>
            <a:pPr indent="0" marL="0">
              <a:buNone/>
            </a:pPr>
            <a:r>
              <a:rPr lang="en-US" sz="1000" spc="60" kern="0" dirty="0">
                <a:solidFill>
                  <a:srgbClr val="FFFFFF"/>
                </a:solidFill>
                <a:latin typeface="Spoqa Han Sans Neo" pitchFamily="34" charset="0"/>
                <a:ea typeface="Spoqa Han Sans Neo" pitchFamily="34" charset="-122"/>
                <a:cs typeface="Spoqa Han Sans Neo" pitchFamily="34" charset="-120"/>
              </a:rPr>
              <a:t>설계 구간</a:t>
            </a:r>
            <a:endParaRPr lang="en-US" sz="1000" dirty="0"/>
          </a:p>
        </p:txBody>
      </p:sp>
      <p:sp>
        <p:nvSpPr>
          <p:cNvPr id="11" name="Text 9"/>
          <p:cNvSpPr txBox="1"/>
          <p:nvPr/>
        </p:nvSpPr>
        <p:spPr>
          <a:xfrm>
            <a:off x="6172200" y="4434840"/>
            <a:ext cx="2468880" cy="457200"/>
          </a:xfrm>
          <a:prstGeom prst="rect">
            <a:avLst/>
          </a:prstGeom>
          <a:noFill/>
          <a:ln/>
        </p:spPr>
        <p:txBody>
          <a:bodyPr wrap="square" lIns="0" tIns="0" rIns="0" bIns="0" rtlCol="0" anchor="ctr"/>
          <a:lstStyle/>
          <a:p>
            <a:pPr indent="0" marL="0">
              <a:buNone/>
            </a:pPr>
            <a:r>
              <a:rPr lang="en-US" sz="2200" b="1" dirty="0">
                <a:solidFill>
                  <a:srgbClr val="FFFFFF"/>
                </a:solidFill>
                <a:latin typeface="Spoqa Han Sans Neo" pitchFamily="34" charset="0"/>
                <a:ea typeface="Spoqa Han Sans Neo" pitchFamily="34" charset="-122"/>
                <a:cs typeface="Spoqa Han Sans Neo" pitchFamily="34" charset="-120"/>
              </a:rPr>
              <a:t>2026 → 2034+</a:t>
            </a:r>
            <a:endParaRPr lang="en-US" sz="2200" dirty="0"/>
          </a:p>
        </p:txBody>
      </p:sp>
      <p:sp>
        <p:nvSpPr>
          <p:cNvPr id="12" name="Text 10"/>
          <p:cNvSpPr txBox="1"/>
          <p:nvPr/>
        </p:nvSpPr>
        <p:spPr>
          <a:xfrm>
            <a:off x="8915400" y="4160520"/>
            <a:ext cx="2468880" cy="256032"/>
          </a:xfrm>
          <a:prstGeom prst="rect">
            <a:avLst/>
          </a:prstGeom>
          <a:noFill/>
          <a:ln/>
        </p:spPr>
        <p:txBody>
          <a:bodyPr wrap="square" lIns="0" tIns="0" rIns="0" bIns="0" rtlCol="0" anchor="ctr"/>
          <a:lstStyle/>
          <a:p>
            <a:pPr indent="0" marL="0">
              <a:buNone/>
            </a:pPr>
            <a:r>
              <a:rPr lang="en-US" sz="1000" spc="60" kern="0" dirty="0">
                <a:solidFill>
                  <a:srgbClr val="FFFFFF"/>
                </a:solidFill>
                <a:latin typeface="Spoqa Han Sans Neo" pitchFamily="34" charset="0"/>
                <a:ea typeface="Spoqa Han Sans Neo" pitchFamily="34" charset="-122"/>
                <a:cs typeface="Spoqa Han Sans Neo" pitchFamily="34" charset="-120"/>
              </a:rPr>
              <a:t>작성 기준일</a:t>
            </a:r>
            <a:endParaRPr lang="en-US" sz="1000" dirty="0"/>
          </a:p>
        </p:txBody>
      </p:sp>
      <p:sp>
        <p:nvSpPr>
          <p:cNvPr id="13" name="Text 11"/>
          <p:cNvSpPr txBox="1"/>
          <p:nvPr/>
        </p:nvSpPr>
        <p:spPr>
          <a:xfrm>
            <a:off x="8915400" y="4434840"/>
            <a:ext cx="2468880" cy="457200"/>
          </a:xfrm>
          <a:prstGeom prst="rect">
            <a:avLst/>
          </a:prstGeom>
          <a:noFill/>
          <a:ln/>
        </p:spPr>
        <p:txBody>
          <a:bodyPr wrap="square" lIns="0" tIns="0" rIns="0" bIns="0" rtlCol="0" anchor="ctr"/>
          <a:lstStyle/>
          <a:p>
            <a:pPr indent="0" marL="0">
              <a:buNone/>
            </a:pPr>
            <a:r>
              <a:rPr lang="en-US" sz="2200" b="1" dirty="0">
                <a:solidFill>
                  <a:srgbClr val="FFFFFF"/>
                </a:solidFill>
                <a:latin typeface="Spoqa Han Sans Neo" pitchFamily="34" charset="0"/>
                <a:ea typeface="Spoqa Han Sans Neo" pitchFamily="34" charset="-122"/>
                <a:cs typeface="Spoqa Han Sans Neo" pitchFamily="34" charset="-120"/>
              </a:rPr>
              <a:t>2026.09.07</a:t>
            </a:r>
            <a:endParaRPr lang="en-US" sz="2200" dirty="0"/>
          </a:p>
        </p:txBody>
      </p:sp>
      <p:sp>
        <p:nvSpPr>
          <p:cNvPr id="14" name="Shape 12"/>
          <p:cNvSpPr/>
          <p:nvPr/>
        </p:nvSpPr>
        <p:spPr>
          <a:xfrm>
            <a:off x="685800" y="5212080"/>
            <a:ext cx="10817352" cy="10058"/>
          </a:xfrm>
          <a:prstGeom prst="rect">
            <a:avLst/>
          </a:prstGeom>
          <a:solidFill>
            <a:srgbClr val="FFFFFF"/>
          </a:solidFill>
          <a:ln/>
        </p:spPr>
      </p:sp>
      <p:sp>
        <p:nvSpPr>
          <p:cNvPr id="15" name="Text 13"/>
          <p:cNvSpPr txBox="1"/>
          <p:nvPr/>
        </p:nvSpPr>
        <p:spPr>
          <a:xfrm>
            <a:off x="685800" y="5440680"/>
            <a:ext cx="10817352" cy="822960"/>
          </a:xfrm>
          <a:prstGeom prst="rect">
            <a:avLst/>
          </a:prstGeom>
          <a:noFill/>
          <a:ln/>
        </p:spPr>
        <p:txBody>
          <a:bodyPr wrap="square" lIns="0" tIns="0" rIns="0" bIns="0" rtlCol="0" anchor="ctr"/>
          <a:lstStyle/>
          <a:p>
            <a:pPr indent="0" marL="0">
              <a:lnSpc>
                <a:spcPts val="1500"/>
              </a:lnSpc>
              <a:buNone/>
            </a:pPr>
            <a:r>
              <a:rPr lang="en-US" sz="900" dirty="0">
                <a:solidFill>
                  <a:srgbClr val="FFFFFF"/>
                </a:solidFill>
                <a:latin typeface="Spoqa Han Sans Neo" pitchFamily="34" charset="0"/>
                <a:ea typeface="Spoqa Han Sans Neo" pitchFamily="34" charset="-122"/>
                <a:cs typeface="Spoqa Han Sans Neo" pitchFamily="34" charset="-120"/>
              </a:rPr>
              <a:t>대상: 만 57세 남성(은퇴 2029년 7월 예정) · 배우자 만 58세(2028년 은퇴, 월 280만원 연금 수령)</a:t>
            </a:r>
            <a:endParaRPr lang="en-US" sz="900" dirty="0"/>
          </a:p>
          <a:p>
            <a:pPr indent="0" marL="0">
              <a:lnSpc>
                <a:spcPts val="1500"/>
              </a:lnSpc>
              <a:buNone/>
            </a:pPr>
            <a:r>
              <a:rPr lang="en-US" sz="900" dirty="0">
                <a:solidFill>
                  <a:srgbClr val="FFFFFF"/>
                </a:solidFill>
                <a:latin typeface="Spoqa Han Sans Neo" pitchFamily="34" charset="0"/>
                <a:ea typeface="Spoqa Han Sans Neo" pitchFamily="34" charset="-122"/>
                <a:cs typeface="Spoqa Han Sans Neo" pitchFamily="34" charset="-120"/>
              </a:rPr>
              <a:t>상품 선정은 국내 상장 ETF 1167종 실측 데이터(수익률 기준일 2026-09-04)에 근거했습니다. 기대수익률은 설계 가정이며 미래 수익을 보장하지 않습니다.</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384048"/>
            <a:ext cx="11277295" cy="10973"/>
          </a:xfrm>
          <a:prstGeom prst="rect">
            <a:avLst/>
          </a:prstGeom>
          <a:solidFill>
            <a:srgbClr val="F58220"/>
          </a:solidFill>
          <a:ln/>
        </p:spPr>
      </p:sp>
      <p:sp>
        <p:nvSpPr>
          <p:cNvPr id="3" name="Text 1"/>
          <p:cNvSpPr txBox="1"/>
          <p:nvPr/>
        </p:nvSpPr>
        <p:spPr>
          <a:xfrm>
            <a:off x="457200" y="457200"/>
            <a:ext cx="11277295" cy="384048"/>
          </a:xfrm>
          <a:prstGeom prst="rect">
            <a:avLst/>
          </a:prstGeom>
          <a:noFill/>
          <a:ln/>
        </p:spPr>
        <p:txBody>
          <a:bodyPr wrap="square" lIns="0" tIns="0" rIns="0" bIns="0" rtlCol="0" anchor="t"/>
          <a:lstStyle/>
          <a:p>
            <a:pPr indent="0" marL="0">
              <a:buNone/>
            </a:pPr>
            <a:r>
              <a:rPr lang="en-US" sz="2300" b="1" dirty="0">
                <a:solidFill>
                  <a:srgbClr val="1A1A1A"/>
                </a:solidFill>
                <a:latin typeface="Spoqa Han Sans Neo" pitchFamily="34" charset="0"/>
                <a:ea typeface="Spoqa Han Sans Neo" pitchFamily="34" charset="-122"/>
                <a:cs typeface="Spoqa Han Sans Neo" pitchFamily="34" charset="-120"/>
              </a:rPr>
              <a:t>현황 진단 — 자산은 충분하나, 현금흐름 배치가 비어 있다</a:t>
            </a:r>
            <a:endParaRPr lang="en-US" sz="2300" dirty="0"/>
          </a:p>
        </p:txBody>
      </p:sp>
      <p:sp>
        <p:nvSpPr>
          <p:cNvPr id="4" name="Text 2"/>
          <p:cNvSpPr txBox="1"/>
          <p:nvPr/>
        </p:nvSpPr>
        <p:spPr>
          <a:xfrm>
            <a:off x="457200" y="868680"/>
            <a:ext cx="11277295" cy="237744"/>
          </a:xfrm>
          <a:prstGeom prst="rect">
            <a:avLst/>
          </a:prstGeom>
          <a:noFill/>
          <a:ln/>
        </p:spPr>
        <p:txBody>
          <a:bodyPr wrap="square" lIns="0" tIns="0" rIns="0" bIns="0" rtlCol="0" anchor="t"/>
          <a:lstStyle/>
          <a:p>
            <a:pPr indent="0" marL="0">
              <a:buNone/>
            </a:pPr>
            <a:r>
              <a:rPr lang="en-US" sz="1100" dirty="0">
                <a:solidFill>
                  <a:srgbClr val="6C6C6C"/>
                </a:solidFill>
                <a:latin typeface="Spoqa Han Sans Neo" pitchFamily="34" charset="0"/>
                <a:ea typeface="Spoqa Han Sans Neo" pitchFamily="34" charset="-122"/>
                <a:cs typeface="Spoqa Han Sans Neo" pitchFamily="34" charset="-120"/>
              </a:rPr>
              <a:t>가구 총자산 19.38억 · 즉시 재배치 가능 13.28억(68.5%) · 만기·유지 제약 6.1억(31.5%)</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298448"/>
          <a:ext cx="5989320" cy="914400"/>
        </p:xfrm>
        <a:graphic>
          <a:graphicData uri="http://schemas.openxmlformats.org/drawingml/2006/table">
            <a:tbl>
              <a:tblPr/>
              <a:tblGrid>
                <a:gridCol w="658368"/>
                <a:gridCol w="1417320"/>
                <a:gridCol w="841248"/>
                <a:gridCol w="3072384"/>
              </a:tblGrid>
              <a:tr h="301752">
                <a:tc>
                  <a:txBody>
                    <a:bodyPr/>
                    <a:lstStyle/>
                    <a:p>
                      <a:pPr algn="l" indent="0" marL="0">
                        <a:buNone/>
                      </a:pPr>
                      <a:r>
                        <a:rPr lang="en-US" sz="900" b="1" dirty="0">
                          <a:solidFill>
                            <a:srgbClr val="1A1A1A"/>
                          </a:solidFill>
                          <a:latin typeface="Spoqa Han Sans Neo" pitchFamily="34" charset="0"/>
                          <a:ea typeface="Spoqa Han Sans Neo" pitchFamily="34" charset="-122"/>
                          <a:cs typeface="Spoqa Han Sans Neo" pitchFamily="34" charset="-120"/>
                        </a:rPr>
                        <a:t>구분</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자산</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금액(억)</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현재 상태 / 제약</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301752">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본인</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퇴직연금 DC</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b="1" dirty="0">
                          <a:solidFill>
                            <a:srgbClr val="3D3D3D"/>
                          </a:solidFill>
                          <a:latin typeface="Spoqa Han Sans Neo" pitchFamily="34" charset="0"/>
                          <a:ea typeface="Spoqa Han Sans Neo" pitchFamily="34" charset="-122"/>
                          <a:cs typeface="Spoqa Han Sans Neo" pitchFamily="34" charset="-120"/>
                        </a:rPr>
                        <a:t>6.40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C62828"/>
                          </a:solidFill>
                          <a:latin typeface="Spoqa Han Sans Neo" pitchFamily="34" charset="0"/>
                          <a:ea typeface="Spoqa Han Sans Neo" pitchFamily="34" charset="-122"/>
                          <a:cs typeface="Spoqa Han Sans Neo" pitchFamily="34" charset="-120"/>
                        </a:rPr>
                        <a:t>현금성 자산으로 방치 — 즉시 전환 대상</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301752">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본인</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개인 IRP</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0.88</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운용 중 — 재배치 대상</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301752">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본인</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은행 5년 정기예금</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3.70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연 5% 확정 · 만기까지 인출 불가</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301752">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본인</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증권 현금</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2.00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미운용 — 즉시 전환 대상</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301752">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본인</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국내·해외주식</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2.40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매도하지 않고 그대로 유지</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301752">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배우자</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보유자산</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4.00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전액 재배치 가능</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301752">
                <a:tc>
                  <a:txBody>
                    <a:bodyPr/>
                    <a:lstStyle/>
                    <a:p>
                      <a:pPr indent="0" marL="0">
                        <a:buNone/>
                      </a:pPr>
                      <a:r>
                        <a:rPr lang="en-US" sz="850" b="1" dirty="0">
                          <a:solidFill>
                            <a:srgbClr val="1A1A1A"/>
                          </a:solidFill>
                          <a:latin typeface="Spoqa Han Sans Neo" pitchFamily="34" charset="0"/>
                          <a:ea typeface="Spoqa Han Sans Neo" pitchFamily="34" charset="-122"/>
                          <a:cs typeface="Spoqa Han Sans Neo" pitchFamily="34" charset="-120"/>
                        </a:rPr>
                        <a:t>합계</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indent="0" marL="0">
                        <a:buNone/>
                      </a:pPr>
                      <a:r>
                        <a:rPr lang="en-US" sz="850" b="1" dirty="0">
                          <a:solidFill>
                            <a:srgbClr val="1A1A1A"/>
                          </a:solidFill>
                          <a:latin typeface="Spoqa Han Sans Neo" pitchFamily="34" charset="0"/>
                          <a:ea typeface="Spoqa Han Sans Neo" pitchFamily="34" charset="-122"/>
                          <a:cs typeface="Spoqa Han Sans Neo" pitchFamily="34" charset="-120"/>
                        </a:rPr>
                        <a:t>가구 전체</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r" indent="0" marL="0">
                        <a:buNone/>
                      </a:pPr>
                      <a:r>
                        <a:rPr lang="en-US" sz="850" b="1" dirty="0">
                          <a:solidFill>
                            <a:srgbClr val="1A1A1A"/>
                          </a:solidFill>
                          <a:latin typeface="Spoqa Han Sans Neo" pitchFamily="34" charset="0"/>
                          <a:ea typeface="Spoqa Han Sans Neo" pitchFamily="34" charset="-122"/>
                          <a:cs typeface="Spoqa Han Sans Neo" pitchFamily="34" charset="-120"/>
                        </a:rPr>
                        <a:t>19.38</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indent="0" marL="0">
                        <a:buNone/>
                      </a:pPr>
                      <a:r>
                        <a:rPr lang="en-US" sz="850" b="1" dirty="0">
                          <a:solidFill>
                            <a:srgbClr val="1A1A1A"/>
                          </a:solidFill>
                          <a:latin typeface="Spoqa Han Sans Neo" pitchFamily="34" charset="0"/>
                          <a:ea typeface="Spoqa Han Sans Neo" pitchFamily="34" charset="-122"/>
                          <a:cs typeface="Spoqa Han Sans Neo" pitchFamily="34" charset="-120"/>
                        </a:rPr>
                        <a:t>본인 15.38 + 배우자 4</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bl>
          </a:graphicData>
        </a:graphic>
      </p:graphicFrame>
      <p:sp>
        <p:nvSpPr>
          <p:cNvPr id="6" name="Shape 3"/>
          <p:cNvSpPr/>
          <p:nvPr/>
        </p:nvSpPr>
        <p:spPr>
          <a:xfrm>
            <a:off x="457200" y="4005072"/>
            <a:ext cx="5989320" cy="2075688"/>
          </a:xfrm>
          <a:prstGeom prst="rect">
            <a:avLst/>
          </a:prstGeom>
          <a:solidFill>
            <a:srgbClr val="ECEFF4"/>
          </a:solidFill>
          <a:ln w="9525">
            <a:solidFill>
              <a:srgbClr val="CDCECB"/>
            </a:solidFill>
            <a:prstDash val="solid"/>
          </a:ln>
        </p:spPr>
      </p:sp>
      <p:sp>
        <p:nvSpPr>
          <p:cNvPr id="7" name="Text 4"/>
          <p:cNvSpPr txBox="1"/>
          <p:nvPr/>
        </p:nvSpPr>
        <p:spPr>
          <a:xfrm>
            <a:off x="640080" y="4133088"/>
            <a:ext cx="5623560" cy="274320"/>
          </a:xfrm>
          <a:prstGeom prst="rect">
            <a:avLst/>
          </a:prstGeom>
          <a:noFill/>
          <a:ln/>
        </p:spPr>
        <p:txBody>
          <a:bodyPr wrap="square" lIns="0" tIns="0" rIns="0" bIns="0" rtlCol="0" anchor="t"/>
          <a:lstStyle/>
          <a:p>
            <a:pPr indent="0" marL="0">
              <a:buNone/>
            </a:pPr>
            <a:r>
              <a:rPr lang="en-US" sz="1200" b="1" dirty="0">
                <a:solidFill>
                  <a:srgbClr val="043B72"/>
                </a:solidFill>
                <a:latin typeface="Spoqa Han Sans Neo" pitchFamily="34" charset="0"/>
                <a:ea typeface="Spoqa Han Sans Neo" pitchFamily="34" charset="-122"/>
                <a:cs typeface="Spoqa Han Sans Neo" pitchFamily="34" charset="-120"/>
              </a:rPr>
              <a:t>핵심 과제 — 이 셋을 동시에 풀어야 한다</a:t>
            </a:r>
            <a:endParaRPr lang="en-US" sz="1200" dirty="0"/>
          </a:p>
        </p:txBody>
      </p:sp>
      <p:sp>
        <p:nvSpPr>
          <p:cNvPr id="8" name="Text 5"/>
          <p:cNvSpPr txBox="1"/>
          <p:nvPr/>
        </p:nvSpPr>
        <p:spPr>
          <a:xfrm>
            <a:off x="640080" y="4462272"/>
            <a:ext cx="5623560" cy="1472184"/>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950" dirty="0">
                <a:solidFill>
                  <a:srgbClr val="3D3D3D"/>
                </a:solidFill>
                <a:latin typeface="Spoqa Han Sans Neo" pitchFamily="34" charset="0"/>
                <a:ea typeface="Spoqa Han Sans Neo" pitchFamily="34" charset="-122"/>
                <a:cs typeface="Spoqa Han Sans Neo" pitchFamily="34" charset="-120"/>
              </a:rPr>
              <a:t>현금성 6.40억의 즉시 전환 — 퇴직연금 DC가 현금으로 놀고 있어, 은퇴까지 34개월간 약 7,206만원의 수익 기회를 잃는 상태</a:t>
            </a:r>
            <a:endParaRPr lang="en-US" sz="950" dirty="0"/>
          </a:p>
          <a:p>
            <a:pPr marL="342900" indent="-342900">
              <a:lnSpc>
                <a:spcPts val="1500"/>
              </a:lnSpc>
              <a:spcAft>
                <a:spcPts val="500"/>
              </a:spcAft>
              <a:buSzPct val="100000"/>
              <a:buChar char="•"/>
            </a:pPr>
            <a:r>
              <a:rPr lang="en-US" sz="950" dirty="0">
                <a:solidFill>
                  <a:srgbClr val="3D3D3D"/>
                </a:solidFill>
                <a:latin typeface="Spoqa Han Sans Neo" pitchFamily="34" charset="0"/>
                <a:ea typeface="Spoqa Han Sans Neo" pitchFamily="34" charset="-122"/>
                <a:cs typeface="Spoqa Han Sans Neo" pitchFamily="34" charset="-120"/>
              </a:rPr>
              <a:t>5년의 소득 공백 — 본인 은퇴(2029.7)부터 국민연금 개시(2034)까지는 배우자 연금 280만원이 유일한 확정 소득</a:t>
            </a:r>
            <a:endParaRPr lang="en-US" sz="950" dirty="0"/>
          </a:p>
          <a:p>
            <a:pPr marL="342900" indent="-342900">
              <a:lnSpc>
                <a:spcPts val="1500"/>
              </a:lnSpc>
              <a:spcAft>
                <a:spcPts val="500"/>
              </a:spcAft>
              <a:buSzPct val="100000"/>
              <a:buChar char="•"/>
            </a:pPr>
            <a:r>
              <a:rPr lang="en-US" sz="950" dirty="0">
                <a:solidFill>
                  <a:srgbClr val="3D3D3D"/>
                </a:solidFill>
                <a:latin typeface="Spoqa Han Sans Neo" pitchFamily="34" charset="0"/>
                <a:ea typeface="Spoqa Han Sans Neo" pitchFamily="34" charset="-122"/>
                <a:cs typeface="Spoqa Han Sans Neo" pitchFamily="34" charset="-120"/>
              </a:rPr>
              <a:t>제약 안에서의 연 7% — 은행예금 3.70억은 만기까지 묶여 있고 주식 2.40억은 유지 대상이므로, 남은 13.28억만으로 목표를 만들어야 함</a:t>
            </a:r>
            <a:endParaRPr lang="en-US" sz="950" dirty="0"/>
          </a:p>
        </p:txBody>
      </p:sp>
      <p:sp>
        <p:nvSpPr>
          <p:cNvPr id="9" name="Shape 6"/>
          <p:cNvSpPr/>
          <p:nvPr/>
        </p:nvSpPr>
        <p:spPr>
          <a:xfrm>
            <a:off x="6720840" y="1298448"/>
            <a:ext cx="5010912" cy="1298448"/>
          </a:xfrm>
          <a:prstGeom prst="rect">
            <a:avLst/>
          </a:prstGeom>
          <a:solidFill>
            <a:srgbClr val="F7F8FA"/>
          </a:solidFill>
          <a:ln w="9525">
            <a:solidFill>
              <a:srgbClr val="CDCECB"/>
            </a:solidFill>
            <a:prstDash val="solid"/>
          </a:ln>
        </p:spPr>
      </p:sp>
      <p:sp>
        <p:nvSpPr>
          <p:cNvPr id="10" name="Text 7"/>
          <p:cNvSpPr txBox="1"/>
          <p:nvPr/>
        </p:nvSpPr>
        <p:spPr>
          <a:xfrm>
            <a:off x="6922008" y="1444752"/>
            <a:ext cx="4608576" cy="310896"/>
          </a:xfrm>
          <a:prstGeom prst="rect">
            <a:avLst/>
          </a:prstGeom>
          <a:noFill/>
          <a:ln/>
        </p:spPr>
        <p:txBody>
          <a:bodyPr wrap="square" lIns="0" tIns="0" rIns="0" bIns="0" rtlCol="0" anchor="t"/>
          <a:lstStyle/>
          <a:p>
            <a:pPr indent="0" marL="0">
              <a:lnSpc>
                <a:spcPts val="1300"/>
              </a:lnSpc>
              <a:buNone/>
            </a:pPr>
            <a:r>
              <a:rPr lang="en-US" sz="950" dirty="0">
                <a:solidFill>
                  <a:srgbClr val="6C6C6C"/>
                </a:solidFill>
                <a:latin typeface="Spoqa Han Sans Neo" pitchFamily="34" charset="0"/>
                <a:ea typeface="Spoqa Han Sans Neo" pitchFamily="34" charset="-122"/>
                <a:cs typeface="Spoqa Han Sans Neo" pitchFamily="34" charset="-120"/>
              </a:rPr>
              <a:t>DC 6.4억을 현금성으로 두는 데 드는 기회비용</a:t>
            </a:r>
            <a:endParaRPr lang="en-US" sz="950" dirty="0"/>
          </a:p>
        </p:txBody>
      </p:sp>
      <p:sp>
        <p:nvSpPr>
          <p:cNvPr id="11" name="Text 8"/>
          <p:cNvSpPr txBox="1"/>
          <p:nvPr/>
        </p:nvSpPr>
        <p:spPr>
          <a:xfrm>
            <a:off x="6922008" y="1755648"/>
            <a:ext cx="4608576" cy="420624"/>
          </a:xfrm>
          <a:prstGeom prst="rect">
            <a:avLst/>
          </a:prstGeom>
          <a:noFill/>
          <a:ln/>
        </p:spPr>
        <p:txBody>
          <a:bodyPr wrap="square" lIns="0" tIns="0" rIns="0" bIns="0" rtlCol="0" anchor="t"/>
          <a:lstStyle/>
          <a:p>
            <a:pPr indent="0" marL="0">
              <a:buNone/>
            </a:pPr>
            <a:r>
              <a:rPr lang="en-US" sz="2600" b="1" dirty="0">
                <a:solidFill>
                  <a:srgbClr val="C62828"/>
                </a:solidFill>
                <a:latin typeface="Spoqa Han Sans Neo" pitchFamily="34" charset="0"/>
                <a:ea typeface="Spoqa Han Sans Neo" pitchFamily="34" charset="-122"/>
                <a:cs typeface="Spoqa Han Sans Neo" pitchFamily="34" charset="-120"/>
              </a:rPr>
              <a:t>연 2,543만원</a:t>
            </a:r>
            <a:endParaRPr lang="en-US" sz="2600" dirty="0"/>
          </a:p>
        </p:txBody>
      </p:sp>
      <p:sp>
        <p:nvSpPr>
          <p:cNvPr id="12" name="Text 9"/>
          <p:cNvSpPr txBox="1"/>
          <p:nvPr/>
        </p:nvSpPr>
        <p:spPr>
          <a:xfrm>
            <a:off x="6922008" y="2212848"/>
            <a:ext cx="4608576" cy="274320"/>
          </a:xfrm>
          <a:prstGeom prst="rect">
            <a:avLst/>
          </a:prstGeom>
          <a:noFill/>
          <a:ln/>
        </p:spPr>
        <p:txBody>
          <a:bodyPr wrap="square" lIns="0" tIns="0" rIns="0" bIns="0" rtlCol="0" anchor="t"/>
          <a:lstStyle/>
          <a:p>
            <a:pPr indent="0" marL="0">
              <a:lnSpc>
                <a:spcPts val="1200"/>
              </a:lnSpc>
              <a:buNone/>
            </a:pPr>
            <a:r>
              <a:rPr lang="en-US" sz="850" dirty="0">
                <a:solidFill>
                  <a:srgbClr val="3D3D3D"/>
                </a:solidFill>
                <a:latin typeface="Spoqa Han Sans Neo" pitchFamily="34" charset="0"/>
                <a:ea typeface="Spoqa Han Sans Neo" pitchFamily="34" charset="-122"/>
                <a:cs typeface="Spoqa Han Sans Neo" pitchFamily="34" charset="-120"/>
              </a:rPr>
              <a:t>제안 포트폴리오 6.47% vs 대기성 현금 2.50%(가정) 격차 3.97%p. 은퇴까지 남은 34개월 누적 약 7,206만원.</a:t>
            </a:r>
            <a:endParaRPr lang="en-US" sz="850" dirty="0"/>
          </a:p>
        </p:txBody>
      </p:sp>
      <p:sp>
        <p:nvSpPr>
          <p:cNvPr id="13" name="Shape 10"/>
          <p:cNvSpPr/>
          <p:nvPr/>
        </p:nvSpPr>
        <p:spPr>
          <a:xfrm>
            <a:off x="6720840" y="2743200"/>
            <a:ext cx="5010912" cy="1298448"/>
          </a:xfrm>
          <a:prstGeom prst="rect">
            <a:avLst/>
          </a:prstGeom>
          <a:solidFill>
            <a:srgbClr val="F7F8FA"/>
          </a:solidFill>
          <a:ln w="9525">
            <a:solidFill>
              <a:srgbClr val="CDCECB"/>
            </a:solidFill>
            <a:prstDash val="solid"/>
          </a:ln>
        </p:spPr>
      </p:sp>
      <p:sp>
        <p:nvSpPr>
          <p:cNvPr id="14" name="Text 11"/>
          <p:cNvSpPr txBox="1"/>
          <p:nvPr/>
        </p:nvSpPr>
        <p:spPr>
          <a:xfrm>
            <a:off x="6922008" y="2889504"/>
            <a:ext cx="4608576" cy="310896"/>
          </a:xfrm>
          <a:prstGeom prst="rect">
            <a:avLst/>
          </a:prstGeom>
          <a:noFill/>
          <a:ln/>
        </p:spPr>
        <p:txBody>
          <a:bodyPr wrap="square" lIns="0" tIns="0" rIns="0" bIns="0" rtlCol="0" anchor="t"/>
          <a:lstStyle/>
          <a:p>
            <a:pPr indent="0" marL="0">
              <a:lnSpc>
                <a:spcPts val="1300"/>
              </a:lnSpc>
              <a:buNone/>
            </a:pPr>
            <a:r>
              <a:rPr lang="en-US" sz="950" dirty="0">
                <a:solidFill>
                  <a:srgbClr val="6C6C6C"/>
                </a:solidFill>
                <a:latin typeface="Spoqa Han Sans Neo" pitchFamily="34" charset="0"/>
                <a:ea typeface="Spoqa Han Sans Neo" pitchFamily="34" charset="-122"/>
                <a:cs typeface="Spoqa Han Sans Neo" pitchFamily="34" charset="-120"/>
              </a:rPr>
              <a:t>매월 필요자금 (생활 650 + 부모님 용돈 100)</a:t>
            </a:r>
            <a:endParaRPr lang="en-US" sz="950" dirty="0"/>
          </a:p>
        </p:txBody>
      </p:sp>
      <p:sp>
        <p:nvSpPr>
          <p:cNvPr id="15" name="Text 12"/>
          <p:cNvSpPr txBox="1"/>
          <p:nvPr/>
        </p:nvSpPr>
        <p:spPr>
          <a:xfrm>
            <a:off x="6922008" y="3200400"/>
            <a:ext cx="4608576" cy="420624"/>
          </a:xfrm>
          <a:prstGeom prst="rect">
            <a:avLst/>
          </a:prstGeom>
          <a:noFill/>
          <a:ln/>
        </p:spPr>
        <p:txBody>
          <a:bodyPr wrap="square" lIns="0" tIns="0" rIns="0" bIns="0" rtlCol="0" anchor="t"/>
          <a:lstStyle/>
          <a:p>
            <a:pPr indent="0" marL="0">
              <a:buNone/>
            </a:pPr>
            <a:r>
              <a:rPr lang="en-US" sz="2600" b="1" dirty="0">
                <a:solidFill>
                  <a:srgbClr val="043B72"/>
                </a:solidFill>
                <a:latin typeface="Spoqa Han Sans Neo" pitchFamily="34" charset="0"/>
                <a:ea typeface="Spoqa Han Sans Neo" pitchFamily="34" charset="-122"/>
                <a:cs typeface="Spoqa Han Sans Neo" pitchFamily="34" charset="-120"/>
              </a:rPr>
              <a:t>750만원</a:t>
            </a:r>
            <a:endParaRPr lang="en-US" sz="2600" dirty="0"/>
          </a:p>
        </p:txBody>
      </p:sp>
      <p:sp>
        <p:nvSpPr>
          <p:cNvPr id="16" name="Text 13"/>
          <p:cNvSpPr txBox="1"/>
          <p:nvPr/>
        </p:nvSpPr>
        <p:spPr>
          <a:xfrm>
            <a:off x="6922008" y="3657600"/>
            <a:ext cx="4608576" cy="274320"/>
          </a:xfrm>
          <a:prstGeom prst="rect">
            <a:avLst/>
          </a:prstGeom>
          <a:noFill/>
          <a:ln/>
        </p:spPr>
        <p:txBody>
          <a:bodyPr wrap="square" lIns="0" tIns="0" rIns="0" bIns="0" rtlCol="0" anchor="t"/>
          <a:lstStyle/>
          <a:p>
            <a:pPr indent="0" marL="0">
              <a:lnSpc>
                <a:spcPts val="1200"/>
              </a:lnSpc>
              <a:buNone/>
            </a:pPr>
            <a:r>
              <a:rPr lang="en-US" sz="850" dirty="0">
                <a:solidFill>
                  <a:srgbClr val="3D3D3D"/>
                </a:solidFill>
                <a:latin typeface="Spoqa Han Sans Neo" pitchFamily="34" charset="0"/>
                <a:ea typeface="Spoqa Han Sans Neo" pitchFamily="34" charset="-122"/>
                <a:cs typeface="Spoqa Han Sans Neo" pitchFamily="34" charset="-120"/>
              </a:rPr>
              <a:t>생활자금 600~700만원의 중간값 기준. 확보된 연금은 배우자 280만원(2028~), 본인 국민연금 250만원(2034~).</a:t>
            </a:r>
            <a:endParaRPr lang="en-US" sz="850" dirty="0"/>
          </a:p>
        </p:txBody>
      </p:sp>
      <p:sp>
        <p:nvSpPr>
          <p:cNvPr id="17" name="Shape 14"/>
          <p:cNvSpPr/>
          <p:nvPr/>
        </p:nvSpPr>
        <p:spPr>
          <a:xfrm>
            <a:off x="6720840" y="4187952"/>
            <a:ext cx="5010912" cy="1298448"/>
          </a:xfrm>
          <a:prstGeom prst="rect">
            <a:avLst/>
          </a:prstGeom>
          <a:solidFill>
            <a:srgbClr val="F7F8FA"/>
          </a:solidFill>
          <a:ln w="9525">
            <a:solidFill>
              <a:srgbClr val="CDCECB"/>
            </a:solidFill>
            <a:prstDash val="solid"/>
          </a:ln>
        </p:spPr>
      </p:sp>
      <p:sp>
        <p:nvSpPr>
          <p:cNvPr id="18" name="Text 15"/>
          <p:cNvSpPr txBox="1"/>
          <p:nvPr/>
        </p:nvSpPr>
        <p:spPr>
          <a:xfrm>
            <a:off x="6922008" y="4334256"/>
            <a:ext cx="4608576" cy="310896"/>
          </a:xfrm>
          <a:prstGeom prst="rect">
            <a:avLst/>
          </a:prstGeom>
          <a:noFill/>
          <a:ln/>
        </p:spPr>
        <p:txBody>
          <a:bodyPr wrap="square" lIns="0" tIns="0" rIns="0" bIns="0" rtlCol="0" anchor="t"/>
          <a:lstStyle/>
          <a:p>
            <a:pPr indent="0" marL="0">
              <a:lnSpc>
                <a:spcPts val="1300"/>
              </a:lnSpc>
              <a:buNone/>
            </a:pPr>
            <a:r>
              <a:rPr lang="en-US" sz="950" dirty="0">
                <a:solidFill>
                  <a:srgbClr val="6C6C6C"/>
                </a:solidFill>
                <a:latin typeface="Spoqa Han Sans Neo" pitchFamily="34" charset="0"/>
                <a:ea typeface="Spoqa Han Sans Neo" pitchFamily="34" charset="-122"/>
                <a:cs typeface="Spoqa Han Sans Neo" pitchFamily="34" charset="-120"/>
              </a:rPr>
              <a:t>목표 연 7%를 위해 신규 운용자산이 내야 할 수익률</a:t>
            </a:r>
            <a:endParaRPr lang="en-US" sz="950" dirty="0"/>
          </a:p>
        </p:txBody>
      </p:sp>
      <p:sp>
        <p:nvSpPr>
          <p:cNvPr id="19" name="Text 16"/>
          <p:cNvSpPr txBox="1"/>
          <p:nvPr/>
        </p:nvSpPr>
        <p:spPr>
          <a:xfrm>
            <a:off x="6922008" y="4645152"/>
            <a:ext cx="4608576" cy="420624"/>
          </a:xfrm>
          <a:prstGeom prst="rect">
            <a:avLst/>
          </a:prstGeom>
          <a:noFill/>
          <a:ln/>
        </p:spPr>
        <p:txBody>
          <a:bodyPr wrap="square" lIns="0" tIns="0" rIns="0" bIns="0" rtlCol="0" anchor="t"/>
          <a:lstStyle/>
          <a:p>
            <a:pPr indent="0" marL="0">
              <a:buNone/>
            </a:pPr>
            <a:r>
              <a:rPr lang="en-US" sz="2600" b="1" dirty="0">
                <a:solidFill>
                  <a:srgbClr val="F58220"/>
                </a:solidFill>
                <a:latin typeface="Spoqa Han Sans Neo" pitchFamily="34" charset="0"/>
                <a:ea typeface="Spoqa Han Sans Neo" pitchFamily="34" charset="-122"/>
                <a:cs typeface="Spoqa Han Sans Neo" pitchFamily="34" charset="-120"/>
              </a:rPr>
              <a:t>연 7.38%</a:t>
            </a:r>
            <a:endParaRPr lang="en-US" sz="2600" dirty="0"/>
          </a:p>
        </p:txBody>
      </p:sp>
      <p:sp>
        <p:nvSpPr>
          <p:cNvPr id="20" name="Text 17"/>
          <p:cNvSpPr txBox="1"/>
          <p:nvPr/>
        </p:nvSpPr>
        <p:spPr>
          <a:xfrm>
            <a:off x="6922008" y="5102352"/>
            <a:ext cx="4608576" cy="274320"/>
          </a:xfrm>
          <a:prstGeom prst="rect">
            <a:avLst/>
          </a:prstGeom>
          <a:noFill/>
          <a:ln/>
        </p:spPr>
        <p:txBody>
          <a:bodyPr wrap="square" lIns="0" tIns="0" rIns="0" bIns="0" rtlCol="0" anchor="t"/>
          <a:lstStyle/>
          <a:p>
            <a:pPr indent="0" marL="0">
              <a:lnSpc>
                <a:spcPts val="1200"/>
              </a:lnSpc>
              <a:buNone/>
            </a:pPr>
            <a:r>
              <a:rPr lang="en-US" sz="850" dirty="0">
                <a:solidFill>
                  <a:srgbClr val="3D3D3D"/>
                </a:solidFill>
                <a:latin typeface="Spoqa Han Sans Neo" pitchFamily="34" charset="0"/>
                <a:ea typeface="Spoqa Han Sans Neo" pitchFamily="34" charset="-122"/>
                <a:cs typeface="Spoqa Han Sans Neo" pitchFamily="34" charset="-120"/>
              </a:rPr>
              <a:t>예금 3.70억(5%)·주식 2.40억(8% 가정) 기여를 제외하면, 남은 13.28억이 연 7.38%를 내야 전체 7%가 성립.</a:t>
            </a:r>
            <a:endParaRPr lang="en-US" sz="850" dirty="0"/>
          </a:p>
        </p:txBody>
      </p:sp>
      <p:sp>
        <p:nvSpPr>
          <p:cNvPr id="21" name="Text 18"/>
          <p:cNvSpPr txBox="1"/>
          <p:nvPr/>
        </p:nvSpPr>
        <p:spPr>
          <a:xfrm>
            <a:off x="457200" y="6217920"/>
            <a:ext cx="11277295" cy="365760"/>
          </a:xfrm>
          <a:prstGeom prst="rect">
            <a:avLst/>
          </a:prstGeom>
          <a:noFill/>
          <a:ln/>
        </p:spPr>
        <p:txBody>
          <a:bodyPr wrap="square" lIns="0" tIns="0" rIns="0" bIns="0" rtlCol="0" anchor="t"/>
          <a:lstStyle/>
          <a:p>
            <a:pPr indent="0" marL="0">
              <a:lnSpc>
                <a:spcPts val="1100"/>
              </a:lnSpc>
              <a:buNone/>
            </a:pPr>
            <a:r>
              <a:rPr lang="en-US" sz="750" dirty="0">
                <a:solidFill>
                  <a:srgbClr val="84888B"/>
                </a:solidFill>
                <a:latin typeface="Spoqa Han Sans Neo" pitchFamily="34" charset="0"/>
                <a:ea typeface="Spoqa Han Sans Neo" pitchFamily="34" charset="-122"/>
                <a:cs typeface="Spoqa Han Sans Neo" pitchFamily="34" charset="-120"/>
              </a:rPr>
              <a:t>자산·지출·연금 금액은 고객 제공 자료(2026.09.07 기준). 대기성 현금 2.50%와 주식 기대수익률 8.00%는 제안자 설계 가정으로 보장되지 않습니다. 은행예금 연 5%는 기존 가입 상품의 확정금리이며, 2026년 9월 신규 5년 예금 시장금리(3%대)보다 크게 높은 이례적 조건입니다.</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384048"/>
            <a:ext cx="11277295" cy="10973"/>
          </a:xfrm>
          <a:prstGeom prst="rect">
            <a:avLst/>
          </a:prstGeom>
          <a:solidFill>
            <a:srgbClr val="F58220"/>
          </a:solidFill>
          <a:ln/>
        </p:spPr>
      </p:sp>
      <p:sp>
        <p:nvSpPr>
          <p:cNvPr id="3" name="Text 1"/>
          <p:cNvSpPr txBox="1"/>
          <p:nvPr/>
        </p:nvSpPr>
        <p:spPr>
          <a:xfrm>
            <a:off x="457200" y="457200"/>
            <a:ext cx="11277295" cy="384048"/>
          </a:xfrm>
          <a:prstGeom prst="rect">
            <a:avLst/>
          </a:prstGeom>
          <a:noFill/>
          <a:ln/>
        </p:spPr>
        <p:txBody>
          <a:bodyPr wrap="square" lIns="0" tIns="0" rIns="0" bIns="0" rtlCol="0" anchor="t"/>
          <a:lstStyle/>
          <a:p>
            <a:pPr indent="0" marL="0">
              <a:buNone/>
            </a:pPr>
            <a:r>
              <a:rPr lang="en-US" sz="2300" b="1" dirty="0">
                <a:solidFill>
                  <a:srgbClr val="1A1A1A"/>
                </a:solidFill>
                <a:latin typeface="Spoqa Han Sans Neo" pitchFamily="34" charset="0"/>
                <a:ea typeface="Spoqa Han Sans Neo" pitchFamily="34" charset="-122"/>
                <a:cs typeface="Spoqa Han Sans Neo" pitchFamily="34" charset="-120"/>
              </a:rPr>
              <a:t>시점별 자금흐름 로드맵 — 5단계</a:t>
            </a:r>
            <a:endParaRPr lang="en-US" sz="2300" dirty="0"/>
          </a:p>
        </p:txBody>
      </p:sp>
      <p:sp>
        <p:nvSpPr>
          <p:cNvPr id="4" name="Text 2"/>
          <p:cNvSpPr txBox="1"/>
          <p:nvPr/>
        </p:nvSpPr>
        <p:spPr>
          <a:xfrm>
            <a:off x="457200" y="868680"/>
            <a:ext cx="11277295" cy="237744"/>
          </a:xfrm>
          <a:prstGeom prst="rect">
            <a:avLst/>
          </a:prstGeom>
          <a:noFill/>
          <a:ln/>
        </p:spPr>
        <p:txBody>
          <a:bodyPr wrap="square" lIns="0" tIns="0" rIns="0" bIns="0" rtlCol="0" anchor="t"/>
          <a:lstStyle/>
          <a:p>
            <a:pPr indent="0" marL="0">
              <a:buNone/>
            </a:pPr>
            <a:r>
              <a:rPr lang="en-US" sz="1100" dirty="0">
                <a:solidFill>
                  <a:srgbClr val="6C6C6C"/>
                </a:solidFill>
                <a:latin typeface="Spoqa Han Sans Neo" pitchFamily="34" charset="0"/>
                <a:ea typeface="Spoqa Han Sans Neo" pitchFamily="34" charset="-122"/>
                <a:cs typeface="Spoqa Han Sans Neo" pitchFamily="34" charset="-120"/>
              </a:rPr>
              <a:t>지금 운용할 자산 / DC의 IRP 이전 / 예금 만기 / 국민연금 개시 시점을 하나의 흐름으로 배치</a:t>
            </a:r>
            <a:endParaRPr lang="en-US" sz="1100" dirty="0"/>
          </a:p>
        </p:txBody>
      </p:sp>
      <p:sp>
        <p:nvSpPr>
          <p:cNvPr id="5" name="Shape 3"/>
          <p:cNvSpPr/>
          <p:nvPr/>
        </p:nvSpPr>
        <p:spPr>
          <a:xfrm>
            <a:off x="457200" y="1243584"/>
            <a:ext cx="2228027" cy="566928"/>
          </a:xfrm>
          <a:prstGeom prst="chevron">
            <a:avLst/>
          </a:prstGeom>
          <a:solidFill>
            <a:srgbClr val="F58220"/>
          </a:solidFill>
          <a:ln/>
        </p:spPr>
      </p:sp>
      <p:sp>
        <p:nvSpPr>
          <p:cNvPr id="6" name="Text 4"/>
          <p:cNvSpPr txBox="1"/>
          <p:nvPr/>
        </p:nvSpPr>
        <p:spPr>
          <a:xfrm>
            <a:off x="731520" y="1298448"/>
            <a:ext cx="1752539" cy="237744"/>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Phase 0</a:t>
            </a:r>
            <a:endParaRPr lang="en-US" sz="1150" dirty="0"/>
          </a:p>
        </p:txBody>
      </p:sp>
      <p:sp>
        <p:nvSpPr>
          <p:cNvPr id="7" name="Text 5"/>
          <p:cNvSpPr txBox="1"/>
          <p:nvPr/>
        </p:nvSpPr>
        <p:spPr>
          <a:xfrm>
            <a:off x="731520" y="1527048"/>
            <a:ext cx="1752539" cy="219456"/>
          </a:xfrm>
          <a:prstGeom prst="rect">
            <a:avLst/>
          </a:prstGeom>
          <a:noFill/>
          <a:ln/>
        </p:spPr>
        <p:txBody>
          <a:bodyPr wrap="square" lIns="0" tIns="0" rIns="0" bIns="0" rtlCol="0" anchor="ctr"/>
          <a:lstStyle/>
          <a:p>
            <a:pPr algn="ctr" indent="0" marL="0">
              <a:buNone/>
            </a:pPr>
            <a:r>
              <a:rPr lang="en-US" sz="900" dirty="0">
                <a:solidFill>
                  <a:srgbClr val="FFFFFF"/>
                </a:solidFill>
                <a:latin typeface="Spoqa Han Sans Neo" pitchFamily="34" charset="0"/>
                <a:ea typeface="Spoqa Han Sans Neo" pitchFamily="34" charset="-122"/>
                <a:cs typeface="Spoqa Han Sans Neo" pitchFamily="34" charset="-120"/>
              </a:rPr>
              <a:t>2026.9~2029.6</a:t>
            </a:r>
            <a:endParaRPr lang="en-US" sz="900" dirty="0"/>
          </a:p>
        </p:txBody>
      </p:sp>
      <p:sp>
        <p:nvSpPr>
          <p:cNvPr id="8" name="Shape 6"/>
          <p:cNvSpPr/>
          <p:nvPr/>
        </p:nvSpPr>
        <p:spPr>
          <a:xfrm>
            <a:off x="2712659" y="1243584"/>
            <a:ext cx="2228027" cy="566928"/>
          </a:xfrm>
          <a:prstGeom prst="chevron">
            <a:avLst/>
          </a:prstGeom>
          <a:solidFill>
            <a:srgbClr val="CB6015"/>
          </a:solidFill>
          <a:ln/>
        </p:spPr>
      </p:sp>
      <p:sp>
        <p:nvSpPr>
          <p:cNvPr id="9" name="Text 7"/>
          <p:cNvSpPr txBox="1"/>
          <p:nvPr/>
        </p:nvSpPr>
        <p:spPr>
          <a:xfrm>
            <a:off x="2986979" y="1298448"/>
            <a:ext cx="1752539" cy="237744"/>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Phase 1</a:t>
            </a:r>
            <a:endParaRPr lang="en-US" sz="1150" dirty="0"/>
          </a:p>
        </p:txBody>
      </p:sp>
      <p:sp>
        <p:nvSpPr>
          <p:cNvPr id="10" name="Text 8"/>
          <p:cNvSpPr txBox="1"/>
          <p:nvPr/>
        </p:nvSpPr>
        <p:spPr>
          <a:xfrm>
            <a:off x="2986979" y="1527048"/>
            <a:ext cx="1752539" cy="219456"/>
          </a:xfrm>
          <a:prstGeom prst="rect">
            <a:avLst/>
          </a:prstGeom>
          <a:noFill/>
          <a:ln/>
        </p:spPr>
        <p:txBody>
          <a:bodyPr wrap="square" lIns="0" tIns="0" rIns="0" bIns="0" rtlCol="0" anchor="ctr"/>
          <a:lstStyle/>
          <a:p>
            <a:pPr algn="ctr" indent="0" marL="0">
              <a:buNone/>
            </a:pPr>
            <a:r>
              <a:rPr lang="en-US" sz="900" dirty="0">
                <a:solidFill>
                  <a:srgbClr val="FFFFFF"/>
                </a:solidFill>
                <a:latin typeface="Spoqa Han Sans Neo" pitchFamily="34" charset="0"/>
                <a:ea typeface="Spoqa Han Sans Neo" pitchFamily="34" charset="-122"/>
                <a:cs typeface="Spoqa Han Sans Neo" pitchFamily="34" charset="-120"/>
              </a:rPr>
              <a:t>2029.7~2031</a:t>
            </a:r>
            <a:endParaRPr lang="en-US" sz="900" dirty="0"/>
          </a:p>
        </p:txBody>
      </p:sp>
      <p:sp>
        <p:nvSpPr>
          <p:cNvPr id="11" name="Shape 9"/>
          <p:cNvSpPr/>
          <p:nvPr/>
        </p:nvSpPr>
        <p:spPr>
          <a:xfrm>
            <a:off x="4968118" y="1243584"/>
            <a:ext cx="2228027" cy="566928"/>
          </a:xfrm>
          <a:prstGeom prst="chevron">
            <a:avLst/>
          </a:prstGeom>
          <a:solidFill>
            <a:srgbClr val="84888B"/>
          </a:solidFill>
          <a:ln/>
        </p:spPr>
      </p:sp>
      <p:sp>
        <p:nvSpPr>
          <p:cNvPr id="12" name="Text 10"/>
          <p:cNvSpPr txBox="1"/>
          <p:nvPr/>
        </p:nvSpPr>
        <p:spPr>
          <a:xfrm>
            <a:off x="5242438" y="1298448"/>
            <a:ext cx="1752539" cy="237744"/>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Phase 2</a:t>
            </a:r>
            <a:endParaRPr lang="en-US" sz="1150" dirty="0"/>
          </a:p>
        </p:txBody>
      </p:sp>
      <p:sp>
        <p:nvSpPr>
          <p:cNvPr id="13" name="Text 11"/>
          <p:cNvSpPr txBox="1"/>
          <p:nvPr/>
        </p:nvSpPr>
        <p:spPr>
          <a:xfrm>
            <a:off x="5242438" y="1527048"/>
            <a:ext cx="1752539" cy="219456"/>
          </a:xfrm>
          <a:prstGeom prst="rect">
            <a:avLst/>
          </a:prstGeom>
          <a:noFill/>
          <a:ln/>
        </p:spPr>
        <p:txBody>
          <a:bodyPr wrap="square" lIns="0" tIns="0" rIns="0" bIns="0" rtlCol="0" anchor="ctr"/>
          <a:lstStyle/>
          <a:p>
            <a:pPr algn="ctr" indent="0" marL="0">
              <a:buNone/>
            </a:pPr>
            <a:r>
              <a:rPr lang="en-US" sz="900" dirty="0">
                <a:solidFill>
                  <a:srgbClr val="FFFFFF"/>
                </a:solidFill>
                <a:latin typeface="Spoqa Han Sans Neo" pitchFamily="34" charset="0"/>
                <a:ea typeface="Spoqa Han Sans Neo" pitchFamily="34" charset="-122"/>
                <a:cs typeface="Spoqa Han Sans Neo" pitchFamily="34" charset="-120"/>
              </a:rPr>
              <a:t>2031</a:t>
            </a:r>
            <a:endParaRPr lang="en-US" sz="900" dirty="0"/>
          </a:p>
        </p:txBody>
      </p:sp>
      <p:sp>
        <p:nvSpPr>
          <p:cNvPr id="14" name="Shape 12"/>
          <p:cNvSpPr/>
          <p:nvPr/>
        </p:nvSpPr>
        <p:spPr>
          <a:xfrm>
            <a:off x="7223577" y="1243584"/>
            <a:ext cx="2228027" cy="566928"/>
          </a:xfrm>
          <a:prstGeom prst="chevron">
            <a:avLst/>
          </a:prstGeom>
          <a:solidFill>
            <a:srgbClr val="043B72"/>
          </a:solidFill>
          <a:ln/>
        </p:spPr>
      </p:sp>
      <p:sp>
        <p:nvSpPr>
          <p:cNvPr id="15" name="Text 13"/>
          <p:cNvSpPr txBox="1"/>
          <p:nvPr/>
        </p:nvSpPr>
        <p:spPr>
          <a:xfrm>
            <a:off x="7497897" y="1298448"/>
            <a:ext cx="1752539" cy="237744"/>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Phase 3</a:t>
            </a:r>
            <a:endParaRPr lang="en-US" sz="1150" dirty="0"/>
          </a:p>
        </p:txBody>
      </p:sp>
      <p:sp>
        <p:nvSpPr>
          <p:cNvPr id="16" name="Text 14"/>
          <p:cNvSpPr txBox="1"/>
          <p:nvPr/>
        </p:nvSpPr>
        <p:spPr>
          <a:xfrm>
            <a:off x="7497897" y="1527048"/>
            <a:ext cx="1752539" cy="219456"/>
          </a:xfrm>
          <a:prstGeom prst="rect">
            <a:avLst/>
          </a:prstGeom>
          <a:noFill/>
          <a:ln/>
        </p:spPr>
        <p:txBody>
          <a:bodyPr wrap="square" lIns="0" tIns="0" rIns="0" bIns="0" rtlCol="0" anchor="ctr"/>
          <a:lstStyle/>
          <a:p>
            <a:pPr algn="ctr" indent="0" marL="0">
              <a:buNone/>
            </a:pPr>
            <a:r>
              <a:rPr lang="en-US" sz="900" dirty="0">
                <a:solidFill>
                  <a:srgbClr val="FFFFFF"/>
                </a:solidFill>
                <a:latin typeface="Spoqa Han Sans Neo" pitchFamily="34" charset="0"/>
                <a:ea typeface="Spoqa Han Sans Neo" pitchFamily="34" charset="-122"/>
                <a:cs typeface="Spoqa Han Sans Neo" pitchFamily="34" charset="-120"/>
              </a:rPr>
              <a:t>2031~2034</a:t>
            </a:r>
            <a:endParaRPr lang="en-US" sz="900" dirty="0"/>
          </a:p>
        </p:txBody>
      </p:sp>
      <p:sp>
        <p:nvSpPr>
          <p:cNvPr id="17" name="Shape 15"/>
          <p:cNvSpPr/>
          <p:nvPr/>
        </p:nvSpPr>
        <p:spPr>
          <a:xfrm>
            <a:off x="9479036" y="1243584"/>
            <a:ext cx="2228027" cy="566928"/>
          </a:xfrm>
          <a:prstGeom prst="chevron">
            <a:avLst/>
          </a:prstGeom>
          <a:solidFill>
            <a:srgbClr val="0086B8"/>
          </a:solidFill>
          <a:ln/>
        </p:spPr>
      </p:sp>
      <p:sp>
        <p:nvSpPr>
          <p:cNvPr id="18" name="Text 16"/>
          <p:cNvSpPr txBox="1"/>
          <p:nvPr/>
        </p:nvSpPr>
        <p:spPr>
          <a:xfrm>
            <a:off x="9753356" y="1298448"/>
            <a:ext cx="1752539" cy="237744"/>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Phase 4</a:t>
            </a:r>
            <a:endParaRPr lang="en-US" sz="1150" dirty="0"/>
          </a:p>
        </p:txBody>
      </p:sp>
      <p:sp>
        <p:nvSpPr>
          <p:cNvPr id="19" name="Text 17"/>
          <p:cNvSpPr txBox="1"/>
          <p:nvPr/>
        </p:nvSpPr>
        <p:spPr>
          <a:xfrm>
            <a:off x="9753356" y="1527048"/>
            <a:ext cx="1752539" cy="219456"/>
          </a:xfrm>
          <a:prstGeom prst="rect">
            <a:avLst/>
          </a:prstGeom>
          <a:noFill/>
          <a:ln/>
        </p:spPr>
        <p:txBody>
          <a:bodyPr wrap="square" lIns="0" tIns="0" rIns="0" bIns="0" rtlCol="0" anchor="ctr"/>
          <a:lstStyle/>
          <a:p>
            <a:pPr algn="ctr" indent="0" marL="0">
              <a:buNone/>
            </a:pPr>
            <a:r>
              <a:rPr lang="en-US" sz="900" dirty="0">
                <a:solidFill>
                  <a:srgbClr val="FFFFFF"/>
                </a:solidFill>
                <a:latin typeface="Spoqa Han Sans Neo" pitchFamily="34" charset="0"/>
                <a:ea typeface="Spoqa Han Sans Neo" pitchFamily="34" charset="-122"/>
                <a:cs typeface="Spoqa Han Sans Neo" pitchFamily="34" charset="-120"/>
              </a:rPr>
              <a:t>2034~</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956816"/>
          <a:ext cx="11277295" cy="914400"/>
        </p:xfrm>
        <a:graphic>
          <a:graphicData uri="http://schemas.openxmlformats.org/drawingml/2006/table">
            <a:tbl>
              <a:tblPr/>
              <a:tblGrid>
                <a:gridCol w="777240"/>
                <a:gridCol w="2240280"/>
                <a:gridCol w="1234440"/>
                <a:gridCol w="822960"/>
                <a:gridCol w="1051560"/>
                <a:gridCol w="5150815"/>
              </a:tblGrid>
              <a:tr h="658368">
                <a:tc>
                  <a:txBody>
                    <a:bodyPr/>
                    <a:lstStyle/>
                    <a:p>
                      <a:pPr algn="l" indent="0" marL="0">
                        <a:buNone/>
                      </a:pPr>
                      <a:r>
                        <a:rPr lang="en-US" sz="900" b="1" dirty="0">
                          <a:solidFill>
                            <a:srgbClr val="1A1A1A"/>
                          </a:solidFill>
                          <a:latin typeface="Spoqa Han Sans Neo" pitchFamily="34" charset="0"/>
                          <a:ea typeface="Spoqa Han Sans Neo" pitchFamily="34" charset="-122"/>
                          <a:cs typeface="Spoqa Han Sans Neo" pitchFamily="34" charset="-120"/>
                        </a:rPr>
                        <a:t>단계</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주요 이벤트</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월 유입</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월 필요</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판정</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실행 조치</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658368">
                <a:tc>
                  <a:txBody>
                    <a:bodyPr/>
                    <a:lstStyle/>
                    <a:p>
                      <a:pPr indent="0" marL="0">
                        <a:buNone/>
                      </a:pPr>
                      <a:r>
                        <a:rPr lang="en-US" sz="850" b="1" dirty="0">
                          <a:solidFill>
                            <a:srgbClr val="F58220"/>
                          </a:solidFill>
                          <a:latin typeface="Spoqa Han Sans Neo" pitchFamily="34" charset="0"/>
                          <a:ea typeface="Spoqa Han Sans Neo" pitchFamily="34" charset="-122"/>
                          <a:cs typeface="Spoqa Han Sans Neo" pitchFamily="34" charset="-120"/>
                        </a:rPr>
                        <a:t>Phase 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본인 재직 · 배우자 은퇴(2028)</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근로소득</a:t>
                      </a:r>
                      <a:endParaRPr lang="en-US" sz="800" dirty="0">
                        <a:latin typeface="Spoqa Han Sans Neo" charset="0"/>
                        <a:ea typeface="Spoqa Han Sans Neo" charset="0"/>
                        <a:cs typeface="Spoqa Han Sans Neo" charset="0"/>
                      </a:endParaRPr>
                    </a:p>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+ 280 (2028~)</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50" dirty="0">
                          <a:solidFill>
                            <a:srgbClr val="3D3D3D"/>
                          </a:solidFill>
                          <a:latin typeface="Spoqa Han Sans Neo" pitchFamily="34" charset="0"/>
                          <a:ea typeface="Spoqa Han Sans Neo" pitchFamily="34" charset="-122"/>
                          <a:cs typeface="Spoqa Han Sans Neo" pitchFamily="34" charset="-120"/>
                        </a:rPr>
                        <a:t>750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50" dirty="0">
                          <a:solidFill>
                            <a:srgbClr val="2E8540"/>
                          </a:solidFill>
                          <a:latin typeface="Spoqa Han Sans Neo" pitchFamily="34" charset="0"/>
                          <a:ea typeface="Spoqa Han Sans Neo" pitchFamily="34" charset="-122"/>
                          <a:cs typeface="Spoqa Han Sans Neo" pitchFamily="34" charset="-120"/>
                        </a:rPr>
                        <a:t>근로소득 충당</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DC 6.40억 계좌 내 운용 전환 · 증권현금 2.00억 · 배우자 4.00억 인컴 편입. 발생 인컴은 전액 재투자</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658368">
                <a:tc>
                  <a:txBody>
                    <a:bodyPr/>
                    <a:lstStyle/>
                    <a:p>
                      <a:pPr indent="0" marL="0">
                        <a:buNone/>
                      </a:pPr>
                      <a:r>
                        <a:rPr lang="en-US" sz="850" b="1" dirty="0">
                          <a:solidFill>
                            <a:srgbClr val="CB6015"/>
                          </a:solidFill>
                          <a:latin typeface="Spoqa Han Sans Neo" pitchFamily="34" charset="0"/>
                          <a:ea typeface="Spoqa Han Sans Neo" pitchFamily="34" charset="-122"/>
                          <a:cs typeface="Spoqa Han Sans Neo" pitchFamily="34" charset="-120"/>
                        </a:rPr>
                        <a:t>Phase 1</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본인 은퇴(만 60) · DC→IRP 이전</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280 + 인컴 474</a:t>
                      </a:r>
                      <a:endParaRPr lang="en-US" sz="800" dirty="0">
                        <a:latin typeface="Spoqa Han Sans Neo" charset="0"/>
                        <a:ea typeface="Spoqa Han Sans Neo" charset="0"/>
                        <a:cs typeface="Spoqa Han Sans Neo" charset="0"/>
                      </a:endParaRPr>
                    </a:p>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 754</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50" dirty="0">
                          <a:solidFill>
                            <a:srgbClr val="3D3D3D"/>
                          </a:solidFill>
                          <a:latin typeface="Spoqa Han Sans Neo" pitchFamily="34" charset="0"/>
                          <a:ea typeface="Spoqa Han Sans Neo" pitchFamily="34" charset="-122"/>
                          <a:cs typeface="Spoqa Han Sans Neo" pitchFamily="34" charset="-120"/>
                        </a:rPr>
                        <a:t>750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50" b="1" dirty="0">
                          <a:solidFill>
                            <a:srgbClr val="2E8540"/>
                          </a:solidFill>
                          <a:latin typeface="Spoqa Han Sans Neo" pitchFamily="34" charset="0"/>
                          <a:ea typeface="Spoqa Han Sans Neo" pitchFamily="34" charset="-122"/>
                          <a:cs typeface="Spoqa Han Sans Neo" pitchFamily="34" charset="-120"/>
                        </a:rPr>
                        <a:t>여유 4</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DC+IRP 7.28억 통합. 실측 분배율 기준 인컴만으로 필요액을 충족 → 연금계좌 인출 없이 과세이연 유지</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658368">
                <a:tc>
                  <a:txBody>
                    <a:bodyPr/>
                    <a:lstStyle/>
                    <a:p>
                      <a:pPr indent="0" marL="0">
                        <a:buNone/>
                      </a:pPr>
                      <a:r>
                        <a:rPr lang="en-US" sz="850" b="1" dirty="0">
                          <a:solidFill>
                            <a:srgbClr val="84888B"/>
                          </a:solidFill>
                          <a:latin typeface="Spoqa Han Sans Neo" pitchFamily="34" charset="0"/>
                          <a:ea typeface="Spoqa Han Sans Neo" pitchFamily="34" charset="-122"/>
                          <a:cs typeface="Spoqa Han Sans Neo" pitchFamily="34" charset="-120"/>
                        </a:rPr>
                        <a:t>Phase 2</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은행예금 만기 · 자녀 결혼</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만기 원리금</a:t>
                      </a:r>
                      <a:endParaRPr lang="en-US" sz="800" dirty="0">
                        <a:latin typeface="Spoqa Han Sans Neo" charset="0"/>
                        <a:ea typeface="Spoqa Han Sans Neo" charset="0"/>
                        <a:cs typeface="Spoqa Han Sans Neo" charset="0"/>
                      </a:endParaRPr>
                    </a:p>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4.48억 유입</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3.00억</a:t>
                      </a:r>
                      <a:endParaRPr lang="en-US" sz="800" dirty="0">
                        <a:latin typeface="Spoqa Han Sans Neo" charset="0"/>
                        <a:ea typeface="Spoqa Han Sans Neo" charset="0"/>
                        <a:cs typeface="Spoqa Han Sans Neo" charset="0"/>
                      </a:endParaRPr>
                    </a:p>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일시 지출</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50" dirty="0">
                          <a:solidFill>
                            <a:srgbClr val="043B72"/>
                          </a:solidFill>
                          <a:latin typeface="Spoqa Han Sans Neo" pitchFamily="34" charset="0"/>
                          <a:ea typeface="Spoqa Han Sans Neo" pitchFamily="34" charset="-122"/>
                          <a:cs typeface="Spoqa Han Sans Neo" pitchFamily="34" charset="-120"/>
                        </a:rPr>
                        <a:t>목적자금 집행</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결혼자금 3.00억 지급 후 잔여 1.48억을 인컴 포트폴리오로 재투자 → 월 인컴 +102만원</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658368">
                <a:tc>
                  <a:txBody>
                    <a:bodyPr/>
                    <a:lstStyle/>
                    <a:p>
                      <a:pPr indent="0" marL="0">
                        <a:buNone/>
                      </a:pPr>
                      <a:r>
                        <a:rPr lang="en-US" sz="850" b="1" dirty="0">
                          <a:solidFill>
                            <a:srgbClr val="043B72"/>
                          </a:solidFill>
                          <a:latin typeface="Spoqa Han Sans Neo" pitchFamily="34" charset="0"/>
                          <a:ea typeface="Spoqa Han Sans Neo" pitchFamily="34" charset="-122"/>
                          <a:cs typeface="Spoqa Han Sans Neo" pitchFamily="34" charset="-120"/>
                        </a:rPr>
                        <a:t>Phase 3</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인컴 자립기 (국민연금 개시 전)</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280 + 인컴 577</a:t>
                      </a:r>
                      <a:endParaRPr lang="en-US" sz="800" dirty="0">
                        <a:latin typeface="Spoqa Han Sans Neo" charset="0"/>
                        <a:ea typeface="Spoqa Han Sans Neo" charset="0"/>
                        <a:cs typeface="Spoqa Han Sans Neo" charset="0"/>
                      </a:endParaRPr>
                    </a:p>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 857</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50" dirty="0">
                          <a:solidFill>
                            <a:srgbClr val="3D3D3D"/>
                          </a:solidFill>
                          <a:latin typeface="Spoqa Han Sans Neo" pitchFamily="34" charset="0"/>
                          <a:ea typeface="Spoqa Han Sans Neo" pitchFamily="34" charset="-122"/>
                          <a:cs typeface="Spoqa Han Sans Neo" pitchFamily="34" charset="-120"/>
                        </a:rPr>
                        <a:t>750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50" b="1" dirty="0">
                          <a:solidFill>
                            <a:srgbClr val="2E8540"/>
                          </a:solidFill>
                          <a:latin typeface="Spoqa Han Sans Neo" pitchFamily="34" charset="0"/>
                          <a:ea typeface="Spoqa Han Sans Neo" pitchFamily="34" charset="-122"/>
                          <a:cs typeface="Spoqa Han Sans Neo" pitchFamily="34" charset="-120"/>
                        </a:rPr>
                        <a:t>여유 107</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예금이 5% 확정에서 인컴 포트폴리오로 넘어와 전체 기대수익률이 6.82% → 7.23%로 상승</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658368">
                <a:tc>
                  <a:txBody>
                    <a:bodyPr/>
                    <a:lstStyle/>
                    <a:p>
                      <a:pPr indent="0" marL="0">
                        <a:buNone/>
                      </a:pPr>
                      <a:r>
                        <a:rPr lang="en-US" sz="850" b="1" dirty="0">
                          <a:solidFill>
                            <a:srgbClr val="0086B8"/>
                          </a:solidFill>
                          <a:latin typeface="Spoqa Han Sans Neo" pitchFamily="34" charset="0"/>
                          <a:ea typeface="Spoqa Han Sans Neo" pitchFamily="34" charset="-122"/>
                          <a:cs typeface="Spoqa Han Sans Neo" pitchFamily="34" charset="-120"/>
                        </a:rPr>
                        <a:t>Phase 4</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본인 국민연금 개시(만 65)</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530 + 인컴 577</a:t>
                      </a:r>
                      <a:endParaRPr lang="en-US" sz="800" dirty="0">
                        <a:latin typeface="Spoqa Han Sans Neo" charset="0"/>
                        <a:ea typeface="Spoqa Han Sans Neo" charset="0"/>
                        <a:cs typeface="Spoqa Han Sans Neo" charset="0"/>
                      </a:endParaRPr>
                    </a:p>
                    <a:p>
                      <a:pPr algn="ctr" indent="0" marL="0">
                        <a:buNone/>
                      </a:pPr>
                      <a:r>
                        <a:rPr lang="en-US" sz="800" dirty="0">
                          <a:solidFill>
                            <a:srgbClr val="3D3D3D"/>
                          </a:solidFill>
                          <a:latin typeface="Spoqa Han Sans Neo" pitchFamily="34" charset="0"/>
                          <a:ea typeface="Spoqa Han Sans Neo" pitchFamily="34" charset="-122"/>
                          <a:cs typeface="Spoqa Han Sans Neo" pitchFamily="34" charset="-120"/>
                        </a:rPr>
                        <a:t>= 1107</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50" dirty="0">
                          <a:solidFill>
                            <a:srgbClr val="3D3D3D"/>
                          </a:solidFill>
                          <a:latin typeface="Spoqa Han Sans Neo" pitchFamily="34" charset="0"/>
                          <a:ea typeface="Spoqa Han Sans Neo" pitchFamily="34" charset="-122"/>
                          <a:cs typeface="Spoqa Han Sans Neo" pitchFamily="34" charset="-120"/>
                        </a:rPr>
                        <a:t>750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850" b="1" dirty="0">
                          <a:solidFill>
                            <a:srgbClr val="2E8540"/>
                          </a:solidFill>
                          <a:latin typeface="Spoqa Han Sans Neo" pitchFamily="34" charset="0"/>
                          <a:ea typeface="Spoqa Han Sans Neo" pitchFamily="34" charset="-122"/>
                          <a:cs typeface="Spoqa Han Sans Neo" pitchFamily="34" charset="-120"/>
                        </a:rPr>
                        <a:t>여유 357</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잉여 357만원으로 의료·장기요양 준비금 별도 적립. 인플레이션 대응 인출률 상향 여력 확보</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bl>
          </a:graphicData>
        </a:graphic>
      </p:graphicFrame>
      <p:sp>
        <p:nvSpPr>
          <p:cNvPr id="21" name="Text 18"/>
          <p:cNvSpPr txBox="1"/>
          <p:nvPr/>
        </p:nvSpPr>
        <p:spPr>
          <a:xfrm>
            <a:off x="457200" y="6355080"/>
            <a:ext cx="11277295" cy="365760"/>
          </a:xfrm>
          <a:prstGeom prst="rect">
            <a:avLst/>
          </a:prstGeom>
          <a:noFill/>
          <a:ln/>
        </p:spPr>
        <p:txBody>
          <a:bodyPr wrap="square" lIns="0" tIns="0" rIns="0" bIns="0" rtlCol="0" anchor="t"/>
          <a:lstStyle/>
          <a:p>
            <a:pPr indent="0" marL="0">
              <a:lnSpc>
                <a:spcPts val="1100"/>
              </a:lnSpc>
              <a:buNone/>
            </a:pPr>
            <a:r>
              <a:rPr lang="en-US" sz="750" dirty="0">
                <a:solidFill>
                  <a:srgbClr val="84888B"/>
                </a:solidFill>
                <a:latin typeface="Spoqa Han Sans Neo" pitchFamily="34" charset="0"/>
                <a:ea typeface="Spoqa Han Sans Neo" pitchFamily="34" charset="-122"/>
                <a:cs typeface="Spoqa Han Sans Neo" pitchFamily="34" charset="-120"/>
              </a:rPr>
              <a:t>단위: 만원/월(별도 표기 제외). 본인 은퇴시점은 2026.09 기준 잔여 2년 10개월을 적용해 2029년 7월로 산정. 은행예금 만기는 자녀 결혼 시점(5년 후)과 일치한다는 고객 진술에 따라 2031년으로 가정했으며, 만기 원리금 4.48억은 단리·이자소득세 15.4% 차감 기준입니다. 월 인컴은 실측 분배율 기준 추정치이며, 만기를 2031년에 맞춘 만기매칭형 채권 ETF는 위 데이터셋(1167종)에서 확인되지 않았습니다(최장 2028-12).</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384048"/>
            <a:ext cx="11277295" cy="10973"/>
          </a:xfrm>
          <a:prstGeom prst="rect">
            <a:avLst/>
          </a:prstGeom>
          <a:solidFill>
            <a:srgbClr val="F58220"/>
          </a:solidFill>
          <a:ln/>
        </p:spPr>
      </p:sp>
      <p:sp>
        <p:nvSpPr>
          <p:cNvPr id="3" name="Text 1"/>
          <p:cNvSpPr txBox="1"/>
          <p:nvPr/>
        </p:nvSpPr>
        <p:spPr>
          <a:xfrm>
            <a:off x="457200" y="457200"/>
            <a:ext cx="11277295" cy="384048"/>
          </a:xfrm>
          <a:prstGeom prst="rect">
            <a:avLst/>
          </a:prstGeom>
          <a:noFill/>
          <a:ln/>
        </p:spPr>
        <p:txBody>
          <a:bodyPr wrap="square" lIns="0" tIns="0" rIns="0" bIns="0" rtlCol="0" anchor="t"/>
          <a:lstStyle/>
          <a:p>
            <a:pPr indent="0" marL="0">
              <a:buNone/>
            </a:pPr>
            <a:r>
              <a:rPr lang="en-US" sz="2300" b="1" dirty="0">
                <a:solidFill>
                  <a:srgbClr val="1A1A1A"/>
                </a:solidFill>
                <a:latin typeface="Spoqa Han Sans Neo" pitchFamily="34" charset="0"/>
                <a:ea typeface="Spoqa Han Sans Neo" pitchFamily="34" charset="-122"/>
                <a:cs typeface="Spoqa Han Sans Neo" pitchFamily="34" charset="-120"/>
              </a:rPr>
              <a:t>자산배분 — 목표 연 7.0%와 설계안 6.82%</a:t>
            </a:r>
            <a:endParaRPr lang="en-US" sz="2300" dirty="0"/>
          </a:p>
        </p:txBody>
      </p:sp>
      <p:sp>
        <p:nvSpPr>
          <p:cNvPr id="4" name="Text 2"/>
          <p:cNvSpPr txBox="1"/>
          <p:nvPr/>
        </p:nvSpPr>
        <p:spPr>
          <a:xfrm>
            <a:off x="457200" y="868680"/>
            <a:ext cx="11277295" cy="237744"/>
          </a:xfrm>
          <a:prstGeom prst="rect">
            <a:avLst/>
          </a:prstGeom>
          <a:noFill/>
          <a:ln/>
        </p:spPr>
        <p:txBody>
          <a:bodyPr wrap="square" lIns="0" tIns="0" rIns="0" bIns="0" rtlCol="0" anchor="t"/>
          <a:lstStyle/>
          <a:p>
            <a:pPr indent="0" marL="0">
              <a:buNone/>
            </a:pPr>
            <a:r>
              <a:rPr lang="en-US" sz="1100" dirty="0">
                <a:solidFill>
                  <a:srgbClr val="6C6C6C"/>
                </a:solidFill>
                <a:latin typeface="Spoqa Han Sans Neo" pitchFamily="34" charset="0"/>
                <a:ea typeface="Spoqa Han Sans Neo" pitchFamily="34" charset="-122"/>
                <a:cs typeface="Spoqa Han Sans Neo" pitchFamily="34" charset="-120"/>
              </a:rPr>
              <a:t>신규 주식 편입 없이, 이자·배당·옵션프리미엄으로 수익원을 구성</a:t>
            </a:r>
            <a:endParaRPr lang="en-US" sz="1100" dirty="0"/>
          </a:p>
        </p:txBody>
      </p:sp>
      <p:graphicFrame>
        <p:nvGraphicFramePr>
          <p:cNvPr id="5" name="Chart 0" descr=""/>
          <p:cNvGraphicFramePr/>
          <p:nvPr/>
        </p:nvGraphicFramePr>
        <p:xfrm>
          <a:off x="457200" y="1234440"/>
          <a:ext cx="557784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422392" cy="914400"/>
        </p:xfrm>
        <a:graphic>
          <a:graphicData uri="http://schemas.openxmlformats.org/drawingml/2006/table">
            <a:tbl>
              <a:tblPr/>
              <a:tblGrid>
                <a:gridCol w="2404872"/>
                <a:gridCol w="914400"/>
                <a:gridCol w="1051560"/>
                <a:gridCol w="1051560"/>
              </a:tblGrid>
              <a:tr h="329184">
                <a:tc>
                  <a:txBody>
                    <a:bodyPr/>
                    <a:lstStyle/>
                    <a:p>
                      <a:pPr algn="l" indent="0" marL="0">
                        <a:buNone/>
                      </a:pPr>
                      <a:r>
                        <a:rPr lang="en-US" sz="900" b="1" dirty="0">
                          <a:solidFill>
                            <a:srgbClr val="1A1A1A"/>
                          </a:solidFill>
                          <a:latin typeface="Spoqa Han Sans Neo" pitchFamily="34" charset="0"/>
                          <a:ea typeface="Spoqa Han Sans Neo" pitchFamily="34" charset="-122"/>
                          <a:cs typeface="Spoqa Han Sans Neo" pitchFamily="34" charset="-120"/>
                        </a:rPr>
                        <a:t>자산 블록</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금액(억)</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기대수익률</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900" b="1" dirty="0">
                          <a:solidFill>
                            <a:srgbClr val="1A1A1A"/>
                          </a:solidFill>
                          <a:latin typeface="Spoqa Han Sans Neo" pitchFamily="34" charset="0"/>
                          <a:ea typeface="Spoqa Han Sans Neo" pitchFamily="34" charset="-122"/>
                          <a:cs typeface="Spoqa Han Sans Neo" pitchFamily="34" charset="-120"/>
                        </a:rPr>
                        <a:t>연 수익(억)</a:t>
                      </a:r>
                      <a:endParaRPr lang="en-US" sz="9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329184">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은행 정기예금 — 확정금리</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3.70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5.00%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0.185</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329184">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기존 보유주식 — 유지, 가정</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2.40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8.00%</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dirty="0">
                          <a:solidFill>
                            <a:srgbClr val="3D3D3D"/>
                          </a:solidFill>
                          <a:latin typeface="Spoqa Han Sans Neo" pitchFamily="34" charset="0"/>
                          <a:ea typeface="Spoqa Han Sans Neo" pitchFamily="34" charset="-122"/>
                          <a:cs typeface="Spoqa Han Sans Neo" pitchFamily="34" charset="-120"/>
                        </a:rPr>
                        <a:t>0.192</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329184">
                <a:tc>
                  <a:txBody>
                    <a:bodyPr/>
                    <a:lstStyle/>
                    <a:p>
                      <a:pPr indent="0" marL="0">
                        <a:buNone/>
                      </a:pPr>
                      <a:r>
                        <a:rPr lang="en-US" sz="850" dirty="0">
                          <a:solidFill>
                            <a:srgbClr val="3D3D3D"/>
                          </a:solidFill>
                          <a:latin typeface="Spoqa Han Sans Neo" pitchFamily="34" charset="0"/>
                          <a:ea typeface="Spoqa Han Sans Neo" pitchFamily="34" charset="-122"/>
                          <a:cs typeface="Spoqa Han Sans Neo" pitchFamily="34" charset="-120"/>
                        </a:rPr>
                        <a:t>신규 인컴 포트폴리오</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b="1" dirty="0">
                          <a:solidFill>
                            <a:srgbClr val="3D3D3D"/>
                          </a:solidFill>
                          <a:latin typeface="Spoqa Han Sans Neo" pitchFamily="34" charset="0"/>
                          <a:ea typeface="Spoqa Han Sans Neo" pitchFamily="34" charset="-122"/>
                          <a:cs typeface="Spoqa Han Sans Neo" pitchFamily="34" charset="-120"/>
                        </a:rPr>
                        <a:t>13.28</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b="1" dirty="0">
                          <a:solidFill>
                            <a:srgbClr val="3D3D3D"/>
                          </a:solidFill>
                          <a:latin typeface="Spoqa Han Sans Neo" pitchFamily="34" charset="0"/>
                          <a:ea typeface="Spoqa Han Sans Neo" pitchFamily="34" charset="-122"/>
                          <a:cs typeface="Spoqa Han Sans Neo" pitchFamily="34" charset="-120"/>
                        </a:rPr>
                        <a:t>7.11%</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850" b="1" dirty="0">
                          <a:solidFill>
                            <a:srgbClr val="3D3D3D"/>
                          </a:solidFill>
                          <a:latin typeface="Spoqa Han Sans Neo" pitchFamily="34" charset="0"/>
                          <a:ea typeface="Spoqa Han Sans Neo" pitchFamily="34" charset="-122"/>
                          <a:cs typeface="Spoqa Han Sans Neo" pitchFamily="34" charset="-120"/>
                        </a:rPr>
                        <a:t>0.944</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329184">
                <a:tc>
                  <a:txBody>
                    <a:bodyPr/>
                    <a:lstStyle/>
                    <a:p>
                      <a:pPr indent="0" marL="0">
                        <a:buNone/>
                      </a:pPr>
                      <a:r>
                        <a:rPr lang="en-US" sz="850" b="1" dirty="0">
                          <a:solidFill>
                            <a:srgbClr val="1A1A1A"/>
                          </a:solidFill>
                          <a:latin typeface="Spoqa Han Sans Neo" pitchFamily="34" charset="0"/>
                          <a:ea typeface="Spoqa Han Sans Neo" pitchFamily="34" charset="-122"/>
                          <a:cs typeface="Spoqa Han Sans Neo" pitchFamily="34" charset="-120"/>
                        </a:rPr>
                        <a:t>가구 전체</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r" indent="0" marL="0">
                        <a:buNone/>
                      </a:pPr>
                      <a:r>
                        <a:rPr lang="en-US" sz="850" b="1" dirty="0">
                          <a:solidFill>
                            <a:srgbClr val="1A1A1A"/>
                          </a:solidFill>
                          <a:latin typeface="Spoqa Han Sans Neo" pitchFamily="34" charset="0"/>
                          <a:ea typeface="Spoqa Han Sans Neo" pitchFamily="34" charset="-122"/>
                          <a:cs typeface="Spoqa Han Sans Neo" pitchFamily="34" charset="-120"/>
                        </a:rPr>
                        <a:t>19.38</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r" indent="0" marL="0">
                        <a:buNone/>
                      </a:pPr>
                      <a:r>
                        <a:rPr lang="en-US" sz="850" b="1" dirty="0">
                          <a:solidFill>
                            <a:srgbClr val="CB6015"/>
                          </a:solidFill>
                          <a:latin typeface="Spoqa Han Sans Neo" pitchFamily="34" charset="0"/>
                          <a:ea typeface="Spoqa Han Sans Neo" pitchFamily="34" charset="-122"/>
                          <a:cs typeface="Spoqa Han Sans Neo" pitchFamily="34" charset="-120"/>
                        </a:rPr>
                        <a:t>6.82%</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r" indent="0" marL="0">
                        <a:buNone/>
                      </a:pPr>
                      <a:r>
                        <a:rPr lang="en-US" sz="850" b="1" dirty="0">
                          <a:solidFill>
                            <a:srgbClr val="1A1A1A"/>
                          </a:solidFill>
                          <a:latin typeface="Spoqa Han Sans Neo" pitchFamily="34" charset="0"/>
                          <a:ea typeface="Spoqa Han Sans Neo" pitchFamily="34" charset="-122"/>
                          <a:cs typeface="Spoqa Han Sans Neo" pitchFamily="34" charset="-120"/>
                        </a:rPr>
                        <a:t>1.321</a:t>
                      </a: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bl>
          </a:graphicData>
        </a:graphic>
      </p:graphicFrame>
      <p:sp>
        <p:nvSpPr>
          <p:cNvPr id="7" name="Text 3"/>
          <p:cNvSpPr txBox="1"/>
          <p:nvPr/>
        </p:nvSpPr>
        <p:spPr>
          <a:xfrm>
            <a:off x="6309360" y="3182112"/>
            <a:ext cx="5422392" cy="621792"/>
          </a:xfrm>
          <a:prstGeom prst="rect">
            <a:avLst/>
          </a:prstGeom>
          <a:solidFill>
            <a:srgbClr val="F58220"/>
          </a:solidFill>
          <a:ln/>
        </p:spPr>
        <p:txBody>
          <a:bodyPr wrap="square" lIns="0" tIns="0" rIns="0" bIns="0" rtlCol="0" anchor="ctr"/>
          <a:lstStyle/>
          <a:p>
            <a:pPr algn="ctr" indent="0" marL="0">
              <a:lnSpc>
                <a:spcPts val="1500"/>
              </a:lnSpc>
              <a:buNone/>
            </a:pPr>
            <a:r>
              <a:rPr lang="en-US" sz="1200" b="1" dirty="0">
                <a:solidFill>
                  <a:srgbClr val="FFFFFF"/>
                </a:solidFill>
                <a:latin typeface="Spoqa Han Sans Neo" pitchFamily="34" charset="0"/>
                <a:ea typeface="Spoqa Han Sans Neo" pitchFamily="34" charset="-122"/>
                <a:cs typeface="Spoqa Han Sans Neo" pitchFamily="34" charset="-120"/>
              </a:rPr>
              <a:t>현 시점 6.82% (목표 -0.18%p)</a:t>
            </a:r>
            <a:endParaRPr lang="en-US" sz="1200" dirty="0"/>
          </a:p>
          <a:p>
            <a:pPr algn="ctr" indent="0" marL="0">
              <a:lnSpc>
                <a:spcPts val="1500"/>
              </a:lnSpc>
              <a:buNone/>
            </a:pPr>
            <a:r>
              <a:rPr lang="en-US" sz="1100" dirty="0">
                <a:solidFill>
                  <a:srgbClr val="FFFFFF"/>
                </a:solidFill>
                <a:latin typeface="Spoqa Han Sans Neo" pitchFamily="34" charset="0"/>
                <a:ea typeface="Spoqa Han Sans Neo" pitchFamily="34" charset="-122"/>
                <a:cs typeface="Spoqa Han Sans Neo" pitchFamily="34" charset="-120"/>
              </a:rPr>
              <a:t>2031년 예금 만기 후 7.23% (목표 +0.23%p) — 목표 초과</a:t>
            </a:r>
            <a:endParaRPr lang="en-US" sz="1200" dirty="0"/>
          </a:p>
        </p:txBody>
      </p:sp>
      <p:sp>
        <p:nvSpPr>
          <p:cNvPr id="8" name="Shape 4"/>
          <p:cNvSpPr/>
          <p:nvPr/>
        </p:nvSpPr>
        <p:spPr>
          <a:xfrm>
            <a:off x="6309360" y="3950208"/>
            <a:ext cx="5422392" cy="1755648"/>
          </a:xfrm>
          <a:prstGeom prst="rect">
            <a:avLst/>
          </a:prstGeom>
          <a:solidFill>
            <a:srgbClr val="FFFFFF"/>
          </a:solidFill>
          <a:ln w="9525">
            <a:solidFill>
              <a:srgbClr val="CDCECB"/>
            </a:solidFill>
            <a:prstDash val="solid"/>
          </a:ln>
        </p:spPr>
      </p:sp>
      <p:sp>
        <p:nvSpPr>
          <p:cNvPr id="9" name="Text 5"/>
          <p:cNvSpPr txBox="1"/>
          <p:nvPr/>
        </p:nvSpPr>
        <p:spPr>
          <a:xfrm>
            <a:off x="6492240" y="4078224"/>
            <a:ext cx="5056632" cy="274320"/>
          </a:xfrm>
          <a:prstGeom prst="rect">
            <a:avLst/>
          </a:prstGeom>
          <a:noFill/>
          <a:ln/>
        </p:spPr>
        <p:txBody>
          <a:bodyPr wrap="square" lIns="0" tIns="0" rIns="0" bIns="0" rtlCol="0" anchor="t"/>
          <a:lstStyle/>
          <a:p>
            <a:pPr indent="0" marL="0">
              <a:buNone/>
            </a:pPr>
            <a:r>
              <a:rPr lang="en-US" sz="1200" b="1" dirty="0">
                <a:solidFill>
                  <a:srgbClr val="C62828"/>
                </a:solidFill>
                <a:latin typeface="Spoqa Han Sans Neo" pitchFamily="34" charset="0"/>
                <a:ea typeface="Spoqa Han Sans Neo" pitchFamily="34" charset="-122"/>
                <a:cs typeface="Spoqa Han Sans Neo" pitchFamily="34" charset="-120"/>
              </a:rPr>
              <a:t>목표까지 0.18%p 부족한 이유는 규제다</a:t>
            </a:r>
            <a:endParaRPr lang="en-US" sz="1200" dirty="0"/>
          </a:p>
        </p:txBody>
      </p:sp>
      <p:sp>
        <p:nvSpPr>
          <p:cNvPr id="10" name="Text 6"/>
          <p:cNvSpPr txBox="1"/>
          <p:nvPr/>
        </p:nvSpPr>
        <p:spPr>
          <a:xfrm>
            <a:off x="6492240" y="4407408"/>
            <a:ext cx="5056632" cy="1152144"/>
          </a:xfrm>
          <a:prstGeom prst="rect">
            <a:avLst/>
          </a:prstGeom>
          <a:noFill/>
          <a:ln/>
        </p:spPr>
        <p:txBody>
          <a:bodyPr wrap="square" lIns="0" tIns="0" rIns="0" bIns="0" rtlCol="0" anchor="t"/>
          <a:lstStyle/>
          <a:p>
            <a:pPr marL="342900" indent="-342900">
              <a:lnSpc>
                <a:spcPts val="1200"/>
              </a:lnSpc>
              <a:spcAft>
                <a:spcPts val="500"/>
              </a:spcAft>
              <a:buSzPct val="100000"/>
              <a:buChar char="•"/>
            </a:pPr>
            <a:r>
              <a:rPr lang="en-US" sz="850" dirty="0">
                <a:solidFill>
                  <a:srgbClr val="3D3D3D"/>
                </a:solidFill>
                <a:latin typeface="Spoqa Han Sans Neo" pitchFamily="34" charset="0"/>
                <a:ea typeface="Spoqa Han Sans Neo" pitchFamily="34" charset="-122"/>
                <a:cs typeface="Spoqa Han Sans Neo" pitchFamily="34" charset="-120"/>
              </a:rPr>
              <a:t>연금계좌 안전자산 의무 — 7.28억 중 2.2억(30.2%)이 기대 3.18%에 묶임. 위험자산 수준(7.9%) 적용 시 전체 +0.54%p</a:t>
            </a:r>
            <a:endParaRPr lang="en-US" sz="850" dirty="0"/>
          </a:p>
          <a:p>
            <a:pPr marL="342900" indent="-342900">
              <a:lnSpc>
                <a:spcPts val="1200"/>
              </a:lnSpc>
              <a:spcAft>
                <a:spcPts val="500"/>
              </a:spcAft>
              <a:buSzPct val="100000"/>
              <a:buChar char="•"/>
            </a:pPr>
            <a:r>
              <a:rPr lang="en-US" sz="850" dirty="0">
                <a:solidFill>
                  <a:srgbClr val="3D3D3D"/>
                </a:solidFill>
                <a:latin typeface="Spoqa Han Sans Neo" pitchFamily="34" charset="0"/>
                <a:ea typeface="Spoqa Han Sans Neo" pitchFamily="34" charset="-122"/>
                <a:cs typeface="Spoqa Han Sans Neo" pitchFamily="34" charset="-120"/>
              </a:rPr>
              <a:t>분배율 13%대 미국 장기국채 커버드콜은 1년 총수익이 마이너스여서 0.60억으로 축소 (다음 장)</a:t>
            </a:r>
            <a:endParaRPr lang="en-US" sz="850" dirty="0"/>
          </a:p>
          <a:p>
            <a:pPr marL="342900" indent="-342900">
              <a:lnSpc>
                <a:spcPts val="1200"/>
              </a:lnSpc>
              <a:spcAft>
                <a:spcPts val="500"/>
              </a:spcAft>
              <a:buSzPct val="100000"/>
              <a:buChar char="•"/>
            </a:pPr>
            <a:r>
              <a:rPr lang="en-US" sz="850" dirty="0">
                <a:solidFill>
                  <a:srgbClr val="3D3D3D"/>
                </a:solidFill>
                <a:latin typeface="Spoqa Han Sans Neo" pitchFamily="34" charset="0"/>
                <a:ea typeface="Spoqa Han Sans Neo" pitchFamily="34" charset="-122"/>
                <a:cs typeface="Spoqa Han Sans Neo" pitchFamily="34" charset="-120"/>
              </a:rPr>
              <a:t>직접 주식은 기존 보유 2.40억(12.4%)뿐, 신규 편입 0. 순수 채권·현금성 2.2억</a:t>
            </a:r>
            <a:endParaRPr lang="en-US" sz="850" dirty="0"/>
          </a:p>
        </p:txBody>
      </p:sp>
      <p:sp>
        <p:nvSpPr>
          <p:cNvPr id="11" name="Text 7"/>
          <p:cNvSpPr txBox="1"/>
          <p:nvPr/>
        </p:nvSpPr>
        <p:spPr>
          <a:xfrm>
            <a:off x="457200" y="5852160"/>
            <a:ext cx="11277295" cy="365760"/>
          </a:xfrm>
          <a:prstGeom prst="rect">
            <a:avLst/>
          </a:prstGeom>
          <a:noFill/>
          <a:ln/>
        </p:spPr>
        <p:txBody>
          <a:bodyPr wrap="square" lIns="0" tIns="0" rIns="0" bIns="0" rtlCol="0" anchor="t"/>
          <a:lstStyle/>
          <a:p>
            <a:pPr indent="0" marL="0">
              <a:lnSpc>
                <a:spcPts val="1100"/>
              </a:lnSpc>
              <a:buNone/>
            </a:pPr>
            <a:r>
              <a:rPr lang="en-US" sz="750" dirty="0">
                <a:solidFill>
                  <a:srgbClr val="84888B"/>
                </a:solidFill>
                <a:latin typeface="Spoqa Han Sans Neo" pitchFamily="34" charset="0"/>
                <a:ea typeface="Spoqa Han Sans Neo" pitchFamily="34" charset="-122"/>
                <a:cs typeface="Spoqa Han Sans Neo" pitchFamily="34" charset="-120"/>
              </a:rPr>
              <a:t>은행예금 5.00%는 확정금리(고객 제공)이며, 주식 8.00%와 신규 인컴 포트폴리오 7.11%는 제안자 설계 가정으로 수익을 보장하지 않습니다. 커버드콜·리츠 상품의 기초자산은 주식·부동산이며, 주가 상승 참여를 제한하는 대신 옵션프리미엄·임대수익을 현금으로 받는 구조입니다. 데이터셋의 자산구성 필드는 기초 ETF를 주식으로 분류하므로 룩스루 주식비중은 수치로 제시하지 않았습니다.</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384048"/>
            <a:ext cx="11277295" cy="10973"/>
          </a:xfrm>
          <a:prstGeom prst="rect">
            <a:avLst/>
          </a:prstGeom>
          <a:solidFill>
            <a:srgbClr val="F58220"/>
          </a:solidFill>
          <a:ln/>
        </p:spPr>
      </p:sp>
      <p:sp>
        <p:nvSpPr>
          <p:cNvPr id="3" name="Text 1"/>
          <p:cNvSpPr txBox="1"/>
          <p:nvPr/>
        </p:nvSpPr>
        <p:spPr>
          <a:xfrm>
            <a:off x="457200" y="457200"/>
            <a:ext cx="11277295" cy="384048"/>
          </a:xfrm>
          <a:prstGeom prst="rect">
            <a:avLst/>
          </a:prstGeom>
          <a:noFill/>
          <a:ln/>
        </p:spPr>
        <p:txBody>
          <a:bodyPr wrap="square" lIns="0" tIns="0" rIns="0" bIns="0" rtlCol="0" anchor="t"/>
          <a:lstStyle/>
          <a:p>
            <a:pPr indent="0" marL="0">
              <a:buNone/>
            </a:pPr>
            <a:r>
              <a:rPr lang="en-US" sz="2300" b="1" dirty="0">
                <a:solidFill>
                  <a:srgbClr val="1A1A1A"/>
                </a:solidFill>
                <a:latin typeface="Spoqa Han Sans Neo" pitchFamily="34" charset="0"/>
                <a:ea typeface="Spoqa Han Sans Neo" pitchFamily="34" charset="-122"/>
                <a:cs typeface="Spoqa Han Sans Neo" pitchFamily="34" charset="-120"/>
              </a:rPr>
              <a:t>계좌별 실행 상품 — 실측 데이터로 선별</a:t>
            </a:r>
            <a:endParaRPr lang="en-US" sz="2300" dirty="0"/>
          </a:p>
        </p:txBody>
      </p:sp>
      <p:sp>
        <p:nvSpPr>
          <p:cNvPr id="4" name="Text 2"/>
          <p:cNvSpPr txBox="1"/>
          <p:nvPr/>
        </p:nvSpPr>
        <p:spPr>
          <a:xfrm>
            <a:off x="457200" y="868680"/>
            <a:ext cx="11277295" cy="237744"/>
          </a:xfrm>
          <a:prstGeom prst="rect">
            <a:avLst/>
          </a:prstGeom>
          <a:noFill/>
          <a:ln/>
        </p:spPr>
        <p:txBody>
          <a:bodyPr wrap="square" lIns="0" tIns="0" rIns="0" bIns="0" rtlCol="0" anchor="t"/>
          <a:lstStyle/>
          <a:p>
            <a:pPr indent="0" marL="0">
              <a:buNone/>
            </a:pPr>
            <a:r>
              <a:rPr lang="en-US" sz="1100" dirty="0">
                <a:solidFill>
                  <a:srgbClr val="6C6C6C"/>
                </a:solidFill>
                <a:latin typeface="Spoqa Han Sans Neo" pitchFamily="34" charset="0"/>
                <a:ea typeface="Spoqa Han Sans Neo" pitchFamily="34" charset="-122"/>
                <a:cs typeface="Spoqa Han Sans Neo" pitchFamily="34" charset="-120"/>
              </a:rPr>
              <a:t>국내 상장 ETF 1167종의 분배율·총수익·보수·순자산을 비교해 선정 (수익률 기준일 2026-09-04)</a:t>
            </a:r>
            <a:endParaRPr lang="en-US" sz="1100" dirty="0"/>
          </a:p>
        </p:txBody>
      </p:sp>
      <p:sp>
        <p:nvSpPr>
          <p:cNvPr id="5" name="Shape 3"/>
          <p:cNvSpPr/>
          <p:nvPr/>
        </p:nvSpPr>
        <p:spPr>
          <a:xfrm>
            <a:off x="457200" y="1188720"/>
            <a:ext cx="3566160" cy="548640"/>
          </a:xfrm>
          <a:prstGeom prst="rect">
            <a:avLst/>
          </a:prstGeom>
          <a:solidFill>
            <a:srgbClr val="F58220"/>
          </a:solidFill>
          <a:ln/>
        </p:spPr>
      </p:sp>
      <p:sp>
        <p:nvSpPr>
          <p:cNvPr id="6" name="Text 4"/>
          <p:cNvSpPr txBox="1"/>
          <p:nvPr/>
        </p:nvSpPr>
        <p:spPr>
          <a:xfrm>
            <a:off x="603504" y="1225296"/>
            <a:ext cx="3273552" cy="246888"/>
          </a:xfrm>
          <a:prstGeom prst="rect">
            <a:avLst/>
          </a:prstGeom>
          <a:noFill/>
          <a:ln/>
        </p:spPr>
        <p:txBody>
          <a:bodyPr wrap="square" lIns="0" tIns="0" rIns="0" bIns="0" rtlCol="0" anchor="ctr"/>
          <a:lstStyle/>
          <a:p>
            <a:pP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트랙 A · 퇴직연금 DC → IRP</a:t>
            </a:r>
            <a:endParaRPr lang="en-US" sz="1050" dirty="0"/>
          </a:p>
        </p:txBody>
      </p:sp>
      <p:sp>
        <p:nvSpPr>
          <p:cNvPr id="7" name="Text 5"/>
          <p:cNvSpPr txBox="1"/>
          <p:nvPr/>
        </p:nvSpPr>
        <p:spPr>
          <a:xfrm>
            <a:off x="603504" y="1463040"/>
            <a:ext cx="3273552" cy="228600"/>
          </a:xfrm>
          <a:prstGeom prst="rect">
            <a:avLst/>
          </a:prstGeom>
          <a:noFill/>
          <a:ln/>
        </p:spPr>
        <p:txBody>
          <a:bodyPr wrap="square" lIns="0" tIns="0" rIns="0" bIns="0" rtlCol="0" anchor="ctr"/>
          <a:lstStyle/>
          <a:p>
            <a:pPr indent="0" marL="0">
              <a:buNone/>
            </a:pPr>
            <a:r>
              <a:rPr lang="en-US" sz="850" dirty="0">
                <a:solidFill>
                  <a:srgbClr val="FFFFFF"/>
                </a:solidFill>
                <a:latin typeface="Spoqa Han Sans Neo" pitchFamily="34" charset="0"/>
                <a:ea typeface="Spoqa Han Sans Neo" pitchFamily="34" charset="-122"/>
                <a:cs typeface="Spoqa Han Sans Neo" pitchFamily="34" charset="-120"/>
              </a:rPr>
              <a:t>7.28억 · 기대 연 6.47% · 안전자산 30.2%</a:t>
            </a:r>
            <a:endParaRPr lang="en-US" sz="850" dirty="0"/>
          </a:p>
        </p:txBody>
      </p:sp>
      <p:sp>
        <p:nvSpPr>
          <p:cNvPr id="8" name="Shape 6"/>
          <p:cNvSpPr/>
          <p:nvPr/>
        </p:nvSpPr>
        <p:spPr>
          <a:xfrm>
            <a:off x="4315968" y="1188720"/>
            <a:ext cx="3566160" cy="548640"/>
          </a:xfrm>
          <a:prstGeom prst="rect">
            <a:avLst/>
          </a:prstGeom>
          <a:solidFill>
            <a:srgbClr val="043B72"/>
          </a:solidFill>
          <a:ln/>
        </p:spPr>
      </p:sp>
      <p:sp>
        <p:nvSpPr>
          <p:cNvPr id="9" name="Text 7"/>
          <p:cNvSpPr txBox="1"/>
          <p:nvPr/>
        </p:nvSpPr>
        <p:spPr>
          <a:xfrm>
            <a:off x="4462272" y="1225296"/>
            <a:ext cx="3273552" cy="246888"/>
          </a:xfrm>
          <a:prstGeom prst="rect">
            <a:avLst/>
          </a:prstGeom>
          <a:noFill/>
          <a:ln/>
        </p:spPr>
        <p:txBody>
          <a:bodyPr wrap="square" lIns="0" tIns="0" rIns="0" bIns="0" rtlCol="0" anchor="ctr"/>
          <a:lstStyle/>
          <a:p>
            <a:pP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트랙 B · 증권 일반계좌</a:t>
            </a:r>
            <a:endParaRPr lang="en-US" sz="1050" dirty="0"/>
          </a:p>
        </p:txBody>
      </p:sp>
      <p:sp>
        <p:nvSpPr>
          <p:cNvPr id="10" name="Text 8"/>
          <p:cNvSpPr txBox="1"/>
          <p:nvPr/>
        </p:nvSpPr>
        <p:spPr>
          <a:xfrm>
            <a:off x="4462272" y="1463040"/>
            <a:ext cx="3273552" cy="228600"/>
          </a:xfrm>
          <a:prstGeom prst="rect">
            <a:avLst/>
          </a:prstGeom>
          <a:noFill/>
          <a:ln/>
        </p:spPr>
        <p:txBody>
          <a:bodyPr wrap="square" lIns="0" tIns="0" rIns="0" bIns="0" rtlCol="0" anchor="ctr"/>
          <a:lstStyle/>
          <a:p>
            <a:pPr indent="0" marL="0">
              <a:buNone/>
            </a:pPr>
            <a:r>
              <a:rPr lang="en-US" sz="850" dirty="0">
                <a:solidFill>
                  <a:srgbClr val="FFFFFF"/>
                </a:solidFill>
                <a:latin typeface="Spoqa Han Sans Neo" pitchFamily="34" charset="0"/>
                <a:ea typeface="Spoqa Han Sans Neo" pitchFamily="34" charset="-122"/>
                <a:cs typeface="Spoqa Han Sans Neo" pitchFamily="34" charset="-120"/>
              </a:rPr>
              <a:t>2.00억 · 기대 연 7.82% · 실측 분배율 10.07%</a:t>
            </a:r>
            <a:endParaRPr lang="en-US" sz="850" dirty="0"/>
          </a:p>
        </p:txBody>
      </p:sp>
      <p:sp>
        <p:nvSpPr>
          <p:cNvPr id="11" name="Shape 9"/>
          <p:cNvSpPr/>
          <p:nvPr/>
        </p:nvSpPr>
        <p:spPr>
          <a:xfrm>
            <a:off x="8174736" y="1188720"/>
            <a:ext cx="3566160" cy="548640"/>
          </a:xfrm>
          <a:prstGeom prst="rect">
            <a:avLst/>
          </a:prstGeom>
          <a:solidFill>
            <a:srgbClr val="0086B8"/>
          </a:solidFill>
          <a:ln/>
        </p:spPr>
      </p:sp>
      <p:sp>
        <p:nvSpPr>
          <p:cNvPr id="12" name="Text 10"/>
          <p:cNvSpPr txBox="1"/>
          <p:nvPr/>
        </p:nvSpPr>
        <p:spPr>
          <a:xfrm>
            <a:off x="8321040" y="1225296"/>
            <a:ext cx="3273552" cy="246888"/>
          </a:xfrm>
          <a:prstGeom prst="rect">
            <a:avLst/>
          </a:prstGeom>
          <a:noFill/>
          <a:ln/>
        </p:spPr>
        <p:txBody>
          <a:bodyPr wrap="square" lIns="0" tIns="0" rIns="0" bIns="0" rtlCol="0" anchor="ctr"/>
          <a:lstStyle/>
          <a:p>
            <a:pP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트랙 C · 배우자 자산</a:t>
            </a:r>
            <a:endParaRPr lang="en-US" sz="1050" dirty="0"/>
          </a:p>
        </p:txBody>
      </p:sp>
      <p:sp>
        <p:nvSpPr>
          <p:cNvPr id="13" name="Text 11"/>
          <p:cNvSpPr txBox="1"/>
          <p:nvPr/>
        </p:nvSpPr>
        <p:spPr>
          <a:xfrm>
            <a:off x="8321040" y="1463040"/>
            <a:ext cx="3273552" cy="228600"/>
          </a:xfrm>
          <a:prstGeom prst="rect">
            <a:avLst/>
          </a:prstGeom>
          <a:noFill/>
          <a:ln/>
        </p:spPr>
        <p:txBody>
          <a:bodyPr wrap="square" lIns="0" tIns="0" rIns="0" bIns="0" rtlCol="0" anchor="ctr"/>
          <a:lstStyle/>
          <a:p>
            <a:pPr indent="0" marL="0">
              <a:buNone/>
            </a:pPr>
            <a:r>
              <a:rPr lang="en-US" sz="850" dirty="0">
                <a:solidFill>
                  <a:srgbClr val="FFFFFF"/>
                </a:solidFill>
                <a:latin typeface="Spoqa Han Sans Neo" pitchFamily="34" charset="0"/>
                <a:ea typeface="Spoqa Han Sans Neo" pitchFamily="34" charset="-122"/>
                <a:cs typeface="Spoqa Han Sans Neo" pitchFamily="34" charset="-120"/>
              </a:rPr>
              <a:t>4.00억 · 기대 연 7.91% · 실측 분배율 8.29%</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77295" cy="914400"/>
        </p:xfrm>
        <a:graphic>
          <a:graphicData uri="http://schemas.openxmlformats.org/drawingml/2006/table">
            <a:tbl>
              <a:tblPr/>
              <a:tblGrid>
                <a:gridCol w="3703320"/>
                <a:gridCol w="713232"/>
                <a:gridCol w="658368"/>
                <a:gridCol w="566928"/>
                <a:gridCol w="658368"/>
                <a:gridCol w="713232"/>
                <a:gridCol w="713232"/>
                <a:gridCol w="658368"/>
                <a:gridCol w="603504"/>
                <a:gridCol w="603504"/>
                <a:gridCol w="603504"/>
                <a:gridCol w="896112"/>
              </a:tblGrid>
              <a:tr h="256032">
                <a:tc>
                  <a:txBody>
                    <a:bodyPr/>
                    <a:lstStyle/>
                    <a:p>
                      <a:pPr algn="l" indent="0" marL="0">
                        <a:buNone/>
                      </a:pPr>
                      <a:r>
                        <a:rPr lang="en-US" sz="800" b="1" dirty="0">
                          <a:solidFill>
                            <a:srgbClr val="1A1A1A"/>
                          </a:solidFill>
                          <a:latin typeface="Spoqa Han Sans Neo" pitchFamily="34" charset="0"/>
                          <a:ea typeface="Spoqa Han Sans Neo" pitchFamily="34" charset="-122"/>
                          <a:cs typeface="Spoqa Han Sans Neo" pitchFamily="34" charset="-120"/>
                        </a:rPr>
                        <a:t>상품명</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종목코드</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순자산</a:t>
                      </a:r>
                      <a:endParaRPr lang="en-US" sz="800" dirty="0">
                        <a:latin typeface="Spoqa Han Sans Neo" charset="0"/>
                        <a:ea typeface="Spoqa Han Sans Neo" charset="0"/>
                        <a:cs typeface="Spoqa Han Sans Neo" charset="0"/>
                      </a:endParaRPr>
                    </a:p>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(억)</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총보수</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분배율</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총수익</a:t>
                      </a:r>
                      <a:endParaRPr lang="en-US" sz="800" dirty="0">
                        <a:latin typeface="Spoqa Han Sans Neo" charset="0"/>
                        <a:ea typeface="Spoqa Han Sans Neo" charset="0"/>
                        <a:cs typeface="Spoqa Han Sans Neo" charset="0"/>
                      </a:endParaRPr>
                    </a:p>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1년</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총수익</a:t>
                      </a:r>
                      <a:endParaRPr lang="en-US" sz="800" dirty="0">
                        <a:latin typeface="Spoqa Han Sans Neo" charset="0"/>
                        <a:ea typeface="Spoqa Han Sans Neo" charset="0"/>
                        <a:cs typeface="Spoqa Han Sans Neo" charset="0"/>
                      </a:endParaRPr>
                    </a:p>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3년</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기대</a:t>
                      </a:r>
                      <a:endParaRPr lang="en-US" sz="800" dirty="0">
                        <a:latin typeface="Spoqa Han Sans Neo" charset="0"/>
                        <a:ea typeface="Spoqa Han Sans Neo" charset="0"/>
                        <a:cs typeface="Spoqa Han Sans Neo" charset="0"/>
                      </a:endParaRPr>
                    </a:p>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수익</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트랙 A</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트랙 B</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트랙 C</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합계</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KODEX 미국배당커버드콜액티브</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441640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16,964</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0.19%</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9.38%</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16.0%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17.3%</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8.9%</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1.30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0.50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0.90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2.70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TIGER 미국배당다우존스타겟커버드콜2호</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458760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7,020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0.39%</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9.96%</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25.6%</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12.6%</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8.6%</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1.40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1.00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2.40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TIGER 미국나스닥100커버드콜(합성)</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441680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2,777</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0.37%</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12.65%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19.6%</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13.9%</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9.4%</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1.10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0.70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1.80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TIGER 머니마켓액티브</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0043B0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33,037</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0.04%</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0.70%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3.1%</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3.1%</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0.80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0.30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0.40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1.50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TIGER 리츠부동산인프라</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329200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15,513</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0.08%</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9.77%</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3.3%</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4.7%</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6.0%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0.68</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0.25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0.40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1.33</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KODEX 28-12 회사채(AA-이상)액티브</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0119H0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2,707</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0.09%</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0.49%</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3.4%</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0.80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0.80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원리금보장 정기예금 (IRP 예금)</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0.00%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3.0%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0.60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0.60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TIGER 미국30년국채커버드콜액티브(H)</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476550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7,712</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0.39%</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13.35%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C62828"/>
                          </a:solidFill>
                          <a:latin typeface="Spoqa Han Sans Neo" pitchFamily="34" charset="0"/>
                          <a:ea typeface="Spoqa Han Sans Neo" pitchFamily="34" charset="-122"/>
                          <a:cs typeface="Spoqa Han Sans Neo" pitchFamily="34" charset="-120"/>
                        </a:rPr>
                        <a:t>-2.3%</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3.5%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0.60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0.60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TIGER 미국배당다우존스</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458730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43,084</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0.01%</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2.89%</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26.4%</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16.3%</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8.0%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0.60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0.60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TIGER 미국배당다우존스타겟데일리커버드콜</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0008S0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3,013</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0.25%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11.75%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25.4%</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9.0%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0.55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0.55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TIGER 미국나스닥100타겟데일리커버드콜</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486290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23,768</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0.25%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15.86%</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21.3%</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043B72"/>
                          </a:solidFill>
                          <a:latin typeface="Spoqa Han Sans Neo" pitchFamily="34" charset="0"/>
                          <a:ea typeface="Spoqa Han Sans Neo" pitchFamily="34" charset="-122"/>
                          <a:cs typeface="Spoqa Han Sans Neo" pitchFamily="34" charset="-120"/>
                        </a:rPr>
                        <a:t>9.5%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0.40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c>
                  <a:txBody>
                    <a:bodyPr/>
                    <a:lstStyle/>
                    <a:p>
                      <a:pPr algn="ctr" indent="0" marL="0">
                        <a:buNone/>
                      </a:pPr>
                      <a:r>
                        <a:rPr lang="en-US" sz="750" dirty="0">
                          <a:solidFill>
                            <a:srgbClr val="3D3D3D"/>
                          </a:solidFill>
                          <a:latin typeface="Spoqa Han Sans Neo" pitchFamily="34" charset="0"/>
                          <a:ea typeface="Spoqa Han Sans Neo" pitchFamily="34" charset="-122"/>
                          <a:cs typeface="Spoqa Han Sans Neo" pitchFamily="34" charset="-120"/>
                        </a:rPr>
                        <a:t>·</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3D3D3D"/>
                          </a:solidFill>
                          <a:latin typeface="Spoqa Han Sans Neo" pitchFamily="34" charset="0"/>
                          <a:ea typeface="Spoqa Han Sans Neo" pitchFamily="34" charset="-122"/>
                          <a:cs typeface="Spoqa Han Sans Neo" pitchFamily="34" charset="-120"/>
                        </a:rPr>
                        <a:t>0.40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r>
              <a:tr h="256032">
                <a:tc>
                  <a:txBody>
                    <a:bodyPr/>
                    <a:lstStyle/>
                    <a:p>
                      <a:pPr indent="0" marL="0">
                        <a:buNone/>
                      </a:pPr>
                      <a:r>
                        <a:rPr lang="en-US" sz="800" b="1" dirty="0">
                          <a:solidFill>
                            <a:srgbClr val="1A1A1A"/>
                          </a:solidFill>
                          <a:latin typeface="Spoqa Han Sans Neo" pitchFamily="34" charset="0"/>
                          <a:ea typeface="Spoqa Han Sans Neo" pitchFamily="34" charset="-122"/>
                          <a:cs typeface="Spoqa Han Sans Neo" pitchFamily="34" charset="-120"/>
                        </a:rPr>
                        <a:t>합계</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indent="0" marL="0">
                        <a:buNone/>
                      </a:pP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indent="0" marL="0">
                        <a:buNone/>
                      </a:pP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indent="0" marL="0">
                        <a:buNone/>
                      </a:pP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indent="0" marL="0">
                        <a:buNone/>
                      </a:pP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indent="0" marL="0">
                        <a:buNone/>
                      </a:pP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indent="0" marL="0">
                        <a:buNone/>
                      </a:pP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indent="0" marL="0">
                        <a:buNone/>
                      </a:pPr>
                      <a:endParaRPr lang="en-US" sz="8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7.28</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2.00</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4.00</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r" indent="0" marL="0">
                        <a:buNone/>
                      </a:pPr>
                      <a:r>
                        <a:rPr lang="en-US" sz="800" b="1" dirty="0">
                          <a:solidFill>
                            <a:srgbClr val="1A1A1A"/>
                          </a:solidFill>
                          <a:latin typeface="Spoqa Han Sans Neo" pitchFamily="34" charset="0"/>
                          <a:ea typeface="Spoqa Han Sans Neo" pitchFamily="34" charset="-122"/>
                          <a:cs typeface="Spoqa Han Sans Neo" pitchFamily="34" charset="-120"/>
                        </a:rPr>
                        <a:t>13.28</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bl>
          </a:graphicData>
        </a:graphic>
      </p:graphicFrame>
      <p:sp>
        <p:nvSpPr>
          <p:cNvPr id="15" name="Shape 12"/>
          <p:cNvSpPr/>
          <p:nvPr/>
        </p:nvSpPr>
        <p:spPr>
          <a:xfrm>
            <a:off x="457200" y="5504688"/>
            <a:ext cx="11277295" cy="658368"/>
          </a:xfrm>
          <a:prstGeom prst="rect">
            <a:avLst/>
          </a:prstGeom>
          <a:solidFill>
            <a:srgbClr val="ECEFF4"/>
          </a:solidFill>
          <a:ln/>
        </p:spPr>
      </p:sp>
      <p:sp>
        <p:nvSpPr>
          <p:cNvPr id="16" name="Text 13"/>
          <p:cNvSpPr txBox="1"/>
          <p:nvPr/>
        </p:nvSpPr>
        <p:spPr>
          <a:xfrm>
            <a:off x="658368" y="5577840"/>
            <a:ext cx="10874959" cy="548640"/>
          </a:xfrm>
          <a:prstGeom prst="rect">
            <a:avLst/>
          </a:prstGeom>
          <a:noFill/>
          <a:ln/>
        </p:spPr>
        <p:txBody>
          <a:bodyPr wrap="square" lIns="0" tIns="0" rIns="0" bIns="0" rtlCol="0" anchor="ctr"/>
          <a:lstStyle/>
          <a:p>
            <a:pPr indent="0" marL="0">
              <a:lnSpc>
                <a:spcPts val="1300"/>
              </a:lnSpc>
              <a:buNone/>
            </a:pPr>
            <a:r>
              <a:rPr lang="en-US" sz="950" b="1" dirty="0">
                <a:solidFill>
                  <a:srgbClr val="043B72"/>
                </a:solidFill>
                <a:latin typeface="Spoqa Han Sans Neo" pitchFamily="34" charset="0"/>
                <a:ea typeface="Spoqa Han Sans Neo" pitchFamily="34" charset="-122"/>
                <a:cs typeface="Spoqa Han Sans Neo" pitchFamily="34" charset="-120"/>
              </a:rPr>
              <a:t>선정 원칙   </a:t>
            </a:r>
            <a:pPr indent="0" marL="0">
              <a:lnSpc>
                <a:spcPts val="1300"/>
              </a:lnSpc>
              <a:buNone/>
            </a:pPr>
            <a:r>
              <a:rPr lang="en-US" sz="850" dirty="0">
                <a:solidFill>
                  <a:srgbClr val="3D3D3D"/>
                </a:solidFill>
                <a:latin typeface="Spoqa Han Sans Neo" pitchFamily="34" charset="0"/>
                <a:ea typeface="Spoqa Han Sans Neo" pitchFamily="34" charset="-122"/>
                <a:cs typeface="Spoqa Han Sans Neo" pitchFamily="34" charset="-120"/>
              </a:rPr>
              <a:t>① 분배율이 아니라 총수익(TR)으로 판정 — 1년 총수익이 마이너스인 상품은 고분배라도 배제·축소   ② 3년 실측 총수익이 있는 상품 우선   ③ 순자산 1,000억 이상·총보수 낮은 순   ④ 고분배 상품은 분배금이 과세되지 않는 연금계좌에 우선 배치</a:t>
            </a:r>
            <a:endParaRPr lang="en-US" sz="950" dirty="0"/>
          </a:p>
        </p:txBody>
      </p:sp>
      <p:sp>
        <p:nvSpPr>
          <p:cNvPr id="17" name="Text 14"/>
          <p:cNvSpPr txBox="1"/>
          <p:nvPr/>
        </p:nvSpPr>
        <p:spPr>
          <a:xfrm>
            <a:off x="457200" y="6254496"/>
            <a:ext cx="11277295" cy="365760"/>
          </a:xfrm>
          <a:prstGeom prst="rect">
            <a:avLst/>
          </a:prstGeom>
          <a:noFill/>
          <a:ln/>
        </p:spPr>
        <p:txBody>
          <a:bodyPr wrap="square" lIns="0" tIns="0" rIns="0" bIns="0" rtlCol="0" anchor="t"/>
          <a:lstStyle/>
          <a:p>
            <a:pPr indent="0" marL="0">
              <a:lnSpc>
                <a:spcPts val="1100"/>
              </a:lnSpc>
              <a:buNone/>
            </a:pPr>
            <a:r>
              <a:rPr lang="en-US" sz="750" dirty="0">
                <a:solidFill>
                  <a:srgbClr val="84888B"/>
                </a:solidFill>
                <a:latin typeface="Spoqa Han Sans Neo" pitchFamily="34" charset="0"/>
                <a:ea typeface="Spoqa Han Sans Neo" pitchFamily="34" charset="-122"/>
                <a:cs typeface="Spoqa Han Sans Neo" pitchFamily="34" charset="-120"/>
              </a:rPr>
              <a:t>상품 지표(분배율·총수익·보수·순자산)는 국내 상장 ETF 1167종 실측 데이터셋 (naver 수집 2026-09-07, 수익률 기준일 2026-09-04)에서 인용했습니다. 총수익(TR)은 분배금 재투자 기준 과거 실적이며 미래 수익을 보장하지 않습니다. 기대수익률은 3년 실측 총수익을 감액 적용한 설계 가정입니다. 연금계좌(DC·IRP)는 위험자산 70% 한도가 적용되어 안전자산 30% 이상 편입이 필요하며, 해외 직상장 ETF·레버리지 상품은 편입할 수 없습니다. 원리금보장 IRP 예금 금리 3.0%는 가정이며 실제 제시금리는 가입 시점에 확정됩니다.</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384048"/>
            <a:ext cx="11277295" cy="10973"/>
          </a:xfrm>
          <a:prstGeom prst="rect">
            <a:avLst/>
          </a:prstGeom>
          <a:solidFill>
            <a:srgbClr val="F58220"/>
          </a:solidFill>
          <a:ln/>
        </p:spPr>
      </p:sp>
      <p:sp>
        <p:nvSpPr>
          <p:cNvPr id="3" name="Text 1"/>
          <p:cNvSpPr txBox="1"/>
          <p:nvPr/>
        </p:nvSpPr>
        <p:spPr>
          <a:xfrm>
            <a:off x="457200" y="457200"/>
            <a:ext cx="11277295" cy="384048"/>
          </a:xfrm>
          <a:prstGeom prst="rect">
            <a:avLst/>
          </a:prstGeom>
          <a:noFill/>
          <a:ln/>
        </p:spPr>
        <p:txBody>
          <a:bodyPr wrap="square" lIns="0" tIns="0" rIns="0" bIns="0" rtlCol="0" anchor="t"/>
          <a:lstStyle/>
          <a:p>
            <a:pPr indent="0" marL="0">
              <a:buNone/>
            </a:pPr>
            <a:r>
              <a:rPr lang="en-US" sz="2300" b="1" dirty="0">
                <a:solidFill>
                  <a:srgbClr val="1A1A1A"/>
                </a:solidFill>
                <a:latin typeface="Spoqa Han Sans Neo" pitchFamily="34" charset="0"/>
                <a:ea typeface="Spoqa Han Sans Neo" pitchFamily="34" charset="-122"/>
                <a:cs typeface="Spoqa Han Sans Neo" pitchFamily="34" charset="-120"/>
              </a:rPr>
              <a:t>현금흐름 검증 · 분배율 함정 점검 · 세제 전략</a:t>
            </a:r>
            <a:endParaRPr lang="en-US" sz="2300" dirty="0"/>
          </a:p>
        </p:txBody>
      </p:sp>
      <p:sp>
        <p:nvSpPr>
          <p:cNvPr id="4" name="Text 2"/>
          <p:cNvSpPr txBox="1"/>
          <p:nvPr/>
        </p:nvSpPr>
        <p:spPr>
          <a:xfrm>
            <a:off x="457200" y="868680"/>
            <a:ext cx="11277295" cy="237744"/>
          </a:xfrm>
          <a:prstGeom prst="rect">
            <a:avLst/>
          </a:prstGeom>
          <a:noFill/>
          <a:ln/>
        </p:spPr>
        <p:txBody>
          <a:bodyPr wrap="square" lIns="0" tIns="0" rIns="0" bIns="0" rtlCol="0" anchor="t"/>
          <a:lstStyle/>
          <a:p>
            <a:pPr indent="0" marL="0">
              <a:buNone/>
            </a:pPr>
            <a:r>
              <a:rPr lang="en-US" sz="1100" dirty="0">
                <a:solidFill>
                  <a:srgbClr val="6C6C6C"/>
                </a:solidFill>
                <a:latin typeface="Spoqa Han Sans Neo" pitchFamily="34" charset="0"/>
                <a:ea typeface="Spoqa Han Sans Neo" pitchFamily="34" charset="-122"/>
                <a:cs typeface="Spoqa Han Sans Neo" pitchFamily="34" charset="-120"/>
              </a:rPr>
              <a:t>월 필요자금 750만원을 어떤 재원으로, 어떤 세율로 조달하는가</a:t>
            </a:r>
            <a:endParaRPr lang="en-US" sz="1100" dirty="0"/>
          </a:p>
        </p:txBody>
      </p:sp>
      <p:graphicFrame>
        <p:nvGraphicFramePr>
          <p:cNvPr id="5" name="Chart 0" descr=""/>
          <p:cNvGraphicFramePr/>
          <p:nvPr/>
        </p:nvGraphicFramePr>
        <p:xfrm>
          <a:off x="457200" y="1188720"/>
          <a:ext cx="5577840" cy="23317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457200" y="3547872"/>
            <a:ext cx="5577840" cy="274320"/>
          </a:xfrm>
          <a:prstGeom prst="rect">
            <a:avLst/>
          </a:prstGeom>
          <a:noFill/>
          <a:ln/>
        </p:spPr>
        <p:txBody>
          <a:bodyPr wrap="square" lIns="0" tIns="0" rIns="0" bIns="0" rtlCol="0" anchor="ctr"/>
          <a:lstStyle/>
          <a:p>
            <a:pPr indent="0" marL="0">
              <a:buNone/>
            </a:pPr>
            <a:r>
              <a:rPr lang="en-US" sz="950" b="1" dirty="0">
                <a:solidFill>
                  <a:srgbClr val="043B72"/>
                </a:solidFill>
                <a:latin typeface="Spoqa Han Sans Neo" pitchFamily="34" charset="0"/>
                <a:ea typeface="Spoqa Han Sans Neo" pitchFamily="34" charset="-122"/>
                <a:cs typeface="Spoqa Han Sans Neo" pitchFamily="34" charset="-120"/>
              </a:rPr>
              <a:t>판정   </a:t>
            </a:r>
            <a:pPr indent="0" marL="0">
              <a:buNone/>
            </a:pPr>
            <a:r>
              <a:rPr lang="en-US" sz="900" dirty="0">
                <a:solidFill>
                  <a:srgbClr val="3D3D3D"/>
                </a:solidFill>
                <a:latin typeface="Spoqa Han Sans Neo" pitchFamily="34" charset="0"/>
                <a:ea typeface="Spoqa Han Sans Neo" pitchFamily="34" charset="-122"/>
                <a:cs typeface="Spoqa Han Sans Neo" pitchFamily="34" charset="-120"/>
              </a:rPr>
              <a:t>Phase 1 여유 4만원 · Phase 3 여유 107만원 · Phase 4 여유 357만원 — 전 구간 연금계좌 인출 불필요</a:t>
            </a:r>
            <a:endParaRPr lang="en-US" sz="950" dirty="0"/>
          </a:p>
        </p:txBody>
      </p:sp>
      <p:sp>
        <p:nvSpPr>
          <p:cNvPr id="7" name="Text 4"/>
          <p:cNvSpPr txBox="1"/>
          <p:nvPr/>
        </p:nvSpPr>
        <p:spPr>
          <a:xfrm>
            <a:off x="6309360" y="1188720"/>
            <a:ext cx="5422392" cy="256032"/>
          </a:xfrm>
          <a:prstGeom prst="rect">
            <a:avLst/>
          </a:prstGeom>
          <a:noFill/>
          <a:ln/>
        </p:spPr>
        <p:txBody>
          <a:bodyPr wrap="square" lIns="0" tIns="0" rIns="0" bIns="0" rtlCol="0" anchor="t"/>
          <a:lstStyle/>
          <a:p>
            <a:pPr indent="0" marL="0">
              <a:buNone/>
            </a:pPr>
            <a:r>
              <a:rPr lang="en-US" sz="1200" b="1" dirty="0">
                <a:solidFill>
                  <a:srgbClr val="C62828"/>
                </a:solidFill>
                <a:latin typeface="Spoqa Han Sans Neo" pitchFamily="34" charset="0"/>
                <a:ea typeface="Spoqa Han Sans Neo" pitchFamily="34" charset="-122"/>
                <a:cs typeface="Spoqa Han Sans Neo" pitchFamily="34" charset="-120"/>
              </a:rPr>
              <a:t>분배율 함정 점검 — 고분배 상품의 실제 총수익</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309360" y="1481328"/>
          <a:ext cx="5422392" cy="914400"/>
        </p:xfrm>
        <a:graphic>
          <a:graphicData uri="http://schemas.openxmlformats.org/drawingml/2006/table">
            <a:tbl>
              <a:tblPr/>
              <a:tblGrid>
                <a:gridCol w="2788920"/>
                <a:gridCol w="658368"/>
                <a:gridCol w="822960"/>
                <a:gridCol w="1152144"/>
              </a:tblGrid>
              <a:tr h="260604">
                <a:tc>
                  <a:txBody>
                    <a:bodyPr/>
                    <a:lstStyle/>
                    <a:p>
                      <a:pPr algn="l" indent="0" marL="0">
                        <a:buNone/>
                      </a:pPr>
                      <a:r>
                        <a:rPr lang="en-US" sz="800" b="1" dirty="0">
                          <a:solidFill>
                            <a:srgbClr val="1A1A1A"/>
                          </a:solidFill>
                          <a:latin typeface="Spoqa Han Sans Neo" pitchFamily="34" charset="0"/>
                          <a:ea typeface="Spoqa Han Sans Neo" pitchFamily="34" charset="-122"/>
                          <a:cs typeface="Spoqa Han Sans Neo" pitchFamily="34" charset="-120"/>
                        </a:rPr>
                        <a:t>상품명</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분배율</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총수익 1년</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algn="ctr" indent="0" marL="0">
                        <a:buNone/>
                      </a:pPr>
                      <a:r>
                        <a:rPr lang="en-US" sz="800" b="1" dirty="0">
                          <a:solidFill>
                            <a:srgbClr val="1A1A1A"/>
                          </a:solidFill>
                          <a:latin typeface="Spoqa Han Sans Neo" pitchFamily="34" charset="0"/>
                          <a:ea typeface="Spoqa Han Sans Neo" pitchFamily="34" charset="-122"/>
                          <a:cs typeface="Spoqa Han Sans Neo" pitchFamily="34" charset="-120"/>
                        </a:rPr>
                        <a:t>판정</a:t>
                      </a:r>
                      <a:endParaRPr lang="en-US" sz="8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260604">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TIGER 미국30년국채커버드콜액티브(H)</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13.35%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C62828"/>
                          </a:solidFill>
                          <a:latin typeface="Spoqa Han Sans Neo" pitchFamily="34" charset="0"/>
                          <a:ea typeface="Spoqa Han Sans Neo" pitchFamily="34" charset="-122"/>
                          <a:cs typeface="Spoqa Han Sans Neo" pitchFamily="34" charset="-120"/>
                        </a:rPr>
                        <a:t>-2.3%</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b="1" dirty="0">
                          <a:solidFill>
                            <a:srgbClr val="CB6015"/>
                          </a:solidFill>
                          <a:latin typeface="Spoqa Han Sans Neo" pitchFamily="34" charset="0"/>
                          <a:ea typeface="Spoqa Han Sans Neo" pitchFamily="34" charset="-122"/>
                          <a:cs typeface="Spoqa Han Sans Neo" pitchFamily="34" charset="-120"/>
                        </a:rPr>
                        <a:t>축소 편입</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ECEFF4"/>
                    </a:solidFill>
                  </a:tcPr>
                </a:tc>
              </a:tr>
              <a:tr h="260604">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KODEX 미국30년국채타겟커버드콜(합성 H)</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13.12%</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C62828"/>
                          </a:solidFill>
                          <a:latin typeface="Spoqa Han Sans Neo" pitchFamily="34" charset="0"/>
                          <a:ea typeface="Spoqa Han Sans Neo" pitchFamily="34" charset="-122"/>
                          <a:cs typeface="Spoqa Han Sans Neo" pitchFamily="34" charset="-120"/>
                        </a:rPr>
                        <a:t>-1.6%</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b="1" dirty="0">
                          <a:solidFill>
                            <a:srgbClr val="C62828"/>
                          </a:solidFill>
                          <a:latin typeface="Spoqa Han Sans Neo" pitchFamily="34" charset="0"/>
                          <a:ea typeface="Spoqa Han Sans Neo" pitchFamily="34" charset="-122"/>
                          <a:cs typeface="Spoqa Han Sans Neo" pitchFamily="34" charset="-120"/>
                        </a:rPr>
                        <a:t>제외</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260604">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SOL 미국30년국채커버드콜(합성)</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13.01%</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C62828"/>
                          </a:solidFill>
                          <a:latin typeface="Spoqa Han Sans Neo" pitchFamily="34" charset="0"/>
                          <a:ea typeface="Spoqa Han Sans Neo" pitchFamily="34" charset="-122"/>
                          <a:cs typeface="Spoqa Han Sans Neo" pitchFamily="34" charset="-120"/>
                        </a:rPr>
                        <a:t>-1.5%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b="1" dirty="0">
                          <a:solidFill>
                            <a:srgbClr val="C62828"/>
                          </a:solidFill>
                          <a:latin typeface="Spoqa Han Sans Neo" pitchFamily="34" charset="0"/>
                          <a:ea typeface="Spoqa Han Sans Neo" pitchFamily="34" charset="-122"/>
                          <a:cs typeface="Spoqa Han Sans Neo" pitchFamily="34" charset="-120"/>
                        </a:rPr>
                        <a:t>제외</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260604">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KODEX 미국30년국채액티브(H)</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5.20%</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C62828"/>
                          </a:solidFill>
                          <a:latin typeface="Spoqa Han Sans Neo" pitchFamily="34" charset="0"/>
                          <a:ea typeface="Spoqa Han Sans Neo" pitchFamily="34" charset="-122"/>
                          <a:cs typeface="Spoqa Han Sans Neo" pitchFamily="34" charset="-120"/>
                        </a:rPr>
                        <a:t>-2.2%</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b="1" dirty="0">
                          <a:solidFill>
                            <a:srgbClr val="C62828"/>
                          </a:solidFill>
                          <a:latin typeface="Spoqa Han Sans Neo" pitchFamily="34" charset="0"/>
                          <a:ea typeface="Spoqa Han Sans Neo" pitchFamily="34" charset="-122"/>
                          <a:cs typeface="Spoqa Han Sans Neo" pitchFamily="34" charset="-120"/>
                        </a:rPr>
                        <a:t>제외</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260604">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ACE 미국30년국채액티브(H)</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4.15%</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C62828"/>
                          </a:solidFill>
                          <a:latin typeface="Spoqa Han Sans Neo" pitchFamily="34" charset="0"/>
                          <a:ea typeface="Spoqa Han Sans Neo" pitchFamily="34" charset="-122"/>
                          <a:cs typeface="Spoqa Han Sans Neo" pitchFamily="34" charset="-120"/>
                        </a:rPr>
                        <a:t>-2.4%</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b="1" dirty="0">
                          <a:solidFill>
                            <a:srgbClr val="C62828"/>
                          </a:solidFill>
                          <a:latin typeface="Spoqa Han Sans Neo" pitchFamily="34" charset="0"/>
                          <a:ea typeface="Spoqa Han Sans Neo" pitchFamily="34" charset="-122"/>
                          <a:cs typeface="Spoqa Han Sans Neo" pitchFamily="34" charset="-120"/>
                        </a:rPr>
                        <a:t>제외</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260604">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KODEX 한국부동산리츠인프라</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8.54%</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C62828"/>
                          </a:solidFill>
                          <a:latin typeface="Spoqa Han Sans Neo" pitchFamily="34" charset="0"/>
                          <a:ea typeface="Spoqa Han Sans Neo" pitchFamily="34" charset="-122"/>
                          <a:cs typeface="Spoqa Han Sans Neo" pitchFamily="34" charset="-120"/>
                        </a:rPr>
                        <a:t>-3.4%</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b="1" dirty="0">
                          <a:solidFill>
                            <a:srgbClr val="C62828"/>
                          </a:solidFill>
                          <a:latin typeface="Spoqa Han Sans Neo" pitchFamily="34" charset="0"/>
                          <a:ea typeface="Spoqa Han Sans Neo" pitchFamily="34" charset="-122"/>
                          <a:cs typeface="Spoqa Han Sans Neo" pitchFamily="34" charset="-120"/>
                        </a:rPr>
                        <a:t>제외</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260604">
                <a:tc>
                  <a:txBody>
                    <a:bodyPr/>
                    <a:lstStyle/>
                    <a:p>
                      <a:pPr indent="0" marL="0">
                        <a:buNone/>
                      </a:pPr>
                      <a:r>
                        <a:rPr lang="en-US" sz="750" dirty="0">
                          <a:solidFill>
                            <a:srgbClr val="1A1A1A"/>
                          </a:solidFill>
                          <a:latin typeface="Spoqa Han Sans Neo" pitchFamily="34" charset="0"/>
                          <a:ea typeface="Spoqa Han Sans Neo" pitchFamily="34" charset="-122"/>
                          <a:cs typeface="Spoqa Han Sans Neo" pitchFamily="34" charset="-120"/>
                        </a:rPr>
                        <a:t>TIGER 종합채권(AA-이상)액티브</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dirty="0">
                          <a:solidFill>
                            <a:srgbClr val="3D3D3D"/>
                          </a:solidFill>
                          <a:latin typeface="Spoqa Han Sans Neo" pitchFamily="34" charset="0"/>
                          <a:ea typeface="Spoqa Han Sans Neo" pitchFamily="34" charset="-122"/>
                          <a:cs typeface="Spoqa Han Sans Neo" pitchFamily="34" charset="-120"/>
                        </a:rPr>
                        <a:t>1.33%</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r" indent="0" marL="0">
                        <a:buNone/>
                      </a:pPr>
                      <a:r>
                        <a:rPr lang="en-US" sz="750" b="1" dirty="0">
                          <a:solidFill>
                            <a:srgbClr val="C62828"/>
                          </a:solidFill>
                          <a:latin typeface="Spoqa Han Sans Neo" pitchFamily="34" charset="0"/>
                          <a:ea typeface="Spoqa Han Sans Neo" pitchFamily="34" charset="-122"/>
                          <a:cs typeface="Spoqa Han Sans Neo" pitchFamily="34" charset="-120"/>
                        </a:rPr>
                        <a:t>-6.1%</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tcPr>
                </a:tc>
                <a:tc>
                  <a:txBody>
                    <a:bodyPr/>
                    <a:lstStyle/>
                    <a:p>
                      <a:pPr algn="ctr" indent="0" marL="0">
                        <a:buNone/>
                      </a:pPr>
                      <a:r>
                        <a:rPr lang="en-US" sz="750" b="1" dirty="0">
                          <a:solidFill>
                            <a:srgbClr val="C62828"/>
                          </a:solidFill>
                          <a:latin typeface="Spoqa Han Sans Neo" pitchFamily="34" charset="0"/>
                          <a:ea typeface="Spoqa Han Sans Neo" pitchFamily="34" charset="-122"/>
                          <a:cs typeface="Spoqa Han Sans Neo" pitchFamily="34" charset="-120"/>
                        </a:rPr>
                        <a:t>제외</a:t>
                      </a:r>
                      <a:endParaRPr lang="en-US" sz="7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6309360" y="3675888"/>
            <a:ext cx="5422392" cy="457200"/>
          </a:xfrm>
          <a:prstGeom prst="rect">
            <a:avLst/>
          </a:prstGeom>
          <a:noFill/>
          <a:ln/>
        </p:spPr>
        <p:txBody>
          <a:bodyPr wrap="square" lIns="0" tIns="0" rIns="0" bIns="0" rtlCol="0" anchor="t"/>
          <a:lstStyle/>
          <a:p>
            <a:pPr indent="0" marL="0">
              <a:lnSpc>
                <a:spcPts val="1200"/>
              </a:lnSpc>
              <a:buNone/>
            </a:pPr>
            <a:r>
              <a:rPr lang="en-US" sz="850" dirty="0">
                <a:solidFill>
                  <a:srgbClr val="3D3D3D"/>
                </a:solidFill>
                <a:latin typeface="Spoqa Han Sans Neo" pitchFamily="34" charset="0"/>
                <a:ea typeface="Spoqa Han Sans Neo" pitchFamily="34" charset="-122"/>
                <a:cs typeface="Spoqa Han Sans Neo" pitchFamily="34" charset="-120"/>
              </a:rPr>
              <a:t>분배율 13%대 미국 장기국채 커버드콜은 분배금의 상당 부분이 원금 반환이어서, 1년 총수익이 마이너스다. 분배율만 보고 담으면 원금이 줄어든다.</a:t>
            </a:r>
            <a:endParaRPr lang="en-US" sz="850" dirty="0"/>
          </a:p>
        </p:txBody>
      </p:sp>
      <p:sp>
        <p:nvSpPr>
          <p:cNvPr id="10" name="Shape 6"/>
          <p:cNvSpPr/>
          <p:nvPr/>
        </p:nvSpPr>
        <p:spPr>
          <a:xfrm>
            <a:off x="457200" y="4160520"/>
            <a:ext cx="5577840" cy="1920240"/>
          </a:xfrm>
          <a:prstGeom prst="rect">
            <a:avLst/>
          </a:prstGeom>
          <a:solidFill>
            <a:srgbClr val="F7F8FA"/>
          </a:solidFill>
          <a:ln w="9525">
            <a:solidFill>
              <a:srgbClr val="CDCECB"/>
            </a:solidFill>
            <a:prstDash val="solid"/>
          </a:ln>
        </p:spPr>
      </p:sp>
      <p:sp>
        <p:nvSpPr>
          <p:cNvPr id="11" name="Text 7"/>
          <p:cNvSpPr txBox="1"/>
          <p:nvPr/>
        </p:nvSpPr>
        <p:spPr>
          <a:xfrm>
            <a:off x="640080" y="4288536"/>
            <a:ext cx="5212080" cy="274320"/>
          </a:xfrm>
          <a:prstGeom prst="rect">
            <a:avLst/>
          </a:prstGeom>
          <a:noFill/>
          <a:ln/>
        </p:spPr>
        <p:txBody>
          <a:bodyPr wrap="square" lIns="0" tIns="0" rIns="0" bIns="0" rtlCol="0" anchor="t"/>
          <a:lstStyle/>
          <a:p>
            <a:pPr indent="0" marL="0">
              <a:buNone/>
            </a:pPr>
            <a:r>
              <a:rPr lang="en-US" sz="1200" b="1" dirty="0">
                <a:solidFill>
                  <a:srgbClr val="043B72"/>
                </a:solidFill>
                <a:latin typeface="Spoqa Han Sans Neo" pitchFamily="34" charset="0"/>
                <a:ea typeface="Spoqa Han Sans Neo" pitchFamily="34" charset="-122"/>
                <a:cs typeface="Spoqa Han Sans Neo" pitchFamily="34" charset="-120"/>
              </a:rPr>
              <a:t>세제 전략 — 같은 돈을 더 낮은 세율로 받는다</a:t>
            </a:r>
            <a:endParaRPr lang="en-US" sz="1200" dirty="0"/>
          </a:p>
        </p:txBody>
      </p:sp>
      <p:sp>
        <p:nvSpPr>
          <p:cNvPr id="12" name="Text 8"/>
          <p:cNvSpPr txBox="1"/>
          <p:nvPr/>
        </p:nvSpPr>
        <p:spPr>
          <a:xfrm>
            <a:off x="640080" y="4617720"/>
            <a:ext cx="5212080" cy="1316736"/>
          </a:xfrm>
          <a:prstGeom prst="rect">
            <a:avLst/>
          </a:prstGeom>
          <a:noFill/>
          <a:ln/>
        </p:spPr>
        <p:txBody>
          <a:bodyPr wrap="square" lIns="0" tIns="0" rIns="0" bIns="0" rtlCol="0" anchor="t"/>
          <a:lstStyle/>
          <a:p>
            <a:pPr marL="342900" indent="-342900">
              <a:lnSpc>
                <a:spcPts val="1250"/>
              </a:lnSpc>
              <a:spcAft>
                <a:spcPts val="600"/>
              </a:spcAft>
              <a:buSzPct val="100000"/>
              <a:buChar char="•"/>
            </a:pPr>
            <a:r>
              <a:rPr lang="en-US" sz="850" dirty="0">
                <a:solidFill>
                  <a:srgbClr val="3D3D3D"/>
                </a:solidFill>
                <a:latin typeface="Spoqa Han Sans Neo" pitchFamily="34" charset="0"/>
                <a:ea typeface="Spoqa Han Sans Neo" pitchFamily="34" charset="-122"/>
                <a:cs typeface="Spoqa Han Sans Neo" pitchFamily="34" charset="-120"/>
              </a:rPr>
              <a:t>퇴직급여는 일시금이 아니라 연금으로 수령 — 이연퇴직소득의 연금소득세율은 퇴직소득세율의 70%(10년차까지), 11년차 이후 60%. 일시금 대비 약 30~40% 절감</a:t>
            </a:r>
            <a:endParaRPr lang="en-US" sz="850" dirty="0"/>
          </a:p>
          <a:p>
            <a:pPr marL="342900" indent="-342900">
              <a:lnSpc>
                <a:spcPts val="1250"/>
              </a:lnSpc>
              <a:spcAft>
                <a:spcPts val="600"/>
              </a:spcAft>
              <a:buSzPct val="100000"/>
              <a:buChar char="•"/>
            </a:pPr>
            <a:r>
              <a:rPr lang="en-US" sz="850" dirty="0">
                <a:solidFill>
                  <a:srgbClr val="3D3D3D"/>
                </a:solidFill>
                <a:latin typeface="Spoqa Han Sans Neo" pitchFamily="34" charset="0"/>
                <a:ea typeface="Spoqa Han Sans Neo" pitchFamily="34" charset="-122"/>
                <a:cs typeface="Spoqa Han Sans Neo" pitchFamily="34" charset="-120"/>
              </a:rPr>
              <a:t>전 구간 연금계좌 인출이 불필요하므로 사적연금 1,500만원 종합과세 기준을 건드리지 않고 과세이연을 계속 유지</a:t>
            </a:r>
            <a:endParaRPr lang="en-US" sz="850" dirty="0"/>
          </a:p>
          <a:p>
            <a:pPr marL="342900" indent="-342900">
              <a:lnSpc>
                <a:spcPts val="1250"/>
              </a:lnSpc>
              <a:spcAft>
                <a:spcPts val="600"/>
              </a:spcAft>
              <a:buSzPct val="100000"/>
              <a:buChar char="•"/>
            </a:pPr>
            <a:r>
              <a:rPr lang="en-US" sz="850" dirty="0">
                <a:solidFill>
                  <a:srgbClr val="3D3D3D"/>
                </a:solidFill>
                <a:latin typeface="Spoqa Han Sans Neo" pitchFamily="34" charset="0"/>
                <a:ea typeface="Spoqa Han Sans Neo" pitchFamily="34" charset="-122"/>
                <a:cs typeface="Spoqa Han Sans Neo" pitchFamily="34" charset="-120"/>
              </a:rPr>
              <a:t>금융소득종합과세 기준 연 2,000만원 — 설계안대로면 부부 일반계좌 금융소득이 합산 약 5,693만원으로 초과. 부부 각자 ISA 납입한도를 매년 소진하면 약 1,007만원을 과세대상에서 제외</a:t>
            </a:r>
            <a:endParaRPr lang="en-US" sz="850" dirty="0"/>
          </a:p>
        </p:txBody>
      </p:sp>
      <p:sp>
        <p:nvSpPr>
          <p:cNvPr id="13" name="Shape 9"/>
          <p:cNvSpPr/>
          <p:nvPr/>
        </p:nvSpPr>
        <p:spPr>
          <a:xfrm>
            <a:off x="6309360" y="4160520"/>
            <a:ext cx="5422392" cy="1920240"/>
          </a:xfrm>
          <a:prstGeom prst="rect">
            <a:avLst/>
          </a:prstGeom>
          <a:solidFill>
            <a:srgbClr val="F7F8FA"/>
          </a:solidFill>
          <a:ln w="9525">
            <a:solidFill>
              <a:srgbClr val="CDCECB"/>
            </a:solidFill>
            <a:prstDash val="solid"/>
          </a:ln>
        </p:spPr>
      </p:sp>
      <p:sp>
        <p:nvSpPr>
          <p:cNvPr id="14" name="Text 10"/>
          <p:cNvSpPr txBox="1"/>
          <p:nvPr/>
        </p:nvSpPr>
        <p:spPr>
          <a:xfrm>
            <a:off x="6492240" y="4288536"/>
            <a:ext cx="5056632" cy="274320"/>
          </a:xfrm>
          <a:prstGeom prst="rect">
            <a:avLst/>
          </a:prstGeom>
          <a:noFill/>
          <a:ln/>
        </p:spPr>
        <p:txBody>
          <a:bodyPr wrap="square" lIns="0" tIns="0" rIns="0" bIns="0" rtlCol="0" anchor="t"/>
          <a:lstStyle/>
          <a:p>
            <a:pPr indent="0" marL="0">
              <a:buNone/>
            </a:pPr>
            <a:r>
              <a:rPr lang="en-US" sz="1200" b="1" dirty="0">
                <a:solidFill>
                  <a:srgbClr val="043B72"/>
                </a:solidFill>
                <a:latin typeface="Spoqa Han Sans Neo" pitchFamily="34" charset="0"/>
                <a:ea typeface="Spoqa Han Sans Neo" pitchFamily="34" charset="-122"/>
                <a:cs typeface="Spoqa Han Sans Neo" pitchFamily="34" charset="-120"/>
              </a:rPr>
              <a:t>리스크와 실행</a:t>
            </a:r>
            <a:endParaRPr lang="en-US" sz="1200" dirty="0"/>
          </a:p>
        </p:txBody>
      </p:sp>
      <p:sp>
        <p:nvSpPr>
          <p:cNvPr id="15" name="Text 11"/>
          <p:cNvSpPr txBox="1"/>
          <p:nvPr/>
        </p:nvSpPr>
        <p:spPr>
          <a:xfrm>
            <a:off x="6492240" y="4617720"/>
            <a:ext cx="5056632" cy="1316736"/>
          </a:xfrm>
          <a:prstGeom prst="rect">
            <a:avLst/>
          </a:prstGeom>
          <a:noFill/>
          <a:ln/>
        </p:spPr>
        <p:txBody>
          <a:bodyPr wrap="square" lIns="0" tIns="0" rIns="0" bIns="0" rtlCol="0" anchor="t"/>
          <a:lstStyle/>
          <a:p>
            <a:pPr marL="342900" indent="-342900">
              <a:lnSpc>
                <a:spcPts val="1250"/>
              </a:lnSpc>
              <a:spcAft>
                <a:spcPts val="600"/>
              </a:spcAft>
              <a:buSzPct val="100000"/>
              <a:buChar char="•"/>
            </a:pPr>
            <a:r>
              <a:rPr lang="en-US" sz="850" dirty="0">
                <a:solidFill>
                  <a:srgbClr val="3D3D3D"/>
                </a:solidFill>
                <a:latin typeface="Spoqa Han Sans Neo" pitchFamily="34" charset="0"/>
                <a:ea typeface="Spoqa Han Sans Neo" pitchFamily="34" charset="-122"/>
                <a:cs typeface="Spoqa Han Sans Neo" pitchFamily="34" charset="-120"/>
              </a:rPr>
              <a:t>분배금 변동 — 커버드콜 분배금은 옵션프리미엄에 연동되어 시장 변동성이 낮아지면 감소. 반기 1회 분배율·총수익 재점검</a:t>
            </a:r>
            <a:endParaRPr lang="en-US" sz="850" dirty="0"/>
          </a:p>
          <a:p>
            <a:pPr marL="342900" indent="-342900">
              <a:lnSpc>
                <a:spcPts val="1250"/>
              </a:lnSpc>
              <a:spcAft>
                <a:spcPts val="600"/>
              </a:spcAft>
              <a:buSzPct val="100000"/>
              <a:buChar char="•"/>
            </a:pPr>
            <a:r>
              <a:rPr lang="en-US" sz="850" dirty="0">
                <a:solidFill>
                  <a:srgbClr val="3D3D3D"/>
                </a:solidFill>
                <a:latin typeface="Spoqa Han Sans Neo" pitchFamily="34" charset="0"/>
                <a:ea typeface="Spoqa Han Sans Neo" pitchFamily="34" charset="-122"/>
                <a:cs typeface="Spoqa Han Sans Neo" pitchFamily="34" charset="-120"/>
              </a:rPr>
              <a:t>건강보험료 — 은퇴 후 지역가입자 전환 시 금융소득이 보험료에 반영. 전환 전 공단 모의계산으로 영향 확인</a:t>
            </a:r>
            <a:endParaRPr lang="en-US" sz="850" dirty="0"/>
          </a:p>
          <a:p>
            <a:pPr marL="342900" indent="-342900">
              <a:lnSpc>
                <a:spcPts val="1250"/>
              </a:lnSpc>
              <a:spcAft>
                <a:spcPts val="600"/>
              </a:spcAft>
              <a:buSzPct val="100000"/>
              <a:buChar char="•"/>
            </a:pPr>
            <a:r>
              <a:rPr lang="en-US" sz="850" dirty="0">
                <a:solidFill>
                  <a:srgbClr val="3D3D3D"/>
                </a:solidFill>
                <a:latin typeface="Spoqa Han Sans Neo" pitchFamily="34" charset="0"/>
                <a:ea typeface="Spoqa Han Sans Neo" pitchFamily="34" charset="-122"/>
                <a:cs typeface="Spoqa Han Sans Neo" pitchFamily="34" charset="-120"/>
              </a:rPr>
              <a:t>1개월 내 DC 6.4억 상품 전환·증권 현금 2.00억 편입·부부 ISA 개설 / 3개월 내 배우자 4.00억 재배치 / 2029년 7월 DC를 IRP로 이전해 7.28억 통합</a:t>
            </a:r>
            <a:endParaRPr lang="en-US" sz="850" dirty="0"/>
          </a:p>
        </p:txBody>
      </p:sp>
      <p:sp>
        <p:nvSpPr>
          <p:cNvPr id="16" name="Text 12"/>
          <p:cNvSpPr txBox="1"/>
          <p:nvPr/>
        </p:nvSpPr>
        <p:spPr>
          <a:xfrm>
            <a:off x="457200" y="6172200"/>
            <a:ext cx="11277295" cy="365760"/>
          </a:xfrm>
          <a:prstGeom prst="rect">
            <a:avLst/>
          </a:prstGeom>
          <a:noFill/>
          <a:ln/>
        </p:spPr>
        <p:txBody>
          <a:bodyPr wrap="square" lIns="0" tIns="0" rIns="0" bIns="0" rtlCol="0" anchor="t"/>
          <a:lstStyle/>
          <a:p>
            <a:pPr indent="0" marL="0">
              <a:lnSpc>
                <a:spcPts val="1100"/>
              </a:lnSpc>
              <a:buNone/>
            </a:pPr>
            <a:r>
              <a:rPr lang="en-US" sz="750" dirty="0">
                <a:solidFill>
                  <a:srgbClr val="84888B"/>
                </a:solidFill>
                <a:latin typeface="Spoqa Han Sans Neo" pitchFamily="34" charset="0"/>
                <a:ea typeface="Spoqa Han Sans Neo" pitchFamily="34" charset="-122"/>
                <a:cs typeface="Spoqa Han Sans Neo" pitchFamily="34" charset="-120"/>
              </a:rPr>
              <a:t>상품 지표(분배율·총수익·보수·순자산)는 국내 상장 ETF 1167종 실측 데이터셋 (naver 수집 2026-09-07, 수익률 기준일 2026-09-04)에서 인용했습니다. 세율·한도는 2026년 기준이며 세법 개정 시 달라집니다. 개별 세액은 다른 소득과 합산해 산정되므로 실행 전 세무 상담을 권합니다. 2026.08.31 퇴직연금감독규정 개정으로 100% 편입 가능 상품 범위가 확대된 것으로 확인되나 시행일과 대상 상품은 확인하지 못했으므로, 실행 시점에 금융위 보도자료를 직접 확인해야 합니다. 사적연금 인출액의 건강보험료 부과 여부는 국민건강보험공단 1차 자료로 확인하지 못해 단정하지 않았습니다.</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은퇴자산 운용 제안서</dc:title>
  <dc:subject>PptxGenJS Presentation</dc:subject>
  <dc:creator>미래에셋증권</dc:creator>
  <cp:lastModifiedBy>미래에셋증권</cp:lastModifiedBy>
  <cp:revision>1</cp:revision>
  <dcterms:created xsi:type="dcterms:W3CDTF">2026-09-07T08:03:14Z</dcterms:created>
  <dcterms:modified xsi:type="dcterms:W3CDTF">2026-09-07T08:03:14Z</dcterms:modified>
</cp:coreProperties>
</file>