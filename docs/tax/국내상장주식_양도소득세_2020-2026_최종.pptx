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2020년부터 2026년까지 대주주 판정에서 실제로 바뀐 것은 셋입니다.
첫째, 3억원 하향은 시행되지 않았습니다. 2020년 2월 18일 공포본에는 "2021년 4월 1일 이후 양도분 3억원"이 조문으로 실제 들어 있었습니다. 그러나 2021년 2월 17일 본에서 그 목이 삭제됐습니다. 연혁 조문을 직접 대조해 확인한 사실입니다.
둘째, 기타주주 합산이 2023년 1월 1일 양도분부터 폐지됐습니다. 최대주주가 아닌 주주는 가족 지분을 더하지 않습니다.
셋째, 보유금액 기준이 2024년 1월 1일 양도분부터 10억원에서 50억원으로 올랐습니다. 지분율 기준은 그대로입니다.
표에서 2023년이 두 줄인 이유는 그 해에 두 달 사이로 두 번 바뀌었기 때문입니다 — 1월 1일 합산 폐지, 3월 1일 친족 축소. 3면에서 자세히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대주주 판정에서 가장 자주 틀리는 지점이 "둘 다 넘어야 하는가"입니다. 아닙니다. 지분율과 보유금액은 선택적 요건입니다.
지분율이 0.1%에 불과해도 보유금액이 50억원을 넘으면 대주주입니다. 삼성전자 같은 대형주를 50억원어치 들고 있으면 지분율은 미미해도 대주주가 됩니다.
보유금액 기준은 네 번 바뀌었습니다. 25억 → 15억 → 10억 → 50억. 2024년 1월 1일 양도분부터 50억원입니다.
상향 시점은 양도일로 가릅니다. 2023년 12월에 판 것은 10억원 기준, 2024년 1월에 판 것은 50억원 기준입니다.
비상장은 10억원, K-OTC에서 거래되는 벤처기업 주식은 40억원으로 따로 정해져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2023년에 가족 합산 쪽이 두 번 바뀌었습니다. 두 달 사이입니다.
1월 1일 — 기타주주 합산이 폐지됐습니다. 최대주주가 아니면 본인 지분만 봅니다.
3월 1일 — 최대주주의 친족 범위가 혈족 6촌·인척 4촌에서 혈족 4촌·인척 3촌으로 좁아졌습니다.
중요한 것은 이 둘이 서로 다른 법령의 개정이라는 점입니다. 합산 폐지는 소득세법 시행령, 친족 축소는 국세기본법 시행령입니다.
그러면 왜 소득세법 시행령은 친족 축소를 따로 반영하지 않았는가. §157이 국세기본법 시행령 제1조의2 제1항을 "인용"하기 때문입니다. 2021년과 2022년 조문, 그리고 현행 조문을 모두 확인했는데 전부 같은 인용 구조였습니다. 인용하는 쪽이 좁아지면 인용받는 쪽도 자동으로 좁아집니다.
그래서 친족 축소가 양도소득세 대주주 판정에 미치는 효력 시점은 국세기본법 시행령의 시행일인 2023년 3월 1일입니다. 공포일 2023년 2월 28일과 하루 차이이므로 둘을 섞지 않도록 주의하십시오.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세율은 과세표준 3억원을 경계로 20%와 25%입니다. 지방소득세 10%를 더하면 22%와 27.5%입니다.
중소기업이 아닌 법인의 주식을 1년 미만 보유하고 팔면 30%, 지방세 포함 33%입니다.
법 조문은 "6천만원 + 3억원 초과액의 25%"라는 누진 형태로 쓰여 있습니다. 3억원 × 20% = 6천만원이므로 구간이 매끄럽게 이어집니다.
증권거래세는 꼭 짚어 주십시오. 양도차익이 아니라 양도가액에 붙습니다. 손해를 보고 팔아도 냅니다. 2026년 기준 코스피·코스닥 모두 0.15%입니다. 초안에 0.20%로 인상된다고 적혀 있던 것은 오류였고, 원문 대조로 바로잡았습니다.
마지막 표는 2026년부터 시행되는 고배당기업 배당소득 분리과세입니다. 배당성향 40% 이상 등 요건을 갖춘 기업의 배당에만 적용되고, 2028년이 속하는 사업연도까지 한시적입니다.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256032"/>
            <a:ext cx="11064240" cy="201168"/>
          </a:xfrm>
          <a:prstGeom prst="rect">
            <a:avLst/>
          </a:prstGeom>
          <a:noFill/>
          <a:ln/>
        </p:spPr>
        <p:txBody>
          <a:bodyPr wrap="square" lIns="0" tIns="0" rIns="0" bIns="0" rtlCol="0" anchor="ctr"/>
          <a:lstStyle/>
          <a:p>
            <a:pPr indent="0" marL="0">
              <a:buNone/>
            </a:pPr>
            <a:r>
              <a:rPr lang="en-US" sz="1000" b="1" spc="60" kern="0" dirty="0">
                <a:solidFill>
                  <a:srgbClr val="F58220"/>
                </a:solidFill>
                <a:latin typeface="Spoqa Han Sans Neo" pitchFamily="34" charset="0"/>
                <a:ea typeface="Spoqa Han Sans Neo" pitchFamily="34" charset="-122"/>
                <a:cs typeface="Spoqa Han Sans Neo" pitchFamily="34" charset="-120"/>
              </a:rPr>
              <a:t>국내 상장주식 양도소득세</a:t>
            </a:r>
            <a:endParaRPr lang="en-US" sz="1000" dirty="0"/>
          </a:p>
        </p:txBody>
      </p:sp>
      <p:sp>
        <p:nvSpPr>
          <p:cNvPr id="3" name="Text 1"/>
          <p:cNvSpPr txBox="1"/>
          <p:nvPr/>
        </p:nvSpPr>
        <p:spPr>
          <a:xfrm>
            <a:off x="548640" y="502920"/>
            <a:ext cx="11064240" cy="475488"/>
          </a:xfrm>
          <a:prstGeom prst="rect">
            <a:avLst/>
          </a:prstGeom>
          <a:noFill/>
          <a:ln/>
        </p:spPr>
        <p:txBody>
          <a:bodyPr wrap="square" lIns="0" tIns="0" rIns="0" bIns="0" rtlCol="0" anchor="ctr"/>
          <a:lstStyle/>
          <a:p>
            <a:pPr indent="0" marL="0">
              <a:buNone/>
            </a:pPr>
            <a:r>
              <a:rPr lang="en-US" sz="2100" b="1" dirty="0">
                <a:solidFill>
                  <a:srgbClr val="1A1A1A"/>
                </a:solidFill>
                <a:latin typeface="Spoqa Han Sans Neo" pitchFamily="34" charset="0"/>
                <a:ea typeface="Spoqa Han Sans Neo" pitchFamily="34" charset="-122"/>
                <a:cs typeface="Spoqa Han Sans Neo" pitchFamily="34" charset="-120"/>
              </a:rPr>
              <a:t>2020 ~ 2026년 양도분 — 바뀐 것은 셋이다</a:t>
            </a:r>
            <a:endParaRPr lang="en-US" sz="2100" dirty="0"/>
          </a:p>
        </p:txBody>
      </p:sp>
      <p:sp>
        <p:nvSpPr>
          <p:cNvPr id="4" name="Shape 2"/>
          <p:cNvSpPr/>
          <p:nvPr/>
        </p:nvSpPr>
        <p:spPr>
          <a:xfrm>
            <a:off x="548640" y="1078992"/>
            <a:ext cx="11064240" cy="10973"/>
          </a:xfrm>
          <a:prstGeom prst="rect">
            <a:avLst/>
          </a:prstGeom>
          <a:solidFill>
            <a:srgbClr val="F58220"/>
          </a:solidFill>
          <a:ln w="12700">
            <a:solidFill>
              <a:srgbClr val="333333"/>
            </a:solidFill>
            <a:prstDash val="solid"/>
          </a:ln>
        </p:spPr>
      </p:sp>
      <p:sp>
        <p:nvSpPr>
          <p:cNvPr id="5" name="Shape 3"/>
          <p:cNvSpPr/>
          <p:nvPr/>
        </p:nvSpPr>
        <p:spPr>
          <a:xfrm>
            <a:off x="548640" y="1298448"/>
            <a:ext cx="3553968" cy="1024128"/>
          </a:xfrm>
          <a:prstGeom prst="rect">
            <a:avLst>
              <a:gd name="adj" fmla="val 3571"/>
            </a:avLst>
          </a:prstGeom>
          <a:solidFill>
            <a:srgbClr val="ECEFF4"/>
          </a:solidFill>
          <a:ln w="9525">
            <a:solidFill>
              <a:srgbClr val="E5E4E1"/>
            </a:solidFill>
            <a:prstDash val="solid"/>
          </a:ln>
        </p:spPr>
      </p:sp>
      <p:sp>
        <p:nvSpPr>
          <p:cNvPr id="6" name="Text 4"/>
          <p:cNvSpPr txBox="1"/>
          <p:nvPr/>
        </p:nvSpPr>
        <p:spPr>
          <a:xfrm>
            <a:off x="713232" y="1417320"/>
            <a:ext cx="3224784" cy="237744"/>
          </a:xfrm>
          <a:prstGeom prst="rect">
            <a:avLst/>
          </a:prstGeom>
          <a:noFill/>
          <a:ln/>
        </p:spPr>
        <p:txBody>
          <a:bodyPr wrap="square" lIns="0" tIns="0" rIns="0" bIns="0" rtlCol="0" anchor="ctr"/>
          <a:lstStyle/>
          <a:p>
            <a:pPr indent="0" marL="0">
              <a:buNone/>
            </a:pPr>
            <a:r>
              <a:rPr lang="en-US" sz="1150" b="1" dirty="0">
                <a:solidFill>
                  <a:srgbClr val="F58220"/>
                </a:solidFill>
                <a:latin typeface="Spoqa Han Sans Neo" pitchFamily="34" charset="0"/>
                <a:ea typeface="Spoqa Han Sans Neo" pitchFamily="34" charset="-122"/>
                <a:cs typeface="Spoqa Han Sans Neo" pitchFamily="34" charset="-120"/>
              </a:rPr>
              <a:t>① 3억원 하향은 끝내 시행되지 않았다</a:t>
            </a:r>
            <a:endParaRPr lang="en-US" sz="1150" dirty="0"/>
          </a:p>
        </p:txBody>
      </p:sp>
      <p:sp>
        <p:nvSpPr>
          <p:cNvPr id="7" name="Text 5"/>
          <p:cNvSpPr txBox="1"/>
          <p:nvPr/>
        </p:nvSpPr>
        <p:spPr>
          <a:xfrm>
            <a:off x="713232" y="1673352"/>
            <a:ext cx="3224784" cy="521208"/>
          </a:xfrm>
          <a:prstGeom prst="rect">
            <a:avLst/>
          </a:prstGeom>
          <a:noFill/>
          <a:ln/>
        </p:spPr>
        <p:txBody>
          <a:bodyPr wrap="square" lIns="0" tIns="0" rIns="0" bIns="0" rtlCol="0" anchor="t"/>
          <a:lstStyle/>
          <a:p>
            <a:pPr indent="0" marL="0">
              <a:lnSpc>
                <a:spcPct val="122000"/>
              </a:lnSpc>
              <a:buNone/>
            </a:pPr>
            <a:r>
              <a:rPr lang="en-US" sz="1000" dirty="0">
                <a:solidFill>
                  <a:srgbClr val="3D3D3D"/>
                </a:solidFill>
                <a:latin typeface="Spoqa Han Sans Neo" pitchFamily="34" charset="0"/>
                <a:ea typeface="Spoqa Han Sans Neo" pitchFamily="34" charset="-122"/>
                <a:cs typeface="Spoqa Han Sans Neo" pitchFamily="34" charset="-120"/>
              </a:rPr>
              <a:t>2020. 2. 18. 본에 「2021. 4. 1 이후 3억원」이 실제로</a:t>
            </a:r>
            <a:endParaRPr lang="en-US" sz="1000" dirty="0"/>
          </a:p>
          <a:p>
            <a:pPr indent="0" marL="0">
              <a:lnSpc>
                <a:spcPct val="122000"/>
              </a:lnSpc>
              <a:buNone/>
            </a:pPr>
            <a:r>
              <a:rPr lang="en-US" sz="1000" dirty="0">
                <a:solidFill>
                  <a:srgbClr val="3D3D3D"/>
                </a:solidFill>
                <a:latin typeface="Spoqa Han Sans Neo" pitchFamily="34" charset="0"/>
                <a:ea typeface="Spoqa Han Sans Neo" pitchFamily="34" charset="-122"/>
                <a:cs typeface="Spoqa Han Sans Neo" pitchFamily="34" charset="-120"/>
              </a:rPr>
              <a:t>있었으나, 2021. 2. 17. 본에서 그 목이 삭제됐다.</a:t>
            </a:r>
            <a:endParaRPr lang="en-US" sz="1000" dirty="0"/>
          </a:p>
        </p:txBody>
      </p:sp>
      <p:sp>
        <p:nvSpPr>
          <p:cNvPr id="8" name="Shape 6"/>
          <p:cNvSpPr/>
          <p:nvPr/>
        </p:nvSpPr>
        <p:spPr>
          <a:xfrm>
            <a:off x="4303776" y="1298448"/>
            <a:ext cx="3553968" cy="1024128"/>
          </a:xfrm>
          <a:prstGeom prst="rect">
            <a:avLst>
              <a:gd name="adj" fmla="val 3571"/>
            </a:avLst>
          </a:prstGeom>
          <a:solidFill>
            <a:srgbClr val="ECEFF4"/>
          </a:solidFill>
          <a:ln w="9525">
            <a:solidFill>
              <a:srgbClr val="E5E4E1"/>
            </a:solidFill>
            <a:prstDash val="solid"/>
          </a:ln>
        </p:spPr>
      </p:sp>
      <p:sp>
        <p:nvSpPr>
          <p:cNvPr id="9" name="Text 7"/>
          <p:cNvSpPr txBox="1"/>
          <p:nvPr/>
        </p:nvSpPr>
        <p:spPr>
          <a:xfrm>
            <a:off x="4468368" y="1417320"/>
            <a:ext cx="3224784" cy="237744"/>
          </a:xfrm>
          <a:prstGeom prst="rect">
            <a:avLst/>
          </a:prstGeom>
          <a:noFill/>
          <a:ln/>
        </p:spPr>
        <p:txBody>
          <a:bodyPr wrap="square" lIns="0" tIns="0" rIns="0" bIns="0" rtlCol="0" anchor="ctr"/>
          <a:lstStyle/>
          <a:p>
            <a:pPr indent="0" marL="0">
              <a:buNone/>
            </a:pPr>
            <a:r>
              <a:rPr lang="en-US" sz="1150" b="1" dirty="0">
                <a:solidFill>
                  <a:srgbClr val="F58220"/>
                </a:solidFill>
                <a:latin typeface="Spoqa Han Sans Neo" pitchFamily="34" charset="0"/>
                <a:ea typeface="Spoqa Han Sans Neo" pitchFamily="34" charset="-122"/>
                <a:cs typeface="Spoqa Han Sans Neo" pitchFamily="34" charset="-120"/>
              </a:rPr>
              <a:t>② 기타주주 합산 폐지 — 2023. 1. 1</a:t>
            </a:r>
            <a:endParaRPr lang="en-US" sz="1150" dirty="0"/>
          </a:p>
        </p:txBody>
      </p:sp>
      <p:sp>
        <p:nvSpPr>
          <p:cNvPr id="10" name="Text 8"/>
          <p:cNvSpPr txBox="1"/>
          <p:nvPr/>
        </p:nvSpPr>
        <p:spPr>
          <a:xfrm>
            <a:off x="4468368" y="1673352"/>
            <a:ext cx="3224784" cy="521208"/>
          </a:xfrm>
          <a:prstGeom prst="rect">
            <a:avLst/>
          </a:prstGeom>
          <a:noFill/>
          <a:ln/>
        </p:spPr>
        <p:txBody>
          <a:bodyPr wrap="square" lIns="0" tIns="0" rIns="0" bIns="0" rtlCol="0" anchor="t"/>
          <a:lstStyle/>
          <a:p>
            <a:pPr indent="0" marL="0">
              <a:lnSpc>
                <a:spcPct val="122000"/>
              </a:lnSpc>
              <a:buNone/>
            </a:pPr>
            <a:r>
              <a:rPr lang="en-US" sz="1000" dirty="0">
                <a:solidFill>
                  <a:srgbClr val="3D3D3D"/>
                </a:solidFill>
                <a:latin typeface="Spoqa Han Sans Neo" pitchFamily="34" charset="0"/>
                <a:ea typeface="Spoqa Han Sans Neo" pitchFamily="34" charset="-122"/>
                <a:cs typeface="Spoqa Han Sans Neo" pitchFamily="34" charset="-120"/>
              </a:rPr>
              <a:t>상장주식의 최대주주가 아닌 주주는 본인 보유분만으로</a:t>
            </a:r>
            <a:endParaRPr lang="en-US" sz="1000" dirty="0"/>
          </a:p>
          <a:p>
            <a:pPr indent="0" marL="0">
              <a:lnSpc>
                <a:spcPct val="122000"/>
              </a:lnSpc>
              <a:buNone/>
            </a:pPr>
            <a:r>
              <a:rPr lang="en-US" sz="1000" dirty="0">
                <a:solidFill>
                  <a:srgbClr val="3D3D3D"/>
                </a:solidFill>
                <a:latin typeface="Spoqa Han Sans Neo" pitchFamily="34" charset="0"/>
                <a:ea typeface="Spoqa Han Sans Neo" pitchFamily="34" charset="-122"/>
                <a:cs typeface="Spoqa Han Sans Neo" pitchFamily="34" charset="-120"/>
              </a:rPr>
              <a:t>판정한다. 가족 지분을 더하지 않는다.</a:t>
            </a:r>
            <a:endParaRPr lang="en-US" sz="1000" dirty="0"/>
          </a:p>
        </p:txBody>
      </p:sp>
      <p:sp>
        <p:nvSpPr>
          <p:cNvPr id="11" name="Shape 9"/>
          <p:cNvSpPr/>
          <p:nvPr/>
        </p:nvSpPr>
        <p:spPr>
          <a:xfrm>
            <a:off x="8058912" y="1298448"/>
            <a:ext cx="3553968" cy="1024128"/>
          </a:xfrm>
          <a:prstGeom prst="rect">
            <a:avLst>
              <a:gd name="adj" fmla="val 3571"/>
            </a:avLst>
          </a:prstGeom>
          <a:solidFill>
            <a:srgbClr val="ECEFF4"/>
          </a:solidFill>
          <a:ln w="9525">
            <a:solidFill>
              <a:srgbClr val="E5E4E1"/>
            </a:solidFill>
            <a:prstDash val="solid"/>
          </a:ln>
        </p:spPr>
      </p:sp>
      <p:sp>
        <p:nvSpPr>
          <p:cNvPr id="12" name="Text 10"/>
          <p:cNvSpPr txBox="1"/>
          <p:nvPr/>
        </p:nvSpPr>
        <p:spPr>
          <a:xfrm>
            <a:off x="8223504" y="1417320"/>
            <a:ext cx="3224784" cy="237744"/>
          </a:xfrm>
          <a:prstGeom prst="rect">
            <a:avLst/>
          </a:prstGeom>
          <a:noFill/>
          <a:ln/>
        </p:spPr>
        <p:txBody>
          <a:bodyPr wrap="square" lIns="0" tIns="0" rIns="0" bIns="0" rtlCol="0" anchor="ctr"/>
          <a:lstStyle/>
          <a:p>
            <a:pPr indent="0" marL="0">
              <a:buNone/>
            </a:pPr>
            <a:r>
              <a:rPr lang="en-US" sz="1150" b="1" dirty="0">
                <a:solidFill>
                  <a:srgbClr val="F58220"/>
                </a:solidFill>
                <a:latin typeface="Spoqa Han Sans Neo" pitchFamily="34" charset="0"/>
                <a:ea typeface="Spoqa Han Sans Neo" pitchFamily="34" charset="-122"/>
                <a:cs typeface="Spoqa Han Sans Neo" pitchFamily="34" charset="-120"/>
              </a:rPr>
              <a:t>③ 보유금액 10억 → 50억 — 2024. 1. 1</a:t>
            </a:r>
            <a:endParaRPr lang="en-US" sz="1150" dirty="0"/>
          </a:p>
        </p:txBody>
      </p:sp>
      <p:sp>
        <p:nvSpPr>
          <p:cNvPr id="13" name="Text 11"/>
          <p:cNvSpPr txBox="1"/>
          <p:nvPr/>
        </p:nvSpPr>
        <p:spPr>
          <a:xfrm>
            <a:off x="8223504" y="1673352"/>
            <a:ext cx="3224784" cy="521208"/>
          </a:xfrm>
          <a:prstGeom prst="rect">
            <a:avLst/>
          </a:prstGeom>
          <a:noFill/>
          <a:ln/>
        </p:spPr>
        <p:txBody>
          <a:bodyPr wrap="square" lIns="0" tIns="0" rIns="0" bIns="0" rtlCol="0" anchor="t"/>
          <a:lstStyle/>
          <a:p>
            <a:pPr indent="0" marL="0">
              <a:lnSpc>
                <a:spcPct val="122000"/>
              </a:lnSpc>
              <a:buNone/>
            </a:pPr>
            <a:r>
              <a:rPr lang="en-US" sz="1000" dirty="0">
                <a:solidFill>
                  <a:srgbClr val="3D3D3D"/>
                </a:solidFill>
                <a:latin typeface="Spoqa Han Sans Neo" pitchFamily="34" charset="0"/>
                <a:ea typeface="Spoqa Han Sans Neo" pitchFamily="34" charset="-122"/>
                <a:cs typeface="Spoqa Han Sans Neo" pitchFamily="34" charset="-120"/>
              </a:rPr>
              <a:t>지분율 기준(1 · 2 · 4%)은 그대로다. 양도일이 시행일</a:t>
            </a:r>
            <a:endParaRPr lang="en-US" sz="1000" dirty="0"/>
          </a:p>
          <a:p>
            <a:pPr indent="0" marL="0">
              <a:lnSpc>
                <a:spcPct val="122000"/>
              </a:lnSpc>
              <a:buNone/>
            </a:pPr>
            <a:r>
              <a:rPr lang="en-US" sz="1000" dirty="0">
                <a:solidFill>
                  <a:srgbClr val="3D3D3D"/>
                </a:solidFill>
                <a:latin typeface="Spoqa Han Sans Neo" pitchFamily="34" charset="0"/>
                <a:ea typeface="Spoqa Han Sans Neo" pitchFamily="34" charset="-122"/>
                <a:cs typeface="Spoqa Han Sans Neo" pitchFamily="34" charset="-120"/>
              </a:rPr>
              <a:t>전이면 종전 10억원 기준을 적용한다.</a:t>
            </a:r>
            <a:endParaRPr lang="en-US" sz="1000" dirty="0"/>
          </a:p>
        </p:txBody>
      </p:sp>
      <p:sp>
        <p:nvSpPr>
          <p:cNvPr id="14" name="Text 12"/>
          <p:cNvSpPr txBox="1"/>
          <p:nvPr/>
        </p:nvSpPr>
        <p:spPr>
          <a:xfrm>
            <a:off x="548640" y="2468880"/>
            <a:ext cx="11064240" cy="219456"/>
          </a:xfrm>
          <a:prstGeom prst="rect">
            <a:avLst/>
          </a:prstGeom>
          <a:noFill/>
          <a:ln/>
        </p:spPr>
        <p:txBody>
          <a:bodyPr wrap="square" lIns="0" tIns="0" rIns="0" bIns="0" rtlCol="0" anchor="ctr"/>
          <a:lstStyle/>
          <a:p>
            <a:pPr indent="0" marL="0">
              <a:buNone/>
            </a:pPr>
            <a:r>
              <a:rPr lang="en-US" sz="1150" b="1" dirty="0">
                <a:solidFill>
                  <a:srgbClr val="043B72"/>
                </a:solidFill>
                <a:latin typeface="Spoqa Han Sans Neo" pitchFamily="34" charset="0"/>
                <a:ea typeface="Spoqa Han Sans Neo" pitchFamily="34" charset="-122"/>
                <a:cs typeface="Spoqa Han Sans Neo" pitchFamily="34" charset="-120"/>
              </a:rPr>
              <a:t>양도 시기별 대주주 판정 기준</a:t>
            </a:r>
            <a:endParaRPr lang="en-US" sz="115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548640" y="2743200"/>
          <a:ext cx="11064240" cy="914400"/>
        </p:xfrm>
        <a:graphic>
          <a:graphicData uri="http://schemas.openxmlformats.org/drawingml/2006/table">
            <a:tbl>
              <a:tblPr/>
              <a:tblGrid>
                <a:gridCol w="2377440"/>
                <a:gridCol w="1737360"/>
                <a:gridCol w="2651760"/>
                <a:gridCol w="1920240"/>
                <a:gridCol w="2377440"/>
              </a:tblGrid>
              <a:tr h="274320">
                <a:tc>
                  <a:txBody>
                    <a:bodyPr/>
                    <a:lstStyle/>
                    <a:p>
                      <a:pPr algn="ctr" indent="0" marL="0">
                        <a:buNone/>
                      </a:pPr>
                      <a:r>
                        <a:rPr lang="en-US" sz="950" b="1" dirty="0">
                          <a:solidFill>
                            <a:srgbClr val="1A1A1A"/>
                          </a:solidFill>
                          <a:latin typeface="Spoqa Han Sans Neo" pitchFamily="34" charset="0"/>
                          <a:ea typeface="Spoqa Han Sans Neo" pitchFamily="34" charset="-122"/>
                          <a:cs typeface="Spoqa Han Sans Neo" pitchFamily="34" charset="-120"/>
                        </a:rPr>
                        <a:t>양도 시기</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algn="ctr" indent="0" marL="0">
                        <a:buNone/>
                      </a:pPr>
                      <a:r>
                        <a:rPr lang="en-US" sz="950" b="1" dirty="0">
                          <a:solidFill>
                            <a:srgbClr val="1A1A1A"/>
                          </a:solidFill>
                          <a:latin typeface="Spoqa Han Sans Neo" pitchFamily="34" charset="0"/>
                          <a:ea typeface="Spoqa Han Sans Neo" pitchFamily="34" charset="-122"/>
                          <a:cs typeface="Spoqa Han Sans Neo" pitchFamily="34" charset="-120"/>
                        </a:rPr>
                        <a:t>보유금액 기준</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algn="ctr" indent="0" marL="0">
                        <a:buNone/>
                      </a:pPr>
                      <a:r>
                        <a:rPr lang="en-US" sz="950" b="1" dirty="0">
                          <a:solidFill>
                            <a:srgbClr val="1A1A1A"/>
                          </a:solidFill>
                          <a:latin typeface="Spoqa Han Sans Neo" pitchFamily="34" charset="0"/>
                          <a:ea typeface="Spoqa Han Sans Neo" pitchFamily="34" charset="-122"/>
                          <a:cs typeface="Spoqa Han Sans Neo" pitchFamily="34" charset="-120"/>
                        </a:rPr>
                        <a:t>지분율 (코스피 · 코스닥 · 코넥스)</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algn="ctr" indent="0" marL="0">
                        <a:buNone/>
                      </a:pPr>
                      <a:r>
                        <a:rPr lang="en-US" sz="950" b="1" dirty="0">
                          <a:solidFill>
                            <a:srgbClr val="1A1A1A"/>
                          </a:solidFill>
                          <a:latin typeface="Spoqa Han Sans Neo" pitchFamily="34" charset="0"/>
                          <a:ea typeface="Spoqa Han Sans Neo" pitchFamily="34" charset="-122"/>
                          <a:cs typeface="Spoqa Han Sans Neo" pitchFamily="34" charset="-120"/>
                        </a:rPr>
                        <a:t>기타주주 합산</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algn="ctr" indent="0" marL="0">
                        <a:buNone/>
                      </a:pPr>
                      <a:r>
                        <a:rPr lang="en-US" sz="950" b="1" dirty="0">
                          <a:solidFill>
                            <a:srgbClr val="1A1A1A"/>
                          </a:solidFill>
                          <a:latin typeface="Spoqa Han Sans Neo" pitchFamily="34" charset="0"/>
                          <a:ea typeface="Spoqa Han Sans Neo" pitchFamily="34" charset="-122"/>
                          <a:cs typeface="Spoqa Han Sans Neo" pitchFamily="34" charset="-120"/>
                        </a:rPr>
                        <a:t>최대주주 친족</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r>
              <a:tr h="274320">
                <a:tc>
                  <a:txBody>
                    <a:bodyPr/>
                    <a:lstStyle/>
                    <a:p>
                      <a:pPr algn="ctr" indent="0" marL="0">
                        <a:buNone/>
                      </a:pPr>
                      <a:r>
                        <a:rPr lang="en-US" sz="950" dirty="0">
                          <a:solidFill>
                            <a:srgbClr val="3D3D3D"/>
                          </a:solidFill>
                          <a:latin typeface="Spoqa Han Sans Neo" pitchFamily="34" charset="0"/>
                          <a:ea typeface="Spoqa Han Sans Neo" pitchFamily="34" charset="-122"/>
                          <a:cs typeface="Spoqa Han Sans Neo" pitchFamily="34" charset="-120"/>
                        </a:rPr>
                        <a:t>~ 2018. 3. 31</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D3D3D"/>
                          </a:solidFill>
                          <a:latin typeface="Spoqa Han Sans Neo" pitchFamily="34" charset="0"/>
                          <a:ea typeface="Spoqa Han Sans Neo" pitchFamily="34" charset="-122"/>
                          <a:cs typeface="Spoqa Han Sans Neo" pitchFamily="34" charset="-120"/>
                        </a:rPr>
                        <a:t>25억원</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D3D3D"/>
                          </a:solidFill>
                          <a:latin typeface="Spoqa Han Sans Neo" pitchFamily="34" charset="0"/>
                          <a:ea typeface="Spoqa Han Sans Neo" pitchFamily="34" charset="-122"/>
                          <a:cs typeface="Spoqa Han Sans Neo" pitchFamily="34" charset="-120"/>
                        </a:rPr>
                        <a:t>1% · 2% · 4%</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D3D3D"/>
                          </a:solidFill>
                          <a:latin typeface="Spoqa Han Sans Neo" pitchFamily="34" charset="0"/>
                          <a:ea typeface="Spoqa Han Sans Neo" pitchFamily="34" charset="-122"/>
                          <a:cs typeface="Spoqa Han Sans Neo" pitchFamily="34" charset="-120"/>
                        </a:rPr>
                        <a:t>합산</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D3D3D"/>
                          </a:solidFill>
                          <a:latin typeface="Spoqa Han Sans Neo" pitchFamily="34" charset="0"/>
                          <a:ea typeface="Spoqa Han Sans Neo" pitchFamily="34" charset="-122"/>
                          <a:cs typeface="Spoqa Han Sans Neo" pitchFamily="34" charset="-120"/>
                        </a:rPr>
                        <a:t>혈족 6촌 · 인척 4촌</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274320">
                <a:tc>
                  <a:txBody>
                    <a:bodyPr/>
                    <a:lstStyle/>
                    <a:p>
                      <a:pPr algn="ctr" indent="0" marL="0">
                        <a:buNone/>
                      </a:pPr>
                      <a:r>
                        <a:rPr lang="en-US" sz="950" dirty="0">
                          <a:solidFill>
                            <a:srgbClr val="3D3D3D"/>
                          </a:solidFill>
                          <a:latin typeface="Spoqa Han Sans Neo" pitchFamily="34" charset="0"/>
                          <a:ea typeface="Spoqa Han Sans Neo" pitchFamily="34" charset="-122"/>
                          <a:cs typeface="Spoqa Han Sans Neo" pitchFamily="34" charset="-120"/>
                        </a:rPr>
                        <a:t>2018. 4. 1 ~ 2020. 3. 31</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D3D3D"/>
                          </a:solidFill>
                          <a:latin typeface="Spoqa Han Sans Neo" pitchFamily="34" charset="0"/>
                          <a:ea typeface="Spoqa Han Sans Neo" pitchFamily="34" charset="-122"/>
                          <a:cs typeface="Spoqa Han Sans Neo" pitchFamily="34" charset="-120"/>
                        </a:rPr>
                        <a:t>15억원</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D3D3D"/>
                          </a:solidFill>
                          <a:latin typeface="Spoqa Han Sans Neo" pitchFamily="34" charset="0"/>
                          <a:ea typeface="Spoqa Han Sans Neo" pitchFamily="34" charset="-122"/>
                          <a:cs typeface="Spoqa Han Sans Neo" pitchFamily="34" charset="-120"/>
                        </a:rPr>
                        <a:t>1% · 2% · 4%</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D3D3D"/>
                          </a:solidFill>
                          <a:latin typeface="Spoqa Han Sans Neo" pitchFamily="34" charset="0"/>
                          <a:ea typeface="Spoqa Han Sans Neo" pitchFamily="34" charset="-122"/>
                          <a:cs typeface="Spoqa Han Sans Neo" pitchFamily="34" charset="-120"/>
                        </a:rPr>
                        <a:t>합산</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D3D3D"/>
                          </a:solidFill>
                          <a:latin typeface="Spoqa Han Sans Neo" pitchFamily="34" charset="0"/>
                          <a:ea typeface="Spoqa Han Sans Neo" pitchFamily="34" charset="-122"/>
                          <a:cs typeface="Spoqa Han Sans Neo" pitchFamily="34" charset="-120"/>
                        </a:rPr>
                        <a:t>혈족 6촌 · 인척 4촌</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274320">
                <a:tc>
                  <a:txBody>
                    <a:bodyPr/>
                    <a:lstStyle/>
                    <a:p>
                      <a:pPr algn="ctr" indent="0" marL="0">
                        <a:buNone/>
                      </a:pPr>
                      <a:r>
                        <a:rPr lang="en-US" sz="950" dirty="0">
                          <a:solidFill>
                            <a:srgbClr val="3D3D3D"/>
                          </a:solidFill>
                          <a:latin typeface="Spoqa Han Sans Neo" pitchFamily="34" charset="0"/>
                          <a:ea typeface="Spoqa Han Sans Neo" pitchFamily="34" charset="-122"/>
                          <a:cs typeface="Spoqa Han Sans Neo" pitchFamily="34" charset="-120"/>
                        </a:rPr>
                        <a:t>2020. 4. 1 ~ 2022. 12. 31</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D3D3D"/>
                          </a:solidFill>
                          <a:latin typeface="Spoqa Han Sans Neo" pitchFamily="34" charset="0"/>
                          <a:ea typeface="Spoqa Han Sans Neo" pitchFamily="34" charset="-122"/>
                          <a:cs typeface="Spoqa Han Sans Neo" pitchFamily="34" charset="-120"/>
                        </a:rPr>
                        <a:t>10억원</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D3D3D"/>
                          </a:solidFill>
                          <a:latin typeface="Spoqa Han Sans Neo" pitchFamily="34" charset="0"/>
                          <a:ea typeface="Spoqa Han Sans Neo" pitchFamily="34" charset="-122"/>
                          <a:cs typeface="Spoqa Han Sans Neo" pitchFamily="34" charset="-120"/>
                        </a:rPr>
                        <a:t>1% · 2% · 4%</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D3D3D"/>
                          </a:solidFill>
                          <a:latin typeface="Spoqa Han Sans Neo" pitchFamily="34" charset="0"/>
                          <a:ea typeface="Spoqa Han Sans Neo" pitchFamily="34" charset="-122"/>
                          <a:cs typeface="Spoqa Han Sans Neo" pitchFamily="34" charset="-120"/>
                        </a:rPr>
                        <a:t>합산</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D3D3D"/>
                          </a:solidFill>
                          <a:latin typeface="Spoqa Han Sans Neo" pitchFamily="34" charset="0"/>
                          <a:ea typeface="Spoqa Han Sans Neo" pitchFamily="34" charset="-122"/>
                          <a:cs typeface="Spoqa Han Sans Neo" pitchFamily="34" charset="-120"/>
                        </a:rPr>
                        <a:t>혈족 6촌 · 인척 4촌</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274320">
                <a:tc>
                  <a:txBody>
                    <a:bodyPr/>
                    <a:lstStyle/>
                    <a:p>
                      <a:pPr algn="ctr" indent="0" marL="0">
                        <a:buNone/>
                      </a:pPr>
                      <a:r>
                        <a:rPr lang="en-US" sz="950" dirty="0">
                          <a:solidFill>
                            <a:srgbClr val="3D3D3D"/>
                          </a:solidFill>
                          <a:latin typeface="Spoqa Han Sans Neo" pitchFamily="34" charset="0"/>
                          <a:ea typeface="Spoqa Han Sans Neo" pitchFamily="34" charset="-122"/>
                          <a:cs typeface="Spoqa Han Sans Neo" pitchFamily="34" charset="-120"/>
                        </a:rPr>
                        <a:t>2023. 1. 1 ~ 2. 28</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D3D3D"/>
                          </a:solidFill>
                          <a:latin typeface="Spoqa Han Sans Neo" pitchFamily="34" charset="0"/>
                          <a:ea typeface="Spoqa Han Sans Neo" pitchFamily="34" charset="-122"/>
                          <a:cs typeface="Spoqa Han Sans Neo" pitchFamily="34" charset="-120"/>
                        </a:rPr>
                        <a:t>10억원</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D3D3D"/>
                          </a:solidFill>
                          <a:latin typeface="Spoqa Han Sans Neo" pitchFamily="34" charset="0"/>
                          <a:ea typeface="Spoqa Han Sans Neo" pitchFamily="34" charset="-122"/>
                          <a:cs typeface="Spoqa Han Sans Neo" pitchFamily="34" charset="-120"/>
                        </a:rPr>
                        <a:t>1% · 2% · 4%</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D3D3D"/>
                          </a:solidFill>
                          <a:latin typeface="Spoqa Han Sans Neo" pitchFamily="34" charset="0"/>
                          <a:ea typeface="Spoqa Han Sans Neo" pitchFamily="34" charset="-122"/>
                          <a:cs typeface="Spoqa Han Sans Neo" pitchFamily="34" charset="-120"/>
                        </a:rPr>
                        <a:t>폐지 — 본인만</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D3D3D"/>
                          </a:solidFill>
                          <a:latin typeface="Spoqa Han Sans Neo" pitchFamily="34" charset="0"/>
                          <a:ea typeface="Spoqa Han Sans Neo" pitchFamily="34" charset="-122"/>
                          <a:cs typeface="Spoqa Han Sans Neo" pitchFamily="34" charset="-120"/>
                        </a:rPr>
                        <a:t>혈족 6촌 · 인척 4촌</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274320">
                <a:tc>
                  <a:txBody>
                    <a:bodyPr/>
                    <a:lstStyle/>
                    <a:p>
                      <a:pPr algn="ctr" indent="0" marL="0">
                        <a:buNone/>
                      </a:pPr>
                      <a:r>
                        <a:rPr lang="en-US" sz="950" dirty="0">
                          <a:solidFill>
                            <a:srgbClr val="3D3D3D"/>
                          </a:solidFill>
                          <a:latin typeface="Spoqa Han Sans Neo" pitchFamily="34" charset="0"/>
                          <a:ea typeface="Spoqa Han Sans Neo" pitchFamily="34" charset="-122"/>
                          <a:cs typeface="Spoqa Han Sans Neo" pitchFamily="34" charset="-120"/>
                        </a:rPr>
                        <a:t>2023. 3. 1 ~ 12. 31</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D3D3D"/>
                          </a:solidFill>
                          <a:latin typeface="Spoqa Han Sans Neo" pitchFamily="34" charset="0"/>
                          <a:ea typeface="Spoqa Han Sans Neo" pitchFamily="34" charset="-122"/>
                          <a:cs typeface="Spoqa Han Sans Neo" pitchFamily="34" charset="-120"/>
                        </a:rPr>
                        <a:t>10억원</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D3D3D"/>
                          </a:solidFill>
                          <a:latin typeface="Spoqa Han Sans Neo" pitchFamily="34" charset="0"/>
                          <a:ea typeface="Spoqa Han Sans Neo" pitchFamily="34" charset="-122"/>
                          <a:cs typeface="Spoqa Han Sans Neo" pitchFamily="34" charset="-120"/>
                        </a:rPr>
                        <a:t>1% · 2% · 4%</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D3D3D"/>
                          </a:solidFill>
                          <a:latin typeface="Spoqa Han Sans Neo" pitchFamily="34" charset="0"/>
                          <a:ea typeface="Spoqa Han Sans Neo" pitchFamily="34" charset="-122"/>
                          <a:cs typeface="Spoqa Han Sans Neo" pitchFamily="34" charset="-120"/>
                        </a:rPr>
                        <a:t>본인만</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D3D3D"/>
                          </a:solidFill>
                          <a:latin typeface="Spoqa Han Sans Neo" pitchFamily="34" charset="0"/>
                          <a:ea typeface="Spoqa Han Sans Neo" pitchFamily="34" charset="-122"/>
                          <a:cs typeface="Spoqa Han Sans Neo" pitchFamily="34" charset="-120"/>
                        </a:rPr>
                        <a:t>혈족 4촌 · 인척 3촌</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274320">
                <a:tc>
                  <a:txBody>
                    <a:bodyPr/>
                    <a:lstStyle/>
                    <a:p>
                      <a:pPr algn="ctr" indent="0" marL="0">
                        <a:buNone/>
                      </a:pPr>
                      <a:r>
                        <a:rPr lang="en-US" sz="950" b="1" dirty="0">
                          <a:solidFill>
                            <a:srgbClr val="3D3D3D"/>
                          </a:solidFill>
                          <a:latin typeface="Spoqa Han Sans Neo" pitchFamily="34" charset="0"/>
                          <a:ea typeface="Spoqa Han Sans Neo" pitchFamily="34" charset="-122"/>
                          <a:cs typeface="Spoqa Han Sans Neo" pitchFamily="34" charset="-120"/>
                        </a:rPr>
                        <a:t>2024. 1. 1 ~ 현재</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c>
                  <a:txBody>
                    <a:bodyPr/>
                    <a:lstStyle/>
                    <a:p>
                      <a:pPr algn="ctr" indent="0" marL="0">
                        <a:buNone/>
                      </a:pPr>
                      <a:r>
                        <a:rPr lang="en-US" sz="950" b="1" dirty="0">
                          <a:solidFill>
                            <a:srgbClr val="3D3D3D"/>
                          </a:solidFill>
                          <a:latin typeface="Spoqa Han Sans Neo" pitchFamily="34" charset="0"/>
                          <a:ea typeface="Spoqa Han Sans Neo" pitchFamily="34" charset="-122"/>
                          <a:cs typeface="Spoqa Han Sans Neo" pitchFamily="34" charset="-120"/>
                        </a:rPr>
                        <a:t>50억원</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c>
                  <a:txBody>
                    <a:bodyPr/>
                    <a:lstStyle/>
                    <a:p>
                      <a:pPr algn="ctr" indent="0" marL="0">
                        <a:buNone/>
                      </a:pPr>
                      <a:r>
                        <a:rPr lang="en-US" sz="950" b="1" dirty="0">
                          <a:solidFill>
                            <a:srgbClr val="3D3D3D"/>
                          </a:solidFill>
                          <a:latin typeface="Spoqa Han Sans Neo" pitchFamily="34" charset="0"/>
                          <a:ea typeface="Spoqa Han Sans Neo" pitchFamily="34" charset="-122"/>
                          <a:cs typeface="Spoqa Han Sans Neo" pitchFamily="34" charset="-120"/>
                        </a:rPr>
                        <a:t>1% · 2% · 4%</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c>
                  <a:txBody>
                    <a:bodyPr/>
                    <a:lstStyle/>
                    <a:p>
                      <a:pPr algn="ctr" indent="0" marL="0">
                        <a:buNone/>
                      </a:pPr>
                      <a:r>
                        <a:rPr lang="en-US" sz="950" b="1" dirty="0">
                          <a:solidFill>
                            <a:srgbClr val="3D3D3D"/>
                          </a:solidFill>
                          <a:latin typeface="Spoqa Han Sans Neo" pitchFamily="34" charset="0"/>
                          <a:ea typeface="Spoqa Han Sans Neo" pitchFamily="34" charset="-122"/>
                          <a:cs typeface="Spoqa Han Sans Neo" pitchFamily="34" charset="-120"/>
                        </a:rPr>
                        <a:t>본인만</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c>
                  <a:txBody>
                    <a:bodyPr/>
                    <a:lstStyle/>
                    <a:p>
                      <a:pPr algn="ctr" indent="0" marL="0">
                        <a:buNone/>
                      </a:pPr>
                      <a:r>
                        <a:rPr lang="en-US" sz="950" b="1" dirty="0">
                          <a:solidFill>
                            <a:srgbClr val="3D3D3D"/>
                          </a:solidFill>
                          <a:latin typeface="Spoqa Han Sans Neo" pitchFamily="34" charset="0"/>
                          <a:ea typeface="Spoqa Han Sans Neo" pitchFamily="34" charset="-122"/>
                          <a:cs typeface="Spoqa Han Sans Neo" pitchFamily="34" charset="-120"/>
                        </a:rPr>
                        <a:t>혈족 4촌 · 인척 3촌</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r>
            </a:tbl>
          </a:graphicData>
        </a:graphic>
      </p:graphicFrame>
      <p:sp>
        <p:nvSpPr>
          <p:cNvPr id="16" name="Text 13"/>
          <p:cNvSpPr txBox="1"/>
          <p:nvPr/>
        </p:nvSpPr>
        <p:spPr>
          <a:xfrm>
            <a:off x="548640" y="4864608"/>
            <a:ext cx="11064240" cy="822960"/>
          </a:xfrm>
          <a:prstGeom prst="rect">
            <a:avLst/>
          </a:prstGeom>
          <a:noFill/>
          <a:ln/>
        </p:spPr>
        <p:txBody>
          <a:bodyPr wrap="square" lIns="0" tIns="0" rIns="0" bIns="0" rtlCol="0" anchor="t"/>
          <a:lstStyle/>
          <a:p>
            <a:pPr indent="0" marL="0">
              <a:lnSpc>
                <a:spcPct val="118000"/>
              </a:lnSpc>
              <a:buNone/>
            </a:pPr>
            <a:r>
              <a:rPr lang="en-US" sz="850" dirty="0">
                <a:solidFill>
                  <a:srgbClr val="6C6C6C"/>
                </a:solidFill>
                <a:latin typeface="Spoqa Han Sans Neo" pitchFamily="34" charset="0"/>
                <a:ea typeface="Spoqa Han Sans Neo" pitchFamily="34" charset="-122"/>
                <a:cs typeface="Spoqa Han Sans Neo" pitchFamily="34" charset="-120"/>
              </a:rPr>
              <a:t>· 보유금액은 코스피 기준이다. 코넥스는 2020. 4. 1 ~ 2022. 12. 31 기간에 10억원이었고(구 영 §157⑤2호가목), 2024. 1. 1부터 코스피 · 코스닥과 같은 50억원이다.</a:t>
            </a:r>
            <a:endParaRPr lang="en-US" sz="850" dirty="0"/>
          </a:p>
          <a:p>
            <a:pPr indent="0" marL="0">
              <a:lnSpc>
                <a:spcPct val="118000"/>
              </a:lnSpc>
              <a:buNone/>
            </a:pPr>
            <a:r>
              <a:rPr lang="en-US" sz="850" dirty="0">
                <a:solidFill>
                  <a:srgbClr val="6C6C6C"/>
                </a:solidFill>
                <a:latin typeface="Spoqa Han Sans Neo" pitchFamily="34" charset="0"/>
                <a:ea typeface="Spoqa Han Sans Neo" pitchFamily="34" charset="-122"/>
                <a:cs typeface="Spoqa Han Sans Neo" pitchFamily="34" charset="-120"/>
              </a:rPr>
              <a:t>· 「기타주주 합산」은 소득세법 시행령이, 「최대주주 친족」은 국세기본법 시행령이 정한다. 2023년의 두 변화는 근거 법령이 서로 다르다.</a:t>
            </a:r>
            <a:endParaRPr lang="en-US" sz="850" dirty="0"/>
          </a:p>
          <a:p>
            <a:pPr indent="0" marL="0">
              <a:lnSpc>
                <a:spcPct val="118000"/>
              </a:lnSpc>
              <a:buNone/>
            </a:pPr>
            <a:r>
              <a:rPr lang="en-US" sz="850" dirty="0">
                <a:solidFill>
                  <a:srgbClr val="6C6C6C"/>
                </a:solidFill>
                <a:latin typeface="Spoqa Han Sans Neo" pitchFamily="34" charset="0"/>
                <a:ea typeface="Spoqa Han Sans Neo" pitchFamily="34" charset="-122"/>
                <a:cs typeface="Spoqa Han Sans Neo" pitchFamily="34" charset="-120"/>
              </a:rPr>
              <a:t>· 지분율과 보유금액은 선택적 요건이다 — 어느 한쪽만 넘어도 대주주다.</a:t>
            </a:r>
            <a:endParaRPr lang="en-US" sz="850" dirty="0"/>
          </a:p>
        </p:txBody>
      </p:sp>
      <p:sp>
        <p:nvSpPr>
          <p:cNvPr id="17" name="Text 14"/>
          <p:cNvSpPr txBox="1"/>
          <p:nvPr/>
        </p:nvSpPr>
        <p:spPr>
          <a:xfrm>
            <a:off x="548640" y="5870448"/>
            <a:ext cx="11064240" cy="512064"/>
          </a:xfrm>
          <a:prstGeom prst="rect">
            <a:avLst/>
          </a:prstGeom>
          <a:noFill/>
          <a:ln/>
        </p:spPr>
        <p:txBody>
          <a:bodyPr wrap="square" lIns="0" tIns="0" rIns="0" bIns="0" rtlCol="0" anchor="t"/>
          <a:lstStyle/>
          <a:p>
            <a:pPr indent="0" marL="0">
              <a:lnSpc>
                <a:spcPct val="115000"/>
              </a:lnSpc>
              <a:buNone/>
            </a:pPr>
            <a:r>
              <a:rPr lang="en-US" sz="750" dirty="0">
                <a:solidFill>
                  <a:srgbClr val="84888B"/>
                </a:solidFill>
                <a:latin typeface="Spoqa Han Sans Neo" pitchFamily="34" charset="0"/>
                <a:ea typeface="Spoqa Han Sans Neo" pitchFamily="34" charset="-122"/>
                <a:cs typeface="Spoqa Han Sans Neo" pitchFamily="34" charset="-120"/>
              </a:rPr>
              <a:t>근거 — 소득세법 시행령 §157(현행 2026-08-29 수집분) · 구 §157④⑤(공포 2020. 2. 18. 대통령령 제30423호, 2021. 2. 17. 제31442호 연혁 조문 대조) · 국세기본법 시행령 §1의2①(2021-06-01 · 2022-06-01 · 2023-02-01 · 2023-04-01 시점 대조) · 대통령령 제33207호 부칙 · 제33276호 부칙 · 제34061호 부칙. 국가법령정보센터 OPEN API.</a:t>
            </a:r>
            <a:endParaRPr lang="en-US" sz="750" dirty="0"/>
          </a:p>
          <a:p>
            <a:pPr indent="0" marL="0">
              <a:lnSpc>
                <a:spcPct val="115000"/>
              </a:lnSpc>
              <a:buNone/>
            </a:pPr>
            <a:r>
              <a:rPr lang="en-US" sz="750" dirty="0">
                <a:solidFill>
                  <a:srgbClr val="84888B"/>
                </a:solidFill>
                <a:latin typeface="Spoqa Han Sans Neo" pitchFamily="34" charset="0"/>
                <a:ea typeface="Spoqa Han Sans Neo" pitchFamily="34" charset="-122"/>
                <a:cs typeface="Spoqa Han Sans Neo" pitchFamily="34" charset="-120"/>
              </a:rPr>
              <a:t>미확인 — 2023 ~ 2024년 소득세법 시행령 §157 조문 원문. 해당 기간 공포본이 모두 금융투자소득세 시행에 맞춘 「제157조 삭제」 문언을 보인다. 시행일법령 본문 API 신청이 필요하다(open.law.go.kr).</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56032"/>
            <a:ext cx="11064240" cy="201168"/>
          </a:xfrm>
          <a:prstGeom prst="rect">
            <a:avLst/>
          </a:prstGeom>
          <a:noFill/>
          <a:ln/>
        </p:spPr>
        <p:txBody>
          <a:bodyPr wrap="square" lIns="0" tIns="0" rIns="0" bIns="0" rtlCol="0" anchor="ctr"/>
          <a:lstStyle/>
          <a:p>
            <a:pPr indent="0" marL="0">
              <a:buNone/>
            </a:pPr>
            <a:r>
              <a:rPr lang="en-US" sz="1000" b="1" spc="60" kern="0" dirty="0">
                <a:solidFill>
                  <a:srgbClr val="F58220"/>
                </a:solidFill>
                <a:latin typeface="Spoqa Han Sans Neo" pitchFamily="34" charset="0"/>
                <a:ea typeface="Spoqa Han Sans Neo" pitchFamily="34" charset="-122"/>
                <a:cs typeface="Spoqa Han Sans Neo" pitchFamily="34" charset="-120"/>
              </a:rPr>
              <a:t>국내 상장주식 양도소득세 · 대주주 판정</a:t>
            </a:r>
            <a:endParaRPr lang="en-US" sz="1000" dirty="0"/>
          </a:p>
        </p:txBody>
      </p:sp>
      <p:sp>
        <p:nvSpPr>
          <p:cNvPr id="3" name="Text 1"/>
          <p:cNvSpPr txBox="1"/>
          <p:nvPr/>
        </p:nvSpPr>
        <p:spPr>
          <a:xfrm>
            <a:off x="548640" y="502920"/>
            <a:ext cx="11064240" cy="475488"/>
          </a:xfrm>
          <a:prstGeom prst="rect">
            <a:avLst/>
          </a:prstGeom>
          <a:noFill/>
          <a:ln/>
        </p:spPr>
        <p:txBody>
          <a:bodyPr wrap="square" lIns="0" tIns="0" rIns="0" bIns="0" rtlCol="0" anchor="ctr"/>
          <a:lstStyle/>
          <a:p>
            <a:pPr indent="0" marL="0">
              <a:buNone/>
            </a:pPr>
            <a:r>
              <a:rPr lang="en-US" sz="2100" b="1" dirty="0">
                <a:solidFill>
                  <a:srgbClr val="1A1A1A"/>
                </a:solidFill>
                <a:latin typeface="Spoqa Han Sans Neo" pitchFamily="34" charset="0"/>
                <a:ea typeface="Spoqa Han Sans Neo" pitchFamily="34" charset="-122"/>
                <a:cs typeface="Spoqa Han Sans Neo" pitchFamily="34" charset="-120"/>
              </a:rPr>
              <a:t>지분율과 보유금액 — 하나만 넘어도 대주주다</a:t>
            </a:r>
            <a:endParaRPr lang="en-US" sz="2100" dirty="0"/>
          </a:p>
        </p:txBody>
      </p:sp>
      <p:sp>
        <p:nvSpPr>
          <p:cNvPr id="4" name="Shape 2"/>
          <p:cNvSpPr/>
          <p:nvPr/>
        </p:nvSpPr>
        <p:spPr>
          <a:xfrm>
            <a:off x="548640" y="1078992"/>
            <a:ext cx="11064240" cy="10973"/>
          </a:xfrm>
          <a:prstGeom prst="rect">
            <a:avLst/>
          </a:prstGeom>
          <a:solidFill>
            <a:srgbClr val="F58220"/>
          </a:solidFill>
          <a:ln w="12700">
            <a:solidFill>
              <a:srgbClr val="333333"/>
            </a:solidFill>
            <a:prstDash val="solid"/>
          </a:ln>
        </p:spPr>
      </p:sp>
      <p:sp>
        <p:nvSpPr>
          <p:cNvPr id="5" name="Text 3"/>
          <p:cNvSpPr txBox="1"/>
          <p:nvPr/>
        </p:nvSpPr>
        <p:spPr>
          <a:xfrm>
            <a:off x="548640" y="1298448"/>
            <a:ext cx="5394960" cy="219456"/>
          </a:xfrm>
          <a:prstGeom prst="rect">
            <a:avLst/>
          </a:prstGeom>
          <a:noFill/>
          <a:ln/>
        </p:spPr>
        <p:txBody>
          <a:bodyPr wrap="square" lIns="0" tIns="0" rIns="0" bIns="0" rtlCol="0" anchor="ctr"/>
          <a:lstStyle/>
          <a:p>
            <a:pPr indent="0" marL="0">
              <a:buNone/>
            </a:pPr>
            <a:r>
              <a:rPr lang="en-US" sz="1150" b="1" dirty="0">
                <a:solidFill>
                  <a:srgbClr val="043B72"/>
                </a:solidFill>
                <a:latin typeface="Spoqa Han Sans Neo" pitchFamily="34" charset="0"/>
                <a:ea typeface="Spoqa Han Sans Neo" pitchFamily="34" charset="-122"/>
                <a:cs typeface="Spoqa Han Sans Neo" pitchFamily="34" charset="-120"/>
              </a:rPr>
              <a:t>① 보유금액 기준 (코스피)</a:t>
            </a:r>
            <a:endParaRPr lang="en-US" sz="11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591056"/>
          <a:ext cx="5394960" cy="914400"/>
        </p:xfrm>
        <a:graphic>
          <a:graphicData uri="http://schemas.openxmlformats.org/drawingml/2006/table">
            <a:tbl>
              <a:tblPr/>
              <a:tblGrid>
                <a:gridCol w="3108960"/>
                <a:gridCol w="2286000"/>
              </a:tblGrid>
              <a:tr h="283464">
                <a:tc>
                  <a:txBody>
                    <a:bodyPr/>
                    <a:lstStyle/>
                    <a:p>
                      <a:pPr algn="ctr" indent="0" marL="0">
                        <a:buNone/>
                      </a:pPr>
                      <a:r>
                        <a:rPr lang="en-US" sz="1000" b="1" dirty="0">
                          <a:solidFill>
                            <a:srgbClr val="1A1A1A"/>
                          </a:solidFill>
                          <a:latin typeface="Spoqa Han Sans Neo" pitchFamily="34" charset="0"/>
                          <a:ea typeface="Spoqa Han Sans Neo" pitchFamily="34" charset="-122"/>
                          <a:cs typeface="Spoqa Han Sans Neo" pitchFamily="34" charset="-120"/>
                        </a:rPr>
                        <a:t>양도 시기</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algn="ctr" indent="0" marL="0">
                        <a:buNone/>
                      </a:pPr>
                      <a:r>
                        <a:rPr lang="en-US" sz="1000" b="1" dirty="0">
                          <a:solidFill>
                            <a:srgbClr val="1A1A1A"/>
                          </a:solidFill>
                          <a:latin typeface="Spoqa Han Sans Neo" pitchFamily="34" charset="0"/>
                          <a:ea typeface="Spoqa Han Sans Neo" pitchFamily="34" charset="-122"/>
                          <a:cs typeface="Spoqa Han Sans Neo" pitchFamily="34" charset="-120"/>
                        </a:rPr>
                        <a:t>보유금액 기준</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r>
              <a:tr h="283464">
                <a:tc>
                  <a:txBody>
                    <a:bodyPr/>
                    <a:lstStyle/>
                    <a:p>
                      <a:pPr algn="ctr" indent="0" marL="0">
                        <a:buNone/>
                      </a:pPr>
                      <a:r>
                        <a:rPr lang="en-US" sz="1000" dirty="0">
                          <a:solidFill>
                            <a:srgbClr val="3D3D3D"/>
                          </a:solidFill>
                          <a:latin typeface="Spoqa Han Sans Neo" pitchFamily="34" charset="0"/>
                          <a:ea typeface="Spoqa Han Sans Neo" pitchFamily="34" charset="-122"/>
                          <a:cs typeface="Spoqa Han Sans Neo" pitchFamily="34" charset="-120"/>
                        </a:rPr>
                        <a:t>~ 2018. 3. 31</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D3D"/>
                          </a:solidFill>
                          <a:latin typeface="Spoqa Han Sans Neo" pitchFamily="34" charset="0"/>
                          <a:ea typeface="Spoqa Han Sans Neo" pitchFamily="34" charset="-122"/>
                          <a:cs typeface="Spoqa Han Sans Neo" pitchFamily="34" charset="-120"/>
                        </a:rPr>
                        <a:t>25억원</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283464">
                <a:tc>
                  <a:txBody>
                    <a:bodyPr/>
                    <a:lstStyle/>
                    <a:p>
                      <a:pPr algn="ctr" indent="0" marL="0">
                        <a:buNone/>
                      </a:pPr>
                      <a:r>
                        <a:rPr lang="en-US" sz="1000" dirty="0">
                          <a:solidFill>
                            <a:srgbClr val="3D3D3D"/>
                          </a:solidFill>
                          <a:latin typeface="Spoqa Han Sans Neo" pitchFamily="34" charset="0"/>
                          <a:ea typeface="Spoqa Han Sans Neo" pitchFamily="34" charset="-122"/>
                          <a:cs typeface="Spoqa Han Sans Neo" pitchFamily="34" charset="-120"/>
                        </a:rPr>
                        <a:t>2018. 4. 1 ~ 2020. 3. 31</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D3D"/>
                          </a:solidFill>
                          <a:latin typeface="Spoqa Han Sans Neo" pitchFamily="34" charset="0"/>
                          <a:ea typeface="Spoqa Han Sans Neo" pitchFamily="34" charset="-122"/>
                          <a:cs typeface="Spoqa Han Sans Neo" pitchFamily="34" charset="-120"/>
                        </a:rPr>
                        <a:t>15억원</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283464">
                <a:tc>
                  <a:txBody>
                    <a:bodyPr/>
                    <a:lstStyle/>
                    <a:p>
                      <a:pPr algn="ctr" indent="0" marL="0">
                        <a:buNone/>
                      </a:pPr>
                      <a:r>
                        <a:rPr lang="en-US" sz="1000" dirty="0">
                          <a:solidFill>
                            <a:srgbClr val="3D3D3D"/>
                          </a:solidFill>
                          <a:latin typeface="Spoqa Han Sans Neo" pitchFamily="34" charset="0"/>
                          <a:ea typeface="Spoqa Han Sans Neo" pitchFamily="34" charset="-122"/>
                          <a:cs typeface="Spoqa Han Sans Neo" pitchFamily="34" charset="-120"/>
                        </a:rPr>
                        <a:t>2020. 4. 1 ~ 2023. 12. 31</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D3D"/>
                          </a:solidFill>
                          <a:latin typeface="Spoqa Han Sans Neo" pitchFamily="34" charset="0"/>
                          <a:ea typeface="Spoqa Han Sans Neo" pitchFamily="34" charset="-122"/>
                          <a:cs typeface="Spoqa Han Sans Neo" pitchFamily="34" charset="-120"/>
                        </a:rPr>
                        <a:t>10억원</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283464">
                <a:tc>
                  <a:txBody>
                    <a:bodyPr/>
                    <a:lstStyle/>
                    <a:p>
                      <a:pPr algn="ctr" indent="0" marL="0">
                        <a:buNone/>
                      </a:pPr>
                      <a:r>
                        <a:rPr lang="en-US" sz="1000" b="1" dirty="0">
                          <a:solidFill>
                            <a:srgbClr val="3D3D3D"/>
                          </a:solidFill>
                          <a:latin typeface="Spoqa Han Sans Neo" pitchFamily="34" charset="0"/>
                          <a:ea typeface="Spoqa Han Sans Neo" pitchFamily="34" charset="-122"/>
                          <a:cs typeface="Spoqa Han Sans Neo" pitchFamily="34" charset="-120"/>
                        </a:rPr>
                        <a:t>2024. 1. 1 ~ 현재</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c>
                  <a:txBody>
                    <a:bodyPr/>
                    <a:lstStyle/>
                    <a:p>
                      <a:pPr algn="ctr" indent="0" marL="0">
                        <a:buNone/>
                      </a:pPr>
                      <a:r>
                        <a:rPr lang="en-US" sz="1000" b="1" dirty="0">
                          <a:solidFill>
                            <a:srgbClr val="3D3D3D"/>
                          </a:solidFill>
                          <a:latin typeface="Spoqa Han Sans Neo" pitchFamily="34" charset="0"/>
                          <a:ea typeface="Spoqa Han Sans Neo" pitchFamily="34" charset="-122"/>
                          <a:cs typeface="Spoqa Han Sans Neo" pitchFamily="34" charset="-120"/>
                        </a:rPr>
                        <a:t>50억원</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r>
            </a:tbl>
          </a:graphicData>
        </a:graphic>
      </p:graphicFrame>
      <p:sp>
        <p:nvSpPr>
          <p:cNvPr id="7" name="Text 4"/>
          <p:cNvSpPr txBox="1"/>
          <p:nvPr/>
        </p:nvSpPr>
        <p:spPr>
          <a:xfrm>
            <a:off x="6217920" y="1298448"/>
            <a:ext cx="5394960" cy="219456"/>
          </a:xfrm>
          <a:prstGeom prst="rect">
            <a:avLst/>
          </a:prstGeom>
          <a:noFill/>
          <a:ln/>
        </p:spPr>
        <p:txBody>
          <a:bodyPr wrap="square" lIns="0" tIns="0" rIns="0" bIns="0" rtlCol="0" anchor="ctr"/>
          <a:lstStyle/>
          <a:p>
            <a:pPr indent="0" marL="0">
              <a:buNone/>
            </a:pPr>
            <a:r>
              <a:rPr lang="en-US" sz="1150" b="1" dirty="0">
                <a:solidFill>
                  <a:srgbClr val="043B72"/>
                </a:solidFill>
                <a:latin typeface="Spoqa Han Sans Neo" pitchFamily="34" charset="0"/>
                <a:ea typeface="Spoqa Han Sans Neo" pitchFamily="34" charset="-122"/>
                <a:cs typeface="Spoqa Han Sans Neo" pitchFamily="34" charset="-120"/>
              </a:rPr>
              <a:t>② 지분율 기준</a:t>
            </a:r>
            <a:endParaRPr lang="en-US" sz="1150" dirty="0"/>
          </a:p>
        </p:txBody>
      </p:sp>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6217920" y="1591056"/>
          <a:ext cx="5394960" cy="914400"/>
        </p:xfrm>
        <a:graphic>
          <a:graphicData uri="http://schemas.openxmlformats.org/drawingml/2006/table">
            <a:tbl>
              <a:tblPr/>
              <a:tblGrid>
                <a:gridCol w="1554480"/>
                <a:gridCol w="1554480"/>
                <a:gridCol w="2286000"/>
              </a:tblGrid>
              <a:tr h="283464">
                <a:tc>
                  <a:txBody>
                    <a:bodyPr/>
                    <a:lstStyle/>
                    <a:p>
                      <a:pPr algn="ctr" indent="0" marL="0">
                        <a:buNone/>
                      </a:pPr>
                      <a:r>
                        <a:rPr lang="en-US" sz="1000" b="1" dirty="0">
                          <a:solidFill>
                            <a:srgbClr val="1A1A1A"/>
                          </a:solidFill>
                          <a:latin typeface="Spoqa Han Sans Neo" pitchFamily="34" charset="0"/>
                          <a:ea typeface="Spoqa Han Sans Neo" pitchFamily="34" charset="-122"/>
                          <a:cs typeface="Spoqa Han Sans Neo" pitchFamily="34" charset="-120"/>
                        </a:rPr>
                        <a:t>시장</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algn="ctr" indent="0" marL="0">
                        <a:buNone/>
                      </a:pPr>
                      <a:r>
                        <a:rPr lang="en-US" sz="1000" b="1" dirty="0">
                          <a:solidFill>
                            <a:srgbClr val="1A1A1A"/>
                          </a:solidFill>
                          <a:latin typeface="Spoqa Han Sans Neo" pitchFamily="34" charset="0"/>
                          <a:ea typeface="Spoqa Han Sans Neo" pitchFamily="34" charset="-122"/>
                          <a:cs typeface="Spoqa Han Sans Neo" pitchFamily="34" charset="-120"/>
                        </a:rPr>
                        <a:t>지분율</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algn="ctr" indent="0" marL="0">
                        <a:buNone/>
                      </a:pPr>
                      <a:r>
                        <a:rPr lang="en-US" sz="1000" b="1" dirty="0">
                          <a:solidFill>
                            <a:srgbClr val="1A1A1A"/>
                          </a:solidFill>
                          <a:latin typeface="Spoqa Han Sans Neo" pitchFamily="34" charset="0"/>
                          <a:ea typeface="Spoqa Han Sans Neo" pitchFamily="34" charset="-122"/>
                          <a:cs typeface="Spoqa Han Sans Neo" pitchFamily="34" charset="-120"/>
                        </a:rPr>
                        <a:t>근거</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r>
              <a:tr h="283464">
                <a:tc>
                  <a:txBody>
                    <a:bodyPr/>
                    <a:lstStyle/>
                    <a:p>
                      <a:pPr algn="ctr" indent="0" marL="0">
                        <a:buNone/>
                      </a:pPr>
                      <a:r>
                        <a:rPr lang="en-US" sz="1000" dirty="0">
                          <a:solidFill>
                            <a:srgbClr val="3D3D3D"/>
                          </a:solidFill>
                          <a:latin typeface="Spoqa Han Sans Neo" pitchFamily="34" charset="0"/>
                          <a:ea typeface="Spoqa Han Sans Neo" pitchFamily="34" charset="-122"/>
                          <a:cs typeface="Spoqa Han Sans Neo" pitchFamily="34" charset="-120"/>
                        </a:rPr>
                        <a:t>코스피</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D3D"/>
                          </a:solidFill>
                          <a:latin typeface="Spoqa Han Sans Neo" pitchFamily="34" charset="0"/>
                          <a:ea typeface="Spoqa Han Sans Neo" pitchFamily="34" charset="-122"/>
                          <a:cs typeface="Spoqa Han Sans Neo" pitchFamily="34" charset="-120"/>
                        </a:rPr>
                        <a:t>1% 이상</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D3D"/>
                          </a:solidFill>
                          <a:latin typeface="Spoqa Han Sans Neo" pitchFamily="34" charset="0"/>
                          <a:ea typeface="Spoqa Han Sans Neo" pitchFamily="34" charset="-122"/>
                          <a:cs typeface="Spoqa Han Sans Neo" pitchFamily="34" charset="-120"/>
                        </a:rPr>
                        <a:t>영 §157①1호</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283464">
                <a:tc>
                  <a:txBody>
                    <a:bodyPr/>
                    <a:lstStyle/>
                    <a:p>
                      <a:pPr algn="ctr" indent="0" marL="0">
                        <a:buNone/>
                      </a:pPr>
                      <a:r>
                        <a:rPr lang="en-US" sz="1000" dirty="0">
                          <a:solidFill>
                            <a:srgbClr val="3D3D3D"/>
                          </a:solidFill>
                          <a:latin typeface="Spoqa Han Sans Neo" pitchFamily="34" charset="0"/>
                          <a:ea typeface="Spoqa Han Sans Neo" pitchFamily="34" charset="-122"/>
                          <a:cs typeface="Spoqa Han Sans Neo" pitchFamily="34" charset="-120"/>
                        </a:rPr>
                        <a:t>코스닥</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D3D"/>
                          </a:solidFill>
                          <a:latin typeface="Spoqa Han Sans Neo" pitchFamily="34" charset="0"/>
                          <a:ea typeface="Spoqa Han Sans Neo" pitchFamily="34" charset="-122"/>
                          <a:cs typeface="Spoqa Han Sans Neo" pitchFamily="34" charset="-120"/>
                        </a:rPr>
                        <a:t>2% 이상</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D3D"/>
                          </a:solidFill>
                          <a:latin typeface="Spoqa Han Sans Neo" pitchFamily="34" charset="0"/>
                          <a:ea typeface="Spoqa Han Sans Neo" pitchFamily="34" charset="-122"/>
                          <a:cs typeface="Spoqa Han Sans Neo" pitchFamily="34" charset="-120"/>
                        </a:rPr>
                        <a:t>영 §157②1호</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283464">
                <a:tc>
                  <a:txBody>
                    <a:bodyPr/>
                    <a:lstStyle/>
                    <a:p>
                      <a:pPr algn="ctr" indent="0" marL="0">
                        <a:buNone/>
                      </a:pPr>
                      <a:r>
                        <a:rPr lang="en-US" sz="1000" dirty="0">
                          <a:solidFill>
                            <a:srgbClr val="3D3D3D"/>
                          </a:solidFill>
                          <a:latin typeface="Spoqa Han Sans Neo" pitchFamily="34" charset="0"/>
                          <a:ea typeface="Spoqa Han Sans Neo" pitchFamily="34" charset="-122"/>
                          <a:cs typeface="Spoqa Han Sans Neo" pitchFamily="34" charset="-120"/>
                        </a:rPr>
                        <a:t>코넥스</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D3D"/>
                          </a:solidFill>
                          <a:latin typeface="Spoqa Han Sans Neo" pitchFamily="34" charset="0"/>
                          <a:ea typeface="Spoqa Han Sans Neo" pitchFamily="34" charset="-122"/>
                          <a:cs typeface="Spoqa Han Sans Neo" pitchFamily="34" charset="-120"/>
                        </a:rPr>
                        <a:t>4% 이상</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D3D"/>
                          </a:solidFill>
                          <a:latin typeface="Spoqa Han Sans Neo" pitchFamily="34" charset="0"/>
                          <a:ea typeface="Spoqa Han Sans Neo" pitchFamily="34" charset="-122"/>
                          <a:cs typeface="Spoqa Han Sans Neo" pitchFamily="34" charset="-120"/>
                        </a:rPr>
                        <a:t>영 §157②2호</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bl>
          </a:graphicData>
        </a:graphic>
      </p:graphicFrame>
      <p:sp>
        <p:nvSpPr>
          <p:cNvPr id="9" name="Text 5"/>
          <p:cNvSpPr txBox="1"/>
          <p:nvPr/>
        </p:nvSpPr>
        <p:spPr>
          <a:xfrm>
            <a:off x="548640" y="3163824"/>
            <a:ext cx="11064240" cy="219456"/>
          </a:xfrm>
          <a:prstGeom prst="rect">
            <a:avLst/>
          </a:prstGeom>
          <a:noFill/>
          <a:ln/>
        </p:spPr>
        <p:txBody>
          <a:bodyPr wrap="square" lIns="0" tIns="0" rIns="0" bIns="0" rtlCol="0" anchor="ctr"/>
          <a:lstStyle/>
          <a:p>
            <a:pPr indent="0" marL="0">
              <a:buNone/>
            </a:pPr>
            <a:r>
              <a:rPr lang="en-US" sz="1150" b="1" dirty="0">
                <a:solidFill>
                  <a:srgbClr val="043B72"/>
                </a:solidFill>
                <a:latin typeface="Spoqa Han Sans Neo" pitchFamily="34" charset="0"/>
                <a:ea typeface="Spoqa Han Sans Neo" pitchFamily="34" charset="-122"/>
                <a:cs typeface="Spoqa Han Sans Neo" pitchFamily="34" charset="-120"/>
              </a:rPr>
              <a:t>③ 상장 밖 — 비상장과 K-OTC</a:t>
            </a:r>
            <a:endParaRPr lang="en-US" sz="1150" dirty="0"/>
          </a:p>
        </p:txBody>
      </p:sp>
      <p:graphicFrame>
        <p:nvGraphicFramePr>
          <p:cNvPr id="7" name="Table 2"/>
          <p:cNvGraphicFramePr>
            <a:graphicFrameLocks noGrp="1"/>
          </p:cNvGraphicFramePr>
          <p:nvPr>
            <p:extLst>
              <p:ext uri="{D42A27DB-BD31-4B8C-83A1-F6EECF244321}">
                <p14:modId xmlns:p14="http://schemas.microsoft.com/office/powerpoint/2010/main" val="1579011935"/>
              </p:ext>
            </p:extLst>
          </p:nvPr>
        </p:nvGraphicFramePr>
        <p:xfrm>
          <a:off x="548640" y="3456432"/>
          <a:ext cx="11064240" cy="914400"/>
        </p:xfrm>
        <a:graphic>
          <a:graphicData uri="http://schemas.openxmlformats.org/drawingml/2006/table">
            <a:tbl>
              <a:tblPr/>
              <a:tblGrid>
                <a:gridCol w="3108960"/>
                <a:gridCol w="2926080"/>
                <a:gridCol w="5029200"/>
              </a:tblGrid>
              <a:tr h="283464">
                <a:tc>
                  <a:txBody>
                    <a:bodyPr/>
                    <a:lstStyle/>
                    <a:p>
                      <a:pPr algn="ctr" indent="0" marL="0">
                        <a:buNone/>
                      </a:pPr>
                      <a:r>
                        <a:rPr lang="en-US" sz="1000" b="1" dirty="0">
                          <a:solidFill>
                            <a:srgbClr val="1A1A1A"/>
                          </a:solidFill>
                          <a:latin typeface="Spoqa Han Sans Neo" pitchFamily="34" charset="0"/>
                          <a:ea typeface="Spoqa Han Sans Neo" pitchFamily="34" charset="-122"/>
                          <a:cs typeface="Spoqa Han Sans Neo" pitchFamily="34" charset="-120"/>
                        </a:rPr>
                        <a:t>구분</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algn="ctr" indent="0" marL="0">
                        <a:buNone/>
                      </a:pPr>
                      <a:r>
                        <a:rPr lang="en-US" sz="1000" b="1" dirty="0">
                          <a:solidFill>
                            <a:srgbClr val="1A1A1A"/>
                          </a:solidFill>
                          <a:latin typeface="Spoqa Han Sans Neo" pitchFamily="34" charset="0"/>
                          <a:ea typeface="Spoqa Han Sans Neo" pitchFamily="34" charset="-122"/>
                          <a:cs typeface="Spoqa Han Sans Neo" pitchFamily="34" charset="-120"/>
                        </a:rPr>
                        <a:t>보유금액 기준</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algn="ctr" indent="0" marL="0">
                        <a:buNone/>
                      </a:pPr>
                      <a:r>
                        <a:rPr lang="en-US" sz="1000" b="1" dirty="0">
                          <a:solidFill>
                            <a:srgbClr val="1A1A1A"/>
                          </a:solidFill>
                          <a:latin typeface="Spoqa Han Sans Neo" pitchFamily="34" charset="0"/>
                          <a:ea typeface="Spoqa Han Sans Neo" pitchFamily="34" charset="-122"/>
                          <a:cs typeface="Spoqa Han Sans Neo" pitchFamily="34" charset="-120"/>
                        </a:rPr>
                        <a:t>근거</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r>
              <a:tr h="283464">
                <a:tc>
                  <a:txBody>
                    <a:bodyPr/>
                    <a:lstStyle/>
                    <a:p>
                      <a:pPr algn="ctr" indent="0" marL="0">
                        <a:buNone/>
                      </a:pPr>
                      <a:r>
                        <a:rPr lang="en-US" sz="1000" dirty="0">
                          <a:solidFill>
                            <a:srgbClr val="3D3D3D"/>
                          </a:solidFill>
                          <a:latin typeface="Spoqa Han Sans Neo" pitchFamily="34" charset="0"/>
                          <a:ea typeface="Spoqa Han Sans Neo" pitchFamily="34" charset="-122"/>
                          <a:cs typeface="Spoqa Han Sans Neo" pitchFamily="34" charset="-120"/>
                        </a:rPr>
                        <a:t>비상장 법인 주식</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D3D"/>
                          </a:solidFill>
                          <a:latin typeface="Spoqa Han Sans Neo" pitchFamily="34" charset="0"/>
                          <a:ea typeface="Spoqa Han Sans Neo" pitchFamily="34" charset="-122"/>
                          <a:cs typeface="Spoqa Han Sans Neo" pitchFamily="34" charset="-120"/>
                        </a:rPr>
                        <a:t>시가총액 10억원 이상</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D3D3D"/>
                          </a:solidFill>
                          <a:latin typeface="Spoqa Han Sans Neo" pitchFamily="34" charset="0"/>
                          <a:ea typeface="Spoqa Han Sans Neo" pitchFamily="34" charset="-122"/>
                          <a:cs typeface="Spoqa Han Sans Neo" pitchFamily="34" charset="-120"/>
                        </a:rPr>
                        <a:t>소득세법 시행령 §167의8①2호나목</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283464">
                <a:tc>
                  <a:txBody>
                    <a:bodyPr/>
                    <a:lstStyle/>
                    <a:p>
                      <a:pPr algn="ctr" indent="0" marL="0">
                        <a:buNone/>
                      </a:pPr>
                      <a:r>
                        <a:rPr lang="en-US" sz="1000" dirty="0">
                          <a:solidFill>
                            <a:srgbClr val="3D3D3D"/>
                          </a:solidFill>
                          <a:latin typeface="Spoqa Han Sans Neo" pitchFamily="34" charset="0"/>
                          <a:ea typeface="Spoqa Han Sans Neo" pitchFamily="34" charset="-122"/>
                          <a:cs typeface="Spoqa Han Sans Neo" pitchFamily="34" charset="-120"/>
                        </a:rPr>
                        <a:t>K-OTC 거래 벤처기업 주식</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D3D"/>
                          </a:solidFill>
                          <a:latin typeface="Spoqa Han Sans Neo" pitchFamily="34" charset="0"/>
                          <a:ea typeface="Spoqa Han Sans Neo" pitchFamily="34" charset="-122"/>
                          <a:cs typeface="Spoqa Han Sans Neo" pitchFamily="34" charset="-120"/>
                        </a:rPr>
                        <a:t>시가총액 40억원 이상</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D3D3D"/>
                          </a:solidFill>
                          <a:latin typeface="Spoqa Han Sans Neo" pitchFamily="34" charset="0"/>
                          <a:ea typeface="Spoqa Han Sans Neo" pitchFamily="34" charset="-122"/>
                          <a:cs typeface="Spoqa Han Sans Neo" pitchFamily="34" charset="-120"/>
                        </a:rPr>
                        <a:t>같은 목 괄호 — 자본시장법 시행령 §178① 거래</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bl>
          </a:graphicData>
        </a:graphic>
      </p:graphicFrame>
      <p:sp>
        <p:nvSpPr>
          <p:cNvPr id="11" name="Shape 6"/>
          <p:cNvSpPr/>
          <p:nvPr/>
        </p:nvSpPr>
        <p:spPr>
          <a:xfrm>
            <a:off x="548640" y="4498848"/>
            <a:ext cx="5394960" cy="1005840"/>
          </a:xfrm>
          <a:prstGeom prst="rect">
            <a:avLst>
              <a:gd name="adj" fmla="val 3636"/>
            </a:avLst>
          </a:prstGeom>
          <a:solidFill>
            <a:srgbClr val="ECEFF4"/>
          </a:solidFill>
          <a:ln w="9525">
            <a:solidFill>
              <a:srgbClr val="E5E4E1"/>
            </a:solidFill>
            <a:prstDash val="solid"/>
          </a:ln>
        </p:spPr>
      </p:sp>
      <p:sp>
        <p:nvSpPr>
          <p:cNvPr id="12" name="Text 7"/>
          <p:cNvSpPr txBox="1"/>
          <p:nvPr/>
        </p:nvSpPr>
        <p:spPr>
          <a:xfrm>
            <a:off x="713232" y="4617720"/>
            <a:ext cx="5065776" cy="237744"/>
          </a:xfrm>
          <a:prstGeom prst="rect">
            <a:avLst/>
          </a:prstGeom>
          <a:noFill/>
          <a:ln/>
        </p:spPr>
        <p:txBody>
          <a:bodyPr wrap="square" lIns="0" tIns="0" rIns="0" bIns="0" rtlCol="0" anchor="ctr"/>
          <a:lstStyle/>
          <a:p>
            <a:pPr indent="0" marL="0">
              <a:buNone/>
            </a:pPr>
            <a:r>
              <a:rPr lang="en-US" sz="1150" b="1" dirty="0">
                <a:solidFill>
                  <a:srgbClr val="F58220"/>
                </a:solidFill>
                <a:latin typeface="Spoqa Han Sans Neo" pitchFamily="34" charset="0"/>
                <a:ea typeface="Spoqa Han Sans Neo" pitchFamily="34" charset="-122"/>
                <a:cs typeface="Spoqa Han Sans Neo" pitchFamily="34" charset="-120"/>
              </a:rPr>
              <a:t>둘 중 하나만 넘어도 대주주다</a:t>
            </a:r>
            <a:endParaRPr lang="en-US" sz="1150" dirty="0"/>
          </a:p>
        </p:txBody>
      </p:sp>
      <p:sp>
        <p:nvSpPr>
          <p:cNvPr id="13" name="Text 8"/>
          <p:cNvSpPr txBox="1"/>
          <p:nvPr/>
        </p:nvSpPr>
        <p:spPr>
          <a:xfrm>
            <a:off x="713232" y="4873752"/>
            <a:ext cx="5065776" cy="502920"/>
          </a:xfrm>
          <a:prstGeom prst="rect">
            <a:avLst/>
          </a:prstGeom>
          <a:noFill/>
          <a:ln/>
        </p:spPr>
        <p:txBody>
          <a:bodyPr wrap="square" lIns="0" tIns="0" rIns="0" bIns="0" rtlCol="0" anchor="t"/>
          <a:lstStyle/>
          <a:p>
            <a:pPr indent="0" marL="0">
              <a:lnSpc>
                <a:spcPct val="122000"/>
              </a:lnSpc>
              <a:buNone/>
            </a:pPr>
            <a:r>
              <a:rPr lang="en-US" sz="1000" dirty="0">
                <a:solidFill>
                  <a:srgbClr val="3D3D3D"/>
                </a:solidFill>
                <a:latin typeface="Spoqa Han Sans Neo" pitchFamily="34" charset="0"/>
                <a:ea typeface="Spoqa Han Sans Neo" pitchFamily="34" charset="-122"/>
                <a:cs typeface="Spoqa Han Sans Neo" pitchFamily="34" charset="-120"/>
              </a:rPr>
              <a:t>지분율과 보유금액은 선택적 요건이다. 지분율이 0.1%라도</a:t>
            </a:r>
            <a:endParaRPr lang="en-US" sz="1000" dirty="0"/>
          </a:p>
          <a:p>
            <a:pPr indent="0" marL="0">
              <a:lnSpc>
                <a:spcPct val="122000"/>
              </a:lnSpc>
              <a:buNone/>
            </a:pPr>
            <a:r>
              <a:rPr lang="en-US" sz="1000" dirty="0">
                <a:solidFill>
                  <a:srgbClr val="3D3D3D"/>
                </a:solidFill>
                <a:latin typeface="Spoqa Han Sans Neo" pitchFamily="34" charset="0"/>
                <a:ea typeface="Spoqa Han Sans Neo" pitchFamily="34" charset="-122"/>
                <a:cs typeface="Spoqa Han Sans Neo" pitchFamily="34" charset="-120"/>
              </a:rPr>
              <a:t>보유금액이 50억원을 넘으면 대주주로 본다. 반대도 같다.</a:t>
            </a:r>
            <a:endParaRPr lang="en-US" sz="1000" dirty="0"/>
          </a:p>
        </p:txBody>
      </p:sp>
      <p:sp>
        <p:nvSpPr>
          <p:cNvPr id="14" name="Shape 9"/>
          <p:cNvSpPr/>
          <p:nvPr/>
        </p:nvSpPr>
        <p:spPr>
          <a:xfrm>
            <a:off x="6217920" y="4498848"/>
            <a:ext cx="5394960" cy="1005840"/>
          </a:xfrm>
          <a:prstGeom prst="rect">
            <a:avLst>
              <a:gd name="adj" fmla="val 3636"/>
            </a:avLst>
          </a:prstGeom>
          <a:solidFill>
            <a:srgbClr val="ECEFF4"/>
          </a:solidFill>
          <a:ln w="9525">
            <a:solidFill>
              <a:srgbClr val="E5E4E1"/>
            </a:solidFill>
            <a:prstDash val="solid"/>
          </a:ln>
        </p:spPr>
      </p:sp>
      <p:sp>
        <p:nvSpPr>
          <p:cNvPr id="15" name="Text 10"/>
          <p:cNvSpPr txBox="1"/>
          <p:nvPr/>
        </p:nvSpPr>
        <p:spPr>
          <a:xfrm>
            <a:off x="6382512" y="4617720"/>
            <a:ext cx="5065776" cy="237744"/>
          </a:xfrm>
          <a:prstGeom prst="rect">
            <a:avLst/>
          </a:prstGeom>
          <a:noFill/>
          <a:ln/>
        </p:spPr>
        <p:txBody>
          <a:bodyPr wrap="square" lIns="0" tIns="0" rIns="0" bIns="0" rtlCol="0" anchor="ctr"/>
          <a:lstStyle/>
          <a:p>
            <a:pPr indent="0" marL="0">
              <a:buNone/>
            </a:pPr>
            <a:r>
              <a:rPr lang="en-US" sz="1150" b="1" dirty="0">
                <a:solidFill>
                  <a:srgbClr val="F58220"/>
                </a:solidFill>
                <a:latin typeface="Spoqa Han Sans Neo" pitchFamily="34" charset="0"/>
                <a:ea typeface="Spoqa Han Sans Neo" pitchFamily="34" charset="-122"/>
                <a:cs typeface="Spoqa Han Sans Neo" pitchFamily="34" charset="-120"/>
              </a:rPr>
              <a:t>50억원 상향은 양도일로 가른다</a:t>
            </a:r>
            <a:endParaRPr lang="en-US" sz="1150" dirty="0"/>
          </a:p>
        </p:txBody>
      </p:sp>
      <p:sp>
        <p:nvSpPr>
          <p:cNvPr id="16" name="Text 11"/>
          <p:cNvSpPr txBox="1"/>
          <p:nvPr/>
        </p:nvSpPr>
        <p:spPr>
          <a:xfrm>
            <a:off x="6382512" y="4873752"/>
            <a:ext cx="5065776" cy="502920"/>
          </a:xfrm>
          <a:prstGeom prst="rect">
            <a:avLst/>
          </a:prstGeom>
          <a:noFill/>
          <a:ln/>
        </p:spPr>
        <p:txBody>
          <a:bodyPr wrap="square" lIns="0" tIns="0" rIns="0" bIns="0" rtlCol="0" anchor="t"/>
          <a:lstStyle/>
          <a:p>
            <a:pPr indent="0" marL="0">
              <a:lnSpc>
                <a:spcPct val="122000"/>
              </a:lnSpc>
              <a:buNone/>
            </a:pPr>
            <a:r>
              <a:rPr lang="en-US" sz="1000" dirty="0">
                <a:solidFill>
                  <a:srgbClr val="3D3D3D"/>
                </a:solidFill>
                <a:latin typeface="Spoqa Han Sans Neo" pitchFamily="34" charset="0"/>
                <a:ea typeface="Spoqa Han Sans Neo" pitchFamily="34" charset="-122"/>
                <a:cs typeface="Spoqa Han Sans Neo" pitchFamily="34" charset="-120"/>
              </a:rPr>
              <a:t>대통령령 제34061호(2023. 12. 28) 부칙 §2 — 시행일 전에</a:t>
            </a:r>
            <a:endParaRPr lang="en-US" sz="1000" dirty="0"/>
          </a:p>
          <a:p>
            <a:pPr indent="0" marL="0">
              <a:lnSpc>
                <a:spcPct val="122000"/>
              </a:lnSpc>
              <a:buNone/>
            </a:pPr>
            <a:r>
              <a:rPr lang="en-US" sz="1000" dirty="0">
                <a:solidFill>
                  <a:srgbClr val="3D3D3D"/>
                </a:solidFill>
                <a:latin typeface="Spoqa Han Sans Neo" pitchFamily="34" charset="0"/>
                <a:ea typeface="Spoqa Han Sans Neo" pitchFamily="34" charset="-122"/>
                <a:cs typeface="Spoqa Han Sans Neo" pitchFamily="34" charset="-120"/>
              </a:rPr>
              <a:t>양도한 분은 종전 10억원 기준을 그대로 적용한다.</a:t>
            </a:r>
            <a:endParaRPr lang="en-US" sz="1000" dirty="0"/>
          </a:p>
        </p:txBody>
      </p:sp>
      <p:sp>
        <p:nvSpPr>
          <p:cNvPr id="17" name="Text 12"/>
          <p:cNvSpPr txBox="1"/>
          <p:nvPr/>
        </p:nvSpPr>
        <p:spPr>
          <a:xfrm>
            <a:off x="548640" y="5632704"/>
            <a:ext cx="11064240" cy="274320"/>
          </a:xfrm>
          <a:prstGeom prst="rect">
            <a:avLst/>
          </a:prstGeom>
          <a:noFill/>
          <a:ln/>
        </p:spPr>
        <p:txBody>
          <a:bodyPr wrap="square" lIns="0" tIns="0" rIns="0" bIns="0" rtlCol="0" anchor="t"/>
          <a:lstStyle/>
          <a:p>
            <a:pPr indent="0" marL="0">
              <a:lnSpc>
                <a:spcPct val="118000"/>
              </a:lnSpc>
              <a:buNone/>
            </a:pPr>
            <a:r>
              <a:rPr lang="en-US" sz="850" dirty="0">
                <a:solidFill>
                  <a:srgbClr val="6C6C6C"/>
                </a:solidFill>
                <a:latin typeface="Spoqa Han Sans Neo" pitchFamily="34" charset="0"/>
                <a:ea typeface="Spoqa Han Sans Neo" pitchFamily="34" charset="-122"/>
                <a:cs typeface="Spoqa Han Sans Neo" pitchFamily="34" charset="-120"/>
              </a:rPr>
              <a:t>· 코넥스의 보유금액 기준은 2020. 4. 1 ~ 2022. 12. 31 기간에 10억원이었다(구 영 §157⑤2호가목 — 2020. 2. 18. 본은 「2021년 3월 31일까지」, 2021. 2. 17. 본에서 「2022년 12월 31일까지」로 연장).</a:t>
            </a:r>
            <a:endParaRPr lang="en-US" sz="850" dirty="0"/>
          </a:p>
        </p:txBody>
      </p:sp>
      <p:sp>
        <p:nvSpPr>
          <p:cNvPr id="18" name="Text 13"/>
          <p:cNvSpPr txBox="1"/>
          <p:nvPr/>
        </p:nvSpPr>
        <p:spPr>
          <a:xfrm>
            <a:off x="548640" y="6016752"/>
            <a:ext cx="11064240" cy="310896"/>
          </a:xfrm>
          <a:prstGeom prst="rect">
            <a:avLst/>
          </a:prstGeom>
          <a:noFill/>
          <a:ln/>
        </p:spPr>
        <p:txBody>
          <a:bodyPr wrap="square" lIns="0" tIns="0" rIns="0" bIns="0" rtlCol="0" anchor="t"/>
          <a:lstStyle/>
          <a:p>
            <a:pPr indent="0" marL="0">
              <a:lnSpc>
                <a:spcPct val="115000"/>
              </a:lnSpc>
              <a:buNone/>
            </a:pPr>
            <a:r>
              <a:rPr lang="en-US" sz="750" dirty="0">
                <a:solidFill>
                  <a:srgbClr val="84888B"/>
                </a:solidFill>
                <a:latin typeface="Spoqa Han Sans Neo" pitchFamily="34" charset="0"/>
                <a:ea typeface="Spoqa Han Sans Neo" pitchFamily="34" charset="-122"/>
                <a:cs typeface="Spoqa Han Sans Neo" pitchFamily="34" charset="-120"/>
              </a:rPr>
              <a:t>근거 — 소득세법 시행령 §157 · §167의8(현행 2026-08-29 수집분), 구 §157④⑤(연혁 조문 대조), 대통령령 제34061호 부칙. 국가법령정보센터 OPEN API.</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56032"/>
            <a:ext cx="11064240" cy="201168"/>
          </a:xfrm>
          <a:prstGeom prst="rect">
            <a:avLst/>
          </a:prstGeom>
          <a:noFill/>
          <a:ln/>
        </p:spPr>
        <p:txBody>
          <a:bodyPr wrap="square" lIns="0" tIns="0" rIns="0" bIns="0" rtlCol="0" anchor="ctr"/>
          <a:lstStyle/>
          <a:p>
            <a:pPr indent="0" marL="0">
              <a:buNone/>
            </a:pPr>
            <a:r>
              <a:rPr lang="en-US" sz="1000" b="1" spc="60" kern="0" dirty="0">
                <a:solidFill>
                  <a:srgbClr val="F58220"/>
                </a:solidFill>
                <a:latin typeface="Spoqa Han Sans Neo" pitchFamily="34" charset="0"/>
                <a:ea typeface="Spoqa Han Sans Neo" pitchFamily="34" charset="-122"/>
                <a:cs typeface="Spoqa Han Sans Neo" pitchFamily="34" charset="-120"/>
              </a:rPr>
              <a:t>국내 상장주식 양도소득세 · 대주주 판정</a:t>
            </a:r>
            <a:endParaRPr lang="en-US" sz="1000" dirty="0"/>
          </a:p>
        </p:txBody>
      </p:sp>
      <p:sp>
        <p:nvSpPr>
          <p:cNvPr id="3" name="Text 1"/>
          <p:cNvSpPr txBox="1"/>
          <p:nvPr/>
        </p:nvSpPr>
        <p:spPr>
          <a:xfrm>
            <a:off x="548640" y="502920"/>
            <a:ext cx="11064240" cy="475488"/>
          </a:xfrm>
          <a:prstGeom prst="rect">
            <a:avLst/>
          </a:prstGeom>
          <a:noFill/>
          <a:ln/>
        </p:spPr>
        <p:txBody>
          <a:bodyPr wrap="square" lIns="0" tIns="0" rIns="0" bIns="0" rtlCol="0" anchor="ctr"/>
          <a:lstStyle/>
          <a:p>
            <a:pPr indent="0" marL="0">
              <a:buNone/>
            </a:pPr>
            <a:r>
              <a:rPr lang="en-US" sz="2100" b="1" dirty="0">
                <a:solidFill>
                  <a:srgbClr val="1A1A1A"/>
                </a:solidFill>
                <a:latin typeface="Spoqa Han Sans Neo" pitchFamily="34" charset="0"/>
                <a:ea typeface="Spoqa Han Sans Neo" pitchFamily="34" charset="-122"/>
                <a:cs typeface="Spoqa Han Sans Neo" pitchFamily="34" charset="-120"/>
              </a:rPr>
              <a:t>가족(기타주주) 합산 — 2023년 두 달 사이에 두 번</a:t>
            </a:r>
            <a:endParaRPr lang="en-US" sz="2100" dirty="0"/>
          </a:p>
        </p:txBody>
      </p:sp>
      <p:sp>
        <p:nvSpPr>
          <p:cNvPr id="4" name="Shape 2"/>
          <p:cNvSpPr/>
          <p:nvPr/>
        </p:nvSpPr>
        <p:spPr>
          <a:xfrm>
            <a:off x="548640" y="1078992"/>
            <a:ext cx="11064240" cy="10973"/>
          </a:xfrm>
          <a:prstGeom prst="rect">
            <a:avLst/>
          </a:prstGeom>
          <a:solidFill>
            <a:srgbClr val="F58220"/>
          </a:solidFill>
          <a:ln w="12700">
            <a:solidFill>
              <a:srgbClr val="333333"/>
            </a:solidFill>
            <a:prstDash val="solid"/>
          </a:ln>
        </p:spPr>
      </p:sp>
      <p:sp>
        <p:nvSpPr>
          <p:cNvPr id="5" name="Shape 3"/>
          <p:cNvSpPr/>
          <p:nvPr/>
        </p:nvSpPr>
        <p:spPr>
          <a:xfrm>
            <a:off x="548640" y="1298448"/>
            <a:ext cx="3553968" cy="1133856"/>
          </a:xfrm>
          <a:prstGeom prst="rect">
            <a:avLst>
              <a:gd name="adj" fmla="val 3226"/>
            </a:avLst>
          </a:prstGeom>
          <a:solidFill>
            <a:srgbClr val="ECEFF4"/>
          </a:solidFill>
          <a:ln w="9525">
            <a:solidFill>
              <a:srgbClr val="E5E4E1"/>
            </a:solidFill>
            <a:prstDash val="solid"/>
          </a:ln>
        </p:spPr>
      </p:sp>
      <p:sp>
        <p:nvSpPr>
          <p:cNvPr id="6" name="Text 4"/>
          <p:cNvSpPr txBox="1"/>
          <p:nvPr/>
        </p:nvSpPr>
        <p:spPr>
          <a:xfrm>
            <a:off x="713232" y="1417320"/>
            <a:ext cx="3224784" cy="237744"/>
          </a:xfrm>
          <a:prstGeom prst="rect">
            <a:avLst/>
          </a:prstGeom>
          <a:noFill/>
          <a:ln/>
        </p:spPr>
        <p:txBody>
          <a:bodyPr wrap="square" lIns="0" tIns="0" rIns="0" bIns="0" rtlCol="0" anchor="ctr"/>
          <a:lstStyle/>
          <a:p>
            <a:pPr indent="0" marL="0">
              <a:buNone/>
            </a:pPr>
            <a:r>
              <a:rPr lang="en-US" sz="1150" b="1" dirty="0">
                <a:solidFill>
                  <a:srgbClr val="F58220"/>
                </a:solidFill>
                <a:latin typeface="Spoqa Han Sans Neo" pitchFamily="34" charset="0"/>
                <a:ea typeface="Spoqa Han Sans Neo" pitchFamily="34" charset="-122"/>
                <a:cs typeface="Spoqa Han Sans Neo" pitchFamily="34" charset="-120"/>
              </a:rPr>
              <a:t>① 2023. 1. 1 — 기타주주 합산 폐지</a:t>
            </a:r>
            <a:endParaRPr lang="en-US" sz="1150" dirty="0"/>
          </a:p>
        </p:txBody>
      </p:sp>
      <p:sp>
        <p:nvSpPr>
          <p:cNvPr id="7" name="Text 5"/>
          <p:cNvSpPr txBox="1"/>
          <p:nvPr/>
        </p:nvSpPr>
        <p:spPr>
          <a:xfrm>
            <a:off x="713232" y="1673352"/>
            <a:ext cx="3224784" cy="630936"/>
          </a:xfrm>
          <a:prstGeom prst="rect">
            <a:avLst/>
          </a:prstGeom>
          <a:noFill/>
          <a:ln/>
        </p:spPr>
        <p:txBody>
          <a:bodyPr wrap="square" lIns="0" tIns="0" rIns="0" bIns="0" rtlCol="0" anchor="t"/>
          <a:lstStyle/>
          <a:p>
            <a:pPr indent="0" marL="0">
              <a:lnSpc>
                <a:spcPct val="122000"/>
              </a:lnSpc>
              <a:buNone/>
            </a:pPr>
            <a:r>
              <a:rPr lang="en-US" sz="1000" dirty="0">
                <a:solidFill>
                  <a:srgbClr val="3D3D3D"/>
                </a:solidFill>
                <a:latin typeface="Spoqa Han Sans Neo" pitchFamily="34" charset="0"/>
                <a:ea typeface="Spoqa Han Sans Neo" pitchFamily="34" charset="-122"/>
                <a:cs typeface="Spoqa Han Sans Neo" pitchFamily="34" charset="-120"/>
              </a:rPr>
              <a:t>상장주식의 최대주주가 아닌 주주는 본인 보유분만으로</a:t>
            </a:r>
            <a:endParaRPr lang="en-US" sz="1000" dirty="0"/>
          </a:p>
          <a:p>
            <a:pPr indent="0" marL="0">
              <a:lnSpc>
                <a:spcPct val="122000"/>
              </a:lnSpc>
              <a:buNone/>
            </a:pPr>
            <a:r>
              <a:rPr lang="en-US" sz="1000" dirty="0">
                <a:solidFill>
                  <a:srgbClr val="3D3D3D"/>
                </a:solidFill>
                <a:latin typeface="Spoqa Han Sans Neo" pitchFamily="34" charset="0"/>
                <a:ea typeface="Spoqa Han Sans Neo" pitchFamily="34" charset="-122"/>
                <a:cs typeface="Spoqa Han Sans Neo" pitchFamily="34" charset="-120"/>
              </a:rPr>
              <a:t>판정한다.</a:t>
            </a:r>
            <a:endParaRPr lang="en-US" sz="1000" dirty="0"/>
          </a:p>
          <a:p>
            <a:pPr indent="0" marL="0">
              <a:lnSpc>
                <a:spcPct val="122000"/>
              </a:lnSpc>
              <a:buNone/>
            </a:pPr>
            <a:r>
              <a:rPr lang="en-US" sz="1000" dirty="0">
                <a:solidFill>
                  <a:srgbClr val="3D3D3D"/>
                </a:solidFill>
                <a:latin typeface="Spoqa Han Sans Neo" pitchFamily="34" charset="0"/>
                <a:ea typeface="Spoqa Han Sans Neo" pitchFamily="34" charset="-122"/>
                <a:cs typeface="Spoqa Han Sans Neo" pitchFamily="34" charset="-120"/>
              </a:rPr>
              <a:t>대통령령 제33207호(2022. 12. 31) 부칙 §1 · §2 경과조치</a:t>
            </a:r>
            <a:endParaRPr lang="en-US" sz="1000" dirty="0"/>
          </a:p>
        </p:txBody>
      </p:sp>
      <p:sp>
        <p:nvSpPr>
          <p:cNvPr id="8" name="Shape 6"/>
          <p:cNvSpPr/>
          <p:nvPr/>
        </p:nvSpPr>
        <p:spPr>
          <a:xfrm>
            <a:off x="4303776" y="1298448"/>
            <a:ext cx="3553968" cy="1133856"/>
          </a:xfrm>
          <a:prstGeom prst="rect">
            <a:avLst>
              <a:gd name="adj" fmla="val 3226"/>
            </a:avLst>
          </a:prstGeom>
          <a:solidFill>
            <a:srgbClr val="ECEFF4"/>
          </a:solidFill>
          <a:ln w="9525">
            <a:solidFill>
              <a:srgbClr val="E5E4E1"/>
            </a:solidFill>
            <a:prstDash val="solid"/>
          </a:ln>
        </p:spPr>
      </p:sp>
      <p:sp>
        <p:nvSpPr>
          <p:cNvPr id="9" name="Text 7"/>
          <p:cNvSpPr txBox="1"/>
          <p:nvPr/>
        </p:nvSpPr>
        <p:spPr>
          <a:xfrm>
            <a:off x="4468368" y="1417320"/>
            <a:ext cx="3224784" cy="237744"/>
          </a:xfrm>
          <a:prstGeom prst="rect">
            <a:avLst/>
          </a:prstGeom>
          <a:noFill/>
          <a:ln/>
        </p:spPr>
        <p:txBody>
          <a:bodyPr wrap="square" lIns="0" tIns="0" rIns="0" bIns="0" rtlCol="0" anchor="ctr"/>
          <a:lstStyle/>
          <a:p>
            <a:pPr indent="0" marL="0">
              <a:buNone/>
            </a:pPr>
            <a:r>
              <a:rPr lang="en-US" sz="1150" b="1" dirty="0">
                <a:solidFill>
                  <a:srgbClr val="F58220"/>
                </a:solidFill>
                <a:latin typeface="Spoqa Han Sans Neo" pitchFamily="34" charset="0"/>
                <a:ea typeface="Spoqa Han Sans Neo" pitchFamily="34" charset="-122"/>
                <a:cs typeface="Spoqa Han Sans Neo" pitchFamily="34" charset="-120"/>
              </a:rPr>
              <a:t>② 2023. 3. 1 — 최대주주 친족 축소</a:t>
            </a:r>
            <a:endParaRPr lang="en-US" sz="1150" dirty="0"/>
          </a:p>
        </p:txBody>
      </p:sp>
      <p:sp>
        <p:nvSpPr>
          <p:cNvPr id="10" name="Text 8"/>
          <p:cNvSpPr txBox="1"/>
          <p:nvPr/>
        </p:nvSpPr>
        <p:spPr>
          <a:xfrm>
            <a:off x="4468368" y="1673352"/>
            <a:ext cx="3224784" cy="630936"/>
          </a:xfrm>
          <a:prstGeom prst="rect">
            <a:avLst/>
          </a:prstGeom>
          <a:noFill/>
          <a:ln/>
        </p:spPr>
        <p:txBody>
          <a:bodyPr wrap="square" lIns="0" tIns="0" rIns="0" bIns="0" rtlCol="0" anchor="t"/>
          <a:lstStyle/>
          <a:p>
            <a:pPr indent="0" marL="0">
              <a:lnSpc>
                <a:spcPct val="122000"/>
              </a:lnSpc>
              <a:buNone/>
            </a:pPr>
            <a:r>
              <a:rPr lang="en-US" sz="1000" dirty="0">
                <a:solidFill>
                  <a:srgbClr val="3D3D3D"/>
                </a:solidFill>
                <a:latin typeface="Spoqa Han Sans Neo" pitchFamily="34" charset="0"/>
                <a:ea typeface="Spoqa Han Sans Neo" pitchFamily="34" charset="-122"/>
                <a:cs typeface="Spoqa Han Sans Neo" pitchFamily="34" charset="-120"/>
              </a:rPr>
              <a:t>혈족 6촌 · 인척 4촌 → 혈족 4촌 · 인척 3촌.</a:t>
            </a:r>
            <a:endParaRPr lang="en-US" sz="1000" dirty="0"/>
          </a:p>
          <a:p>
            <a:pPr indent="0" marL="0">
              <a:lnSpc>
                <a:spcPct val="122000"/>
              </a:lnSpc>
              <a:buNone/>
            </a:pPr>
            <a:endParaRPr lang="en-US" sz="1000" dirty="0"/>
          </a:p>
          <a:p>
            <a:pPr indent="0" marL="0">
              <a:lnSpc>
                <a:spcPct val="122000"/>
              </a:lnSpc>
              <a:buNone/>
            </a:pPr>
            <a:r>
              <a:rPr lang="en-US" sz="1000" dirty="0">
                <a:solidFill>
                  <a:srgbClr val="3D3D3D"/>
                </a:solidFill>
                <a:latin typeface="Spoqa Han Sans Neo" pitchFamily="34" charset="0"/>
                <a:ea typeface="Spoqa Han Sans Neo" pitchFamily="34" charset="-122"/>
                <a:cs typeface="Spoqa Han Sans Neo" pitchFamily="34" charset="-120"/>
              </a:rPr>
              <a:t>대통령령 제33276호(2023. 2. 28) 부칙 §1 단서</a:t>
            </a:r>
            <a:endParaRPr lang="en-US" sz="1000" dirty="0"/>
          </a:p>
        </p:txBody>
      </p:sp>
      <p:sp>
        <p:nvSpPr>
          <p:cNvPr id="11" name="Shape 9"/>
          <p:cNvSpPr/>
          <p:nvPr/>
        </p:nvSpPr>
        <p:spPr>
          <a:xfrm>
            <a:off x="8058912" y="1298448"/>
            <a:ext cx="3553968" cy="1133856"/>
          </a:xfrm>
          <a:prstGeom prst="rect">
            <a:avLst>
              <a:gd name="adj" fmla="val 3226"/>
            </a:avLst>
          </a:prstGeom>
          <a:solidFill>
            <a:srgbClr val="ECEFF4"/>
          </a:solidFill>
          <a:ln w="9525">
            <a:solidFill>
              <a:srgbClr val="E5E4E1"/>
            </a:solidFill>
            <a:prstDash val="solid"/>
          </a:ln>
        </p:spPr>
      </p:sp>
      <p:sp>
        <p:nvSpPr>
          <p:cNvPr id="12" name="Text 10"/>
          <p:cNvSpPr txBox="1"/>
          <p:nvPr/>
        </p:nvSpPr>
        <p:spPr>
          <a:xfrm>
            <a:off x="8223504" y="1417320"/>
            <a:ext cx="3224784" cy="237744"/>
          </a:xfrm>
          <a:prstGeom prst="rect">
            <a:avLst/>
          </a:prstGeom>
          <a:noFill/>
          <a:ln/>
        </p:spPr>
        <p:txBody>
          <a:bodyPr wrap="square" lIns="0" tIns="0" rIns="0" bIns="0" rtlCol="0" anchor="ctr"/>
          <a:lstStyle/>
          <a:p>
            <a:pPr indent="0" marL="0">
              <a:buNone/>
            </a:pPr>
            <a:r>
              <a:rPr lang="en-US" sz="1150" b="1" dirty="0">
                <a:solidFill>
                  <a:srgbClr val="F58220"/>
                </a:solidFill>
                <a:latin typeface="Spoqa Han Sans Neo" pitchFamily="34" charset="0"/>
                <a:ea typeface="Spoqa Han Sans Neo" pitchFamily="34" charset="-122"/>
                <a:cs typeface="Spoqa Han Sans Neo" pitchFamily="34" charset="-120"/>
              </a:rPr>
              <a:t>③ 왜 따로 고치지 않았나</a:t>
            </a:r>
            <a:endParaRPr lang="en-US" sz="1150" dirty="0"/>
          </a:p>
        </p:txBody>
      </p:sp>
      <p:sp>
        <p:nvSpPr>
          <p:cNvPr id="13" name="Text 11"/>
          <p:cNvSpPr txBox="1"/>
          <p:nvPr/>
        </p:nvSpPr>
        <p:spPr>
          <a:xfrm>
            <a:off x="8223504" y="1673352"/>
            <a:ext cx="3224784" cy="630936"/>
          </a:xfrm>
          <a:prstGeom prst="rect">
            <a:avLst/>
          </a:prstGeom>
          <a:noFill/>
          <a:ln/>
        </p:spPr>
        <p:txBody>
          <a:bodyPr wrap="square" lIns="0" tIns="0" rIns="0" bIns="0" rtlCol="0" anchor="t"/>
          <a:lstStyle/>
          <a:p>
            <a:pPr indent="0" marL="0">
              <a:lnSpc>
                <a:spcPct val="122000"/>
              </a:lnSpc>
              <a:buNone/>
            </a:pPr>
            <a:r>
              <a:rPr lang="en-US" sz="1000" dirty="0">
                <a:solidFill>
                  <a:srgbClr val="3D3D3D"/>
                </a:solidFill>
                <a:latin typeface="Spoqa Han Sans Neo" pitchFamily="34" charset="0"/>
                <a:ea typeface="Spoqa Han Sans Neo" pitchFamily="34" charset="-122"/>
                <a:cs typeface="Spoqa Han Sans Neo" pitchFamily="34" charset="-120"/>
              </a:rPr>
              <a:t>소득세법 시행령 §157이 국세기본법 시행령 §1의2①을</a:t>
            </a:r>
            <a:endParaRPr lang="en-US" sz="1000" dirty="0"/>
          </a:p>
          <a:p>
            <a:pPr indent="0" marL="0">
              <a:lnSpc>
                <a:spcPct val="122000"/>
              </a:lnSpc>
              <a:buNone/>
            </a:pPr>
            <a:r>
              <a:rPr lang="en-US" sz="1000" dirty="0">
                <a:solidFill>
                  <a:srgbClr val="3D3D3D"/>
                </a:solidFill>
                <a:latin typeface="Spoqa Han Sans Neo" pitchFamily="34" charset="0"/>
                <a:ea typeface="Spoqa Han Sans Neo" pitchFamily="34" charset="-122"/>
                <a:cs typeface="Spoqa Han Sans Neo" pitchFamily="34" charset="-120"/>
              </a:rPr>
              <a:t>그대로 인용한다. 국기령이 좁아진 날부터 대주주 판정의</a:t>
            </a:r>
            <a:endParaRPr lang="en-US" sz="1000" dirty="0"/>
          </a:p>
          <a:p>
            <a:pPr indent="0" marL="0">
              <a:lnSpc>
                <a:spcPct val="122000"/>
              </a:lnSpc>
              <a:buNone/>
            </a:pPr>
            <a:r>
              <a:rPr lang="en-US" sz="1000" dirty="0">
                <a:solidFill>
                  <a:srgbClr val="3D3D3D"/>
                </a:solidFill>
                <a:latin typeface="Spoqa Han Sans Neo" pitchFamily="34" charset="0"/>
                <a:ea typeface="Spoqa Han Sans Neo" pitchFamily="34" charset="-122"/>
                <a:cs typeface="Spoqa Han Sans Neo" pitchFamily="34" charset="-120"/>
              </a:rPr>
              <a:t>친족도 함께 좁아진다 — §157은 손댈 필요가 없었다.</a:t>
            </a:r>
            <a:endParaRPr lang="en-US" sz="1000" dirty="0"/>
          </a:p>
        </p:txBody>
      </p:sp>
      <p:sp>
        <p:nvSpPr>
          <p:cNvPr id="14" name="Text 12"/>
          <p:cNvSpPr txBox="1"/>
          <p:nvPr/>
        </p:nvSpPr>
        <p:spPr>
          <a:xfrm>
            <a:off x="548640" y="2596896"/>
            <a:ext cx="11064240" cy="219456"/>
          </a:xfrm>
          <a:prstGeom prst="rect">
            <a:avLst/>
          </a:prstGeom>
          <a:noFill/>
          <a:ln/>
        </p:spPr>
        <p:txBody>
          <a:bodyPr wrap="square" lIns="0" tIns="0" rIns="0" bIns="0" rtlCol="0" anchor="ctr"/>
          <a:lstStyle/>
          <a:p>
            <a:pPr indent="0" marL="0">
              <a:buNone/>
            </a:pPr>
            <a:r>
              <a:rPr lang="en-US" sz="1150" b="1" dirty="0">
                <a:solidFill>
                  <a:srgbClr val="043B72"/>
                </a:solidFill>
                <a:latin typeface="Spoqa Han Sans Neo" pitchFamily="34" charset="0"/>
                <a:ea typeface="Spoqa Han Sans Neo" pitchFamily="34" charset="-122"/>
                <a:cs typeface="Spoqa Han Sans Neo" pitchFamily="34" charset="-120"/>
              </a:rPr>
              <a:t>양도 시기별 합산 범위</a:t>
            </a:r>
            <a:endParaRPr lang="en-US" sz="11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2871216"/>
          <a:ext cx="11064240" cy="914400"/>
        </p:xfrm>
        <a:graphic>
          <a:graphicData uri="http://schemas.openxmlformats.org/drawingml/2006/table">
            <a:tbl>
              <a:tblPr/>
              <a:tblGrid>
                <a:gridCol w="2834640"/>
                <a:gridCol w="2743200"/>
                <a:gridCol w="2743200"/>
                <a:gridCol w="2743200"/>
              </a:tblGrid>
              <a:tr h="283464">
                <a:tc>
                  <a:txBody>
                    <a:bodyPr/>
                    <a:lstStyle/>
                    <a:p>
                      <a:pPr algn="ctr" indent="0" marL="0">
                        <a:buNone/>
                      </a:pPr>
                      <a:r>
                        <a:rPr lang="en-US" sz="1000" b="1" dirty="0">
                          <a:solidFill>
                            <a:srgbClr val="1A1A1A"/>
                          </a:solidFill>
                          <a:latin typeface="Spoqa Han Sans Neo" pitchFamily="34" charset="0"/>
                          <a:ea typeface="Spoqa Han Sans Neo" pitchFamily="34" charset="-122"/>
                          <a:cs typeface="Spoqa Han Sans Neo" pitchFamily="34" charset="-120"/>
                        </a:rPr>
                        <a:t>구분</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algn="ctr" indent="0" marL="0">
                        <a:buNone/>
                      </a:pPr>
                      <a:r>
                        <a:rPr lang="en-US" sz="1000" b="1" dirty="0">
                          <a:solidFill>
                            <a:srgbClr val="1A1A1A"/>
                          </a:solidFill>
                          <a:latin typeface="Spoqa Han Sans Neo" pitchFamily="34" charset="0"/>
                          <a:ea typeface="Spoqa Han Sans Neo" pitchFamily="34" charset="-122"/>
                          <a:cs typeface="Spoqa Han Sans Neo" pitchFamily="34" charset="-120"/>
                        </a:rPr>
                        <a:t>~ 2022. 12. 31</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algn="ctr" indent="0" marL="0">
                        <a:buNone/>
                      </a:pPr>
                      <a:r>
                        <a:rPr lang="en-US" sz="1000" b="1" dirty="0">
                          <a:solidFill>
                            <a:srgbClr val="1A1A1A"/>
                          </a:solidFill>
                          <a:latin typeface="Spoqa Han Sans Neo" pitchFamily="34" charset="0"/>
                          <a:ea typeface="Spoqa Han Sans Neo" pitchFamily="34" charset="-122"/>
                          <a:cs typeface="Spoqa Han Sans Neo" pitchFamily="34" charset="-120"/>
                        </a:rPr>
                        <a:t>2023. 1. 1 ~ 2. 28</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algn="ctr" indent="0" marL="0">
                        <a:buNone/>
                      </a:pPr>
                      <a:r>
                        <a:rPr lang="en-US" sz="1000" b="1" dirty="0">
                          <a:solidFill>
                            <a:srgbClr val="1A1A1A"/>
                          </a:solidFill>
                          <a:latin typeface="Spoqa Han Sans Neo" pitchFamily="34" charset="0"/>
                          <a:ea typeface="Spoqa Han Sans Neo" pitchFamily="34" charset="-122"/>
                          <a:cs typeface="Spoqa Han Sans Neo" pitchFamily="34" charset="-120"/>
                        </a:rPr>
                        <a:t>2023. 3. 1 ~ 현재</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r>
              <a:tr h="283464">
                <a:tc>
                  <a:txBody>
                    <a:bodyPr/>
                    <a:lstStyle/>
                    <a:p>
                      <a:pPr algn="l" indent="0" marL="0">
                        <a:buNone/>
                      </a:pPr>
                      <a:r>
                        <a:rPr lang="en-US" sz="1000" dirty="0">
                          <a:solidFill>
                            <a:srgbClr val="3D3D3D"/>
                          </a:solidFill>
                          <a:latin typeface="Spoqa Han Sans Neo" pitchFamily="34" charset="0"/>
                          <a:ea typeface="Spoqa Han Sans Neo" pitchFamily="34" charset="-122"/>
                          <a:cs typeface="Spoqa Han Sans Neo" pitchFamily="34" charset="-120"/>
                        </a:rPr>
                        <a:t>최대주주가 아닌 주주</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D3D"/>
                          </a:solidFill>
                          <a:latin typeface="Spoqa Han Sans Neo" pitchFamily="34" charset="0"/>
                          <a:ea typeface="Spoqa Han Sans Neo" pitchFamily="34" charset="-122"/>
                          <a:cs typeface="Spoqa Han Sans Neo" pitchFamily="34" charset="-120"/>
                        </a:rPr>
                        <a:t>본인 + 기타주주 합산</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D3D"/>
                          </a:solidFill>
                          <a:latin typeface="Spoqa Han Sans Neo" pitchFamily="34" charset="0"/>
                          <a:ea typeface="Spoqa Han Sans Neo" pitchFamily="34" charset="-122"/>
                          <a:cs typeface="Spoqa Han Sans Neo" pitchFamily="34" charset="-120"/>
                        </a:rPr>
                        <a:t>본인만</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D3D"/>
                          </a:solidFill>
                          <a:latin typeface="Spoqa Han Sans Neo" pitchFamily="34" charset="0"/>
                          <a:ea typeface="Spoqa Han Sans Neo" pitchFamily="34" charset="-122"/>
                          <a:cs typeface="Spoqa Han Sans Neo" pitchFamily="34" charset="-120"/>
                        </a:rPr>
                        <a:t>본인만</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283464">
                <a:tc>
                  <a:txBody>
                    <a:bodyPr/>
                    <a:lstStyle/>
                    <a:p>
                      <a:pPr algn="l" indent="0" marL="0">
                        <a:buNone/>
                      </a:pPr>
                      <a:r>
                        <a:rPr lang="en-US" sz="1000" dirty="0">
                          <a:solidFill>
                            <a:srgbClr val="3D3D3D"/>
                          </a:solidFill>
                          <a:latin typeface="Spoqa Han Sans Neo" pitchFamily="34" charset="0"/>
                          <a:ea typeface="Spoqa Han Sans Neo" pitchFamily="34" charset="-122"/>
                          <a:cs typeface="Spoqa Han Sans Neo" pitchFamily="34" charset="-120"/>
                        </a:rPr>
                        <a:t>최대주주</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D3D"/>
                          </a:solidFill>
                          <a:latin typeface="Spoqa Han Sans Neo" pitchFamily="34" charset="0"/>
                          <a:ea typeface="Spoqa Han Sans Neo" pitchFamily="34" charset="-122"/>
                          <a:cs typeface="Spoqa Han Sans Neo" pitchFamily="34" charset="-120"/>
                        </a:rPr>
                        <a:t>본인 + 친족 등 합산</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D3D"/>
                          </a:solidFill>
                          <a:latin typeface="Spoqa Han Sans Neo" pitchFamily="34" charset="0"/>
                          <a:ea typeface="Spoqa Han Sans Neo" pitchFamily="34" charset="-122"/>
                          <a:cs typeface="Spoqa Han Sans Neo" pitchFamily="34" charset="-120"/>
                        </a:rPr>
                        <a:t>본인 + 친족 등 합산</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D3D"/>
                          </a:solidFill>
                          <a:latin typeface="Spoqa Han Sans Neo" pitchFamily="34" charset="0"/>
                          <a:ea typeface="Spoqa Han Sans Neo" pitchFamily="34" charset="-122"/>
                          <a:cs typeface="Spoqa Han Sans Neo" pitchFamily="34" charset="-120"/>
                        </a:rPr>
                        <a:t>본인 + 친족 등 합산</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283464">
                <a:tc>
                  <a:txBody>
                    <a:bodyPr/>
                    <a:lstStyle/>
                    <a:p>
                      <a:pPr algn="l" indent="0" marL="0">
                        <a:buNone/>
                      </a:pPr>
                      <a:r>
                        <a:rPr lang="en-US" sz="1000" dirty="0">
                          <a:solidFill>
                            <a:srgbClr val="3D3D3D"/>
                          </a:solidFill>
                          <a:latin typeface="Spoqa Han Sans Neo" pitchFamily="34" charset="0"/>
                          <a:ea typeface="Spoqa Han Sans Neo" pitchFamily="34" charset="-122"/>
                          <a:cs typeface="Spoqa Han Sans Neo" pitchFamily="34" charset="-120"/>
                        </a:rPr>
                        <a:t>친족 — 혈족</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D3D"/>
                          </a:solidFill>
                          <a:latin typeface="Spoqa Han Sans Neo" pitchFamily="34" charset="0"/>
                          <a:ea typeface="Spoqa Han Sans Neo" pitchFamily="34" charset="-122"/>
                          <a:cs typeface="Spoqa Han Sans Neo" pitchFamily="34" charset="-120"/>
                        </a:rPr>
                        <a:t>6촌 이내</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D3D"/>
                          </a:solidFill>
                          <a:latin typeface="Spoqa Han Sans Neo" pitchFamily="34" charset="0"/>
                          <a:ea typeface="Spoqa Han Sans Neo" pitchFamily="34" charset="-122"/>
                          <a:cs typeface="Spoqa Han Sans Neo" pitchFamily="34" charset="-120"/>
                        </a:rPr>
                        <a:t>6촌 이내</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D3D"/>
                          </a:solidFill>
                          <a:latin typeface="Spoqa Han Sans Neo" pitchFamily="34" charset="0"/>
                          <a:ea typeface="Spoqa Han Sans Neo" pitchFamily="34" charset="-122"/>
                          <a:cs typeface="Spoqa Han Sans Neo" pitchFamily="34" charset="-120"/>
                        </a:rPr>
                        <a:t>4촌 이내</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283464">
                <a:tc>
                  <a:txBody>
                    <a:bodyPr/>
                    <a:lstStyle/>
                    <a:p>
                      <a:pPr algn="l" indent="0" marL="0">
                        <a:buNone/>
                      </a:pPr>
                      <a:r>
                        <a:rPr lang="en-US" sz="1000" dirty="0">
                          <a:solidFill>
                            <a:srgbClr val="3D3D3D"/>
                          </a:solidFill>
                          <a:latin typeface="Spoqa Han Sans Neo" pitchFamily="34" charset="0"/>
                          <a:ea typeface="Spoqa Han Sans Neo" pitchFamily="34" charset="-122"/>
                          <a:cs typeface="Spoqa Han Sans Neo" pitchFamily="34" charset="-120"/>
                        </a:rPr>
                        <a:t>친족 — 인척</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D3D"/>
                          </a:solidFill>
                          <a:latin typeface="Spoqa Han Sans Neo" pitchFamily="34" charset="0"/>
                          <a:ea typeface="Spoqa Han Sans Neo" pitchFamily="34" charset="-122"/>
                          <a:cs typeface="Spoqa Han Sans Neo" pitchFamily="34" charset="-120"/>
                        </a:rPr>
                        <a:t>4촌 이내</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D3D"/>
                          </a:solidFill>
                          <a:latin typeface="Spoqa Han Sans Neo" pitchFamily="34" charset="0"/>
                          <a:ea typeface="Spoqa Han Sans Neo" pitchFamily="34" charset="-122"/>
                          <a:cs typeface="Spoqa Han Sans Neo" pitchFamily="34" charset="-120"/>
                        </a:rPr>
                        <a:t>4촌 이내</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3D3D"/>
                          </a:solidFill>
                          <a:latin typeface="Spoqa Han Sans Neo" pitchFamily="34" charset="0"/>
                          <a:ea typeface="Spoqa Han Sans Neo" pitchFamily="34" charset="-122"/>
                          <a:cs typeface="Spoqa Han Sans Neo" pitchFamily="34" charset="-120"/>
                        </a:rPr>
                        <a:t>3촌 이내</a:t>
                      </a:r>
                      <a:endParaRPr lang="en-US" sz="100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bl>
          </a:graphicData>
        </a:graphic>
      </p:graphicFrame>
      <p:sp>
        <p:nvSpPr>
          <p:cNvPr id="16" name="Text 13"/>
          <p:cNvSpPr txBox="1"/>
          <p:nvPr/>
        </p:nvSpPr>
        <p:spPr>
          <a:xfrm>
            <a:off x="548640" y="4443984"/>
            <a:ext cx="11064240" cy="841248"/>
          </a:xfrm>
          <a:prstGeom prst="rect">
            <a:avLst/>
          </a:prstGeom>
          <a:noFill/>
          <a:ln/>
        </p:spPr>
        <p:txBody>
          <a:bodyPr wrap="square" lIns="0" tIns="0" rIns="0" bIns="0" rtlCol="0" anchor="t"/>
          <a:lstStyle/>
          <a:p>
            <a:pPr indent="0" marL="0">
              <a:lnSpc>
                <a:spcPct val="118000"/>
              </a:lnSpc>
              <a:buNone/>
            </a:pPr>
            <a:r>
              <a:rPr lang="en-US" sz="850" dirty="0">
                <a:solidFill>
                  <a:srgbClr val="6C6C6C"/>
                </a:solidFill>
                <a:latin typeface="Spoqa Han Sans Neo" pitchFamily="34" charset="0"/>
                <a:ea typeface="Spoqa Han Sans Neo" pitchFamily="34" charset="-122"/>
                <a:cs typeface="Spoqa Han Sans Neo" pitchFamily="34" charset="-120"/>
              </a:rPr>
              <a:t>· 두 변화는 근거 법령이 다르다. 합산 폐지는 소득세법 시행령 개정이고, 친족 축소는 국세기본법 시행령 §1의2① 개정이다. 같은 해에 두 달 간격으로 겹쳐 일어났을 뿐 하나의 개정이 아니다.</a:t>
            </a:r>
            <a:endParaRPr lang="en-US" sz="850" dirty="0"/>
          </a:p>
          <a:p>
            <a:pPr indent="0" marL="0">
              <a:lnSpc>
                <a:spcPct val="118000"/>
              </a:lnSpc>
              <a:buNone/>
            </a:pPr>
            <a:r>
              <a:rPr lang="en-US" sz="850" dirty="0">
                <a:solidFill>
                  <a:srgbClr val="6C6C6C"/>
                </a:solidFill>
                <a:latin typeface="Spoqa Han Sans Neo" pitchFamily="34" charset="0"/>
                <a:ea typeface="Spoqa Han Sans Neo" pitchFamily="34" charset="-122"/>
                <a:cs typeface="Spoqa Han Sans Neo" pitchFamily="34" charset="-120"/>
              </a:rPr>
              <a:t>· 친족 축소 개정령(대통령령 제33276호)은 2023. 2. 28 공포이고, 부칙 제1조 단서로 §1의2① 개정규정만 2023. 3. 1부터 시행한다. 공포일과 시행일이 하루 차이다.</a:t>
            </a:r>
            <a:endParaRPr lang="en-US" sz="850" dirty="0"/>
          </a:p>
          <a:p>
            <a:pPr indent="0" marL="0">
              <a:lnSpc>
                <a:spcPct val="118000"/>
              </a:lnSpc>
              <a:buNone/>
            </a:pPr>
            <a:r>
              <a:rPr lang="en-US" sz="850" dirty="0">
                <a:solidFill>
                  <a:srgbClr val="6C6C6C"/>
                </a:solidFill>
                <a:latin typeface="Spoqa Han Sans Neo" pitchFamily="34" charset="0"/>
                <a:ea typeface="Spoqa Han Sans Neo" pitchFamily="34" charset="-122"/>
                <a:cs typeface="Spoqa Han Sans Neo" pitchFamily="34" charset="-120"/>
              </a:rPr>
              <a:t>· 연혁 조문 대조에서 2023-02-01 시점은 「6촌 이내의 혈족 · 4촌 이내의 인척」, 2023-04-01 시점은 「4촌 이내의 혈족 · 3촌 이내의 인척」으로 실제로 갈렸다.</a:t>
            </a:r>
            <a:endParaRPr lang="en-US" sz="850" dirty="0"/>
          </a:p>
        </p:txBody>
      </p:sp>
      <p:sp>
        <p:nvSpPr>
          <p:cNvPr id="17" name="Text 14"/>
          <p:cNvSpPr txBox="1"/>
          <p:nvPr/>
        </p:nvSpPr>
        <p:spPr>
          <a:xfrm>
            <a:off x="548640" y="5431536"/>
            <a:ext cx="11064240" cy="731520"/>
          </a:xfrm>
          <a:prstGeom prst="rect">
            <a:avLst/>
          </a:prstGeom>
          <a:noFill/>
          <a:ln/>
        </p:spPr>
        <p:txBody>
          <a:bodyPr wrap="square" lIns="0" tIns="0" rIns="0" bIns="0" rtlCol="0" anchor="t"/>
          <a:lstStyle/>
          <a:p>
            <a:pPr indent="0" marL="0">
              <a:lnSpc>
                <a:spcPct val="115000"/>
              </a:lnSpc>
              <a:buNone/>
            </a:pPr>
            <a:r>
              <a:rPr lang="en-US" sz="750" dirty="0">
                <a:solidFill>
                  <a:srgbClr val="84888B"/>
                </a:solidFill>
                <a:latin typeface="Spoqa Han Sans Neo" pitchFamily="34" charset="0"/>
                <a:ea typeface="Spoqa Han Sans Neo" pitchFamily="34" charset="-122"/>
                <a:cs typeface="Spoqa Han Sans Neo" pitchFamily="34" charset="-120"/>
              </a:rPr>
              <a:t>근거 — 국세기본법 시행령 §1의2①1호 · 2호(2021-06-01 · 2022-06-01 · 2023-02-01 · 2023-04-01 네 시점 연혁 조문 대조) · 구 소득세법 시행령 §157④1호가목1)(2021. 2. 17. 제31442호 · 2022. 2. 15. 제32352호 본) · 현행 소득세법 시행령 §157①1호가목 · 대통령령 제33207호 부칙 · 제33276호 부칙 제1조 단서. 국가법령정보센터 OPEN API.</a:t>
            </a:r>
            <a:endParaRPr lang="en-US" sz="750" dirty="0"/>
          </a:p>
          <a:p>
            <a:pPr indent="0" marL="0">
              <a:lnSpc>
                <a:spcPct val="115000"/>
              </a:lnSpc>
              <a:buNone/>
            </a:pPr>
            <a:r>
              <a:rPr lang="en-US" sz="750" dirty="0">
                <a:solidFill>
                  <a:srgbClr val="84888B"/>
                </a:solidFill>
                <a:latin typeface="Spoqa Han Sans Neo" pitchFamily="34" charset="0"/>
                <a:ea typeface="Spoqa Han Sans Neo" pitchFamily="34" charset="-122"/>
                <a:cs typeface="Spoqa Han Sans Neo" pitchFamily="34" charset="-120"/>
              </a:rPr>
              <a:t>미확인 — 2023 ~ 2024년 소득세법 시행령 §157 조문 원문. 해당 기간 공포본은 모두 금융투자소득세 시행에 맞춘 「제157조 삭제」 문언을 보여, 여섯 판을 물러나도 그 시점 문언을 얻지 못했다. 다만 2021 · 2022년 본과 현행본이 같은 인용 구조이므로 결론은 달라지지 않는다.</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56032"/>
            <a:ext cx="11064240" cy="201168"/>
          </a:xfrm>
          <a:prstGeom prst="rect">
            <a:avLst/>
          </a:prstGeom>
          <a:noFill/>
          <a:ln/>
        </p:spPr>
        <p:txBody>
          <a:bodyPr wrap="square" lIns="0" tIns="0" rIns="0" bIns="0" rtlCol="0" anchor="ctr"/>
          <a:lstStyle/>
          <a:p>
            <a:pPr indent="0" marL="0">
              <a:buNone/>
            </a:pPr>
            <a:r>
              <a:rPr lang="en-US" sz="1000" b="1" spc="60" kern="0" dirty="0">
                <a:solidFill>
                  <a:srgbClr val="F58220"/>
                </a:solidFill>
                <a:latin typeface="Spoqa Han Sans Neo" pitchFamily="34" charset="0"/>
                <a:ea typeface="Spoqa Han Sans Neo" pitchFamily="34" charset="-122"/>
                <a:cs typeface="Spoqa Han Sans Neo" pitchFamily="34" charset="-120"/>
              </a:rPr>
              <a:t>국내 상장주식 양도소득세</a:t>
            </a:r>
            <a:endParaRPr lang="en-US" sz="1000" dirty="0"/>
          </a:p>
        </p:txBody>
      </p:sp>
      <p:sp>
        <p:nvSpPr>
          <p:cNvPr id="3" name="Text 1"/>
          <p:cNvSpPr txBox="1"/>
          <p:nvPr/>
        </p:nvSpPr>
        <p:spPr>
          <a:xfrm>
            <a:off x="548640" y="502920"/>
            <a:ext cx="11064240" cy="475488"/>
          </a:xfrm>
          <a:prstGeom prst="rect">
            <a:avLst/>
          </a:prstGeom>
          <a:noFill/>
          <a:ln/>
        </p:spPr>
        <p:txBody>
          <a:bodyPr wrap="square" lIns="0" tIns="0" rIns="0" bIns="0" rtlCol="0" anchor="ctr"/>
          <a:lstStyle/>
          <a:p>
            <a:pPr indent="0" marL="0">
              <a:buNone/>
            </a:pPr>
            <a:r>
              <a:rPr lang="en-US" sz="2100" b="1" dirty="0">
                <a:solidFill>
                  <a:srgbClr val="1A1A1A"/>
                </a:solidFill>
                <a:latin typeface="Spoqa Han Sans Neo" pitchFamily="34" charset="0"/>
                <a:ea typeface="Spoqa Han Sans Neo" pitchFamily="34" charset="-122"/>
                <a:cs typeface="Spoqa Han Sans Neo" pitchFamily="34" charset="-120"/>
              </a:rPr>
              <a:t>세율 · 신고 · 주변 세제</a:t>
            </a:r>
            <a:endParaRPr lang="en-US" sz="2100" dirty="0"/>
          </a:p>
        </p:txBody>
      </p:sp>
      <p:sp>
        <p:nvSpPr>
          <p:cNvPr id="4" name="Shape 2"/>
          <p:cNvSpPr/>
          <p:nvPr/>
        </p:nvSpPr>
        <p:spPr>
          <a:xfrm>
            <a:off x="548640" y="1078992"/>
            <a:ext cx="11064240" cy="10973"/>
          </a:xfrm>
          <a:prstGeom prst="rect">
            <a:avLst/>
          </a:prstGeom>
          <a:solidFill>
            <a:srgbClr val="F58220"/>
          </a:solidFill>
          <a:ln w="12700">
            <a:solidFill>
              <a:srgbClr val="333333"/>
            </a:solidFill>
            <a:prstDash val="solid"/>
          </a:ln>
        </p:spPr>
      </p:sp>
      <p:sp>
        <p:nvSpPr>
          <p:cNvPr id="5" name="Text 3"/>
          <p:cNvSpPr txBox="1"/>
          <p:nvPr/>
        </p:nvSpPr>
        <p:spPr>
          <a:xfrm>
            <a:off x="548640" y="1298448"/>
            <a:ext cx="5394960" cy="219456"/>
          </a:xfrm>
          <a:prstGeom prst="rect">
            <a:avLst/>
          </a:prstGeom>
          <a:noFill/>
          <a:ln/>
        </p:spPr>
        <p:txBody>
          <a:bodyPr wrap="square" lIns="0" tIns="0" rIns="0" bIns="0" rtlCol="0" anchor="ctr"/>
          <a:lstStyle/>
          <a:p>
            <a:pPr indent="0" marL="0">
              <a:buNone/>
            </a:pPr>
            <a:r>
              <a:rPr lang="en-US" sz="1150" b="1" dirty="0">
                <a:solidFill>
                  <a:srgbClr val="043B72"/>
                </a:solidFill>
                <a:latin typeface="Spoqa Han Sans Neo" pitchFamily="34" charset="0"/>
                <a:ea typeface="Spoqa Han Sans Neo" pitchFamily="34" charset="-122"/>
                <a:cs typeface="Spoqa Han Sans Neo" pitchFamily="34" charset="-120"/>
              </a:rPr>
              <a:t>① 양도소득세율 (대주주)</a:t>
            </a:r>
            <a:endParaRPr lang="en-US" sz="11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591056"/>
          <a:ext cx="5394960" cy="914400"/>
        </p:xfrm>
        <a:graphic>
          <a:graphicData uri="http://schemas.openxmlformats.org/drawingml/2006/table">
            <a:tbl>
              <a:tblPr/>
              <a:tblGrid>
                <a:gridCol w="2834640"/>
                <a:gridCol w="1280160"/>
                <a:gridCol w="1280160"/>
              </a:tblGrid>
              <a:tr h="283464">
                <a:tc>
                  <a:txBody>
                    <a:bodyPr/>
                    <a:lstStyle/>
                    <a:p>
                      <a:pPr algn="ctr" indent="0" marL="0">
                        <a:buNone/>
                      </a:pPr>
                      <a:r>
                        <a:rPr lang="en-US" sz="950" b="1" dirty="0">
                          <a:solidFill>
                            <a:srgbClr val="1A1A1A"/>
                          </a:solidFill>
                          <a:latin typeface="Spoqa Han Sans Neo" pitchFamily="34" charset="0"/>
                          <a:ea typeface="Spoqa Han Sans Neo" pitchFamily="34" charset="-122"/>
                          <a:cs typeface="Spoqa Han Sans Neo" pitchFamily="34" charset="-120"/>
                        </a:rPr>
                        <a:t>구분</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algn="ctr" indent="0" marL="0">
                        <a:buNone/>
                      </a:pPr>
                      <a:r>
                        <a:rPr lang="en-US" sz="950" b="1" dirty="0">
                          <a:solidFill>
                            <a:srgbClr val="1A1A1A"/>
                          </a:solidFill>
                          <a:latin typeface="Spoqa Han Sans Neo" pitchFamily="34" charset="0"/>
                          <a:ea typeface="Spoqa Han Sans Neo" pitchFamily="34" charset="-122"/>
                          <a:cs typeface="Spoqa Han Sans Neo" pitchFamily="34" charset="-120"/>
                        </a:rPr>
                        <a:t>세율</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algn="ctr" indent="0" marL="0">
                        <a:buNone/>
                      </a:pPr>
                      <a:r>
                        <a:rPr lang="en-US" sz="950" b="1" dirty="0">
                          <a:solidFill>
                            <a:srgbClr val="1A1A1A"/>
                          </a:solidFill>
                          <a:latin typeface="Spoqa Han Sans Neo" pitchFamily="34" charset="0"/>
                          <a:ea typeface="Spoqa Han Sans Neo" pitchFamily="34" charset="-122"/>
                          <a:cs typeface="Spoqa Han Sans Neo" pitchFamily="34" charset="-120"/>
                        </a:rPr>
                        <a:t>지방소득세 포함</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r>
              <a:tr h="283464">
                <a:tc>
                  <a:txBody>
                    <a:bodyPr/>
                    <a:lstStyle/>
                    <a:p>
                      <a:pPr algn="l" indent="0" marL="0">
                        <a:buNone/>
                      </a:pPr>
                      <a:r>
                        <a:rPr lang="en-US" sz="950" dirty="0">
                          <a:solidFill>
                            <a:srgbClr val="3D3D3D"/>
                          </a:solidFill>
                          <a:latin typeface="Spoqa Han Sans Neo" pitchFamily="34" charset="0"/>
                          <a:ea typeface="Spoqa Han Sans Neo" pitchFamily="34" charset="-122"/>
                          <a:cs typeface="Spoqa Han Sans Neo" pitchFamily="34" charset="-120"/>
                        </a:rPr>
                        <a:t>과세표준 3억원 이하</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D3D3D"/>
                          </a:solidFill>
                          <a:latin typeface="Spoqa Han Sans Neo" pitchFamily="34" charset="0"/>
                          <a:ea typeface="Spoqa Han Sans Neo" pitchFamily="34" charset="-122"/>
                          <a:cs typeface="Spoqa Han Sans Neo" pitchFamily="34" charset="-120"/>
                        </a:rPr>
                        <a:t>20%</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D3D3D"/>
                          </a:solidFill>
                          <a:latin typeface="Spoqa Han Sans Neo" pitchFamily="34" charset="0"/>
                          <a:ea typeface="Spoqa Han Sans Neo" pitchFamily="34" charset="-122"/>
                          <a:cs typeface="Spoqa Han Sans Neo" pitchFamily="34" charset="-120"/>
                        </a:rPr>
                        <a:t>22.0%</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283464">
                <a:tc>
                  <a:txBody>
                    <a:bodyPr/>
                    <a:lstStyle/>
                    <a:p>
                      <a:pPr algn="l" indent="0" marL="0">
                        <a:buNone/>
                      </a:pPr>
                      <a:r>
                        <a:rPr lang="en-US" sz="950" dirty="0">
                          <a:solidFill>
                            <a:srgbClr val="3D3D3D"/>
                          </a:solidFill>
                          <a:latin typeface="Spoqa Han Sans Neo" pitchFamily="34" charset="0"/>
                          <a:ea typeface="Spoqa Han Sans Neo" pitchFamily="34" charset="-122"/>
                          <a:cs typeface="Spoqa Han Sans Neo" pitchFamily="34" charset="-120"/>
                        </a:rPr>
                        <a:t>과세표준 3억원 초과분</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D3D3D"/>
                          </a:solidFill>
                          <a:latin typeface="Spoqa Han Sans Neo" pitchFamily="34" charset="0"/>
                          <a:ea typeface="Spoqa Han Sans Neo" pitchFamily="34" charset="-122"/>
                          <a:cs typeface="Spoqa Han Sans Neo" pitchFamily="34" charset="-120"/>
                        </a:rPr>
                        <a:t>25%</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D3D3D"/>
                          </a:solidFill>
                          <a:latin typeface="Spoqa Han Sans Neo" pitchFamily="34" charset="0"/>
                          <a:ea typeface="Spoqa Han Sans Neo" pitchFamily="34" charset="-122"/>
                          <a:cs typeface="Spoqa Han Sans Neo" pitchFamily="34" charset="-120"/>
                        </a:rPr>
                        <a:t>27.5%</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283464">
                <a:tc>
                  <a:txBody>
                    <a:bodyPr/>
                    <a:lstStyle/>
                    <a:p>
                      <a:pPr algn="l" indent="0" marL="0">
                        <a:buNone/>
                      </a:pPr>
                      <a:r>
                        <a:rPr lang="en-US" sz="950" dirty="0">
                          <a:solidFill>
                            <a:srgbClr val="3D3D3D"/>
                          </a:solidFill>
                          <a:latin typeface="Spoqa Han Sans Neo" pitchFamily="34" charset="0"/>
                          <a:ea typeface="Spoqa Han Sans Neo" pitchFamily="34" charset="-122"/>
                          <a:cs typeface="Spoqa Han Sans Neo" pitchFamily="34" charset="-120"/>
                        </a:rPr>
                        <a:t>1년 미만 보유 (중소기업 외)</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D3D3D"/>
                          </a:solidFill>
                          <a:latin typeface="Spoqa Han Sans Neo" pitchFamily="34" charset="0"/>
                          <a:ea typeface="Spoqa Han Sans Neo" pitchFamily="34" charset="-122"/>
                          <a:cs typeface="Spoqa Han Sans Neo" pitchFamily="34" charset="-120"/>
                        </a:rPr>
                        <a:t>30%</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D3D3D"/>
                          </a:solidFill>
                          <a:latin typeface="Spoqa Han Sans Neo" pitchFamily="34" charset="0"/>
                          <a:ea typeface="Spoqa Han Sans Neo" pitchFamily="34" charset="-122"/>
                          <a:cs typeface="Spoqa Han Sans Neo" pitchFamily="34" charset="-120"/>
                        </a:rPr>
                        <a:t>33.0%</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283464">
                <a:tc>
                  <a:txBody>
                    <a:bodyPr/>
                    <a:lstStyle/>
                    <a:p>
                      <a:pPr algn="l" indent="0" marL="0">
                        <a:buNone/>
                      </a:pPr>
                      <a:r>
                        <a:rPr lang="en-US" sz="950" dirty="0">
                          <a:solidFill>
                            <a:srgbClr val="3D3D3D"/>
                          </a:solidFill>
                          <a:latin typeface="Spoqa Han Sans Neo" pitchFamily="34" charset="0"/>
                          <a:ea typeface="Spoqa Han Sans Neo" pitchFamily="34" charset="-122"/>
                          <a:cs typeface="Spoqa Han Sans Neo" pitchFamily="34" charset="-120"/>
                        </a:rPr>
                        <a:t>[참고] 대주주 아닌 자 · 중소기업</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D3D3D"/>
                          </a:solidFill>
                          <a:latin typeface="Spoqa Han Sans Neo" pitchFamily="34" charset="0"/>
                          <a:ea typeface="Spoqa Han Sans Neo" pitchFamily="34" charset="-122"/>
                          <a:cs typeface="Spoqa Han Sans Neo" pitchFamily="34" charset="-120"/>
                        </a:rPr>
                        <a:t>10%</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D3D3D"/>
                          </a:solidFill>
                          <a:latin typeface="Spoqa Han Sans Neo" pitchFamily="34" charset="0"/>
                          <a:ea typeface="Spoqa Han Sans Neo" pitchFamily="34" charset="-122"/>
                          <a:cs typeface="Spoqa Han Sans Neo" pitchFamily="34" charset="-120"/>
                        </a:rPr>
                        <a:t>별도</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6217920" y="1298448"/>
            <a:ext cx="5394960" cy="219456"/>
          </a:xfrm>
          <a:prstGeom prst="rect">
            <a:avLst/>
          </a:prstGeom>
          <a:noFill/>
          <a:ln/>
        </p:spPr>
        <p:txBody>
          <a:bodyPr wrap="square" lIns="0" tIns="0" rIns="0" bIns="0" rtlCol="0" anchor="ctr"/>
          <a:lstStyle/>
          <a:p>
            <a:pPr indent="0" marL="0">
              <a:buNone/>
            </a:pPr>
            <a:r>
              <a:rPr lang="en-US" sz="1150" b="1" dirty="0">
                <a:solidFill>
                  <a:srgbClr val="043B72"/>
                </a:solidFill>
                <a:latin typeface="Spoqa Han Sans Neo" pitchFamily="34" charset="0"/>
                <a:ea typeface="Spoqa Han Sans Neo" pitchFamily="34" charset="-122"/>
                <a:cs typeface="Spoqa Han Sans Neo" pitchFamily="34" charset="-120"/>
              </a:rPr>
              <a:t>② 증권거래세 — 양도가액에 붙는다</a:t>
            </a:r>
            <a:endParaRPr lang="en-US" sz="1150" dirty="0"/>
          </a:p>
        </p:txBody>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6217920" y="1591056"/>
          <a:ext cx="5394960" cy="914400"/>
        </p:xfrm>
        <a:graphic>
          <a:graphicData uri="http://schemas.openxmlformats.org/drawingml/2006/table">
            <a:tbl>
              <a:tblPr/>
              <a:tblGrid>
                <a:gridCol w="2377440"/>
                <a:gridCol w="3017520"/>
              </a:tblGrid>
              <a:tr h="283464">
                <a:tc>
                  <a:txBody>
                    <a:bodyPr/>
                    <a:lstStyle/>
                    <a:p>
                      <a:pPr algn="ctr" indent="0" marL="0">
                        <a:buNone/>
                      </a:pPr>
                      <a:r>
                        <a:rPr lang="en-US" sz="950" b="1" dirty="0">
                          <a:solidFill>
                            <a:srgbClr val="1A1A1A"/>
                          </a:solidFill>
                          <a:latin typeface="Spoqa Han Sans Neo" pitchFamily="34" charset="0"/>
                          <a:ea typeface="Spoqa Han Sans Neo" pitchFamily="34" charset="-122"/>
                          <a:cs typeface="Spoqa Han Sans Neo" pitchFamily="34" charset="-120"/>
                        </a:rPr>
                        <a:t>양도 연도</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algn="ctr" indent="0" marL="0">
                        <a:buNone/>
                      </a:pPr>
                      <a:r>
                        <a:rPr lang="en-US" sz="950" b="1" dirty="0">
                          <a:solidFill>
                            <a:srgbClr val="1A1A1A"/>
                          </a:solidFill>
                          <a:latin typeface="Spoqa Han Sans Neo" pitchFamily="34" charset="0"/>
                          <a:ea typeface="Spoqa Han Sans Neo" pitchFamily="34" charset="-122"/>
                          <a:cs typeface="Spoqa Han Sans Neo" pitchFamily="34" charset="-120"/>
                        </a:rPr>
                        <a:t>총부담 (코스피 · 코스닥)</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r>
              <a:tr h="283464">
                <a:tc>
                  <a:txBody>
                    <a:bodyPr/>
                    <a:lstStyle/>
                    <a:p>
                      <a:pPr algn="ctr" indent="0" marL="0">
                        <a:buNone/>
                      </a:pPr>
                      <a:r>
                        <a:rPr lang="en-US" sz="950" dirty="0">
                          <a:solidFill>
                            <a:srgbClr val="3D3D3D"/>
                          </a:solidFill>
                          <a:latin typeface="Spoqa Han Sans Neo" pitchFamily="34" charset="0"/>
                          <a:ea typeface="Spoqa Han Sans Neo" pitchFamily="34" charset="-122"/>
                          <a:cs typeface="Spoqa Han Sans Neo" pitchFamily="34" charset="-120"/>
                        </a:rPr>
                        <a:t>2021 · 2022</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D3D3D"/>
                          </a:solidFill>
                          <a:latin typeface="Spoqa Han Sans Neo" pitchFamily="34" charset="0"/>
                          <a:ea typeface="Spoqa Han Sans Neo" pitchFamily="34" charset="-122"/>
                          <a:cs typeface="Spoqa Han Sans Neo" pitchFamily="34" charset="-120"/>
                        </a:rPr>
                        <a:t>0.23%</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283464">
                <a:tc>
                  <a:txBody>
                    <a:bodyPr/>
                    <a:lstStyle/>
                    <a:p>
                      <a:pPr algn="ctr" indent="0" marL="0">
                        <a:buNone/>
                      </a:pPr>
                      <a:r>
                        <a:rPr lang="en-US" sz="950" dirty="0">
                          <a:solidFill>
                            <a:srgbClr val="3D3D3D"/>
                          </a:solidFill>
                          <a:latin typeface="Spoqa Han Sans Neo" pitchFamily="34" charset="0"/>
                          <a:ea typeface="Spoqa Han Sans Neo" pitchFamily="34" charset="-122"/>
                          <a:cs typeface="Spoqa Han Sans Neo" pitchFamily="34" charset="-120"/>
                        </a:rPr>
                        <a:t>2023</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D3D3D"/>
                          </a:solidFill>
                          <a:latin typeface="Spoqa Han Sans Neo" pitchFamily="34" charset="0"/>
                          <a:ea typeface="Spoqa Han Sans Neo" pitchFamily="34" charset="-122"/>
                          <a:cs typeface="Spoqa Han Sans Neo" pitchFamily="34" charset="-120"/>
                        </a:rPr>
                        <a:t>0.20%</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283464">
                <a:tc>
                  <a:txBody>
                    <a:bodyPr/>
                    <a:lstStyle/>
                    <a:p>
                      <a:pPr algn="ctr" indent="0" marL="0">
                        <a:buNone/>
                      </a:pPr>
                      <a:r>
                        <a:rPr lang="en-US" sz="950" dirty="0">
                          <a:solidFill>
                            <a:srgbClr val="3D3D3D"/>
                          </a:solidFill>
                          <a:latin typeface="Spoqa Han Sans Neo" pitchFamily="34" charset="0"/>
                          <a:ea typeface="Spoqa Han Sans Neo" pitchFamily="34" charset="-122"/>
                          <a:cs typeface="Spoqa Han Sans Neo" pitchFamily="34" charset="-120"/>
                        </a:rPr>
                        <a:t>2024</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D3D3D"/>
                          </a:solidFill>
                          <a:latin typeface="Spoqa Han Sans Neo" pitchFamily="34" charset="0"/>
                          <a:ea typeface="Spoqa Han Sans Neo" pitchFamily="34" charset="-122"/>
                          <a:cs typeface="Spoqa Han Sans Neo" pitchFamily="34" charset="-120"/>
                        </a:rPr>
                        <a:t>0.18%</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283464">
                <a:tc>
                  <a:txBody>
                    <a:bodyPr/>
                    <a:lstStyle/>
                    <a:p>
                      <a:pPr algn="ctr" indent="0" marL="0">
                        <a:buNone/>
                      </a:pPr>
                      <a:r>
                        <a:rPr lang="en-US" sz="950" b="1" dirty="0">
                          <a:solidFill>
                            <a:srgbClr val="3D3D3D"/>
                          </a:solidFill>
                          <a:latin typeface="Spoqa Han Sans Neo" pitchFamily="34" charset="0"/>
                          <a:ea typeface="Spoqa Han Sans Neo" pitchFamily="34" charset="-122"/>
                          <a:cs typeface="Spoqa Han Sans Neo" pitchFamily="34" charset="-120"/>
                        </a:rPr>
                        <a:t>2026</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c>
                  <a:txBody>
                    <a:bodyPr/>
                    <a:lstStyle/>
                    <a:p>
                      <a:pPr algn="ctr" indent="0" marL="0">
                        <a:buNone/>
                      </a:pPr>
                      <a:r>
                        <a:rPr lang="en-US" sz="950" b="1" dirty="0">
                          <a:solidFill>
                            <a:srgbClr val="3D3D3D"/>
                          </a:solidFill>
                          <a:latin typeface="Spoqa Han Sans Neo" pitchFamily="34" charset="0"/>
                          <a:ea typeface="Spoqa Han Sans Neo" pitchFamily="34" charset="-122"/>
                          <a:cs typeface="Spoqa Han Sans Neo" pitchFamily="34" charset="-120"/>
                        </a:rPr>
                        <a:t>0.15%</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r>
            </a:tbl>
          </a:graphicData>
        </a:graphic>
      </p:graphicFrame>
      <p:sp>
        <p:nvSpPr>
          <p:cNvPr id="9" name="Text 5"/>
          <p:cNvSpPr txBox="1"/>
          <p:nvPr/>
        </p:nvSpPr>
        <p:spPr>
          <a:xfrm>
            <a:off x="548640" y="3200400"/>
            <a:ext cx="5394960" cy="219456"/>
          </a:xfrm>
          <a:prstGeom prst="rect">
            <a:avLst/>
          </a:prstGeom>
          <a:noFill/>
          <a:ln/>
        </p:spPr>
        <p:txBody>
          <a:bodyPr wrap="square" lIns="0" tIns="0" rIns="0" bIns="0" rtlCol="0" anchor="ctr"/>
          <a:lstStyle/>
          <a:p>
            <a:pPr indent="0" marL="0">
              <a:buNone/>
            </a:pPr>
            <a:r>
              <a:rPr lang="en-US" sz="1150" b="1" dirty="0">
                <a:solidFill>
                  <a:srgbClr val="043B72"/>
                </a:solidFill>
                <a:latin typeface="Spoqa Han Sans Neo" pitchFamily="34" charset="0"/>
                <a:ea typeface="Spoqa Han Sans Neo" pitchFamily="34" charset="-122"/>
                <a:cs typeface="Spoqa Han Sans Neo" pitchFamily="34" charset="-120"/>
              </a:rPr>
              <a:t>③ 신고 · 납부와 가산세</a:t>
            </a:r>
            <a:endParaRPr lang="en-US" sz="1150" dirty="0"/>
          </a:p>
        </p:txBody>
      </p:sp>
      <p:graphicFrame>
        <p:nvGraphicFramePr>
          <p:cNvPr id="13" name="Table 2"/>
          <p:cNvGraphicFramePr>
            <a:graphicFrameLocks noGrp="1"/>
          </p:cNvGraphicFramePr>
          <p:nvPr>
            <p:extLst>
              <p:ext uri="{D42A27DB-BD31-4B8C-83A1-F6EECF244321}">
                <p14:modId xmlns:p14="http://schemas.microsoft.com/office/powerpoint/2010/main" val="1579011935"/>
              </p:ext>
            </p:extLst>
          </p:nvPr>
        </p:nvGraphicFramePr>
        <p:xfrm>
          <a:off x="548640" y="3493008"/>
          <a:ext cx="5394960" cy="914400"/>
        </p:xfrm>
        <a:graphic>
          <a:graphicData uri="http://schemas.openxmlformats.org/drawingml/2006/table">
            <a:tbl>
              <a:tblPr/>
              <a:tblGrid>
                <a:gridCol w="1828800"/>
                <a:gridCol w="3566160"/>
              </a:tblGrid>
              <a:tr h="283464">
                <a:tc>
                  <a:txBody>
                    <a:bodyPr/>
                    <a:lstStyle/>
                    <a:p>
                      <a:pPr algn="ctr" indent="0" marL="0">
                        <a:buNone/>
                      </a:pPr>
                      <a:r>
                        <a:rPr lang="en-US" sz="950" b="1" dirty="0">
                          <a:solidFill>
                            <a:srgbClr val="1A1A1A"/>
                          </a:solidFill>
                          <a:latin typeface="Spoqa Han Sans Neo" pitchFamily="34" charset="0"/>
                          <a:ea typeface="Spoqa Han Sans Neo" pitchFamily="34" charset="-122"/>
                          <a:cs typeface="Spoqa Han Sans Neo" pitchFamily="34" charset="-120"/>
                        </a:rPr>
                        <a:t>구분</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algn="ctr" indent="0" marL="0">
                        <a:buNone/>
                      </a:pPr>
                      <a:r>
                        <a:rPr lang="en-US" sz="950" b="1" dirty="0">
                          <a:solidFill>
                            <a:srgbClr val="1A1A1A"/>
                          </a:solidFill>
                          <a:latin typeface="Spoqa Han Sans Neo" pitchFamily="34" charset="0"/>
                          <a:ea typeface="Spoqa Han Sans Neo" pitchFamily="34" charset="-122"/>
                          <a:cs typeface="Spoqa Han Sans Neo" pitchFamily="34" charset="-120"/>
                        </a:rPr>
                        <a:t>내용</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r>
              <a:tr h="283464">
                <a:tc>
                  <a:txBody>
                    <a:bodyPr/>
                    <a:lstStyle/>
                    <a:p>
                      <a:pPr algn="ctr" indent="0" marL="0">
                        <a:buNone/>
                      </a:pPr>
                      <a:r>
                        <a:rPr lang="en-US" sz="950" dirty="0">
                          <a:solidFill>
                            <a:srgbClr val="3D3D3D"/>
                          </a:solidFill>
                          <a:latin typeface="Spoqa Han Sans Neo" pitchFamily="34" charset="0"/>
                          <a:ea typeface="Spoqa Han Sans Neo" pitchFamily="34" charset="-122"/>
                          <a:cs typeface="Spoqa Han Sans Neo" pitchFamily="34" charset="-120"/>
                        </a:rPr>
                        <a:t>예정신고 기한</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950" dirty="0">
                          <a:solidFill>
                            <a:srgbClr val="3D3D3D"/>
                          </a:solidFill>
                          <a:latin typeface="Spoqa Han Sans Neo" pitchFamily="34" charset="0"/>
                          <a:ea typeface="Spoqa Han Sans Neo" pitchFamily="34" charset="-122"/>
                          <a:cs typeface="Spoqa Han Sans Neo" pitchFamily="34" charset="-120"/>
                        </a:rPr>
                        <a:t>양도일이 속하는 반기 말일부터 2개월</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283464">
                <a:tc>
                  <a:txBody>
                    <a:bodyPr/>
                    <a:lstStyle/>
                    <a:p>
                      <a:pPr algn="ctr" indent="0" marL="0">
                        <a:buNone/>
                      </a:pPr>
                      <a:r>
                        <a:rPr lang="en-US" sz="950" dirty="0">
                          <a:solidFill>
                            <a:srgbClr val="3D3D3D"/>
                          </a:solidFill>
                          <a:latin typeface="Spoqa Han Sans Neo" pitchFamily="34" charset="0"/>
                          <a:ea typeface="Spoqa Han Sans Neo" pitchFamily="34" charset="-122"/>
                          <a:cs typeface="Spoqa Han Sans Neo" pitchFamily="34" charset="-120"/>
                        </a:rPr>
                        <a:t>무신고 가산세</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950" dirty="0">
                          <a:solidFill>
                            <a:srgbClr val="3D3D3D"/>
                          </a:solidFill>
                          <a:latin typeface="Spoqa Han Sans Neo" pitchFamily="34" charset="0"/>
                          <a:ea typeface="Spoqa Han Sans Neo" pitchFamily="34" charset="-122"/>
                          <a:cs typeface="Spoqa Han Sans Neo" pitchFamily="34" charset="-120"/>
                        </a:rPr>
                        <a:t>20% (부정행위 40%)</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283464">
                <a:tc>
                  <a:txBody>
                    <a:bodyPr/>
                    <a:lstStyle/>
                    <a:p>
                      <a:pPr algn="ctr" indent="0" marL="0">
                        <a:buNone/>
                      </a:pPr>
                      <a:r>
                        <a:rPr lang="en-US" sz="950" dirty="0">
                          <a:solidFill>
                            <a:srgbClr val="3D3D3D"/>
                          </a:solidFill>
                          <a:latin typeface="Spoqa Han Sans Neo" pitchFamily="34" charset="0"/>
                          <a:ea typeface="Spoqa Han Sans Neo" pitchFamily="34" charset="-122"/>
                          <a:cs typeface="Spoqa Han Sans Neo" pitchFamily="34" charset="-120"/>
                        </a:rPr>
                        <a:t>납부지연 가산세</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950" dirty="0">
                          <a:solidFill>
                            <a:srgbClr val="3D3D3D"/>
                          </a:solidFill>
                          <a:latin typeface="Spoqa Han Sans Neo" pitchFamily="34" charset="0"/>
                          <a:ea typeface="Spoqa Han Sans Neo" pitchFamily="34" charset="-122"/>
                          <a:cs typeface="Spoqa Han Sans Neo" pitchFamily="34" charset="-120"/>
                        </a:rPr>
                        <a:t>1일 10만분의 22</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bl>
          </a:graphicData>
        </a:graphic>
      </p:graphicFrame>
      <p:sp>
        <p:nvSpPr>
          <p:cNvPr id="11" name="Text 6"/>
          <p:cNvSpPr txBox="1"/>
          <p:nvPr/>
        </p:nvSpPr>
        <p:spPr>
          <a:xfrm>
            <a:off x="6217920" y="3200400"/>
            <a:ext cx="5394960" cy="219456"/>
          </a:xfrm>
          <a:prstGeom prst="rect">
            <a:avLst/>
          </a:prstGeom>
          <a:noFill/>
          <a:ln/>
        </p:spPr>
        <p:txBody>
          <a:bodyPr wrap="square" lIns="0" tIns="0" rIns="0" bIns="0" rtlCol="0" anchor="ctr"/>
          <a:lstStyle/>
          <a:p>
            <a:pPr indent="0" marL="0">
              <a:buNone/>
            </a:pPr>
            <a:r>
              <a:rPr lang="en-US" sz="1150" b="1" dirty="0">
                <a:solidFill>
                  <a:srgbClr val="043B72"/>
                </a:solidFill>
                <a:latin typeface="Spoqa Han Sans Neo" pitchFamily="34" charset="0"/>
                <a:ea typeface="Spoqa Han Sans Neo" pitchFamily="34" charset="-122"/>
                <a:cs typeface="Spoqa Han Sans Neo" pitchFamily="34" charset="-120"/>
              </a:rPr>
              <a:t>④ 고배당기업 배당 분리과세 (2026 시행)</a:t>
            </a:r>
            <a:endParaRPr lang="en-US" sz="1150" dirty="0"/>
          </a:p>
        </p:txBody>
      </p:sp>
      <p:graphicFrame>
        <p:nvGraphicFramePr>
          <p:cNvPr id="17" name="Table 3"/>
          <p:cNvGraphicFramePr>
            <a:graphicFrameLocks noGrp="1"/>
          </p:cNvGraphicFramePr>
          <p:nvPr>
            <p:extLst>
              <p:ext uri="{D42A27DB-BD31-4B8C-83A1-F6EECF244321}">
                <p14:modId xmlns:p14="http://schemas.microsoft.com/office/powerpoint/2010/main" val="1579011935"/>
              </p:ext>
            </p:extLst>
          </p:nvPr>
        </p:nvGraphicFramePr>
        <p:xfrm>
          <a:off x="6217920" y="3493008"/>
          <a:ext cx="5394960" cy="914400"/>
        </p:xfrm>
        <a:graphic>
          <a:graphicData uri="http://schemas.openxmlformats.org/drawingml/2006/table">
            <a:tbl>
              <a:tblPr/>
              <a:tblGrid>
                <a:gridCol w="2011680"/>
                <a:gridCol w="1280160"/>
                <a:gridCol w="2103120"/>
              </a:tblGrid>
              <a:tr h="283464">
                <a:tc>
                  <a:txBody>
                    <a:bodyPr/>
                    <a:lstStyle/>
                    <a:p>
                      <a:pPr algn="ctr" indent="0" marL="0">
                        <a:buNone/>
                      </a:pPr>
                      <a:r>
                        <a:rPr lang="en-US" sz="950" b="1" dirty="0">
                          <a:solidFill>
                            <a:srgbClr val="1A1A1A"/>
                          </a:solidFill>
                          <a:latin typeface="Spoqa Han Sans Neo" pitchFamily="34" charset="0"/>
                          <a:ea typeface="Spoqa Han Sans Neo" pitchFamily="34" charset="-122"/>
                          <a:cs typeface="Spoqa Han Sans Neo" pitchFamily="34" charset="-120"/>
                        </a:rPr>
                        <a:t>배당소득 구간</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algn="ctr" indent="0" marL="0">
                        <a:buNone/>
                      </a:pPr>
                      <a:r>
                        <a:rPr lang="en-US" sz="950" b="1" dirty="0">
                          <a:solidFill>
                            <a:srgbClr val="1A1A1A"/>
                          </a:solidFill>
                          <a:latin typeface="Spoqa Han Sans Neo" pitchFamily="34" charset="0"/>
                          <a:ea typeface="Spoqa Han Sans Neo" pitchFamily="34" charset="-122"/>
                          <a:cs typeface="Spoqa Han Sans Neo" pitchFamily="34" charset="-120"/>
                        </a:rPr>
                        <a:t>세율</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algn="ctr" indent="0" marL="0">
                        <a:buNone/>
                      </a:pPr>
                      <a:r>
                        <a:rPr lang="en-US" sz="950" b="1" dirty="0">
                          <a:solidFill>
                            <a:srgbClr val="1A1A1A"/>
                          </a:solidFill>
                          <a:latin typeface="Spoqa Han Sans Neo" pitchFamily="34" charset="0"/>
                          <a:ea typeface="Spoqa Han Sans Neo" pitchFamily="34" charset="-122"/>
                          <a:cs typeface="Spoqa Han Sans Neo" pitchFamily="34" charset="-120"/>
                        </a:rPr>
                        <a:t>누진 기본세액</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r>
              <a:tr h="283464">
                <a:tc>
                  <a:txBody>
                    <a:bodyPr/>
                    <a:lstStyle/>
                    <a:p>
                      <a:pPr algn="ctr" indent="0" marL="0">
                        <a:buNone/>
                      </a:pPr>
                      <a:r>
                        <a:rPr lang="en-US" sz="950" dirty="0">
                          <a:solidFill>
                            <a:srgbClr val="3D3D3D"/>
                          </a:solidFill>
                          <a:latin typeface="Spoqa Han Sans Neo" pitchFamily="34" charset="0"/>
                          <a:ea typeface="Spoqa Han Sans Neo" pitchFamily="34" charset="-122"/>
                          <a:cs typeface="Spoqa Han Sans Neo" pitchFamily="34" charset="-120"/>
                        </a:rPr>
                        <a:t>2천만원 이하</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D3D3D"/>
                          </a:solidFill>
                          <a:latin typeface="Spoqa Han Sans Neo" pitchFamily="34" charset="0"/>
                          <a:ea typeface="Spoqa Han Sans Neo" pitchFamily="34" charset="-122"/>
                          <a:cs typeface="Spoqa Han Sans Neo" pitchFamily="34" charset="-120"/>
                        </a:rPr>
                        <a:t>14%</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D3D3D"/>
                          </a:solidFill>
                          <a:latin typeface="Spoqa Han Sans Neo" pitchFamily="34" charset="0"/>
                          <a:ea typeface="Spoqa Han Sans Neo" pitchFamily="34" charset="-122"/>
                          <a:cs typeface="Spoqa Han Sans Neo" pitchFamily="34" charset="-120"/>
                        </a:rPr>
                        <a:t>—</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283464">
                <a:tc>
                  <a:txBody>
                    <a:bodyPr/>
                    <a:lstStyle/>
                    <a:p>
                      <a:pPr algn="ctr" indent="0" marL="0">
                        <a:buNone/>
                      </a:pPr>
                      <a:r>
                        <a:rPr lang="en-US" sz="950" dirty="0">
                          <a:solidFill>
                            <a:srgbClr val="3D3D3D"/>
                          </a:solidFill>
                          <a:latin typeface="Spoqa Han Sans Neo" pitchFamily="34" charset="0"/>
                          <a:ea typeface="Spoqa Han Sans Neo" pitchFamily="34" charset="-122"/>
                          <a:cs typeface="Spoqa Han Sans Neo" pitchFamily="34" charset="-120"/>
                        </a:rPr>
                        <a:t>2천만원 ~ 3억원</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D3D3D"/>
                          </a:solidFill>
                          <a:latin typeface="Spoqa Han Sans Neo" pitchFamily="34" charset="0"/>
                          <a:ea typeface="Spoqa Han Sans Neo" pitchFamily="34" charset="-122"/>
                          <a:cs typeface="Spoqa Han Sans Neo" pitchFamily="34" charset="-120"/>
                        </a:rPr>
                        <a:t>20%</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D3D3D"/>
                          </a:solidFill>
                          <a:latin typeface="Spoqa Han Sans Neo" pitchFamily="34" charset="0"/>
                          <a:ea typeface="Spoqa Han Sans Neo" pitchFamily="34" charset="-122"/>
                          <a:cs typeface="Spoqa Han Sans Neo" pitchFamily="34" charset="-120"/>
                        </a:rPr>
                        <a:t>280만원</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283464">
                <a:tc>
                  <a:txBody>
                    <a:bodyPr/>
                    <a:lstStyle/>
                    <a:p>
                      <a:pPr algn="ctr" indent="0" marL="0">
                        <a:buNone/>
                      </a:pPr>
                      <a:r>
                        <a:rPr lang="en-US" sz="950" dirty="0">
                          <a:solidFill>
                            <a:srgbClr val="3D3D3D"/>
                          </a:solidFill>
                          <a:latin typeface="Spoqa Han Sans Neo" pitchFamily="34" charset="0"/>
                          <a:ea typeface="Spoqa Han Sans Neo" pitchFamily="34" charset="-122"/>
                          <a:cs typeface="Spoqa Han Sans Neo" pitchFamily="34" charset="-120"/>
                        </a:rPr>
                        <a:t>3억원 ~ 50억원</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D3D3D"/>
                          </a:solidFill>
                          <a:latin typeface="Spoqa Han Sans Neo" pitchFamily="34" charset="0"/>
                          <a:ea typeface="Spoqa Han Sans Neo" pitchFamily="34" charset="-122"/>
                          <a:cs typeface="Spoqa Han Sans Neo" pitchFamily="34" charset="-120"/>
                        </a:rPr>
                        <a:t>25%</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D3D3D"/>
                          </a:solidFill>
                          <a:latin typeface="Spoqa Han Sans Neo" pitchFamily="34" charset="0"/>
                          <a:ea typeface="Spoqa Han Sans Neo" pitchFamily="34" charset="-122"/>
                          <a:cs typeface="Spoqa Han Sans Neo" pitchFamily="34" charset="-120"/>
                        </a:rPr>
                        <a:t>5,880만원</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283464">
                <a:tc>
                  <a:txBody>
                    <a:bodyPr/>
                    <a:lstStyle/>
                    <a:p>
                      <a:pPr algn="ctr" indent="0" marL="0">
                        <a:buNone/>
                      </a:pPr>
                      <a:r>
                        <a:rPr lang="en-US" sz="950" dirty="0">
                          <a:solidFill>
                            <a:srgbClr val="3D3D3D"/>
                          </a:solidFill>
                          <a:latin typeface="Spoqa Han Sans Neo" pitchFamily="34" charset="0"/>
                          <a:ea typeface="Spoqa Han Sans Neo" pitchFamily="34" charset="-122"/>
                          <a:cs typeface="Spoqa Han Sans Neo" pitchFamily="34" charset="-120"/>
                        </a:rPr>
                        <a:t>50억원 초과</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D3D3D"/>
                          </a:solidFill>
                          <a:latin typeface="Spoqa Han Sans Neo" pitchFamily="34" charset="0"/>
                          <a:ea typeface="Spoqa Han Sans Neo" pitchFamily="34" charset="-122"/>
                          <a:cs typeface="Spoqa Han Sans Neo" pitchFamily="34" charset="-120"/>
                        </a:rPr>
                        <a:t>30%</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D3D3D"/>
                          </a:solidFill>
                          <a:latin typeface="Spoqa Han Sans Neo" pitchFamily="34" charset="0"/>
                          <a:ea typeface="Spoqa Han Sans Neo" pitchFamily="34" charset="-122"/>
                          <a:cs typeface="Spoqa Han Sans Neo" pitchFamily="34" charset="-120"/>
                        </a:rPr>
                        <a:t>12억 3,380만원</a:t>
                      </a:r>
                      <a:endParaRPr lang="en-US" sz="950" dirty="0">
                        <a:latin typeface="Spoqa Han Sans Neo" charset="0"/>
                        <a:ea typeface="Spoqa Han Sans Neo" charset="0"/>
                        <a:cs typeface="Spoqa Han Sans Neo" charset="0"/>
                      </a:endParaRPr>
                    </a:p>
                  </a:txBody>
                  <a:tcPr marL="50800" marR="50800" marT="12700" marB="1270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bl>
          </a:graphicData>
        </a:graphic>
      </p:graphicFrame>
      <p:sp>
        <p:nvSpPr>
          <p:cNvPr id="13" name="Text 7"/>
          <p:cNvSpPr txBox="1"/>
          <p:nvPr/>
        </p:nvSpPr>
        <p:spPr>
          <a:xfrm>
            <a:off x="548640" y="5138928"/>
            <a:ext cx="11064240" cy="859536"/>
          </a:xfrm>
          <a:prstGeom prst="rect">
            <a:avLst/>
          </a:prstGeom>
          <a:noFill/>
          <a:ln/>
        </p:spPr>
        <p:txBody>
          <a:bodyPr wrap="square" lIns="0" tIns="0" rIns="0" bIns="0" rtlCol="0" anchor="t"/>
          <a:lstStyle/>
          <a:p>
            <a:pPr indent="0" marL="0">
              <a:lnSpc>
                <a:spcPct val="118000"/>
              </a:lnSpc>
              <a:buNone/>
            </a:pPr>
            <a:r>
              <a:rPr lang="en-US" sz="850" dirty="0">
                <a:solidFill>
                  <a:srgbClr val="6C6C6C"/>
                </a:solidFill>
                <a:latin typeface="Spoqa Han Sans Neo" pitchFamily="34" charset="0"/>
                <a:ea typeface="Spoqa Han Sans Neo" pitchFamily="34" charset="-122"/>
                <a:cs typeface="Spoqa Han Sans Neo" pitchFamily="34" charset="-120"/>
              </a:rPr>
              <a:t>· 세율 — 오른쪽 칸은 지방소득세(소득세액의 10%)를 더한 값이다. 과세표준 3억원까지 20%를 적용하면 6천만원이고, 법 §104①11가목2) 표의 「6천만원 + 3억원 초과액 × 25%」와 구간이 이어진다. 기본공제는 주식등 소득 묶음에 연 250만원(법 §103①2호).</a:t>
            </a:r>
            <a:endParaRPr lang="en-US" sz="850" dirty="0"/>
          </a:p>
          <a:p>
            <a:pPr indent="0" marL="0">
              <a:lnSpc>
                <a:spcPct val="118000"/>
              </a:lnSpc>
              <a:buNone/>
            </a:pPr>
            <a:r>
              <a:rPr lang="en-US" sz="850" dirty="0">
                <a:solidFill>
                  <a:srgbClr val="6C6C6C"/>
                </a:solidFill>
                <a:latin typeface="Spoqa Han Sans Neo" pitchFamily="34" charset="0"/>
                <a:ea typeface="Spoqa Han Sans Neo" pitchFamily="34" charset="-122"/>
                <a:cs typeface="Spoqa Han Sans Neo" pitchFamily="34" charset="-120"/>
              </a:rPr>
              <a:t>· 증권거래세 — 2026년은 유가증권시장 증권거래세가 영(零)이고 농어촌특별세 0.15%만 남아 총 0.15%, 코스닥은 1만분의 15로 역시 0.15%다. 코넥스는 0.10%, 비상장은 0.35%. 양도차익이 아니라 양도가액에 붙으므로 손실이 나도 낸다.</a:t>
            </a:r>
            <a:endParaRPr lang="en-US" sz="850" dirty="0"/>
          </a:p>
          <a:p>
            <a:pPr indent="0" marL="0">
              <a:lnSpc>
                <a:spcPct val="118000"/>
              </a:lnSpc>
              <a:buNone/>
            </a:pPr>
            <a:r>
              <a:rPr lang="en-US" sz="850" dirty="0">
                <a:solidFill>
                  <a:srgbClr val="6C6C6C"/>
                </a:solidFill>
                <a:latin typeface="Spoqa Han Sans Neo" pitchFamily="34" charset="0"/>
                <a:ea typeface="Spoqa Han Sans Neo" pitchFamily="34" charset="-122"/>
                <a:cs typeface="Spoqa Han Sans Neo" pitchFamily="34" charset="-120"/>
              </a:rPr>
              <a:t>· 배당 분리과세 — 조세특례제한법 §104의27(조문시행일 2026. 1. 1). 배당성향 40% 이상 등 요건을 갖춘 고배당기업의 배당에 적용하며, 2028. 12. 31이 속하는 사업연도까지다.</a:t>
            </a:r>
            <a:endParaRPr lang="en-US" sz="850" dirty="0"/>
          </a:p>
        </p:txBody>
      </p:sp>
      <p:sp>
        <p:nvSpPr>
          <p:cNvPr id="14" name="Text 8"/>
          <p:cNvSpPr txBox="1"/>
          <p:nvPr/>
        </p:nvSpPr>
        <p:spPr>
          <a:xfrm>
            <a:off x="548640" y="6163056"/>
            <a:ext cx="11064240" cy="384048"/>
          </a:xfrm>
          <a:prstGeom prst="rect">
            <a:avLst/>
          </a:prstGeom>
          <a:noFill/>
          <a:ln/>
        </p:spPr>
        <p:txBody>
          <a:bodyPr wrap="square" lIns="0" tIns="0" rIns="0" bIns="0" rtlCol="0" anchor="t"/>
          <a:lstStyle/>
          <a:p>
            <a:pPr indent="0" marL="0">
              <a:lnSpc>
                <a:spcPct val="115000"/>
              </a:lnSpc>
              <a:buNone/>
            </a:pPr>
            <a:r>
              <a:rPr lang="en-US" sz="750" dirty="0">
                <a:solidFill>
                  <a:srgbClr val="84888B"/>
                </a:solidFill>
                <a:latin typeface="Spoqa Han Sans Neo" pitchFamily="34" charset="0"/>
                <a:ea typeface="Spoqa Han Sans Neo" pitchFamily="34" charset="-122"/>
                <a:cs typeface="Spoqa Han Sans Neo" pitchFamily="34" charset="-120"/>
              </a:rPr>
              <a:t>근거 — 소득세법 §103 · §104 · §105 · 국세기본법 §47의2 · 국세기본법 시행령 §27의4 · 증권거래세법 §8 · 증권거래세법 시행령 §5(시행 2026. 1. 2) · 농어촌특별세법 §5①5호 · 조세특례제한법 §104의27. 국가법령정보센터 OPEN API, 2026-08-29 수집분.</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국내 상장주식 양도소득세 — 2020~2026년 양도분</dc:title>
  <dc:subject>PptxGenJS Presentation</dc:subject>
  <dc:creator>미래에셋증권</dc:creator>
  <cp:lastModifiedBy>미래에셋증권</cp:lastModifiedBy>
  <cp:revision>1</cp:revision>
  <dcterms:created xsi:type="dcterms:W3CDTF">2026-10-01T11:07:49Z</dcterms:created>
  <dcterms:modified xsi:type="dcterms:W3CDTF">2026-10-01T11:07:49Z</dcterms:modified>
</cp:coreProperties>
</file>