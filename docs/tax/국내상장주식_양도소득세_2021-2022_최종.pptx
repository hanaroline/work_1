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자료는 2021년과 2022년에 판 주식에 적용되는 기준만 담았습니다. 지금 기준이 아닙니다.
보유금액 기준은 10억원입니다. 50억원이 아닙니다 — 50억원은 2024년 1월 1일 양도분부터입니다.
그리고 이 시기에는 가족 합산이 살아 있었습니다. 최대주주가 아니어도 기타주주 보유분을 더해서 판정했습니다.
최대주주의 친족 범위도 넓었습니다. 혈족 6촌, 인척 4촌입니다. 2021년과 2022년 조문을 직접 대조해 확인했습니다.
자주 나오는 질문이 "3억원 기준이 있었던 것 아니냐"입니다. 조문에 들어 있었던 것은 사실입니다. 2020년 2월 18일 공포본에 "2021년 4월 1일 이후 양도분 3억원"이 있었습니다. 그러나 2021년 2월 17일 본에서 삭제되어 시행되지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세율은 2021·2022년에도 지금과 같습니다. 과세표준 3억원을 경계로 20%와 25%, 1년 미만 보유는 30%입니다.
지방소득세를 더하면 22%, 27.5%, 33%입니다. 소득세와 지방소득세는 신고·납부가 따로라는 점을 안내하십시오.
예정신고 기한을 자주 놓칩니다. 양도일이 속하는 "반기"의 말일부터 2개월입니다. 상반기에 팔았으면 6월 30일부터 2개월, 즉 8월 31일까지입니다.
놓치면 무신고 가산세 20%, 부정행위면 40%입니다. 여기에 납부지연 가산세가 하루 10만분의 22씩 붙습니다. 연으로 환산하면 약 8%입니다.
증권거래세는 양도소득세와 완전히 별개입니다. 양도가액에 붙으므로 손실이 나도 냅니다. 이 시기 코스피·코스닥 총부담은 0.23%입니다.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56032"/>
            <a:ext cx="11064240" cy="201168"/>
          </a:xfrm>
          <a:prstGeom prst="rect">
            <a:avLst/>
          </a:prstGeom>
          <a:noFill/>
          <a:ln/>
        </p:spPr>
        <p:txBody>
          <a:bodyPr wrap="square" lIns="0" tIns="0" rIns="0" bIns="0" rtlCol="0" anchor="ctr"/>
          <a:lstStyle/>
          <a:p>
            <a:pPr indent="0" marL="0">
              <a:buNone/>
            </a:pPr>
            <a:r>
              <a:rPr lang="en-US" sz="1000" b="1" spc="60" kern="0" dirty="0">
                <a:solidFill>
                  <a:srgbClr val="F58220"/>
                </a:solidFill>
                <a:latin typeface="Spoqa Han Sans Neo" pitchFamily="34" charset="0"/>
                <a:ea typeface="Spoqa Han Sans Neo" pitchFamily="34" charset="-122"/>
                <a:cs typeface="Spoqa Han Sans Neo" pitchFamily="34" charset="-120"/>
              </a:rPr>
              <a:t>국내 상장주식 양도소득세 · 2021 · 2022년 양도분</a:t>
            </a:r>
            <a:endParaRPr lang="en-US" sz="1000" dirty="0"/>
          </a:p>
        </p:txBody>
      </p:sp>
      <p:sp>
        <p:nvSpPr>
          <p:cNvPr id="3" name="Text 1"/>
          <p:cNvSpPr txBox="1"/>
          <p:nvPr/>
        </p:nvSpPr>
        <p:spPr>
          <a:xfrm>
            <a:off x="548640" y="502920"/>
            <a:ext cx="11064240" cy="475488"/>
          </a:xfrm>
          <a:prstGeom prst="rect">
            <a:avLst/>
          </a:prstGeom>
          <a:noFill/>
          <a:ln/>
        </p:spPr>
        <p:txBody>
          <a:bodyPr wrap="square" lIns="0" tIns="0" rIns="0" bIns="0" rtlCol="0" anchor="ctr"/>
          <a:lstStyle/>
          <a:p>
            <a:pPr indent="0" marL="0">
              <a:buNone/>
            </a:pPr>
            <a:r>
              <a:rPr lang="en-US" sz="2100" b="1" dirty="0">
                <a:solidFill>
                  <a:srgbClr val="1A1A1A"/>
                </a:solidFill>
                <a:latin typeface="Spoqa Han Sans Neo" pitchFamily="34" charset="0"/>
                <a:ea typeface="Spoqa Han Sans Neo" pitchFamily="34" charset="-122"/>
                <a:cs typeface="Spoqa Han Sans Neo" pitchFamily="34" charset="-120"/>
              </a:rPr>
              <a:t>대주주 판정 기준 — 2021 · 2022년 양도분</a:t>
            </a:r>
            <a:endParaRPr lang="en-US" sz="2100" dirty="0"/>
          </a:p>
        </p:txBody>
      </p:sp>
      <p:sp>
        <p:nvSpPr>
          <p:cNvPr id="4" name="Shape 2"/>
          <p:cNvSpPr/>
          <p:nvPr/>
        </p:nvSpPr>
        <p:spPr>
          <a:xfrm>
            <a:off x="548640" y="1078992"/>
            <a:ext cx="11064240" cy="10973"/>
          </a:xfrm>
          <a:prstGeom prst="rect">
            <a:avLst/>
          </a:prstGeom>
          <a:solidFill>
            <a:srgbClr val="F58220"/>
          </a:solidFill>
          <a:ln w="12700">
            <a:solidFill>
              <a:srgbClr val="333333"/>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1335024"/>
          <a:ext cx="11064240" cy="914400"/>
        </p:xfrm>
        <a:graphic>
          <a:graphicData uri="http://schemas.openxmlformats.org/drawingml/2006/table">
            <a:tbl>
              <a:tblPr/>
              <a:tblGrid>
                <a:gridCol w="2011680"/>
                <a:gridCol w="2194560"/>
                <a:gridCol w="2560320"/>
                <a:gridCol w="4297680"/>
              </a:tblGrid>
              <a:tr h="310896">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구분</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지분율 기준</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보유금액 기준</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근거</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10896">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코스피</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 이상</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10억원 이상</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소득세법 시행령 §157①1호 · 2호</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코스닥</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2% 이상</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10억원 이상</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같은 조 ②1호</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코넥스</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4% 이상</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10억원 이상</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같은 조 ②2호 · 구 §157⑤2호가목</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비상장</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시가총액 10억원 이상</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소득세법 시행령 §167의8①2호나목</a:t>
                      </a:r>
                      <a:endParaRPr lang="en-US" sz="10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127248"/>
            <a:ext cx="5394960" cy="1078992"/>
          </a:xfrm>
          <a:prstGeom prst="rect">
            <a:avLst>
              <a:gd name="adj" fmla="val 3390"/>
            </a:avLst>
          </a:prstGeom>
          <a:solidFill>
            <a:srgbClr val="ECEFF4"/>
          </a:solidFill>
          <a:ln w="9525">
            <a:solidFill>
              <a:srgbClr val="E5E4E1"/>
            </a:solidFill>
            <a:prstDash val="solid"/>
          </a:ln>
        </p:spPr>
      </p:sp>
      <p:sp>
        <p:nvSpPr>
          <p:cNvPr id="7" name="Text 4"/>
          <p:cNvSpPr txBox="1"/>
          <p:nvPr/>
        </p:nvSpPr>
        <p:spPr>
          <a:xfrm>
            <a:off x="713232" y="3246120"/>
            <a:ext cx="5065776"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가족 합산이 아직 있던 때다</a:t>
            </a:r>
            <a:endParaRPr lang="en-US" sz="1150" dirty="0"/>
          </a:p>
        </p:txBody>
      </p:sp>
      <p:sp>
        <p:nvSpPr>
          <p:cNvPr id="8" name="Text 5"/>
          <p:cNvSpPr txBox="1"/>
          <p:nvPr/>
        </p:nvSpPr>
        <p:spPr>
          <a:xfrm>
            <a:off x="713232" y="3502152"/>
            <a:ext cx="5065776" cy="576072"/>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2021 · 2022년 양도분은 최대주주가 아니어도 기타주주의</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보유분을 합산해 판정한다. 합산 폐지는 2023. 1. 1</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양도분부터이므로 이 시기에는 적용되지 않는다.</a:t>
            </a:r>
            <a:endParaRPr lang="en-US" sz="1000" dirty="0"/>
          </a:p>
        </p:txBody>
      </p:sp>
      <p:sp>
        <p:nvSpPr>
          <p:cNvPr id="9" name="Shape 6"/>
          <p:cNvSpPr/>
          <p:nvPr/>
        </p:nvSpPr>
        <p:spPr>
          <a:xfrm>
            <a:off x="6217920" y="3127248"/>
            <a:ext cx="5394960" cy="1078992"/>
          </a:xfrm>
          <a:prstGeom prst="rect">
            <a:avLst>
              <a:gd name="adj" fmla="val 3390"/>
            </a:avLst>
          </a:prstGeom>
          <a:solidFill>
            <a:srgbClr val="ECEFF4"/>
          </a:solidFill>
          <a:ln w="9525">
            <a:solidFill>
              <a:srgbClr val="E5E4E1"/>
            </a:solidFill>
            <a:prstDash val="solid"/>
          </a:ln>
        </p:spPr>
      </p:sp>
      <p:sp>
        <p:nvSpPr>
          <p:cNvPr id="10" name="Text 7"/>
          <p:cNvSpPr txBox="1"/>
          <p:nvPr/>
        </p:nvSpPr>
        <p:spPr>
          <a:xfrm>
            <a:off x="6382512" y="3246120"/>
            <a:ext cx="5065776"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최대주주 친족은 혈족 6촌 · 인척 4촌</a:t>
            </a:r>
            <a:endParaRPr lang="en-US" sz="1150" dirty="0"/>
          </a:p>
        </p:txBody>
      </p:sp>
      <p:sp>
        <p:nvSpPr>
          <p:cNvPr id="11" name="Text 8"/>
          <p:cNvSpPr txBox="1"/>
          <p:nvPr/>
        </p:nvSpPr>
        <p:spPr>
          <a:xfrm>
            <a:off x="6382512" y="3502152"/>
            <a:ext cx="5065776" cy="576072"/>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국세기본법 시행령 §1의2①은 이 시기에 「6촌 이내의 혈족」</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「4촌 이내의 인척」이었다. 혈족 4촌 · 인척 3촌으로 좁아진</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것은 2023. 3. 1부터다.</a:t>
            </a:r>
            <a:endParaRPr lang="en-US" sz="1000" dirty="0"/>
          </a:p>
        </p:txBody>
      </p:sp>
      <p:sp>
        <p:nvSpPr>
          <p:cNvPr id="12" name="Text 9"/>
          <p:cNvSpPr txBox="1"/>
          <p:nvPr/>
        </p:nvSpPr>
        <p:spPr>
          <a:xfrm>
            <a:off x="548640" y="4407408"/>
            <a:ext cx="11064240" cy="841248"/>
          </a:xfrm>
          <a:prstGeom prst="rect">
            <a:avLst/>
          </a:prstGeom>
          <a:noFill/>
          <a:ln/>
        </p:spPr>
        <p:txBody>
          <a:bodyPr wrap="square" lIns="0" tIns="0" rIns="0" bIns="0" rtlCol="0" anchor="t"/>
          <a:lstStyle/>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3억원 하향은 이 시기에 적용되지 않는다. 2020. 2. 18. 본(대통령령 제30423호)에는 「2021년 4월 1일 이후 주식등을 양도하는 경우: 3억원」이 조문으로 실제 들어 있었으나, 2021. 2. 17. 본(제31442호)에서 그 목이 삭제됐다.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지분율과 보유금액은 선택적 요건이다. 어느 한쪽만 넘어도 대주주로 본다.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보유금액 기준이 50억원으로 오른 것은 2024. 1. 1 양도분부터다. 이 자료의 기준 시기와는 무관하다.</a:t>
            </a:r>
            <a:endParaRPr lang="en-US" sz="850" dirty="0"/>
          </a:p>
        </p:txBody>
      </p:sp>
      <p:sp>
        <p:nvSpPr>
          <p:cNvPr id="13" name="Text 10"/>
          <p:cNvSpPr txBox="1"/>
          <p:nvPr/>
        </p:nvSpPr>
        <p:spPr>
          <a:xfrm>
            <a:off x="548640" y="6108192"/>
            <a:ext cx="11064240" cy="420624"/>
          </a:xfrm>
          <a:prstGeom prst="rect">
            <a:avLst/>
          </a:prstGeom>
          <a:noFill/>
          <a:ln/>
        </p:spPr>
        <p:txBody>
          <a:bodyPr wrap="square" lIns="0" tIns="0" rIns="0" bIns="0" rtlCol="0" anchor="t"/>
          <a:lstStyle/>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근거 — 구 소득세법 시행령 §157(공포 2021. 2. 17. 대통령령 제31442호 · 2022. 2. 15. 제32352호 연혁 조문) · 구 §157④⑤(2020. 2. 18. 제30423호) · 국세기본법 시행령 §1의2①1호 · 2호(2021-06-01 · 2022-06-01 시점 대조) · 소득세법 시행령 §167의8. 국가법령정보센터 OPEN API.</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11064240" cy="201168"/>
          </a:xfrm>
          <a:prstGeom prst="rect">
            <a:avLst/>
          </a:prstGeom>
          <a:noFill/>
          <a:ln/>
        </p:spPr>
        <p:txBody>
          <a:bodyPr wrap="square" lIns="0" tIns="0" rIns="0" bIns="0" rtlCol="0" anchor="ctr"/>
          <a:lstStyle/>
          <a:p>
            <a:pPr indent="0" marL="0">
              <a:buNone/>
            </a:pPr>
            <a:r>
              <a:rPr lang="en-US" sz="1000" b="1" spc="60" kern="0" dirty="0">
                <a:solidFill>
                  <a:srgbClr val="F58220"/>
                </a:solidFill>
                <a:latin typeface="Spoqa Han Sans Neo" pitchFamily="34" charset="0"/>
                <a:ea typeface="Spoqa Han Sans Neo" pitchFamily="34" charset="-122"/>
                <a:cs typeface="Spoqa Han Sans Neo" pitchFamily="34" charset="-120"/>
              </a:rPr>
              <a:t>국내 상장주식 양도소득세 · 2021 · 2022년 양도분</a:t>
            </a:r>
            <a:endParaRPr lang="en-US" sz="1000" dirty="0"/>
          </a:p>
        </p:txBody>
      </p:sp>
      <p:sp>
        <p:nvSpPr>
          <p:cNvPr id="3" name="Text 1"/>
          <p:cNvSpPr txBox="1"/>
          <p:nvPr/>
        </p:nvSpPr>
        <p:spPr>
          <a:xfrm>
            <a:off x="548640" y="502920"/>
            <a:ext cx="11064240" cy="475488"/>
          </a:xfrm>
          <a:prstGeom prst="rect">
            <a:avLst/>
          </a:prstGeom>
          <a:noFill/>
          <a:ln/>
        </p:spPr>
        <p:txBody>
          <a:bodyPr wrap="square" lIns="0" tIns="0" rIns="0" bIns="0" rtlCol="0" anchor="ctr"/>
          <a:lstStyle/>
          <a:p>
            <a:pPr indent="0" marL="0">
              <a:buNone/>
            </a:pPr>
            <a:r>
              <a:rPr lang="en-US" sz="2100" b="1" dirty="0">
                <a:solidFill>
                  <a:srgbClr val="1A1A1A"/>
                </a:solidFill>
                <a:latin typeface="Spoqa Han Sans Neo" pitchFamily="34" charset="0"/>
                <a:ea typeface="Spoqa Han Sans Neo" pitchFamily="34" charset="-122"/>
                <a:cs typeface="Spoqa Han Sans Neo" pitchFamily="34" charset="-120"/>
              </a:rPr>
              <a:t>세율과 신고 — 2021 · 2022년 양도분</a:t>
            </a:r>
            <a:endParaRPr lang="en-US" sz="2100" dirty="0"/>
          </a:p>
        </p:txBody>
      </p:sp>
      <p:sp>
        <p:nvSpPr>
          <p:cNvPr id="4" name="Shape 2"/>
          <p:cNvSpPr/>
          <p:nvPr/>
        </p:nvSpPr>
        <p:spPr>
          <a:xfrm>
            <a:off x="548640" y="1078992"/>
            <a:ext cx="11064240" cy="10973"/>
          </a:xfrm>
          <a:prstGeom prst="rect">
            <a:avLst/>
          </a:prstGeom>
          <a:solidFill>
            <a:srgbClr val="F58220"/>
          </a:solidFill>
          <a:ln w="12700">
            <a:solidFill>
              <a:srgbClr val="333333"/>
            </a:solidFill>
            <a:prstDash val="solid"/>
          </a:ln>
        </p:spPr>
      </p:sp>
      <p:sp>
        <p:nvSpPr>
          <p:cNvPr id="5" name="Text 3"/>
          <p:cNvSpPr txBox="1"/>
          <p:nvPr/>
        </p:nvSpPr>
        <p:spPr>
          <a:xfrm>
            <a:off x="548640" y="1298448"/>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① 양도소득세율 (대주주)</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5394960" cy="914400"/>
        </p:xfrm>
        <a:graphic>
          <a:graphicData uri="http://schemas.openxmlformats.org/drawingml/2006/table">
            <a:tbl>
              <a:tblPr/>
              <a:tblGrid>
                <a:gridCol w="2834640"/>
                <a:gridCol w="1280160"/>
                <a:gridCol w="1280160"/>
              </a:tblGrid>
              <a:tr h="301752">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구분</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세율</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지방소득세 포함</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01752">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과세표준 3억원 이하</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20%</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22.0%</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과세표준 3억원 초과분</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25%</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27.5%</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1년 미만 보유 (중소기업 외)</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30%</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33.0%</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217920" y="1298448"/>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② 신고 · 납부</a:t>
            </a:r>
            <a:endParaRPr lang="en-US" sz="11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17920" y="1591056"/>
          <a:ext cx="5394960" cy="914400"/>
        </p:xfrm>
        <a:graphic>
          <a:graphicData uri="http://schemas.openxmlformats.org/drawingml/2006/table">
            <a:tbl>
              <a:tblPr/>
              <a:tblGrid>
                <a:gridCol w="1737360"/>
                <a:gridCol w="3657600"/>
              </a:tblGrid>
              <a:tr h="301752">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구분</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내용</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01752">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예정신고 기한</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양도일이 속하는 반기 말일부터 2개월</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01752">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기본공제</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연 250만원 (주식등 소득 묶음)</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01752">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무신고 가산세</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20% · 부정행위 40%</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01752">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납부지연 가산세</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1일 10만분의 22</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3273552"/>
            <a:ext cx="11064240" cy="932688"/>
          </a:xfrm>
          <a:prstGeom prst="rect">
            <a:avLst>
              <a:gd name="adj" fmla="val 3922"/>
            </a:avLst>
          </a:prstGeom>
          <a:solidFill>
            <a:srgbClr val="ECEFF4"/>
          </a:solidFill>
          <a:ln w="9525">
            <a:solidFill>
              <a:srgbClr val="E5E4E1"/>
            </a:solidFill>
            <a:prstDash val="solid"/>
          </a:ln>
        </p:spPr>
      </p:sp>
      <p:sp>
        <p:nvSpPr>
          <p:cNvPr id="10" name="Text 6"/>
          <p:cNvSpPr txBox="1"/>
          <p:nvPr/>
        </p:nvSpPr>
        <p:spPr>
          <a:xfrm>
            <a:off x="713232" y="3392424"/>
            <a:ext cx="10735056"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증권거래세는 따로, 양도가액에 붙는다</a:t>
            </a:r>
            <a:endParaRPr lang="en-US" sz="1150" dirty="0"/>
          </a:p>
        </p:txBody>
      </p:sp>
      <p:sp>
        <p:nvSpPr>
          <p:cNvPr id="11" name="Text 7"/>
          <p:cNvSpPr txBox="1"/>
          <p:nvPr/>
        </p:nvSpPr>
        <p:spPr>
          <a:xfrm>
            <a:off x="713232" y="3648456"/>
            <a:ext cx="10735056" cy="429768"/>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2021 · 2022년 양도분의 코스피 · 코스닥 총부담은 0.23%다(증권거래세 + 유가증권시장분 농어촌특별세).</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양도차익이 아니라 양도가액에 붙으므로 손실을 보고 팔아도 낸다. 양도소득세와 별개로 계산한다.</a:t>
            </a:r>
            <a:endParaRPr lang="en-US" sz="1000" dirty="0"/>
          </a:p>
        </p:txBody>
      </p:sp>
      <p:sp>
        <p:nvSpPr>
          <p:cNvPr id="12" name="Text 8"/>
          <p:cNvSpPr txBox="1"/>
          <p:nvPr/>
        </p:nvSpPr>
        <p:spPr>
          <a:xfrm>
            <a:off x="548640" y="4407408"/>
            <a:ext cx="11064240" cy="841248"/>
          </a:xfrm>
          <a:prstGeom prst="rect">
            <a:avLst/>
          </a:prstGeom>
          <a:noFill/>
          <a:ln/>
        </p:spPr>
        <p:txBody>
          <a:bodyPr wrap="square" lIns="0" tIns="0" rIns="0" bIns="0" rtlCol="0" anchor="t"/>
          <a:lstStyle/>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법 조문은 누진 형태로 쓰여 있다 — 「6천만원 + 3억원 초과액의 25%」(법 §104①11가목2) 표). 과세표준 3억원까지 20%를 적용하면 6천만원이므로 구간이 그대로 이어진다.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오른쪽 칸은 지방소득세(소득세액의 10%)를 더한 값이다. 신고 · 납부는 소득세와 지방소득세가 따로다.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기본공제 연 250만원은 소득 묶음별로 준다(법 §103①2호). 주식등 양도소득은 하나의 묶음이므로 국내 상장 · 비상장을 합쳐 250만원이다.</a:t>
            </a:r>
            <a:endParaRPr lang="en-US" sz="850" dirty="0"/>
          </a:p>
        </p:txBody>
      </p:sp>
      <p:sp>
        <p:nvSpPr>
          <p:cNvPr id="13" name="Text 9"/>
          <p:cNvSpPr txBox="1"/>
          <p:nvPr/>
        </p:nvSpPr>
        <p:spPr>
          <a:xfrm>
            <a:off x="548640" y="6108192"/>
            <a:ext cx="11064240" cy="384048"/>
          </a:xfrm>
          <a:prstGeom prst="rect">
            <a:avLst/>
          </a:prstGeom>
          <a:noFill/>
          <a:ln/>
        </p:spPr>
        <p:txBody>
          <a:bodyPr wrap="square" lIns="0" tIns="0" rIns="0" bIns="0" rtlCol="0" anchor="t"/>
          <a:lstStyle/>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근거 — 소득세법 §103①2호 · §104①11가목 · §105①2호 · 국세기본법 §47의2① · 국세기본법 시행령 §27의4① · 증권거래세법 시행령 §5 · 농어촌특별세법 §5①5호. 국가법령정보센터 OPEN API, 2026-08-29 수집분.</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국내 상장주식 양도소득세 — 2021·2022년 양도분 기준</dc:title>
  <dc:subject>PptxGenJS Presentation</dc:subject>
  <dc:creator>미래에셋증권</dc:creator>
  <cp:lastModifiedBy>미래에셋증권</cp:lastModifiedBy>
  <cp:revision>1</cp:revision>
  <dcterms:created xsi:type="dcterms:W3CDTF">2026-10-01T11:07:50Z</dcterms:created>
  <dcterms:modified xsi:type="dcterms:W3CDTF">2026-10-01T11:07:50Z</dcterms:modified>
</cp:coreProperties>
</file>