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1A1A1A"/>
                </a:solidFill>
                <a:latin typeface="Spoqa Han Sans Neo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poqa Han Sans Neo"/>
              </a:rPr>
              <a:t>차입 원금별 연간 증여이익 (무이자 가정, 단위: 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무이자 차입 시 연간 증여이익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D3D3D"/>
                    </a:solidFill>
                    <a:latin typeface="Spoqa Han Sans Neo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1억원</c:v>
                  </c:pt>
                  <c:pt idx="1">
                    <c:v>1.5억원</c:v>
                  </c:pt>
                  <c:pt idx="2">
                    <c:v>2억원</c:v>
                  </c:pt>
                  <c:pt idx="3">
                    <c:v>2.17억원</c:v>
                  </c:pt>
                  <c:pt idx="4">
                    <c:v>3억원</c:v>
                  </c:pt>
                  <c:pt idx="5">
                    <c:v>5억원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460</c:v>
                </c:pt>
                <c:pt idx="1">
                  <c:v>690</c:v>
                </c:pt>
                <c:pt idx="2">
                  <c:v>920</c:v>
                </c:pt>
                <c:pt idx="3">
                  <c:v>998</c:v>
                </c:pt>
                <c:pt idx="4">
                  <c:v>1380</c:v>
                </c:pt>
                <c:pt idx="5">
                  <c:v>2300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D3D3D"/>
                  </a:solidFill>
                  <a:latin typeface="Spoqa Han Sans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과세 기준선 (연 1,000만원)</c:v>
                </c:pt>
              </c:strCache>
            </c:strRef>
          </c:tx>
          <c:spPr>
            <a:solidFill>
              <a:srgbClr val="043B72"/>
            </a:solidFill>
            <a:ln w="25400" cap="flat">
              <a:solidFill>
                <a:srgbClr val="043B7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1억원</c:v>
                  </c:pt>
                  <c:pt idx="1">
                    <c:v>1.5억원</c:v>
                  </c:pt>
                  <c:pt idx="2">
                    <c:v>2억원</c:v>
                  </c:pt>
                  <c:pt idx="3">
                    <c:v>2.17억원</c:v>
                  </c:pt>
                  <c:pt idx="4">
                    <c:v>3억원</c:v>
                  </c:pt>
                  <c:pt idx="5">
                    <c:v>5억원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1000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</c:scaling>
        <c:delete val="0"/>
        <c:axPos val="l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4888B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D3D3D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30슬라이드 구성. Part 1 제도 지형 → Part 2 선정 메커니즘 → Part 3 소명·대응 실무. 고객 상담과 세미나 양쪽에 쓰도록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사내 교육자료 · 세무 실무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23774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450592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spc="-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아파트 취득과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spc="-6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자금출처조사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42793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누가 조사 대상이 되고, 무엇으로 소명하며, 어떻게 다투는가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5138928"/>
            <a:ext cx="11055096" cy="12802"/>
          </a:xfrm>
          <a:prstGeom prst="rect">
            <a:avLst/>
          </a:prstGeom>
          <a:solidFill>
            <a:srgbClr val="FBC79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2180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작성 기준일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10월  ·  현행 상속세및증여세법, 동법 사무처리규정(2025.6.11. 국세청훈령 제2681호), 부동산거래신고법 시행령·시행규칙(2026.2.10. 시행) 반영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570585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DE3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일반적인 정보 제공을 목적으로 하며, 개별 사안에 대한 세무 자문이 아닙니다. 실제 적용은 반드시 세무사·회계사의 검토를 받으시기 바랍니다.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자료의 구성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제도가 어떻게 바뀌었는지에서 출발해, 조사 대상 선정 논리를 해부하고, 소명과 불복의 실무로 마무리합니다.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55096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66544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9616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 지형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9616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p.3–11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2896" y="204825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환경 · 국세청 조사 트랙 레코드 · 자금출처조사의 법적 골격 · 증여추정과 배제기준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36976"/>
            <a:ext cx="11055096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529584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9616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메커니즘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9616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p.12–19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351129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국세청의 데이터 3층 · PCI 시스템 · 자금조달계획서 개편 · 선정 유형 8가지 · 적발 사례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700016"/>
            <a:ext cx="11055096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992624"/>
            <a:ext cx="384048" cy="3840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9616" y="4937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소명과 대응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9616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p.20–30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497433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3정합 원칙 · 자금원별 증빙 · 가족 차입 · 조사 절차 · 불복 3트랙 · 사전 설계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슬라이드 하단 각주에 근거 법령·조문을 표기했습니다.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084832"/>
            <a:ext cx="3840480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 지형: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2026년에 무엇이 달라졌나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133088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규제지역 전면 확대 — 서울 25개구 전역 + 경기 12개 지역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 서식 전면 개편 (2026.2.10. 시행)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상증법 제45조 증여추정과 사무처리규정 제42조 배제기준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왜 지금 문제가 되는가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2026년, 세 겹의 그물이 동시에 조여졌다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각각은 별개 제도지만, 실무에서는 하나의 흐름으로 작동합니다. 계약 단계에서 남긴 기록이 그대로 조사 자료가 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353872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204825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 단계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규제지역 전면 확대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026664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46704"/>
            <a:ext cx="3026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2025.10.15. 대책으로 서울 25개구 전역과 경기 12개 지역이 조정대상지역·투기과열지구·토지거래허가구역으로 동시 지정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규제지역 내 주택은 금액과 무관하게 자금조달계획서 제출 의무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투기과열지구는 항목별 증빙서류까지 신고 시점에 동시 제출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1755648"/>
            <a:ext cx="353872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04825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 단계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81144" y="24871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 개편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581144" y="3200400"/>
            <a:ext cx="3026664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3346704"/>
            <a:ext cx="3026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2026.2.10. 시행령·시행규칙 개정으로 서식 전면 재편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가상자산 매각대금 신설, 사업자대출 분리, 금융기관명 명시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중개거래는 계약서 사본 + 계약금 입금 증빙 첨부 의무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1755648"/>
            <a:ext cx="353872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9328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41664" y="2048256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 단계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9328" y="248716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감정평가·전수검증 확대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339328" y="3200400"/>
            <a:ext cx="3026664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346704"/>
            <a:ext cx="3026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사무처리규정 개정으로 국세청 자체 감정평가 대상에 주택 포함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강남4구·마용성 고가아파트 증여 거래 전수검증 지속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감정평가액의 80% 미만 평가기관은 시가 불인정 지정 가능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870448"/>
            <a:ext cx="11055096" cy="402336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5870448"/>
            <a:ext cx="10652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핵심: 계약일로부터 30일 안에 적어 낸 자금조달계획서는 행정서류가 아니라, 장래 자금출처조사에서 그대로 대조되는 진술서입니다.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국토교통부 2025.10.15. 주택시장 안정화 대책 / 부동산 거래신고 등에 관한 법률 시행령·시행규칙(2026.2.10. 시행) / 상속세 및 증여세 사무처리규정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집행 강도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부동산 기획조사 트랙 레코드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일회성 단속이 아니라 반복되는 기획조사 사이클입니다. 대상은 외국인 → 연소자 → 증여 → 현금부자 순으로 넓어졌습니다.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395728"/>
            <a:ext cx="10872216" cy="10973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2880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2025.08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318004"/>
            <a:ext cx="155448" cy="155448"/>
          </a:xfrm>
          <a:prstGeom prst="ellipse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688336"/>
            <a:ext cx="2130552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16352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고가아파트를 취득한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 탈세자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621024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49명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98064" y="182880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 하반기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2318004"/>
            <a:ext cx="155448" cy="155448"/>
          </a:xfrm>
          <a:prstGeom prst="ellipse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2688336"/>
            <a:ext cx="2130552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2816352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한강벨트 초고가주택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외국인·연소자 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44368" y="3621024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104명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2025~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6752" y="2318004"/>
            <a:ext cx="155448" cy="155448"/>
          </a:xfrm>
          <a:prstGeom prst="ellipse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688336"/>
            <a:ext cx="2130552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2816352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강남4구·마용성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고가아파트 증여 전수검증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75504" y="3621024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2,077명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0336" y="182880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47888" y="2318004"/>
            <a:ext cx="155448" cy="155448"/>
          </a:xfrm>
          <a:prstGeom prst="ellipse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0336" y="2688336"/>
            <a:ext cx="2130552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816352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아파트 5호 이상 다주택·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기업형 주택임대업자 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621024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15개 사업자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91472" y="182880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79024" y="2318004"/>
            <a:ext cx="155448" cy="155448"/>
          </a:xfrm>
          <a:prstGeom prst="ellipse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1472" y="2688336"/>
            <a:ext cx="2130552" cy="1371600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776" y="2816352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현금부자·다주택자·채무과다자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30억 이상 취득자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37776" y="3621024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127명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" y="4370832"/>
            <a:ext cx="11055096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5171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5월 조사(127명)의 규모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" y="48828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 3,600억원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566928" y="54315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대상자들의 주택 취득 규모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18688" y="488289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 1,700억원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3218688" y="54315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추정 탈루금액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828032"/>
            <a:ext cx="5477256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4974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범위는 개인에서 멈추지 않는다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64224" y="5266944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자금출처를 확인하는 과정에서 사업소득 누락이나 법인자금 유출 정황이 확인되면 관련 사업체까지 조사가 확대됩니다. 조세포탈 혐의가 드러나면 조세범처벌법에 따라 수사기관 고발도 추진됩니다.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국세청 보도자료(2026.5.19.) 및 관련 보도. 이재명 정부 출범 이후 부동산 관련 기획조사·검증 착수는 2026년 5월 기준 5차례.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예고된 방향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국세행정 운영방안이 말한 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1월 전국 세무관서장 회의에서 발표된 내용입니다. 조사 총량은 유지하되, 부동산 영역의 검증 밀도를 높이는 구조입니다.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3200400" cy="188366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93392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1.4만건 내외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연간 세무조사 규모(예년 수준 유지)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2022년 14,174건 · 2023년 13,973건 · 2024년 13,980건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785616"/>
            <a:ext cx="3200400" cy="193852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6849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함께 강조된 조사 영역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61104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지배주주 사익편취(터널링)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주가조작·물가교란 행위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고수익 은닉 유튜버·온라인 사업자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05072" y="1755648"/>
            <a:ext cx="7616952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97510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08576" y="1883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고가아파트 증여 전수검증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24928" y="186537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강남4구·마용성 등에서 급증한 고가아파트 증여 거래를 일회성이 아니라 부동산시장이 안정될 때까지 계속 전수검증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05072" y="2551176"/>
            <a:ext cx="7616952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77063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08576" y="2679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특수관계자 간 변칙거래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24928" y="26609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매매거래로 위장한 증여, 저가양도 등 가족 간 변칙거래를 집중 조사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05072" y="3346704"/>
            <a:ext cx="7616952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56616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08576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부담부증여의 채무 활용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24928" y="345643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고가아파트를 부담부증여로 취득하면서 채무를 끼워 납세의무를 회피하는 구조를 검증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05072" y="4142232"/>
            <a:ext cx="7616952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4361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08576" y="4270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쪼개기 증여·감정평가 회피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24928" y="42519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지분을 잘게 나누거나 법인을 활용해 국세청 감정평가 기준에서 벗어나려는 시도를 검증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05072" y="4937760"/>
            <a:ext cx="7616952" cy="722376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51572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08576" y="5065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 유용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24928" y="50474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사업자대출로 고가아파트를 취득한 사례는 상반기 자진 시정 기회 후 하반기부터 전수 검증 예정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국세청 「2026년 국세행정 운영방안」(2026.1.26. 전국 세무관서장 회의) 및 관련 보도. 5번 항목의 '하반기'는 2026년 하반기를 의미합니다.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법적 골격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자금출처조사란 무엇인가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핵심은 '증여추정'입니다. 국세청이 증여를 입증하는 것이 아니라, 납세자가 자기 돈임을 입증하지 못하면 증여로 본다는 구조입니다.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55096" cy="969264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0195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정의 (상속세 및 증여세 사무처리규정 제2조)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거주자 또는 비거주자의 재산 취득, 채무의 상환 등에 소요된 자금의 원천이 직업·연령·소득 및 재산상태 등으로 보아 본인의 자금능력에 의한 것이라고 인정하기 어려운 경우, 그 자금의 출처를 밝혀 증여세 등의 탈루 여부를 확인하기 위하여 행하는 세무조사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962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 조문의 3단 구조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2918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상증법 제45조 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87168" y="3291840"/>
            <a:ext cx="3310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취득자의 직업·연령·소득·재산상태로 보아 자력 취득으로 인정하기 어려우면, 취득자금을 증여받은 것으로 추정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858768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5876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상증법 제45조 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87168" y="3858768"/>
            <a:ext cx="3310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채무 상환자금에 대해서도 같은 논리를 적용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425696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42569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상증법 제45조 ③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87168" y="4425696"/>
            <a:ext cx="3310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자금 합계가 대통령령이 정하는 금액 이하이면 위 추정을 적용하지 않음 → 배제기준의 근거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992624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99262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상증령 제34조 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7168" y="4992624"/>
            <a:ext cx="3310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'입증된 금액'의 범위와, 미입증금액이 일정 수준 미만이면 추정에서 제외하는 단서 규정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5559552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55955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사무처리규정 제42조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5559552"/>
            <a:ext cx="3310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국세청장이 정하는 연령·재산별 증여추정 배제기준 금액표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962656"/>
            <a:ext cx="5477256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1638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실무상 가장 중요한 한 가지: 입증책임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19088" y="34930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일반 세법에서는 과세 요건을 과세관청이 입증합니다. 그런데 증여추정은 그 부담을 뒤집습니다. 국세청은 '소득에 비해 취득 규모가 크다'는 정황만 제시하면 되고, 그것이 증여가 아니라는 반증은 납세자가 해야 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19088" y="4553712"/>
            <a:ext cx="49377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47000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따라서 실무의 승부처는 세 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19088" y="499262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전: 인정받을 수 있는 형태로 자금을 만들어 두기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시: 계획서·계약서·이체내역의 정합성 확보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시: 요구받은 범위를 넘지 않는 정확한 소명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제45조, 동법 시행령 제34조, 상속세 및 증여세 사무처리규정 제2조·제42조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계산 구조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얼마를 못 밝히면 증여로 보는가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전부를 밝힐 필요는 없습니다. 못 밝힌 금액이 일정 선 아래면 추정하지 않습니다 — 다만 그 선은 생각보다 낮습니다.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11055096" cy="1133856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미입증금액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95728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70048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취득재산가액 (또는 채무상환액)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70448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4768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자금출처로 입증된 금액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395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 기준선  =  Min [ 취득재산가액 × 20% ,  2억원 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2E8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2369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미입증금액  &lt;  기준선  →  증여추정 배제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증여로 추정하지 않습니다. 다만 '추정하지 않는다'는 뜻일 뿐, 실제로 증여받은 사실이 확인되면 그 금액은 그대로 과세됩니다.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7064" y="3054096"/>
            <a:ext cx="5394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32369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미입증금액  ≥  기준선  →  증여추정 적용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01384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미입증금액 전액이 증여재산가액이 됩니다. 기준선을 넘은 초과분만 과세되는 것이 아니라는 점이 실무에서 자주 오해됩니다.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47000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숫자로 보면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02920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911096"/>
                <a:gridCol w="2743200"/>
                <a:gridCol w="27432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취득가액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입증금액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미입증금액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기준선 Min[20%, 2억]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판정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8.5억원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1.5억원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 (10억×20%)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배제 (추정 안 함)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8.0억원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 (10억×20%)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2.0억원 전액 증여추정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28.0억원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 (2억 &lt; 6억)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2.0억원 전액 증여추정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28.1억원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1.9억원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 (2억 &lt; 6억)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배제 (추정 안 함)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07161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 주택일수록 2억원 상한이 먼저 걸립니다. 30억원짜리 아파트라면 '20%인 6억원'이 아니라 '2억원'이 방어선입니다.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시행령 제34조 제1항 단서 / 상속세 및 증여세법 기본통칙 45-34…1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증여추정 배제기준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연령별 기준금액: 사무처리규정 제42조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재산취득일(또는 채무상환일) 전 10년 이내 금액을 합산해 판정합니다. 세대주 구분은 2020년 7월 20일 개정으로 폐지되었습니다.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5096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03704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취득재산 — 주택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취득재산 — 기타재산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채무상환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총액한도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30세 미만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30세 이상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2억원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40세 이상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3억원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5,000만원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4억원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456432"/>
            <a:ext cx="5394960" cy="1170432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62102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판정은 'AND' 조건입니다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913632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주택·기타재산·채무상환 각 항목이 모두 기준에 미달하고, 동시에 세 항목의 합계가 총액한도에도 미달해야 배제됩니다. 하나만 넘겨도 배제되지 않습니다.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27064" y="3456432"/>
            <a:ext cx="539496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3096" y="362102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배제기준 이하라도 과세될 수 있습니다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83096" y="3913632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제42조 제2항은 '제1항과 관계없이 취득가액이 타인으로부터 증여받은 사실이 확인될 경우에는 증여세 과세대상이 된다'고 명시합니다. 면세 한도가 아닙니다.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4864608"/>
            <a:ext cx="11055096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50109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예시: 34세 무직 배우자가 서울 아파트를 8억원에 단독 취득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376672"/>
            <a:ext cx="237744" cy="23774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5376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32688" y="5358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적용 기준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350008" y="5358384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30세 이상 → 주택 1억 5,000만원 / 총액한도 2억원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5687568"/>
            <a:ext cx="237744" cy="23774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687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32688" y="5669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1차 판정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350008" y="566928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취득가액 8억원 &gt; 주택 기준 1억 5,000만원 → 배제 불가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" y="5998464"/>
            <a:ext cx="237744" cy="23774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5998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32688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결론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350008" y="5980176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증여추정 대상. 8억원 전액에 대해 자금출처를 소명해야 하며, 미입증금액이 2억원 이상이면 그 전액이 증여재산가액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8" name="Text 25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 사무처리규정 제42조(2020.7.20. 이후 취득·상환분 적용, 2025.6.11. 국세청훈령 제2681호 기준 동일). 배제기준 금액은 국세청장이 정하므로 개정 여부를 매년 확인해야 합니다.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자주 틀리는 지점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배제기준을 오해하는 세 가지 방식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현장에서 반복적으로 나오는 오해입니다. 세 가지 모두 '안전하다'고 믿었다가 과세되는 경로입니다.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550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029968"/>
            <a:ext cx="310896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97510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“40세 넘었으니 3억원까지는 안전하다”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98448" y="243230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3억원짜리 주택을 사도 된다는 뜻이 아닙니다. 기준금액은 10년 합산액이고, 총액한도 4억원도 동시에 충족해야 합니다. 45세가 10년 사이 2억 5,000만원 아파트를 사고 1억 5,000만원 상가를 샀다면 합계 4억원으로 총액한도에 걸립니다.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51392" y="2084832"/>
            <a:ext cx="2487168" cy="768096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8979408" y="2084832"/>
            <a:ext cx="2231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10년 합산 + 총액한도 동시 충족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55264"/>
            <a:ext cx="110550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511296"/>
            <a:ext cx="310896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4564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“기준금액 이하면 세금이 없다”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98448" y="39136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배제기준은 '증여로 추정하지 않는다'는 절차 규정입니다. 면세점이 아닙니다. 계좌이체 내역이나 진술로 실제 증여 사실이 확인되면 사무처리규정 제42조 제2항에 따라 그대로 증여세가 과세됩니다.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51392" y="3566160"/>
            <a:ext cx="2487168" cy="768096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9" name="Text 17"/>
          <p:cNvSpPr/>
          <p:nvPr/>
        </p:nvSpPr>
        <p:spPr>
          <a:xfrm>
            <a:off x="8979408" y="3566160"/>
            <a:ext cx="2231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추정 배제 ≠ 비과세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110550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992624"/>
            <a:ext cx="310896" cy="31089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9377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“부모에게 증여받은 돈으로 소명하면 20% 여유가 남는다”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98448" y="53949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증여받은 재산으로 메운 부분에 대해서는 Min[20%, 2억원] 단서의 완충 효과를 기대하기 어렵다는 것이 실무상 일반적인 설명입니다. 다만 이를 명시한 조문은 없으므로, 상담에서 단정하기 전에 근거를 확인하십시오.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51392" y="5047488"/>
            <a:ext cx="2487168" cy="768096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6" name="Text 24"/>
          <p:cNvSpPr/>
          <p:nvPr/>
        </p:nvSpPr>
        <p:spPr>
          <a:xfrm>
            <a:off x="8979408" y="5047488"/>
            <a:ext cx="2231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증여자금 소명 시 완충 기대 곤란 (근거 확인 필요)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852160"/>
            <a:ext cx="11055096" cy="420624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5852160"/>
            <a:ext cx="10616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문구: “배제기준은 조사를 면제하는 방패가 아니라, 국세청이 자동 선별에서 제외하는 필터입니다.”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 사무처리규정 제42조 제1항·제2항 / 상속세 및 증여세법 기본통칙 45-34…1 제2항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입증의 재료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인정되는 자금출처와 인정되지 않는 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상증령 제34조 제1항이 열거한 세 가지가 출발점입니다. 실무에서는 '명백하게 출처가 확인되는가'로 판단합니다.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5394960" cy="3840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7393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인정되는 자금출처 (상증령 제34조 ①)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256032" cy="256032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50976" y="2267712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신고·과세된 소득금액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2542032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근로·사업·이자·배당·연금·퇴직소득 등. 비과세·감면받은 소득도 포함됩니다. 세후 순액 기준으로 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346704"/>
            <a:ext cx="256032" cy="256032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50976" y="331012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신고·과세된 상속·수증재산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" y="3584448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증여세를 신고·납부한 재산은 그대로 자금출처가 됩니다. 신고해 둔 증여가 가장 강력한 소명 재료입니다.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389120"/>
            <a:ext cx="256032" cy="256032"/>
          </a:xfrm>
          <a:prstGeom prst="rect">
            <a:avLst/>
          </a:prstGeom>
          <a:solidFill>
            <a:srgbClr val="2E854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0976" y="4352544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처분대가·차입금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" y="4626864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재산을 처분해 받은 금전이나 부채를 부담하고 받은 금전 중, 해당 재산 취득이나 채무 상환에 직접 사용한 금액.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413248"/>
            <a:ext cx="5394960" cy="859536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55955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차감해야 하는 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6384" y="581558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소득금액은 총액이 아니라 세금·사회보험료·기존 대출 원리금 상환 등을 뺀 실제 가용액으로 봅니다. 생활비 규모도 함께 검토됩니다.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27064" y="1773936"/>
            <a:ext cx="5394960" cy="38404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77393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인정받기 어려운 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27064" y="2267712"/>
            <a:ext cx="4572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267712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 수수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514600"/>
            <a:ext cx="5175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계좌 흔적이 없는 현금 거래는 사실상 입증이 불가능합니다. 오히려 자금 은닉 정황으로 읽힙니다.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27064" y="3136392"/>
            <a:ext cx="4572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136392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증빙 없는 가족 간 금전거래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3383280"/>
            <a:ext cx="5175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배우자·직계존비속 간 대여는 원칙적으로 인정하지 않습니다. 차용증·이자지급·원금상환이 함께 확인될 때만 예외입니다.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27064" y="4005072"/>
            <a:ext cx="4572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005072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신고하지 않은 소득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4251960"/>
            <a:ext cx="5175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무신고 사업소득이나 차명계좌 자금으로 소명하면, 그 순간 소득세 문제로 조사가 확대됩니다.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27064" y="4873752"/>
            <a:ext cx="45720" cy="7498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873752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명의만 빌린 자금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5120640"/>
            <a:ext cx="5175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타인 명의 계좌에서 온 자금은 명의신탁·증여 문제로 이어지고, 부동산실명법 위반으로 통보될 수 있습니다.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27064" y="5815584"/>
            <a:ext cx="5394960" cy="457200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5815584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 차입은 '금지'가 아니라 '요건 충족 시 인정'입니다 → 25p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시행령 제34조 제1항 / 상속세 및 증여세법 기본통칙 45-34…1 제1항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084832"/>
            <a:ext cx="3840480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메커니즘: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어떻게 조사 대상이 되는가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133088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국세청의 데이터 3층 — 거래신고 · 금융정보 · 소득지출 분석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 2026년 개편과 제출 대상 판정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유형 8가지와 실제 적발 사례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감시 인프라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무엇을 보고 있는가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 갈래의 자료가 국세행정시스템(NTIS)에서 한 사람 단위로 결합됩니다. 조사는 이 결합 결과에서 시작됩니다.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3538728" cy="42062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92224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LAYER 1   거래 단계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353872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77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부동산거래신고 · 자금조달계획서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2999232"/>
            <a:ext cx="306324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45536"/>
            <a:ext cx="3063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계약일로부터 30일 내 실거래 신고 및 계획서 제출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 즉시 국세청·금융감독원에 자료 공유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투기과열지구는 항목별 증빙서류까지 동시 확보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국토교통부·지자체 합동조사 결과가 탈세의심자료로 통보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5112" y="1792224"/>
            <a:ext cx="3538728" cy="42062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792224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LAYER 2   금융 단계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212848"/>
            <a:ext cx="353872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2377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FIU 금융정보 · 계좌 흐름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62856" y="2999232"/>
            <a:ext cx="306324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3145536"/>
            <a:ext cx="3063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1거래일 2천만원 이상 고액현금거래는 자동 보고(CTR)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자금세탁 의심거래는 금융기관 판단으로 보고(STR)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탈루 혐의 시 국세청에 통보되어 조사 단서로 활용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쪼개기 입금·인출도 패턴으로 포착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83296" y="1792224"/>
            <a:ext cx="3538728" cy="420624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792224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LAYER 3   분석 단계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2212848"/>
            <a:ext cx="3538728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3774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 시스템 · NTIS 통합분석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21040" y="2999232"/>
            <a:ext cx="306324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145536"/>
            <a:ext cx="30632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대비 재산 증가와 소비 지출을 비교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재산·채무 현황을 수시로 분석해 이상치 추출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과정에서 인정된 부채를 전산 등록해 사후관리</a:t>
            </a:r>
            <a:endParaRPr lang="en-US" sz="1000" dirty="0"/>
          </a:p>
          <a:p>
            <a:pPr marL="152400" indent="-152400">
              <a:lnSpc>
                <a:spcPts val="145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AI·빅데이터 기반 위험도 순위로 조사 우선순위 결정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010912"/>
            <a:ext cx="11055096" cy="126187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193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함의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계약 전 거액 입금은 그 자체로 소명 대상이 됩니다.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차명·현금 우회는 데이터 결합 앞에서 오히려 정황증거가 됩니다.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계획서에 적은 숫자는 나중에 바꾸기 어렵습니다.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 번 인정된 차입금도 만기·상환 시점에 다시 검증됩니다.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특정 금융거래정보의 보고 및 이용 등에 관한 법률(FIU 보고), 국세청 국세행정시스템(NTIS) 및 소득-지출 분석시스템 운영 관련 공개 자료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 시스템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“번 돈”과 “쓴 돈”의 불일치를 찾는 방식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국세청이 2009년 12월부터 운영하는 소득-지출 분석시스템(Property·Consumption·Income)입니다. 자금출처조사 대상 선정의 1차 필터입니다.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23957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83664"/>
            <a:ext cx="2395728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29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25296" y="20299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증가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4140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부동산·주식·예금 등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일정 기간 재산 증가액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80944" y="22951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73552" y="1883664"/>
            <a:ext cx="23957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883664"/>
            <a:ext cx="2395728" cy="548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029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931920" y="20299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소비 지출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56432" y="24140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신용카드 사용액·해외여행 경비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 물품 구입 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87568" y="22951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80176" y="1883664"/>
            <a:ext cx="23957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1883664"/>
            <a:ext cx="2395728" cy="5486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2029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38544" y="20299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 소득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63056" y="241401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종합소득 신고액 + 상속·증여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신고재산 + 금융기관 채무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68512" y="22951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79408" y="1883664"/>
            <a:ext cx="3154680" cy="11521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9162288" y="20665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탈루혐의금액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62288" y="243230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소득으로 설명되지 않는 재산 증가와 소비의 합계. 일정 규모를 넘으면 자금출처 검증 대상으로 분류됩니다.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310128"/>
            <a:ext cx="11055096" cy="10973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474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필터에 특히 잘 걸리는 사람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3803904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소득이 없거나 적은 미성년자·학생·사회초년생·전업주부가 고가 재산을 취득한 경우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대비 취득 규모가 과도한 경우 — 국세청이 가장 먼저 보는 비율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대출 없이 전액 현금으로 고가 아파트를 취득한 경우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채무는 많은데 상환 원천이 설명되지 않는 경우(채무과다자)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신고소득에 비해 카드 사용·해외여행 등 소비 수준이 과도한 경우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27064" y="3474720"/>
            <a:ext cx="5394960" cy="2688336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3096" y="365760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오해하지 말아야 할 것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83096" y="3968496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PCI에 이상치가 잡히는 것과 조사 착수는 다릅니다. 모든 자산 취득이 곧바로 조사로 이어지지는 않습니다. 그러나 소득 대비 취득 규모가 크거나 자금 흐름이 불명확하면 위험도 순위가 올라갑니다.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83096" y="4937760"/>
            <a:ext cx="4882896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508406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상담에서 쓸 수 있는 자기점검 질문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83096" y="5394960"/>
            <a:ext cx="4882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10년 소득금액증명원 합계가 취득가액의 몇 %인가?</a:t>
            </a:r>
            <a:endParaRPr lang="en-US" sz="1050" dirty="0"/>
          </a:p>
          <a:p>
            <a:pPr marL="152400" indent="-1524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부족분을 무엇으로, 어떤 서류로 설명할 수 있는가?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국세청 소득-지출 분석시스템(PCI) 운영 관련 공개 자료 및 보도. 개별 선정 기준·임계치는 공개되지 않습니다.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2026.2.10. 시행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자금조달계획서, 무엇이 달라졌나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부동산거래신고법 시행령·시행규칙 개정으로 서식이 전면 재편되었습니다. 2026년 2월 10일 이후 체결한 계약부터 새 양식을 써야 하며, 구 양식으로는 신고가 되지 않습니다.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3042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70432" y="226771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가상자산 매각대금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독립 항목 신설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" y="29260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종전에는 '현금 등 그 밖의 자금'에 포함했으나 이제 별도 기재. 거래소 명칭·매각 시점·원화 환전 내역이 시간순으로 맞아야 하며, 국세청이 거래소 거래내역 확인서를 요구할 근거가 생겼습니다.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25112" y="208483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3042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28616" y="226771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 분리 기재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 금융기관명 명시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44568" y="29260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종전 '그 밖의 대출'에 묶였던 사업자대출을 별도 항목으로 분리하고, 자금을 빌린 구체적 금융기관명까지 적어야 합니다. 사업자대출의 주택 구입 전용은 약정 위반으로 대출 회수 대상입니다.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83296" y="208483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3042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226771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증여·상속 자금의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세금신고 여부 기재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02752" y="292608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가족에게 받은 자금이 있으면 그에 대해 증여세·상속세를 신고했는지를 계획서에 표기해야 합니다. 신고하지 않은 상태에서 '증여'로 적으면 즉시 확인 대상이 됩니다.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66928" y="409651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431596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70432" y="427939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계약서 사본 +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계약금 입금증 첨부 의무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" y="49377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중개거래 신고 시 매매계약서 사본과 계약금 지급 증빙을 함께 제출해야 하며, 누락 시 신고 접수 자체가 차단될 수 있습니다. 직거래는 첨부 의무가 없습니다.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325112" y="409651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431596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44568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28616" y="427939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토지거래허가구역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 의무 도입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44568" y="49377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허가 신청 단계에서 1차, 본계약 신고 단계에서 2차로 두 번 제출하게 되는 경우가 있습니다. 두 번의 내용이 상충하면 소명 요구·조사 대상 분류로 이어집니다.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083296" y="4096512"/>
            <a:ext cx="3538728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2752" y="431596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8302752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0" y="4279392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 체류자격·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거소 기간 신고 강화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02752" y="4937760"/>
            <a:ext cx="3099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체류자격 번호와 국내 거소 기간(183일 이상 거주 여부)을 신고해야 하며, 출입국 관리 기록과 불일치하면 추가 소명을 요구받습니다.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부동산 거래신고 등에 관한 법률 시행령·시행규칙 개정(2026.2.10. 시행). 정식 명칭은 「주택취득자금 조달 및 입주계획서」입니다.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누가 자금조달계획서를 내야 하는가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종류 · 소재 지역 · 거래 금액 · 매수인 특성 네 가지로 결정됩니다. 제출 기한은 계약일로부터 30일입니다.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92224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3008376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제출 기준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증빙서류 동시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규제지역 주택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(조정대상지역·투기과열지구)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금액과 무관하게 전건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투기과열지구는 항목별 증빙서류까지 신고 시점에 함께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2025.10.15. 이후 서울 25개구 전역 + 경기 12개 지역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비규제지역 주택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실거래가 6억원 이상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원칙적으로 사후 요구 시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수도권 시세를 감안하면 대부분 해당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 · 외국인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지역·금액 무관 전건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법인은 특수관계 여부 등 추가 기재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외국인은 체류자격·거소기간 신고 포함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토지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수도권·광역시·세종 1억원 이상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그 밖의 지역 6억원 이상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지분 거래는 금액과 무관하게 제출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1년 내 인접 토지 분할취득은 합산 판정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토지거래허가구역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허가 신청 시 1차 + 본계약 신고 시 2차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허가 절차에서 증빙자료 제출이 사실상 필수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두 차례 제출 내용이 상충하면 조사 단서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791456"/>
            <a:ext cx="5394960" cy="1481328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7433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제재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266944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미제출 또는 거짓 제출: 500만원 이하 과태료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실거래 신고필증이 발급되지 않아 소유권 이전 등기가 지연될 수 있음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실거래가 자체를 거짓 신고한 경우에는 별도의 더 무거운 과태료가 부과됩니다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27064" y="4791456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3096" y="497433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작성 원칙 두 가지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83096" y="5266944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자기자금 + 차입금의 합계가 매매계약서상 실거래가와 1원 단위까지 일치해야 합니다.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“예금액”은 오늘 잔액이 아니라 계약금·중도금·잔금 각 지급 시점에 실제 인출 가능한 확정 금액을 적습니다.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부동산 거래신고 등에 관한 법률 제28조 및 동법 시행령·시행규칙. 규제지역 지정 현황은 변동되므로 계약 시점 기준으로 반드시 재확인해야 합니다.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유형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실제로 조사 대상이 되는 8가지 패턴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보도자료와 기획조사 발표에서 반복적으로 등장하는 유형입니다. 두 가지 이상 겹칠 때 위험도가 크게 올라갑니다.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10512"/>
            <a:ext cx="50292" cy="104241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975104"/>
            <a:ext cx="256032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33856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연소자 취득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24942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소득이 형성되지 않은 미성년자·학생·사회초년생 명의의 고가 주택 취득. 30세 미만은 배제기준 자체가 5,000만원이라 사실상 전건 검증 대상입니다.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27064" y="181051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7064" y="1810512"/>
            <a:ext cx="50292" cy="104241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975104"/>
            <a:ext cx="256032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93992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무소득 배우자·전업주부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24942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소득금액증명원상 소득이 없거나 극히 적은데 예금잔액증명서에 거액이 찍혀 있는 경우. 부부 공동명의에서 지분 대비 자금 부담이 어긋나는 사례가 많습니다.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66928" y="290779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07792"/>
            <a:ext cx="50292" cy="1042416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072384"/>
            <a:ext cx="256032" cy="256032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3856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 대비 과다 취득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" y="334670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합계로 설명되지 않는 취득 규모. 국세청이 가장 먼저 보는 지표이며, PCI 이상치의 전형입니다.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227064" y="290779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2907792"/>
            <a:ext cx="50292" cy="1042416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26" name="Shape 24"/>
          <p:cNvSpPr/>
          <p:nvPr/>
        </p:nvSpPr>
        <p:spPr>
          <a:xfrm>
            <a:off x="6446520" y="3072384"/>
            <a:ext cx="256032" cy="256032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93992" y="3035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무대출 현금 취득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34670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대출 규제와 무관하게 전액 현금으로 고가 아파트를 매입한 이른바 '현금부자'. 2026년 5월 기획조사의 핵심 대상이었습니다.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400507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005072"/>
            <a:ext cx="50292" cy="104241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4169664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3856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채무과다자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" y="444398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시 차입 비중이 과도하고, 그 차입금의 상환 원천이 설명되지 않는 경우. 차입금은 결국 상환 시점에 다시 자금출처 문제가 됩니다.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227064" y="400507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4005072"/>
            <a:ext cx="50292" cy="104241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4169664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93992" y="4133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다주택·단기 반복 취득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444398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짧은 기간에 여러 채를 취득하거나, 아파트 5호 이상 임대업자·기업형 임대업자. 2026년 3월 기획조사 대상이었습니다.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510235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5102352"/>
            <a:ext cx="50292" cy="104241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4" name="Shape 42"/>
          <p:cNvSpPr/>
          <p:nvPr/>
        </p:nvSpPr>
        <p:spPr>
          <a:xfrm>
            <a:off x="786384" y="5266944"/>
            <a:ext cx="256032" cy="25603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5266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33856" y="5230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부담부증여·특수관계 거래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86384" y="554126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채무를 끼워 증여세를 줄이는 부담부증여, 매매로 위장한 증여, 저가양도. 2026년 운영방안이 명시한 집중 검증 영역입니다.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227064" y="5102352"/>
            <a:ext cx="539496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7064" y="5102352"/>
            <a:ext cx="50292" cy="104241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6520" y="5266944"/>
            <a:ext cx="256032" cy="25603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5266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793992" y="5230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 유용·외국인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46520" y="554126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사업자대출로 주택을 취득한 경우(2026년 하반기 전수 검증 예정), 그리고 국내 거소 요건이 불분명한 외국인 매수인.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55" name="Text 53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국세청 부동산 탈세 관련 보도자료(2025.8.~2026.5.) 및 「2026년 국세행정 운영방안」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사례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국세청이 공개한 적발 유형 5선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보도자료에 실린 사례를 정리했습니다. 어떤 구조가 '허위'로 읽히는지 보여주는 자료로 상담에서 활용도가 높습니다.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1105509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04825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52144" y="19110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30대 부부 · 30억원대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46704" y="18745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대기업에 근무하는 30대 부부가 30억원대 고가 아파트를 대출 없이 현금으로 공동 매입. 신고소득 대비 자금 규모가 과도.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626096" y="1920240"/>
            <a:ext cx="41148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808976" y="1874520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부친이 아파트 취득 직전 해외주식을 매각한 뒤 사용처가 불분명 → 편법 증여 의심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66928" y="2651760"/>
            <a:ext cx="11055096" cy="786384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90779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" y="2770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사회초년생 · 20억원대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46704" y="273405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30대 초반 사회초년생이 20억원대 아파트를 취득. 소액 담보대출만 받고 부족한 10억여원은 '건물주'인 부친에게서 차입하며 차용증 작성.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626096" y="2779776"/>
            <a:ext cx="41148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7808976" y="273405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차용증에 상환 기한을 부친의 사망 시점으로, 이자는 상환 시점에 일괄 지급으로 기재 → 허위 채무계약으로 의심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66928" y="3511296"/>
            <a:ext cx="1105509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376732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부담부증여 + 보증금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46704" y="359359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조부가 임차인으로 거주하고 있는 부친 소유 주택을 자녀에게 부담부증여.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626096" y="3639312"/>
            <a:ext cx="41148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7808976" y="3593592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조부가 퇴거한 이후에도 임대보증금을 돌려받지 않는 방식으로 증여를 은닉한 혐의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2"/>
            <a:ext cx="1105509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462686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626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52144" y="44897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전문직 부부 · 미성년 증여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46704" y="445312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의사인 부부가 여러 채의 고가 아파트를 취득한 뒤 미성년 자녀들에게 증여하고 호화·사치 생활 영위.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626096" y="4498848"/>
            <a:ext cx="41148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7808976" y="445312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대비 과다한 자산 취득·지출 → 현금수입 누락 혐의로 사업체까지 조사 확대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5230368"/>
            <a:ext cx="11055096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48640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52144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쪼개기 증여 · 법인 활용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46704" y="531266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감정평가 기준에서 벗어나기 위해 지분을 나누어 증여하거나 법인을 활용.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626096" y="5358384"/>
            <a:ext cx="41148" cy="5303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Text 38"/>
          <p:cNvSpPr/>
          <p:nvPr/>
        </p:nvSpPr>
        <p:spPr>
          <a:xfrm>
            <a:off x="7808976" y="5312664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감정평가액의 80% 미만으로 평가한 법인은 시가 불인정 감정기관으로 지정될 수 있음(상증법 제60조 ⑤)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566928" y="605332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왼쪽이 겉으로 보이는 거래 구조, 오른쪽이 국세청이 문제로 본 지점입니다.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국세청 부동산 탈세 관련 보도자료 및 국무조정실 공개 자료. 사례는 조사 착수 단계의 혐의 내용으로, 최종 과세 결과와는 다를 수 있습니다.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패턴 분석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사례에서 반복되는 네 가지 실패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적발 사례를 관통하는 공통점은 '서류를 안 만든 것'이 아니라 '서류가 실질과 어긋난 것'입니다.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1105509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93392"/>
            <a:ext cx="310896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956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형식은 갖췄지만 실질이 없다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23225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차용증은 있는데 상환 기한이 대여자의 사망 시점이고 이자는 만기 일괄 지급입니다. 국세청은 서류의 존재가 아니라 실제로 갚을 구조인지를 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87968" y="2029968"/>
            <a:ext cx="2468880" cy="53035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8997696" y="202996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기준: 상환 능력과 상환 이력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871216"/>
            <a:ext cx="1105509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054096"/>
            <a:ext cx="310896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자금의 원천이 한 단계 위에서 끊긴다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38328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본인 계좌에서 잔금이 나갔지만 그 돈이 계약 직전 부모 계좌에서 들어왔습니다. 국세청은 한 단계 위의 원천까지 추적합니다.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87968" y="3090672"/>
            <a:ext cx="2468880" cy="53035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9" name="Text 17"/>
          <p:cNvSpPr/>
          <p:nvPr/>
        </p:nvSpPr>
        <p:spPr>
          <a:xfrm>
            <a:off x="8997696" y="309067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기준: 자금 흐름의 연속성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931920"/>
            <a:ext cx="1105509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114800"/>
            <a:ext cx="310896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40782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시간 순서가 맞지 않는다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44439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매각은 3개월 전인데 입금은 어제이고, 잔액증명서 기준일은 기관마다 다릅니다. 시점 불일치는 소명 검토에서 가장 먼저 걸립니다.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87968" y="4151376"/>
            <a:ext cx="2468880" cy="53035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6" name="Text 24"/>
          <p:cNvSpPr/>
          <p:nvPr/>
        </p:nvSpPr>
        <p:spPr>
          <a:xfrm>
            <a:off x="8997696" y="4151376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기준: 일자의 정합성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992624"/>
            <a:ext cx="11055096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175504"/>
            <a:ext cx="310896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61872" y="5138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명의와 부담이 어긋난다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61872" y="550468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공동명의인데 자금은 한 사람이 전액 부담했거나 지분 비율과 부담 비율이 다릅니다. 명의만 빌린 것인지가 곧바로 쟁점이 됩니다.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87968" y="5212080"/>
            <a:ext cx="2468880" cy="530352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3" name="Text 31"/>
          <p:cNvSpPr/>
          <p:nvPr/>
        </p:nvSpPr>
        <p:spPr>
          <a:xfrm>
            <a:off x="8997696" y="521208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판단 기준: 명의와 실질 부담의 일치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03504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다음 파트에서는 이 네 가지를 뒤집어, 실제로 인정받는 소명 자료를 어떻게 만드는지 다룹니다.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084832"/>
            <a:ext cx="3840480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소명과 대응: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무엇으로 어떻게 다투는가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133088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3정합 원칙과 자금원별 증빙 체크리스트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 차입이 인정받는 조건과 무이자 구간의 계산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서면확인 → 실지조사 → 과세전적부심사 → 불복 3트랙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전 설계 6원칙과 상담 체크리스트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소명의 기본기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소명 자료는 ‘세 가지 정합’으로 완성된다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서류를 많이 내는 것이 소명이 아닙니다. 금액·시점·명의 세 축이 서로 맞아떨어질 때 비로소 하나의 설명이 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3538728" cy="45720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73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금액 정합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04288" y="177393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CE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숫자가 맞는가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353872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14016"/>
            <a:ext cx="30632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자기자금 + 차입금 합계 = 매매계약서상 실거래가 (1원 단위)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자금조달계획서에 적은 항목별 금액 = 증빙서류상 금액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소득금액증명원 합계에서 세금·보험료·기존 대출 원리금·생활비를 뺀 가용액 기준으로 계산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지분 비율 = 각자의 자금 부담 비율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325112" y="1773936"/>
            <a:ext cx="3538728" cy="4572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773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시점 정합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62472" y="177393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CE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순서가 맞는가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231136"/>
            <a:ext cx="353872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2414016"/>
            <a:ext cx="30632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조성 → 계좌 입금 → 계약금·중도금·잔금 지급이 시간순으로 이어지는가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주식·부동산·가상자산 매각일과 원화 입금일 사이에 공백이 없는가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 작성일이 실제 자금 이동일보다 앞서는가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예금잔액증명서 기준일이 기관별로 통일되어 있는가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83296" y="1773936"/>
            <a:ext cx="3538728" cy="457200"/>
          </a:xfrm>
          <a:prstGeom prst="rect">
            <a:avLst/>
          </a:prstGeom>
          <a:solidFill>
            <a:srgbClr val="CB6015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7739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명의 정합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20656" y="177393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CE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누구 돈인가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3296" y="2231136"/>
            <a:ext cx="353872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414016"/>
            <a:ext cx="30632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자금이 나간 계좌의 명의 = 취득자 명의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타인 명의 계좌를 경유한 자금이 없는가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부부 공동명의라면 각자 계좌에서 각자 지분만큼 지급되었는가</a:t>
            </a:r>
            <a:endParaRPr lang="en-US" sz="1030" dirty="0"/>
          </a:p>
          <a:p>
            <a:pPr marL="152400" indent="-1524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가족에게서 온 자금은 증여·차입 중 어느 쪽으로 정리되어 있는가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66928" y="5065776"/>
            <a:ext cx="11055096" cy="120700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248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 형식: 서류 뭉치가 아니라 ‘표 + 인덱스’로 낸다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554126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자금원별로 ① 항목 ② 금액 ③ 조성 일자 ④ 계좌(은행·계좌번호 뒷자리) ⑤ 첨부 증빙번호를 한 장의 표로 만들고, 그 뒤에 번호 순서대로 증빙을 붙입니다. 조사관이 대조하기 쉬운 형태로 내는 것 자체가 소명의 신뢰도를 높입니다. 합계는 반드시 취득가액과 일치시키고, 설명이 안 되는 부족분은 별도 행으로 남겨 대응 방향을 함께 적습니다.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증빙 체크리스트 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자기자금: 무엇을 어떻게 준비하는가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각 항목은 '금액을 보여주는 서류'와 '흐름을 보여주는 서류'를 한 쌍으로 준비합니다. 잔액만 있고 흐름이 없으면 소명이 되지 않습니다.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22776"/>
                <a:gridCol w="5029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자금 항목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필수 증빙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실무 주의점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근로·사업소득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소득금액증명원(최근 5~10년), 원천징수영수증, 급여 이체 내역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총액이 아니라 세금·보험료·기존 대출 상환·생활비를 뺀 실제 가용액으로 계산해야 설득력이 생깁니다.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예금·적금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예금잔액증명서, 통장 거래내역, 정기예금 해지확인서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잔액증명서 기준일을 당일로 지정하면 해당 계좌의 거래가 자정까지 정지됩니다. 잔금일과 겹치지 않게 전일로 지정하십시오.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주식·채권 매각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거래내역서, 매도 정산내역, 증권계좌 잔고증명, 출금 이체내역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매도 → 예수금 → 은행 출금 → 잔금 지급의 4단계가 날짜로 이어져야 합니다.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부동산 처분대금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매매계약서, 양도소득세 신고서·납부영수증, 잔금 입금내역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공동상속 부동산을 팔아 특정인 단독 명의로 재취득하면 그 자체가 증여로 과세될 수 있습니다.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임대보증금 반환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종전 임대차계약서, 보증금 반환 이체내역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반환 시점과 신규 취득 자금 투입 시점이 맞아야 합니다. 퇴직금·보험금도 수령 시점과 입금 내역을 함께 준비합니다.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가상자산 매각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거래소 거래내역 확인서, 매도내역, 원화 환전·출금 내역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2026년부터 계획서 독립 항목. 거래소명·매각 시점·환전 시점이 시간순으로 정합해야 합니다.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증여·상속받은 자금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증여세·상속세 신고서 및 납부영수증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신고한 증여는 가장 강력한 자금출처입니다. 단, 증여자금으로 소명하면 미입증금액 20% 완충 규정이 적용되지 않습니다.</a:t>
                      </a:r>
                      <a:endParaRPr lang="en-US" sz="9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시행령 제34조 제1항 / 부동산 거래신고 등에 관한 법률 시행규칙 별지 서식(주택취득자금 조달 및 입주계획서)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증빙 체크리스트 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차입금: 가족 차입이 인정받는 다섯 조건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배우자·직계존비속 간 자금 대여는 원칙적으로 자금출처로 인정되지 않습니다. 아래 다섯 가지가 종합적으로 확인될 때만 예외적으로 인정됩니다.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68580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9339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70432" y="1956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차용증의 실질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55264" y="19385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작성일·원금·이자율·변제기·상환방법을 구체적으로 명시합니다. 변제기를 ‘대여자 사망 시’로 두거나 이자를 만기 일괄 지급으로 두면 사실상 증여로 봅니다. 확정일자나 공증으로 작성 시점을 객관화하는 것이 안전합니다.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66928" y="2871216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05409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70432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자금 이동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55264" y="299923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현금이 아니라 계좌이체로 이동시켜 기록을 남깁니다. 차용증 작성일이 이체일보다 앞서야 합니다.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389534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70432" y="3858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약정대로의 이자 지급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55264" y="38404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차용증에 적은 주기대로 실제로 이자를 송금해야 합니다. 이자를 받은 대여자 쪽의 이자소득(비영업대금의 이익) 처리까지 함께 정리되어야 일관성이 생깁니다.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66928" y="4553712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473659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70432" y="4700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원금 상환 능력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55264" y="468172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차입자의 소득으로 원금을 갚을 수 있는 구조여야 합니다. 소득이 없는 미성년자·전업주부 명의 차입은 인정 사례가 극히 드뭅니다.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66928" y="539496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557784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70432" y="5541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상환 이력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55264" y="55229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시점까지 약정대로 상환한 기록이 있어야 합니다. 인정된 차입금은 국세청이 전산 등록해 만기·상환 시점에 다시 확인합니다.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690104" y="1810512"/>
            <a:ext cx="3931920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197510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금융기관 대출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09560" y="2267712"/>
            <a:ext cx="3493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대출계약서·거래약정서, 상환 스케줄, 대출금 입금 내역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계획서는 주택담보·신용·사업자대출을 분리하고 금융기관명을 기재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사업자대출을 주택 취득에 쓰면 약정 위반으로 대출 회수 및 조사 확대 대상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7690104" y="3931920"/>
            <a:ext cx="393192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40965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임대보증금 승계(전세 끼고 매수)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09560" y="4389120"/>
            <a:ext cx="3493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임대차계약서상 금액과 계획서 기재액이 정확히 일치해야 함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전입세대 열람내역·확정일자로 임대차의 실재를 보강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7690104" y="5413248"/>
            <a:ext cx="3931920" cy="859536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91272" y="5413248"/>
            <a:ext cx="3529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3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차입금은 ‘지금 넘기는 문제’가 아니라 ‘나중에 갚을 때 다시 검증받는 문제’입니다. 상환 재원까지 함께 설계해야 합니다.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제41조의4, 동법 시행령 / 상속세 및 증여세 사무처리규정(조사 과정에서 인정된 부채의 전산 관리)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금전 무상대출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무이자로 빌려도 되는 구간의 계산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상증법 제41조의4는 무상·저리 대출로 얻은 이익을 증여로 봅니다. 다만 그 이익이 연 1,000만원 미만이면 과세하지 않습니다.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55096" cy="74980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73936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증여이익 = 대출금액 × 적정이자율 4.6% − 실제 지급한 이자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  </a:t>
            </a:r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이 값이 연 1,000만원 미만이면 증여세 과세 대상이 아닙니다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87968" y="182880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1,000만원 ÷ 4.6%</a:t>
            </a:r>
            <a:endParaRPr lang="en-US" sz="1350" dirty="0"/>
          </a:p>
          <a:p>
            <a:pPr algn="r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 약 2억 1,739만원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66928" y="2688336"/>
          <a:ext cx="6766560" cy="28895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56692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점선을 넘어서는 구간부터 증여이익 전액이 증여재산가액이 됩니다. 약 2억 1,739만원이 무이자 차입의 실질 상한선입니다.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07808" y="2688336"/>
            <a:ext cx="401421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87121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놓치기 쉬운 네 가지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45552" y="3182112"/>
            <a:ext cx="35387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 면제와 원금은 별개입니다. 이자에 증여세가 없어도 원금 상환 의무와 상환 능력은 여전히 소명 대상입니다.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판정은 매년 합니다. 대출기간이 1년을 넘으면 1년마다 새로 대출받은 것으로 보아 매년 증여이익을 계산합니다.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저리 대출도 같은 계산식입니다. 예컨대 5.2억원을 연 2.7%로 빌리면 증여이익은 약 988만원으로 1,000만원 미만이 됩니다.</a:t>
            </a:r>
            <a:endParaRPr lang="en-US" sz="100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여러 명에게 나누어 빌리는 방식은 특수관계인 합산·실질 판단으로 부인될 수 있습니다.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07808" y="6071616"/>
            <a:ext cx="4014216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제41조의4, 동법 시행령(적정이자율 연 4.6%, 기준금액 1,000만원). 적정이자율은 개정될 수 있으므로 실행 시점 기준으로 확인해야 합니다.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감점 요인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실무에서 반복되는 열두 가지 실수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대부분은 계약 전에 30분만 점검하면 피할 수 있는 것들입니다. 상담 시 체크리스트로 활용하십시오.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33856" y="18470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차용증을 조사 통지를 받은 뒤에 소급 작성 — 서식·잉크·작성일이 어긋나 오히려 불리하게 작용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7064" y="179222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6596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93992" y="18470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변제기를 ‘대여자 사망 시’로 기재 — 사실상 증여로 판단되는 대표적 문구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52374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69748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3856" y="25786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이자를 만기 일괄 지급으로 약정하고 실제로는 한 번도 지급하지 않음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27064" y="252374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69748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93992" y="25786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소득도 상환 능력도 없는 미성년자·전업주부 명의로 차입 처리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25526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42900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3856" y="331012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계약 직전 거액이 입금되었는데 그 원천을 설명하지 못함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27064" y="325526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342900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9944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93992" y="331012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현금으로 주고받아 계좌 흔적이 없음 — 은닉 정황으로 읽힘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98678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16052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3856" y="40416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예금잔액증명서 기준일을 잔금일 당일로 지정해 계좌 거래가 정지됨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27064" y="398678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9944" y="416052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994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93992" y="40416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은행·증권사별로 잔액 기준일이 달라 합계가 검증되지 않음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471830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489204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33856" y="477316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계획서 합계와 매매계약서상 실거래가가 어긋남 — 보정 요구 대상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27064" y="471830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89204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9944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793992" y="477316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승계 전세보증금 금액이 임대차계약서와 불일치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44982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562356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33856" y="55046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사업자대출을 주택 취득에 전용 — 대출 회수 + 사업체까지 조사 확대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27064" y="544982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9944" y="5623560"/>
            <a:ext cx="274320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2" name="Text 50"/>
          <p:cNvSpPr/>
          <p:nvPr/>
        </p:nvSpPr>
        <p:spPr>
          <a:xfrm>
            <a:off x="6409944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793992" y="55046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공동상속받은 부동산을 처분한 뒤 특정인 단독 명의로 재취득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55" name="Text 53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절차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전체 프로세스와 1단계 대응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대부분의 사건은 ‘서면확인’에서 시작합니다. 이 단계에서 끝낼 수 있으면 실지조사로 가지 않습니다.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213055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 선정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전산분석·자료통보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8064" y="1755648"/>
            <a:ext cx="2130552" cy="7132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 서면확인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9504" y="21031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6CE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해명자료 제출안내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755648"/>
            <a:ext cx="213055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3. 실지조사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사전통지 후 착수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0336" y="1755648"/>
            <a:ext cx="213055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4. 결과통지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51776" y="21031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종료 후 20일 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91472" y="1755648"/>
            <a:ext cx="2130552" cy="713232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9488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5. 고지·불복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82912" y="21031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과적심 → 불복 3트랙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688336"/>
            <a:ext cx="11055096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852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1단계 · 서면확인: “재산 취득 자금출처에 대한 해명자료 제출안내”를 받았을 때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3200400"/>
            <a:ext cx="5394960" cy="1481328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36499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제도의 구조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3657600"/>
            <a:ext cx="4919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실지조사 대상 선정의 전 단계로, 우편 질문에 해명자료를 받아 실지조사 전환 여부를 판단합니다.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서면확인기간은 착수일부터 4주. 보완 요구가 필요하면 1회 2주 연장, 사전심의 신청 시 추가 1회 2주 연장이 가능합니다.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납세자에게 주는 소명기간은 최소 10일입니다.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27064" y="3200400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36499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실지조사로 전환되는 방아쇠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64808" y="3657600"/>
            <a:ext cx="4919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정당한 사유 없이 자료를 제출하지 않거나 지연 제출한 경우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허위 또는 불성실하게 제출한 경우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제출한 해명이 탈루 혐의를 해소하지 못한 경우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480974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 원칙 다섯 가지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213055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5266944"/>
            <a:ext cx="237744" cy="2377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" y="5559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기한을 먼저 관리한다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4944" y="58155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무응답·지연이 곧 전환 사유입니다. 연장 요청은 문서로 남깁니다.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798064" y="5138928"/>
            <a:ext cx="213055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5266944"/>
            <a:ext cx="237744" cy="2377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26080" y="5559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요구 범위 안에서만 답한다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26080" y="58155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안내문에 특정된 재산·기간에만 집중합니다. 과잉 설명은 쟁점을 늘립니다.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029200" y="5138928"/>
            <a:ext cx="213055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57216" y="5266944"/>
            <a:ext cx="237744" cy="2377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2" name="Text 40"/>
          <p:cNvSpPr/>
          <p:nvPr/>
        </p:nvSpPr>
        <p:spPr>
          <a:xfrm>
            <a:off x="5157216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57216" y="5559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표 + 증빙 인덱스로 제출한다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57216" y="58155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금액·일자·계좌·증빙번호를 한 장의 표로 정리해 제출합니다.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7260336" y="5138928"/>
            <a:ext cx="213055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88352" y="5266944"/>
            <a:ext cx="237744" cy="2377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7" name="Text 45"/>
          <p:cNvSpPr/>
          <p:nvPr/>
        </p:nvSpPr>
        <p:spPr>
          <a:xfrm>
            <a:off x="7388352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388352" y="5559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부족분은 숨기지 않는다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88352" y="58155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미입증분은 기한후신고·수정신고로 정리하는 편이 유리할 수 있습니다.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9491472" y="5138928"/>
            <a:ext cx="213055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19488" y="5266944"/>
            <a:ext cx="237744" cy="23774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52" name="Text 50"/>
          <p:cNvSpPr/>
          <p:nvPr/>
        </p:nvSpPr>
        <p:spPr>
          <a:xfrm>
            <a:off x="9619488" y="5266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619488" y="5559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세무대리인은 이 시점에 선임한다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619488" y="58155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 이후가 아니라 안내문 수령 직후가 개입 효과가 큽니다.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 사무처리규정, 조사사무처리규정(자금출처 서면확인 절차) / 국세기본법 제7장의2 납세자의 권리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절차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2단계 · 실지조사와 납세자의 권리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실지조사로 전환되면 국세기본법상 납세자 권리 규정이 본격적으로 작동합니다. 권리를 아는 것 자체가 방어 수단입니다.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5394960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3852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진행 방식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249424"/>
            <a:ext cx="49194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원칙적으로 조사 개시 20일 전에 사전통지를 합니다(국세기본법 제81조의7 제1항, 2024.1.1. 시행). 다만 증거 인멸 우려가 있으면 사전통지 없이 착수할 수 있습니다.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착수 시 납세자권리헌장을 교부하고 조사 사유·범위를 설명합니다.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금융거래 확인(계좌 추적)이 이루어지며, 가족·특수관계인 계좌까지 확대될 수 있습니다.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 확인 과정에서 사업소득 누락이나 법인자금 유출이 의심되면 관련 사업체로 조사가 확대됩니다.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종료 후 20일 이내에 조사결과를 통지합니다.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5394960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27939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조세범칙조사로 전환되면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4590288"/>
            <a:ext cx="4919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허위계약서 제출 등 부정한 방법에 의한 조세포탈이 확인되면 조세범처벌법에 따라 검찰 등에 고발됩니다.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실권리자명의 등기에 관한 법률(부동산실명법) 위반은 관할 구청에 통보됩니다.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단계부터는 세무 문제가 아니라 형사 절차의 문제이므로, 변호사·세무사 공동 대응이 필요합니다.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27064" y="1773936"/>
            <a:ext cx="5394960" cy="42062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73936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납세자가 행사할 수 있는 권리 (국세기본법 제7장의2)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7064" y="2286000"/>
            <a:ext cx="45720" cy="5120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2860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연기 신청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05088" y="228600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질병·장기출장·재해 등 사유가 있으면 조사 시기를 연기해 달라고 신청할 수 있습니다.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227064" y="2862072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620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세무대리인의 조력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05088" y="2862072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변호사·세무사를 선임해 조사에 참여시키고 의견을 진술하게 할 수 있습니다.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227064" y="3438144"/>
            <a:ext cx="45720" cy="5120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381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중복조사 금지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05088" y="3438144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세목·같은 과세기간에 대한 재조사는 법정 사유가 없으면 금지됩니다.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227064" y="4014216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기간 연장·범위 확대의 문서 통지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05088" y="4014216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조사기간을 연장하거나 조사 범위를 확대할 때는 사유와 범위를 문서로 통지받습니다.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227064" y="4590288"/>
            <a:ext cx="45720" cy="5120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590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권리보호 요청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05088" y="4590288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위법·부당한 조사라고 판단되면 납세자보호관·납세자보호담당관에게 조사 중지 등 권리보호를 요청할 수 있습니다.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227064" y="5166360"/>
            <a:ext cx="45720" cy="512064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166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과세정보 비밀유지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05088" y="5166360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과정에서 취득한 납세자 정보는 타인에게 제공·누설되지 않습니다.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227064" y="5742432"/>
            <a:ext cx="45720" cy="5120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5742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 통지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05088" y="5742432"/>
            <a:ext cx="2916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종결 후 결과와 근거를 서면으로 통지받을 권리가 있습니다.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국세기본법 제7장의2(납세자의 권리), 조사사무처리규정, 상속세 및 증여세 사무처리규정 / 조세범처벌법, 부동산 실권리자명의 등기에 관한 법률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절차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3·4단계 · 고지 전 방어와 불복 3트랙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기한이 곧 권리입니다. 30일과 90일, 두 숫자를 놓치면 내용을 다투지도 못하고 각하됩니다.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11055096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F582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 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 — 통지받은 날부터 30일 이내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5054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 결과통지서 또는 과세예고통지서는 고지서가 아닙니다. 고지 전에 스스로 시정할 기회를 주는 문서입니다.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44768" y="1920240"/>
            <a:ext cx="5477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청구 대상: 세무조사 결과통지서·과세예고통지서를 받은 자, 예상 고지세액 100만원 이상으로 과세예고통지를 받은 자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심의 기관: 국세심사위원회 — 교수·변호사·회계사·세무사 등 외부위원이 참여합니다.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불채택 결정을 받아도 고지 후 불복 절차를 그대로 이용할 수 있습니다.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66928" y="316382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 후 · 세 갈래 중 하나를 선택 — 모두 “처분을 안 날부터 90일 이내”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511296"/>
            <a:ext cx="3538728" cy="658368"/>
          </a:xfrm>
          <a:prstGeom prst="rect">
            <a:avLst/>
          </a:prstGeom>
          <a:solidFill>
            <a:srgbClr val="FAB072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566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이의신청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8096" y="3840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세무서장 또는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관할 지방국세청장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3538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33425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임의 절차입니다. 거치지 않고 곧바로 심사·심판청구가 가능합니다.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신청서를 받은 날부터 30일 이내에 결정을 통지합니다.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결정에 불복하면 결정서를 받은 날부터 90일 이내에 심사청구 또는 심판청구를 선택합니다.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325112" y="3511296"/>
            <a:ext cx="3538728" cy="65836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566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심사청구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26280" y="3840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5112" y="4169664"/>
            <a:ext cx="3538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33425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내부의 심사 절차입니다.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이의신청을 거치지 않고 바로 청구할 수 있습니다.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심사청구와 심판청구는 둘 중 하나만 선택할 수 있습니다.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083296" y="3511296"/>
            <a:ext cx="3538728" cy="65836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8284464" y="35661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심판청구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84464" y="38404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9D6E6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조세심판원장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83296" y="4169664"/>
            <a:ext cx="35387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433425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국무총리 소속 조세심판원이 판단하는 절차로, 실무에서 가장 많이 이용됩니다.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조직 외부에서 판단한다는 점이 특징입니다.</a:t>
            </a:r>
            <a:endParaRPr lang="en-US" sz="980" dirty="0"/>
          </a:p>
          <a:p>
            <a:pPr marL="152400" indent="-152400">
              <a:lnSpc>
                <a:spcPts val="1350"/>
              </a:lnSpc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감사원 심사청구를 선택하는 경로도 있습니다.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66928" y="5669280"/>
            <a:ext cx="5394960" cy="603504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5669280"/>
            <a:ext cx="4956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최종 단계: 심사·심판 결정서를 받은 날부터 90일 이내 행정소송 (전심절차를 거쳐야 제기 가능)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7064" y="5669280"/>
            <a:ext cx="5394960" cy="603504"/>
          </a:xfrm>
          <a:prstGeom prst="rect">
            <a:avLst/>
          </a:prstGeom>
          <a:solidFill>
            <a:srgbClr val="FDF0E4"/>
          </a:solidFill>
          <a:ln w="9525">
            <a:solidFill>
              <a:srgbClr val="FAB0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5669280"/>
            <a:ext cx="4956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주의: 불복을 제기해도 납부 의무가 자동으로 정지되지 않습니다. 압류·매각 유예를 별도로 신청하고, 다투는 동안 납부지연가산세가 계속 붙는 점을 함께 계산해야 합니다.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국세기본법 제55조~제81조(불복), 제81조의15(과세전적부심사), 행정소송법. 기한은 ‘처분이 있음을 안 날(통지를 받은 날)’부터 기산합니다.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결과의 크기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과세되면 얼마가 되는가, 그리고 그 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본세만 보면 안 됩니다. 가산세와 제척기간, 그리고 인정받은 부채의 사후관리까지가 하나의 세트입니다.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증여세율과 공제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66544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과세표준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누진공제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5억원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10억원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30억원 이하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6,000만원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30억원 초과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4억 6,000만원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712464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증여재산공제(10년 합산): 배우자 6억원 · 직계존속으로부터 성년 5,000만원 / 미성년 2,000만원 · 기타 친족 1,000만원 · 혼인·출산 각 1억원(통합 한도 1억원). 세대를 건너뛴 증여는 산출세액의 30%를 할증합니다. 신고기한은 증여일이 속하는 달의 말일부터 3개월이며, 기한 내 신고하면 3% 신고세액공제를 받습니다.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6227064" y="17739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가산세</a:t>
            </a:r>
            <a:endParaRPr lang="en-US" sz="12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7064" y="2066544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세율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 무신고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무신고 납부세액 기준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부정 무신고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허위계약서 등 부정행위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 과소신고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과소신고 납부세액 기준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부정 과소신고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국제거래 수반 시 60%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납부지연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1일 0.022%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 약 8% 수준으로 누적</a:t>
                      </a:r>
                      <a:endParaRPr lang="en-US" sz="10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27064" y="3712464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기한후신고 감면: 신고기한 후 1개월 이내 50%, 3개월 이내 30%, 6개월 이내 20%를 감면합니다. 조사 통지를 받은 뒤라도 미입증분이 명백하다면 자진 정리가 유리한 경우가 많으므로, 본세·가산세·불복 승산을 함께 계산해 판단해야 합니다.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566928" y="4626864"/>
            <a:ext cx="11055096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791456"/>
            <a:ext cx="11055096" cy="457200"/>
          </a:xfrm>
          <a:prstGeom prst="rect">
            <a:avLst/>
          </a:prstGeom>
          <a:solidFill>
            <a:srgbClr val="F7F8FA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79145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부채 사후관리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41448" y="4809744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과정에서 인정된 부채는 국세청이 인적사항·채무발생일·만기일·관련 계좌번호까지 전산(NTIS)에 입력해 관리합니다. 만기와 상환 시점에 실제로 갚았는지, 그 상환자금은 어디서 왔는지를 다시 확인합니다.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070848" y="4791456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“차입 인정”은 종결이 아니라 시작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66928" y="5303520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8096" y="5303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부과제척기간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441448" y="5321808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상속·증여세는 부과할 수 있는 날부터 10년, 무신고·부정행위·거짓신고에 해당하면 15년입니다. 부정행위로 50억원 초과 재산의 상속·증여세를 포탈하면 과세관청이 인지한 날부터 1년 내에 부과할 수 있습니다.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9070848" y="5303520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사실상 시간이 지켜주지 않는 구간이 있다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66928" y="5815584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4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8096" y="58155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합산과 파급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441448" y="583387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동일인으로부터 10년 내에 받은 증여는 합산 과세되므로, 과거 미신고 증여가 뒤늦게 드러나면 이후 증여분까지 세액이 재계산됩니다.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9070848" y="581558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 건의 적발이 과거로 번진다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6" name="Text 22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근거: 상속세 및 증여세법 제53조·제53조의2·제56조·제57조·제58조의2, 국세기본법 제26조의2(부과제척기간)·제47조의2~제47조의4(가산세)·제48조(감면), 상속세 및 증여세 사무처리규정(인정 부채의 전산관리)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1055096" cy="11887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7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전에 끝내야 하는 여섯 가지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자금출처조사는 사후 대응보다 사전 설계가 압도적으로 효율적입니다. 계약서에 서명하기 전이 마지막 설계 시점입니다.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9568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52144" y="191109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취득가액 시뮬레이션을 먼저 한다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21284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취득가액에서 인정 가능한 자금출처를 뺀 미입증금액이 Min[취득가액×20%, 2억원] 미만인지 계산합니다. 넘으면 취득 구조 자체를 바꿉니다.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27064" y="1773936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9568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12280" y="191109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증여는 숨기지 말고 신고한다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21284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신고·납부한 증여재산은 상증령 제34조가 인정하는 자금출처입니다. 기한 내 신고 시 3% 세액공제도 받습니다. 숨긴 증여가 뒤에 드러나면 본세에 가산세까지 붙습니다.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66928" y="2834640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30175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" y="297180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10년 주기로 나누어 설계한다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27355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증여재산공제는 10년 합산이므로, 취득 시점보다 훨씬 앞서 분산 증여를 시작할수록 유리합니다. 배제기준 금액과는 별개의 계산입니다.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227064" y="2834640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30175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297180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차입은 계약 전에 세팅한다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327355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차용증·이자율·상환 스케줄·이자 송금 계좌를 계약 전에 만들어 두고, 첫 이자 지급까지 실행한 상태로 계약에 들어갑니다. 사후 작성은 거의 통하지 않습니다.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66928" y="3895344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07822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" y="403250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부담부증여는 실질을 확보한다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" y="433425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직계존비속 간 부담부증여는 인수 채무가 인수되지 않은 것으로 추정됩니다(상증법 제47조 ③). 이자·원금을 수증자가 실제로 부담해야 하고, 증여자에게는 양도소득세가 함께 발생합니다.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227064" y="3895344"/>
            <a:ext cx="5394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407822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12280" y="403250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평가 리스크를 반영한다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28232" y="433425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3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자체 감정평가 대상에 주택이 포함되었습니다. 쪼개기 증여나 법인 활용으로 평가를 낮추려는 시도는 검증 대상이며, 국세청 감정평가액의 80% 미만 평가기관은 시가 불인정 지정 대상입니다.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66928" y="5029200"/>
            <a:ext cx="11055096" cy="12435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상담 시 반드시 확인할 여덟 가지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1248" y="544982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 예정가액과 소재지(규제지역·토지거래허가구역 여부)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취득자의 연령·직업·세대 구성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10년 소득금액증명원 합계와 실제 가용액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10년 내 증여·상속 수령 이력과 신고 여부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36208" y="544982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가족에게서 받을 자금의 성격(증여인지 차입인지)과 증빙 준비 상태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대출 종류(주택담보·신용·사업자)와 사업자대출 유용 여부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가상자산 매각대금 포함 여부와 거래소 기록</a:t>
            </a:r>
            <a:endParaRPr lang="en-US" sz="950" dirty="0"/>
          </a:p>
          <a:p>
            <a:pPr marL="152400" indent="-152400">
              <a:lnSpc>
                <a:spcPts val="125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DDE6F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공동명의 여부와 지분 대비 실제 자금 부담 비율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6364224"/>
            <a:ext cx="11055096" cy="5486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642823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2026년 10월 현재 확인된 법령·국세청 공개자료를 기준으로 작성한 일반 정보이며, 개별 사안에 대한 세무 자문이 아닙니다. 배제기준 금액·적정이자율·규제지역 지정 등은 개정·변경될 수 있으므로 실행 전 반드시 세무사·회계사의 검토를 받으시기 바랍니다.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424160" y="642823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아파트 취득과 자금출처조사</dc:title>
  <dc:subject>자금출처조사 선정 기준과 대응 방법</dc:subject>
  <dc:creator>미래에셋증권 마포WM</dc:creator>
  <cp:lastModifiedBy>미래에셋증권 마포WM</cp:lastModifiedBy>
  <cp:revision>1</cp:revision>
  <dcterms:created xsi:type="dcterms:W3CDTF">2026-07-28T23:05:18Z</dcterms:created>
  <dcterms:modified xsi:type="dcterms:W3CDTF">2026-07-28T23:05:18Z</dcterms:modified>
</cp:coreProperties>
</file>