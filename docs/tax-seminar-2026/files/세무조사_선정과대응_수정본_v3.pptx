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세무조사 건수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2022년</c:v>
                  </c:pt>
                  <c:pt idx="1">
                    <c:v>2023년</c:v>
                  </c:pt>
                  <c:pt idx="2">
                    <c:v>2024년</c:v>
                  </c:pt>
                  <c:pt idx="3">
                    <c:v>2025년</c:v>
                  </c:pt>
                  <c:pt idx="4">
                    <c:v>2026년(계획)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14174</c:v>
                </c:pt>
                <c:pt idx="1">
                  <c:v>13973</c:v>
                </c:pt>
                <c:pt idx="2">
                  <c:v>13980</c:v>
                </c:pt>
                <c:pt idx="3">
                  <c:v>14000</c:v>
                </c:pt>
                <c:pt idx="4">
                  <c:v>14000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9535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"/>
          <c:min val="12000"/>
        </c:scaling>
        <c:delete val="0"/>
        <c:axPos val="l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4888B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인용률</c:v>
                </c:pt>
              </c:strCache>
            </c:strRef>
          </c:tx>
          <c:spPr>
            <a:solidFill>
              <a:srgbClr val="7E9FC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9FC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3천만원
미만</c:v>
                  </c:pt>
                  <c:pt idx="1">
                    <c:v>전체
평균</c:v>
                  </c:pt>
                  <c:pt idx="2">
                    <c:v>200억~
500억원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21.1</c:v>
                </c:pt>
                <c:pt idx="2">
                  <c:v>47.1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9535B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D3D3D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E5E4E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888B"/>
                </a:solidFill>
                <a:latin typeface="Spoqa Han Sans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2026년은 국세청이 세무조사 대전환의 원년으로 선포한 해. 조사 방식은 완화되지만 검증은 정교해진다는 양면성이 핵심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건수는 줄지 않는다. 방식만 바뀐다는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2025년과 2026년 수치는 국세청이 밝힌 1만4천건 내외 기준의 근사치임을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72768"/>
            <a:ext cx="2194560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33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개정 국세행정 반영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세무조사, 누가 받고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어떻게 대응하는가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758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기준의 구조와 단계별 대응 전략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370832"/>
            <a:ext cx="1536192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7E9F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70832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국세기본법 제81조의6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05456" y="4370832"/>
            <a:ext cx="1746504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7E9F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43708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국세행정 운영방안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98264" y="4370832"/>
            <a:ext cx="1325880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7E9F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43708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중점검증항목 10선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70448" y="4370832"/>
            <a:ext cx="1431036" cy="36576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7E9F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4370832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 3종 패키지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5440680"/>
            <a:ext cx="10515600" cy="7315"/>
          </a:xfrm>
          <a:prstGeom prst="rect">
            <a:avLst/>
          </a:prstGeom>
          <a:solidFill>
            <a:srgbClr val="7E9FC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96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 기준일 2026년 10월  ·  국세기본법 및 국세청 공개자료 기준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FC3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정보 제공 목적이며 개별 사안에 대한 세무·법률 자문이 아닙니다.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2026년, 세무조사 운영이 크게 바뀌었다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개청 60주년인 2026년을 세무조사 「대전환의 원년」으로 선포했습니다. 조사 방식은 납세자 친화적으로 바뀌는 한편, 조사 역량은 악의적·지능적 탈세에 집중·고도화되는 양면적 구조입니다.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6243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21408"/>
            <a:ext cx="2624328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04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규모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 1만 4천 건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" y="32186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2026년도 예년 수준 유지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(경제여건 고려 유연 운영)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2121408"/>
            <a:ext cx="26243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2121408"/>
            <a:ext cx="2624328" cy="411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2304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75304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3개월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75304" y="32186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 후 착수 시기를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월 단위로 직접 선택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2121408"/>
            <a:ext cx="26243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2121408"/>
            <a:ext cx="2624328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304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중점검증항목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82512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10개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82512" y="32186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반복 과세 유형을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 공개 (2026.4)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70264" y="2121408"/>
            <a:ext cx="26243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70264" y="2121408"/>
            <a:ext cx="2624328" cy="411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3042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89720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최대 2년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9720" y="321868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착한가격업소·수출中企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·스타트업·외국계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261104"/>
            <a:ext cx="1106424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 변화의 흐름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892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2025년 하반기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5157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상주조사 최소화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48920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47872" y="4892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2025년 12월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47872" y="5157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국내투자 확대 외국계 기업 조사유예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48920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7064" y="4892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1월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27064" y="5157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시기선택제·조사유예 3종 패키지 발표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22792" y="48920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06256" y="4892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4월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906256" y="51572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 시행 + 중점검증항목 공개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2026년 국세행정 운영방안(2026.1.26), 국세청 보도자료(2026.4.2)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 다룰 내용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2432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2624328" cy="5669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4173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p.04–08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세무조사의 구조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889504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세무조사의 법적 정의와 성격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조사의 5가지 유형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주체와 관할 체계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연간 조사 규모 추이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절차 전체 흐름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417320"/>
            <a:ext cx="262432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417320"/>
            <a:ext cx="2624328" cy="5669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3557016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6008" y="14173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p.09–16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2157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누가 선정되는가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7016" y="2889504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선정의 법적 근거 구조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정기선정 3가지 트랙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신고성실도 전산분석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순환조사 규모 기준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비정기선정 5대 사유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제외·유예 요건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자가진단 스코어카드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417320"/>
            <a:ext cx="262432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417320"/>
            <a:ext cx="2624328" cy="5669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43216" y="14173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p.17–21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4224" y="2157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무엇을 보는가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64224" y="2889504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 인프라 (NTIS·PCI·FIU)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 시스템 작동 원리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중점검증항목 10선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중점 조사 타깃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자금출처조사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0264" y="1417320"/>
            <a:ext cx="262432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0264" y="1417320"/>
            <a:ext cx="2624328" cy="5669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9171432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50424" y="14173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p.22–30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71432" y="2157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어떻게 대응하는가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71432" y="2889504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 3단계 타임라인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평시 리스크 관리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 후 골든타임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중 대응 7원칙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 권리 9선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사후 불복 절차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 · 세무조사의 구조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세무조사란 무엇인가 — 정의와 법적 성격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182880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83664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각 세법이 정한 질문조사권에 근거하여, 국세의 과세표준과 세액을 결정·경정하기 위해 장부·서류·물건 등을 조사하거나 그 제출을 명하는 일련의 행정작용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법적 성격 3가지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856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행정조사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40050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수사가 아닌 행정작용. 다만 조세범칙조사로 전환되면 압수·수색 등 사법절차가 동반될 수 있음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4507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절차적 통제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47640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사전통지·기간·범위 등 절차를 위반한 조사에 기초한 과세처분은 취소될 수 있음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5266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중복조사 금지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5229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세목·같은 과세기간에 대한 재조사는 원칙적으로 금지 (국세기본법 제81조의4)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530352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1371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혼동하기 쉬운 것 — 「세무조사가 아닌 것」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19933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현지확인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23113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거래사실 확인 등 단순 사실관계 확인 목적. 세무조사 기간·중복조사 금지 규정이 그대로 적용되지 않음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2798064"/>
            <a:ext cx="484632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8529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신고내용 확인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0906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신고서 자체의 오류·누락을 서면으로 안내하고 수정신고를 유도하는 절차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3657600"/>
            <a:ext cx="484632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7124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과세자료 해명 요구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395020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 자료와 신고내용의 불일치에 대해 서면 소명을 요구하는 단계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37960" y="4517136"/>
            <a:ext cx="484632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5720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 소명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48097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거래신고에 따른 자료 제출 요청. 소명이 부실하면 세무조사로 이어질 수 있음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5522976"/>
            <a:ext cx="5303520" cy="694944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5596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포인트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37960" y="58155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형식이 「확인」이어도 실질이 조사에 해당하면 세무조사로 다툴 여지가 있습니다. 통지서의 명칭과 근거 조문을 반드시 확인하십시오.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제7장의2(납세자의 권리), 국세청 조사사무처리규정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 · 세무조사의 구조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세무조사의 5가지 유형 — 강도가 다르다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286000"/>
                <a:gridCol w="82296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유형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착수 계기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주요 목적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강도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실무상 특징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일반조사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정기선정 / 비정기선정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신고 성실도 검증 및 세액 추징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보통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가장 일반적인 형태. 사전통지 후 진행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기획·특별조사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업종·지역·유형별 기획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특정 탈루 유형의 집중 검증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높음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지방국세청 조사국 주관. 업종 전수조사 형태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조세범칙조사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고의적 조세포탈 혐의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조세범 처벌 및 고발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최고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압수·수색 동반 가능. 형사처벌로 연결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자금출처조사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재산 취득·채무 상환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증여 추정에 따른 증여세 과세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높음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 대상. 수년간 계좌 흐름을 역추적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간편조사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성실신고 우수 사업자 등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간소화된 절차로 신고내용 확인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54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낮음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기간 단축, 제출 자료 최소화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539496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5102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위험한 전환 지점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53766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일반조사 중 이중장부·허위계약서 등 부정한 적극적 행위가 확인되면 조세범칙조사로 전환될 수 있습니다. 이 경우 부과제척기간이 10년으로 늘어나고 형사 리스크가 발생합니다.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4937760"/>
            <a:ext cx="539496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5102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 자산가가 가장 많이 접하는 유형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3952" y="537667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 소득이 없는 개인도 고가 부동산 취득, 채무 상환, 주식·가상자산 거래를 계기로 자금출처조사 대상이 될 수 있습니다.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국세기본법, 조세범 처벌법·조세범 처벌절차법, 국세청 조사사무처리규정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 · 세무조사의 구조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누가 조사하는가 — 조사 주체와 관할 체계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0292" cy="10241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본청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조사기획·총괄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645920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방향 수립, 신고성실도 전산분석 기준 설정, 정기 조사대상 선정 기준 통보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250545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67665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33472"/>
            <a:ext cx="50292" cy="102412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79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지방국세청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127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조사1국 ~ 조사4국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2816352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대법인·고액자산가·기획조사 담당. 조사4국은 정보수집 기반 특별조사 수행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36758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67665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03904"/>
            <a:ext cx="50292" cy="102412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502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조사과 / 조사팀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0360" y="3986784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중소규모 법인·개인사업자 조사, 현지확인·신고내용 확인 등 일선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463040"/>
            <a:ext cx="4023360" cy="3364992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16642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관할을 가르는 기준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45552" y="2048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수입금액 규모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45552" y="22860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일정 규모 이상 법인은 지방국세청, 그 미만은 세무서 관할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45552" y="2706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성격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45552" y="29443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기획·특별조사, 역외탈세, 조세범칙조사는 지방청 조사국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3649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45552" y="36027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원칙적으로 납세지 관할 세무서·지방국세청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45552" y="4023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관할 조정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45552" y="42611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효율·공정성을 위해 상급 관서가 관할을 조정할 수 있음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010912"/>
            <a:ext cx="11064240" cy="987552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57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실무 포인트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286000" y="5138928"/>
            <a:ext cx="9098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사전통지서에 적힌 조사 관서와 조사 담당부서 이름만으로도 조사의 성격을 상당 부분 추정할 수 있습니다. 세무서 조사과에서 온 통지와 지방국세청 조사국에서 온 통지는 준비의 강도와 대리인 선임 판단이 달라져야 합니다.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제81조의6 제1항(세무조사 관할), 국세청 조직 및 사무처리규정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 · 세무조사의 구조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연간 조사 규모는 얼마나 되는가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2026년 조사 규모를 예년과 같은 1만 4천 건 내외로 유지하되, 대내외 경제여건과 인력 상황, 조사 필요성을 고려해 유연하게 운영한다고 밝혔습니다.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68580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559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단위: 건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680960" y="1828800"/>
            <a:ext cx="3931920" cy="370332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6992" y="2029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숫자를 읽는 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36992" y="2468880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24140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총량은 안정적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38160" y="26609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4년간 건수 변동은 1~2% 수준. 조사가 줄어드는 것이 아니라 배분이 바뀝니다.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36992" y="3246120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31912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배분은 이동 중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38160" y="34381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 대상이 확대되는 만큼, 남은 조사 역량은 특정 유형에 더 두껍게 집중됩니다.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36992" y="4023360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396849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비중이 크다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38160" y="42153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2024년 기준 양도소득세 관련 조사가 3,342건으로 전체의 약 24% 수준을 차지했습니다.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36992" y="4800600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0" y="47457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서울청 집중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138160" y="49926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고액 사건과 자산가 사건은 서울지방국세청 관할에 뚜렷하게 몰립니다.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2026년 국세행정 운영방안, 한국세정신문(2026.1.26), 법무법인 태평양 뉴스레터(2026.4.9)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1 · 세무조사의 구조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세무조사는 이렇게 진행된다 — 전체 흐름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517904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전산분석·순환조사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·무작위·제보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48256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21408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572768"/>
            <a:ext cx="1517904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12848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 안내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03704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3개월 내 착수 시기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1·2순위 신청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21024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94176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1572768"/>
            <a:ext cx="1517904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85616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사전통지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착수 20일 전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세목·기간·사유 통지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93792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66944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66944" y="1572768"/>
            <a:ext cx="1517904" cy="31089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5266944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58384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착수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납세자권리헌장 교부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범위 확인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39712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9712" y="1572768"/>
            <a:ext cx="1517904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1" name="Text 29"/>
          <p:cNvSpPr/>
          <p:nvPr/>
        </p:nvSpPr>
        <p:spPr>
          <a:xfrm>
            <a:off x="6839712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31152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진행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22008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20일 이내 원칙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연장·중지 가능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39328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412480" y="1572768"/>
            <a:ext cx="15179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572768"/>
            <a:ext cx="1517904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0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결과통지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94776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종료 후 20일 이내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 내용 통지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912096" y="2377440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985248" y="1572768"/>
            <a:ext cx="1517904" cy="192024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85248" y="1572768"/>
            <a:ext cx="1517904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3" name="Text 41"/>
          <p:cNvSpPr/>
          <p:nvPr/>
        </p:nvSpPr>
        <p:spPr>
          <a:xfrm>
            <a:off x="9985248" y="157276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76688" y="1975104"/>
            <a:ext cx="1335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 / 불복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67544" y="2615184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</a:t>
            </a:r>
            <a:endParaRPr lang="en-US" sz="95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또는 고지 후 불복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단계별 개입 여지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4114800"/>
            <a:ext cx="1051560" cy="3291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1148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2–3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37360" y="4114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 선택 · 연기 신청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617720" y="411480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경영 일정을 고려해 착수 시점을 조정하고 준비 기간을 확보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590288"/>
            <a:ext cx="1051560" cy="3291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5902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4–5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737360" y="45902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범위 확인 · 조력권 행사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617720" y="459028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범위 확대와 기간 연장의 근거를 확인하고 대리인을 선임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5065776"/>
            <a:ext cx="1051560" cy="3291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50657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737360" y="5065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권리 구제 요청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617720" y="5065776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위법·부당한 조사에 대해 납세자보호위원회 심의를 요청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5541264"/>
            <a:ext cx="1051560" cy="3291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55412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STEP 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737360" y="55412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사전·사후 불복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617720" y="5541264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 30일, 이의신청·심판청구 90일 기한 관리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제81조의7·8·12·18, 국세청 보도자료(2026.4.2)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선정의 법적 근거 — 국세기본법 제81조의6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세무조사 대상자 선정은 재량이 아니라 법률에 근거합니다. 어느 조항으로 선정되었는지가 대응 전략의 출발점입니다.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0" y="1773936"/>
            <a:ext cx="4114800" cy="530352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77393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국세기본법 제81조의6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49424" y="2304288"/>
            <a:ext cx="10973" cy="310896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15184"/>
            <a:ext cx="35478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15184"/>
            <a:ext cx="3547872" cy="42062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제2항   정기선정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316382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정기적으로 신고의 적정성을 검증하기 위한 선정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840480"/>
            <a:ext cx="3145536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502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4187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객관적 기준에 따라 공정하게 선정할 의무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0176" y="2304288"/>
            <a:ext cx="10973" cy="310896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9392" y="2615184"/>
            <a:ext cx="35478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2615184"/>
            <a:ext cx="3547872" cy="42062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제3항   비정기(수시)선정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0" y="316382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탈루·오류 혐의 등 구체적 사유에 따른 선정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3840480"/>
            <a:ext cx="3145536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39502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4187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5가지 법정 사유 중 하나에 해당해야 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10928" y="2304288"/>
            <a:ext cx="10973" cy="310896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0144" y="2615184"/>
            <a:ext cx="35478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2615184"/>
            <a:ext cx="3547872" cy="42062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7" name="Text 25"/>
          <p:cNvSpPr/>
          <p:nvPr/>
        </p:nvSpPr>
        <p:spPr>
          <a:xfrm>
            <a:off x="8211312" y="26151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제5항   조사 면제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11312" y="3163824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소규모 성실사업자에 대한 정기조사 배제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11312" y="3840480"/>
            <a:ext cx="3145536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395020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11312" y="418795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수입금액·장부요건을 모두 충족할 것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11064240" cy="969264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175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대응상 의미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331720" y="5157216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정기선정은 「이번 차례」이므로 성실성 입증이 방어의 축입니다. 반면 비정기선정은 국세청이 이미 특정 혐의와 자료를 확보했다는 신호이므로, 그 자료의 존재와 범위를 파악하는 것이 우선입니다. 사전통지서의 조사 사유 문구를 정밀하게 읽어야 하는 이유입니다.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제81조의6, 같은 법 시행령 제63조의4·제63조의5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정기선정의 3가지 트랙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제81조의6 제2항은 정기선정의 근거를 세 가지로 한정하고 있습니다. 셋 중 어느 하나에만 걸려도 정기조사 대상이 될 수 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47872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55648"/>
            <a:ext cx="3547872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938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제1호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신고성실도 분석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2852928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과세자료·세무정보와 외부감사 의견 등 회계성실도 자료를 고려해 정기적으로 성실도를 분석한 결과 불성실 혐의가 인정되는 경우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405993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4169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반영되는가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4443984"/>
            <a:ext cx="3108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법인세·부가가치세·원천제세 신고상황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각종 세원정보와 과세자료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외부감사 실시내용·감사의견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AI·빅데이터 기반 전산분석 결과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1755648"/>
            <a:ext cx="3547872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1755648"/>
            <a:ext cx="3547872" cy="4572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1938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제2호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 미조사 · 순환조사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98848" y="2852928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4과세기간 이상 같은 세목의 조사를 받지 않은 납세자에 대해 업종·규모·경제력 집중을 고려해 검증이 필요한 경우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98848" y="405993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4169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반영되는가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8848" y="4443984"/>
            <a:ext cx="3108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수입금액 기준 5년 주기 순환조사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상호출자제한기업집단 소속 법인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 2천억원 이상 법인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전문인적용역 제공 법인·사업자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10144" y="1755648"/>
            <a:ext cx="3547872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0144" y="1755648"/>
            <a:ext cx="3547872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9385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제3호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22128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무작위 추출 표본조사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2852928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무작위추출방식으로 표본조사를 하려는 경우. 신고성실도와 미조사 기간에 관계없이 선정될 수 있습니다.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405993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169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반영되는가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443984"/>
            <a:ext cx="31089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성실도 평가와 무관하게 병행 실시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개인·법인 모두 대상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소규모 성실사업자는 실질적으로 제외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통계적 표본 확보 목적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제81조의6 제2항, 법인세 사무처리규정 제196조·제199조·제200조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① 신고성실도 전산분석 — AI가 먼저 본다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법인의 신고성실도는 「법인 신고성실도 전산분석」에 의해 사업연도별로 평가되며, 2024년(2023사업연도) 분석부터는 신고자료와 과거 조사사례를 학습한 AI·빅데이터 분석이 적용되어 조사 선정이 과학화되었습니다.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투입되는 데이터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340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법인세 신고 내용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96896" y="2340864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2340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부가가치세 신고 상황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원천제세 신고 상황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96896" y="2907792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907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외부감사 의견·실시내용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각종 세원정보·과세자료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96896" y="3474720"/>
            <a:ext cx="192024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3474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과거 세무조사 결과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18304" y="3108960"/>
            <a:ext cx="457200" cy="457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1975104"/>
            <a:ext cx="2926080" cy="2194560"/>
          </a:xfrm>
          <a:prstGeom prst="rect">
            <a:avLst/>
          </a:prstGeom>
          <a:solidFill>
            <a:srgbClr val="043B72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· 빅데이터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전산분석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3200400"/>
            <a:ext cx="1737360" cy="3200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334670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신고자료 + 과거 조사사례를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학습한 모형으로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불성실 혐의도 산출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4964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1975104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산출 결과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80576" y="248716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사업연도별 성실도 점수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국세청장 → 지방국세청장 통보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미조사 연도수와 결합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 조사대상 명단 확정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43984"/>
            <a:ext cx="11064240" cy="10973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개인납세자는 어떻게 평가되는가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국세청장은 개인납세자의 신고내용 성실도를 종합소득세·부가가치세 등 신고자료와 과세자료를 활용해 전산시스템으로 평가하는 것을 원칙으로 하고, 세무조사 또는 세원관리 결과에 따라 이를 보완합니다. 평가 자료는 지방국세청과 세무서에 통보되어 정기 조사대상 선정에 활용됩니다.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590288"/>
            <a:ext cx="5212080" cy="137160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47548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대응상 시사점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56832" y="5029200"/>
            <a:ext cx="4736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성실도 평가는 신고서 단건이 아니라 세목 간 정합성을 봅니다. 부가세 과세표준과 법인세 매출, 원천세 지급명세서와 인건비 계상액이 서로 어긋나면 그 자체가 신호가 됩니다. 신고 단계에서 세목 간 대조를 정례화하는 것이 가장 효율적인 예방입니다.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「정기 세무조사 선정 기준」 안내, 법인세 사무처리규정 제196조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② 순환조사 — 규모가 크면 차례가 온다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일정 규모를 넘어서면 성실도와 무관하게 주기적으로 조사를 받습니다. 「우리는 성실하니 괜찮다」는 전제가 통하지 않는 영역입니다.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182880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구분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대상 기준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주기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근거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 (일반)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연간 수입금액 2,000억원 이상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주기 순환조사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법인세 사무처리규정 제200조 제1항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 (경제력 집중)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수입금액 500억원 이상 중 ① 상호출자제한기업집단 소속 ② 자산 2,000억원 이상 ③ 전문인적용역 제공 법인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주기 순환조사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법인세 사무처리규정 제200조 제1항 단서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개인사업자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사업소득(부동산임대소득 포함) 수입금액 500억원 이상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주기 순환조사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 조사대상 선정 기준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 (전문인적용역)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수입금액 200억원 이상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8220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5년 주기 순환조사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개인 조사대상 선정 기준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 기준 미만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신고성실도 평가에 의한 선정이 원칙 + 무작위추출 병행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43B72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비주기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국세기본법 제81조의6 제2항 제1호·제3호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54880"/>
            <a:ext cx="3547872" cy="1243584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전문인적용역이 왜 별도인가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" y="5230368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변호사·회계사·세무사·의사 등 전문직은 현금 수입 비중과 소득 파악률 특성 때문에 낮은 기준이 적용됩니다.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79392" y="4754880"/>
            <a:ext cx="3547872" cy="1243584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4과세기간이라는 기준선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98848" y="5230368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세목으로 최근 4개 과세기간 이상 조사를 받지 않았다면 규모와 무관하게 정기선정 후보군에 진입합니다.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10144" y="4754880"/>
            <a:ext cx="3547872" cy="1243584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4937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순환조사는 예측 가능하다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0" y="5230368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직전 조사 종료 시점을 기준으로 다음 차례를 역산할 수 있습니다. 이는 사전 준비를 계획화할 수 있다는 의미입니다.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「정기 세무조사 선정 기준」, 법인세 사무처리규정 제200조, 국세기본법 제81조의6 제2항 제2호 / 규모 기준 금액은 국세청 내부 규정 사항으로 변동될 수 있어 최신 규정 확인이 필요합니다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트랙 ③ 장기 미조사와 무작위 표본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26464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26464"/>
            <a:ext cx="5440680" cy="47548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2646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장기 미조사자에 대한 세무조사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최근 4과세기간 이상 같은 세목의 조사를 받지 않은 납세자가 대상입니다.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업종·규모·경제력 집중 등을 고려하여 시행령 제63조의4가 정하는 기준에 따라 선정합니다.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일정 규모 이상 법인은 신고성실도 평가 결과와 관계없이 정기조사 대상으로 선정될 수 있습니다.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개인납세자도 동일한 근거로 선정될 수 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26464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426464"/>
            <a:ext cx="5440680" cy="47548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42646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무작위추출 방식 표본조사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8232" y="2084832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신고성실도 평가에 의한 선정과 병행하여 실시됩니다.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납세자의 성실도 및 미조사 기간과 무관하게 표본으로 추출될 수 있습니다.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개인·법인 모두 대상이 되며, 통계적 표본 확보가 목적입니다.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다만 소규모 성실사업자는 조사 면제 규정에 따라 실질적으로 제외됩니다.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1064240" cy="1042416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성실신고가 「면역」은 아니다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 트랙 중 두 개(장기 미조사·무작위 추출)는 신고 품질과 무관하게 작동합니다. 성실신고는 조사에서 「추징을 줄이는 장치」이지 「조사를 면하는 장치」가 아닙니다. 따라서 준비의 목표는 「선정되지 않는 것」이 아니라 「선정되어도 설명 가능한 상태」여야 합니다.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 확률을 실질적으로 낮추는 세 가지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5486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소규모 성실사업자 요건 충족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수입금액·장부요건 충족 시 정기조사 배제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5504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4279392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5486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 제도 활용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6344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수출·투자·창업·착한가격업소 요건 점검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0144" y="5504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8010144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94192" y="54864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일자리창출계획서 제출·이행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94192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 충족 중소기업은 정기선정 대상 제외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시행령 제63조의4, 국세기본법 제81조의6 제2항 제3호, 국세청 안내자료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비정기(수시)선정 — 5가지 법정 사유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정기선정과 달리 비정기선정은 국세청이 이미 구체적 단서를 확보한 상태에서 착수됩니다. 제81조의6 제3항은 그 사유를 다음 다섯 가지로 한정합니다.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116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90195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납세협력의무 미이행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68496" y="188366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신고, 성실신고확인서 제출, 세금계산서·계산서의 작성·교부·제출, 지급명세서 작성·제출 등 세법상 협력의무를 이행하지 않은 경우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90195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883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가장 방어가 어려운 유형. 의무 불이행 사실 자체가 요건이므로 다툴 여지가 좁습니다.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42616"/>
            <a:ext cx="1106424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88036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25296" y="27706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무자료거래 · 위계 · 조세포탈 혐의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68496" y="27523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무자료거래, 위계에 의한 행위 또는 조세포탈 혐의를 인정할 만한 명백한 자료가 있는 경우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2440" y="277063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7523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조세범칙조사로 전환될 가능성이 가장 높은 경로입니다. 초기부터 전문가 조력이 필요합니다.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74904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25296" y="36393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구체적 탈세 제보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68496" y="36210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납세자에 대한 구체적인 탈세 제보가 있는 경우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363931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6210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내부자·거래상대방·이해관계자에 의한 제보가 계기입니다. 제보 내용의 범위를 넘는 조사 확대는 다툴 수 있습니다.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379976"/>
            <a:ext cx="1106424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461772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25296" y="4507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탈루 · 오류 혐의 자료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68496" y="44897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 내용에 탈루나 오류의 혐의를 인정할 만한 명백한 자료가 있는 경우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450799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489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「명백한 자료」의 존재가 요건입니다. 자료의 명백성이 부정되면 선정 자체가 위법이 될 수 있습니다.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248656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48640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25296" y="537667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금품 제공 · 알선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68496" y="53583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납세자가 세무공무원에게 직무와 관련하여 금품을 제공하거나 금품 제공을 알선한 경우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2440" y="537667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5358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2018년 신설된 사유입니다.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1447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좌: 법정 사유  /  우: 대응상 함의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제81조의6 제3항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조사에서 빠지는 길 — 면제와 유예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5440680" cy="451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89888"/>
            <a:ext cx="5440680" cy="47548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8988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A. 소규모 성실사업자 정기조사 면제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국세기본법 제81조의6 제5항 — 다음 요건을 모두 충족하면 정기조사를 하지 않을 수 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" y="2542032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87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 1  수입금액 기준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개인: 소득세법상 간편장부대상자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법인: 수입금액 3억원 이하 (시행령 제63조의5)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602736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5478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요건 2  장부기록 요건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38039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복식부기 등 장부 기록 요건 충족, 사업용 계좌 개설·사용, 최근 3년간 조세범 처벌 사실 없음, 현재 체납 사실 없음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4663440"/>
            <a:ext cx="9144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46085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7552" y="48646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객관적인 증거자료에 의하여 과소신고한 것이 명백한 경우에는 면제가 적용되지 않습니다.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5577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간편장부대상자 기준은 업종별로 다르며, 매년 확인이 필요합니다.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1389888"/>
            <a:ext cx="5440680" cy="451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389888"/>
            <a:ext cx="5440680" cy="47548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138988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B. 2026년 정기조사 유예 (최대 2년)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28232" y="1975104"/>
            <a:ext cx="4937760" cy="640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4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0482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물가안정 소상공인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607040" y="2066544"/>
            <a:ext cx="621792" cy="20116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10607040" y="20665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신설·확대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20256" y="2286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행정안전부 등이 지정한 「착한가격업소」 약 1만 개 — 2026년 신설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28232" y="2688336"/>
            <a:ext cx="4937760" cy="640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4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2761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수출 우수 중소기업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0256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매출액 대비 수출 비중 30% 이상 또는 수출액 50억원 이상 — 일몰 1년 연장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28232" y="3401568"/>
            <a:ext cx="4937760" cy="640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4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474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스타트업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607040" y="3493008"/>
            <a:ext cx="621792" cy="20116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3" name="Text 31"/>
          <p:cNvSpPr/>
          <p:nvPr/>
        </p:nvSpPr>
        <p:spPr>
          <a:xfrm>
            <a:off x="10607040" y="349300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신설·확대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620256" y="3712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 개시 후 5년 이내 → 10년 이내로 대상 확대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28232" y="4114800"/>
            <a:ext cx="4937760" cy="640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4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41879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국내투자 확대 외국계 기업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20256" y="44256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 대비 투자액 증액 계획(중소 10%·중견 20% 이상) 시 사전통지 수령 후 신청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28232" y="4828032"/>
            <a:ext cx="4937760" cy="640080"/>
          </a:xfrm>
          <a:prstGeom prst="rect">
            <a:avLst/>
          </a:prstGeom>
          <a:solidFill>
            <a:srgbClr val="F7F8FA"/>
          </a:solidFill>
          <a:ln w="12700">
            <a:solidFill>
              <a:srgbClr val="E5E4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49011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일자리창출 중소기업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20256" y="5138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일자리창출계획서를 제출하고 계획을 이행한 중소기업은 정기선정 대상에서 제외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28232" y="552297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신청 시점 유의  외국계 기업 유예는 사전통지서 수령 후 신청하는 구조이므로, 요건 검토와 증빙을 평시에 준비해 두어야 합니다.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제81조의6 제5항·시행령 제63조의5, 국세청 2026년 국세행정 운영방안, 국세청 안내자료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2 · 누가 선정되는가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자가진단 — 우리는 어떤 신호를 내고 있는가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 전산분석과 중점검증항목에서 반복적으로 문제가 된 지점을 실무 관점에서 재구성한 자가진단 목록입니다. 해당 개수가 많을수록 소명 준비의 우선순위가 높습니다.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7510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같은 세목으로 4개 과세기간 이상 조사를 받지 않았다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1874520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8745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정기·2호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97280" y="21396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직전 조사 종료 시점 기준으로 다음 차례를 역산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755648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97510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수입금액 급변 또는 동업종 대비 이례적 이익률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98480" y="1874520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18" name="Text 16"/>
          <p:cNvSpPr/>
          <p:nvPr/>
        </p:nvSpPr>
        <p:spPr>
          <a:xfrm>
            <a:off x="10698480" y="18745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성실도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20840" y="21396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 사유를 설명하는 계약·거래 자료 확보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551176"/>
            <a:ext cx="544068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77063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2624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가지급금이 있거나 개인계좌로 매출이 입금됐다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670048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6700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 ②⑥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97280" y="2935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인정이자 계산 여부, 개인계좌 입금 내역 정리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2551176"/>
            <a:ext cx="544068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2770632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2624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법인카드를 주말·거주지 인근에서 사용했다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698480" y="2670048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0" y="26700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 ①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20840" y="2935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사용 건별 업무 관련성 소명자료 구비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346704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" y="34198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특수관계자와의 거래 비중이 높다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3465576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34655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 ③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97280" y="37307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시가 적정성 근거, 계약서·이사회 결의 문서화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3346704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356616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34198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대비 재산 증가·소비지출이 과다하다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698480" y="3465576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46" name="Text 44"/>
          <p:cNvSpPr/>
          <p:nvPr/>
        </p:nvSpPr>
        <p:spPr>
          <a:xfrm>
            <a:off x="10698480" y="34655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720840" y="37307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차입·매각·증여 등 자금 원천의 객관적 증빙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142232"/>
            <a:ext cx="544068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4361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가족을 임직원으로 등재해 인건비를 계상했다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74920" y="4261104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53" name="Text 51"/>
          <p:cNvSpPr/>
          <p:nvPr/>
        </p:nvSpPr>
        <p:spPr>
          <a:xfrm>
            <a:off x="5074920" y="42611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 ④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97280" y="45262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근로 사실 증빙(출근·업무기록·4대보험)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4142232"/>
            <a:ext cx="544068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5080" y="436168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57" name="Text 55"/>
          <p:cNvSpPr/>
          <p:nvPr/>
        </p:nvSpPr>
        <p:spPr>
          <a:xfrm>
            <a:off x="635508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20840" y="4215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연구·인력개발비 세액공제를 적용받았다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698480" y="4261104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60" name="Text 58"/>
          <p:cNvSpPr/>
          <p:nvPr/>
        </p:nvSpPr>
        <p:spPr>
          <a:xfrm>
            <a:off x="10698480" y="426110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 ⑤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720840" y="45262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전담부서 요건, 연구노트, 인력 배분 근거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8640" y="493776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" y="51572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97280" y="5010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 부동산·주식·가상자산을 취득했다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74920" y="5056632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67" name="Text 65"/>
          <p:cNvSpPr/>
          <p:nvPr/>
        </p:nvSpPr>
        <p:spPr>
          <a:xfrm>
            <a:off x="5074920" y="505663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97280" y="53218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자금조달계획서와 실제 자금 흐름의 일치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172200" y="4937760"/>
            <a:ext cx="5440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5080" y="515721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1" name="Text 69"/>
          <p:cNvSpPr/>
          <p:nvPr/>
        </p:nvSpPr>
        <p:spPr>
          <a:xfrm>
            <a:off x="635508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720840" y="5010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결손·환급이 반복되거나 세무대리인 변경이 잦다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698480" y="5056632"/>
            <a:ext cx="749808" cy="201168"/>
          </a:xfrm>
          <a:prstGeom prst="rect">
            <a:avLst/>
          </a:prstGeom>
          <a:solidFill>
            <a:srgbClr val="ECEFF4"/>
          </a:solidFill>
          <a:ln/>
        </p:spPr>
      </p:sp>
      <p:sp>
        <p:nvSpPr>
          <p:cNvPr id="74" name="Text 72"/>
          <p:cNvSpPr/>
          <p:nvPr/>
        </p:nvSpPr>
        <p:spPr>
          <a:xfrm>
            <a:off x="10698480" y="505663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성실도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720840" y="532180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결손 사유의 사업적 설명, 신고 이력 정합성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48640" y="5742432"/>
            <a:ext cx="11064240" cy="475488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" y="5742432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해당 3개 이하 = 평시 관리 수준 유지     4–6개 = 항목별 소명 파일 구축 권고     7개 이상 = 사전진단 및 전문가 조력 검토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구성: 국세청 중점검증항목 10선 및 정기선정 기준을 실무 관점에서 재구성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 · 국세청은 무엇을 보는가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무엇으로 보는가 — 데이터 인프라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상주조사가 축소된 배경에는 국세청의 데이터 분석 역량 발전이 있습니다. 조사관이 사무실에 오지 않는다는 것은, 오기 전에 이미 상당 부분을 파악하고 있다는 의미입니다.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65376"/>
            <a:ext cx="35478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65376"/>
            <a:ext cx="354787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865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NTIS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65376" y="18653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국세행정시스템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256032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신고·납부 현황, 주식 보유·이동 내역, 부동산 취득·양도 정보 등 대규모 신고 데이터를 빅데이터 기반으로 통합 분석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3657600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76732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세목 간 신고 정합성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주주·지분 변동 추적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거래 이력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1865376"/>
            <a:ext cx="35478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865376"/>
            <a:ext cx="354787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1865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96128" y="18653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소득지출분석시스템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256032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2009년 도입. 신고소득 자료, 재산 보유 자료, 소비지출 자료를 통합 비교해 탈루 혐의자를 전산으로 추출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98848" y="3657600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376732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증가액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신용카드·현금영수증 사용액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신고소득금액 대비 격차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865376"/>
            <a:ext cx="35478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0144" y="1865376"/>
            <a:ext cx="354787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8653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FIU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0" y="18653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금융정보분석원 연계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0" y="256032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특정금융거래정보 활용. 고액 현금거래(CTR)와 의심거래(STR) 정보가 과세 목적으로 제공됨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657600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76732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고액 현금 입출금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분할 입출금 패턴</a:t>
            </a:r>
            <a:endParaRPr lang="en-US" sz="10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차명 계좌 의심거래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64240" cy="10973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992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여기에 더해지는 외부 정보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40096"/>
            <a:ext cx="208483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4009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거래신고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79776" y="5340096"/>
            <a:ext cx="208483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71216" y="534009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지자체·타 부처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과세자료 공유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5340096"/>
            <a:ext cx="208483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534009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해외금융계좌 신고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및 국가 간 정보교환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42048" y="5340096"/>
            <a:ext cx="208483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3488" y="534009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전자세금계산서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·현금영수증 전산자료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73184" y="5340096"/>
            <a:ext cx="2084832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64624" y="5340096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가상자산 거래내역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추적 시스템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공개자료, 특정 금융거래정보의 보고 및 이용 등에 관한 법률, 언론 보도 종합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 · 국세청은 무엇을 보는가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 시스템은 이렇게 작동한다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PCI(Property·Consumption·Income)는 「번 것보다 쓰고 모은 것이 많은가」를 계산하는 단순하지만 강력한 구조입니다.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11064240" cy="137160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56816"/>
            <a:ext cx="475488" cy="47548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9568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증가액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부동산·주식 등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 취득·증가분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212140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0" y="1956816"/>
            <a:ext cx="475488" cy="47548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0" y="19568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소비지출액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0624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신용카드·현금영수증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사용액 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760" y="212140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56816"/>
            <a:ext cx="475488" cy="47548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19568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신고소득금액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224942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사업·근로소득,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증여·상속 신고액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15400" y="212140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=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0" y="1956816"/>
            <a:ext cx="475488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875520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탈루 혐의금액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75520" y="22494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소명이 필요한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부족액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279806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부족액이 발생하면 그 자금의 원천을 납세자가 입증해야 합니다. 입증하지 못한 금액은 증여받은 것으로 추정되어 증여세와 가산세가 부과됩니다.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64992"/>
            <a:ext cx="544068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364992"/>
            <a:ext cx="544068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364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PCI가 잡아내지 못하는 것 — 오탐의 원인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PCI는 신고·전산 자료 기반이므로 다음은 집계되지 않습니다. 실제로는 정당한 자금이지만 「부족액」으로 표시되어 조사 대상이 될 수 있습니다.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" y="4480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금융기관 신용대출 등 차입금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 간 차용거래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주식·가상자산 매매차익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기존 자산 처분대금의 재투자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전세보증금 등 임대차 자금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364992"/>
            <a:ext cx="544068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364992"/>
            <a:ext cx="5440680" cy="457200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33649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그래서 평시에 해야 할 일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28232" y="3950208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93992" y="3931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자기 PCI를 미리 계산한다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793992" y="416966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 취득 전에 신고소득·재산증가·소비지출을 집계해 부족액 규모를 스스로 파악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28232" y="464515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0" name="Text 38"/>
          <p:cNvSpPr/>
          <p:nvPr/>
        </p:nvSpPr>
        <p:spPr>
          <a:xfrm>
            <a:off x="6428232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93992" y="4626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원천별 증빙을 파일링한다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93992" y="48646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대출약정서, 자산 매각 계약서·양도소득세 신고서, 거래소 거래내역을 연도별로 보관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28232" y="5340096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4" name="Text 42"/>
          <p:cNvSpPr/>
          <p:nvPr/>
        </p:nvSpPr>
        <p:spPr>
          <a:xfrm>
            <a:off x="6428232" y="5340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93992" y="53218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자금은 반드시 계좌로 이동시킨다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93992" y="555955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현금 거래는 흐름 추적이 불가능해 소명 자체가 성립하지 않습니다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PCI 시스템 관련 공개자료, 세무 실무 문헌 종합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 · 국세청은 무엇을 보는가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중점검증항목 10선 — 처음 공개됐다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국세청은 2026년 4월, 세무조사 현장에서 반복적으로 과세 처분이 이루어져 온 핵심 유형 10개를 「중점검증항목」으로 선정해 최초로 공개했습니다. 유형별 유의사항·과세사례·Q&amp;A가 국세청 누리집과 세무조사 가이드북으로 제공됩니다.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766560" cy="402336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8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법인세 · 소득세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7개 항목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6766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0487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" y="233172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법인(사업용) 신용카드 사적 사용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0832" y="240487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233172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주말·거주지 인근·비업무 업종 사용 내역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807208"/>
            <a:ext cx="676656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90779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" y="28346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대표자 등 개인계좌를 통한 매출신고 누락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290779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283464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대표자·가족 계좌 입금 내역과 매출 대조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6766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41071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" y="333756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정당한 사유 없이 매출채권 등 임의포기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70832" y="341071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33756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포기의 경영상 합리성, 이사회 결의·회수 노력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813048"/>
            <a:ext cx="676656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391363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0704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근로 사실이 없는 가공인건비 계상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70832" y="391363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384048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근로 제공 사실(출근·업무기록·4대보험)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315968"/>
            <a:ext cx="6766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441655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0704" y="434340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연구·인력개발비 부당세액공제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70832" y="441655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8" name="Text 36"/>
          <p:cNvSpPr/>
          <p:nvPr/>
        </p:nvSpPr>
        <p:spPr>
          <a:xfrm>
            <a:off x="4498848" y="434340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연구전담부서 요건, 연구노트, 인력 배분 근거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818888"/>
            <a:ext cx="676656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491947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0704" y="484632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가지급금 등의 인정이자 계산 누락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70832" y="491947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44" name="Text 42"/>
          <p:cNvSpPr/>
          <p:nvPr/>
        </p:nvSpPr>
        <p:spPr>
          <a:xfrm>
            <a:off x="4498848" y="484632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특수관계자 대여금 잔액과 인정이자 계상 여부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321808"/>
            <a:ext cx="6766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542239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7" name="Text 45"/>
          <p:cNvSpPr/>
          <p:nvPr/>
        </p:nvSpPr>
        <p:spPr>
          <a:xfrm>
            <a:off x="713232" y="5422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60704" y="53492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자산화 요건 충족한 비용을 당기 비용처리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370832" y="5422392"/>
            <a:ext cx="10973" cy="25603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50" name="Text 48"/>
          <p:cNvSpPr/>
          <p:nvPr/>
        </p:nvSpPr>
        <p:spPr>
          <a:xfrm>
            <a:off x="4498848" y="5349240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자본적 지출과 수익적 지출의 구분 근거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89520" y="1828800"/>
            <a:ext cx="4023360" cy="40233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52" name="Text 50"/>
          <p:cNvSpPr/>
          <p:nvPr/>
        </p:nvSpPr>
        <p:spPr>
          <a:xfrm>
            <a:off x="7827264" y="18288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부가가치세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144000" y="182880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3개 항목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89520" y="230428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72400" y="2395728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119872" y="23774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사실과 다른 세금계산서 수수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119872" y="26151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실물 거래 존재 여부, 대금 지급 흐름, 거래상대방의 실체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9520" y="3017520"/>
            <a:ext cx="402336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3108960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19872" y="30906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부가가치세 과·면세 구분 오류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119872" y="33284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겸영사업자의 공통매입세액 안분, 면세 대상 판정 근거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589520" y="37307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72400" y="3822192"/>
            <a:ext cx="256032" cy="256032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66" name="Text 64"/>
          <p:cNvSpPr/>
          <p:nvPr/>
        </p:nvSpPr>
        <p:spPr>
          <a:xfrm>
            <a:off x="777240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119872" y="38039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개인적공급 등에 대한 신고 누락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119872" y="4041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사업용 자산의 가사 사용·무상 제공, 접대 목적 사용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589520" y="4590288"/>
            <a:ext cx="4023360" cy="1243584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27264" y="4736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공개의 양면성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827264" y="50109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 자가점검의 기회이지만, 국세청이 「검증항목」으로 공표한 이상 조사 과정에서의 검증은 이전보다 더 체계적이고 집중적으로 이루어질 것으로 보입니다. 신고 이전에 항목별 내부 점검을 정례화할 필요가 있습니다.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보도자료(2026.4.2), 법무법인 태평양 뉴스레터(2026.4.9). 각 항목 우측은 실무 관점의 확인 포인트입니다.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 · 국세청은 무엇을 보는가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국세청이 집중하는 곳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총량은 유지되지만 조사유예 대상이 확대되므로, 남은 역량은 아래 영역에 더 두껍게 배분됩니다. 국세청은 「국민이 필요성을 공감할 수 있는 악의적·지능적 탈세」에 조사 역량을 집중한다고 밝혔습니다.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3547872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2377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지배주주 터널링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68096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상장회사의 자산이나 이익을 지배주주의 가족회사 등으로 빼돌리는 행위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332841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특수관계자 거래 가격, 사업기회 제공, 일감 몰아주기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79392" y="1920240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9392" y="1920240"/>
            <a:ext cx="3547872" cy="411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2377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주가조작 · 시세조종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8848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허위공시로 주가를 띄운 후 주식을 대량 매도해 시세차익을 누리는 행위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98848" y="332841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대량 매도 시점과 공시 이력, 차명계좌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10144" y="1920240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0144" y="1920240"/>
            <a:ext cx="3547872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103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377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유튜버 · 인플루언서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2월 유튜브 채널 16곳 조사 착수, 수백억원대 탈루 혐의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328416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해외 플랫폼 수익, 슈퍼챗·후원, 광고·협찬 미신고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005072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05072"/>
            <a:ext cx="3547872" cy="411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4462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관련 탈세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8096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변칙 증여, 기획부동산, 「영끌」 조장 채널 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8096" y="5413248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5486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자금조달계획서와 실제 자금 흐름, 차입 위장 증여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79392" y="4005072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9392" y="4005072"/>
            <a:ext cx="3547872" cy="4114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6" name="Text 34"/>
          <p:cNvSpPr/>
          <p:nvPr/>
        </p:nvSpPr>
        <p:spPr>
          <a:xfrm>
            <a:off x="4498848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98848" y="4462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탈세 조력자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4498848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허위·과장 광고로 탈세를 조장하는 불성실 세무대리인, 미등록 PG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98848" y="5413248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0" name="Text 38"/>
          <p:cNvSpPr/>
          <p:nvPr/>
        </p:nvSpPr>
        <p:spPr>
          <a:xfrm>
            <a:off x="4498848" y="5486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세무플랫폼 감독규정 신설, PG 가맹점 매출자료 제출 의무화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10144" y="4005072"/>
            <a:ext cx="35478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10144" y="4005072"/>
            <a:ext cx="3547872" cy="4114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187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4462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역외탈세 · 물가교란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229600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다국적기업 역외탈세 근절, 물가 교란 행위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0" y="5413248"/>
            <a:ext cx="31089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5486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이전가격, 해외 특수관계자 거래, 가격 담합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2026년 국세행정 운영방안, 한국세정신문(2026.1.26), KBS·MBC 보도(2026.2.22). 하단 회청색 문구는 실무 관점의 점검 포인트입니다.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3 · 국세청은 무엇을 보는가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자금출처조사 — 개인 자산가의 최대 리스크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상속세 및 증여세법 제45조(재산 취득자금 등의 증여추정)에 근거합니다. 재산 취득자의 직업·연령·소득·재산 상태로 볼 때 자력 취득으로 인정하기 어려운 경우, 그 취득자금을 증여받은 것으로 추정해 증여세를 과세합니다.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83664"/>
            <a:ext cx="5440680" cy="475488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8366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무엇을 보고 대상을 고르는가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2542032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87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자금조달계획서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27249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부동산 거래신고 시 제출한 계획서와 실제 자금 흐름의 일치 여부. 소명이 부실하면 조사로 연결됩니다.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" y="3236976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1821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PCI 분석 결과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341985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신고소득 대비 재산 증가액과 소비지출액의 격차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" y="3931920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8770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FIU 금융정보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7552" y="4114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고액 현금거래(CTR)와 의심거래(STR) 정보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" y="4626864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5720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시차에 유의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7552" y="48097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 직후가 아니라 수개월~수년 뒤에 착수되는 경우가 많습니다. 데이터 통합·분석에 시간이 걸리기 때문입니다.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5321808"/>
            <a:ext cx="91440" cy="9144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526694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검증 기간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7552" y="55046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재산 취득일 또는 채무 상환일 전 10년 이내의 거래를 봅니다. 계좌 흐름을 수년간 역추적합니다.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883664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883664"/>
            <a:ext cx="5440680" cy="47548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188366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어떻게 소명하는가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28232" y="24688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입증 원칙 — 취득자금 전액을 증빙할 필요는 없습니다. 입증되지 않은 금액이 「취득재산가액의 20%」와 「2억원」 중 적은 금액에 미달하면 전체가 입증된 것으로 봅니다.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28232" y="3127248"/>
            <a:ext cx="4937760" cy="7315"/>
          </a:xfrm>
          <a:prstGeom prst="rect">
            <a:avLst/>
          </a:prstGeom>
          <a:solidFill>
            <a:srgbClr val="E5E4E1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32369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차용증이 인정받기 위한 4요건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28232" y="352958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원금·이자율·상환일·이자지급일을 명시한다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이체 전에 공증 또는 확정일자를 받는다 (사후 급조 서류는 효력이 부인됩니다)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원리금을 계좌이체로 실제 지급하고 적요란에 이자 지급을 기재한다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차주의 소득 대비 상환 능력이 설명 가능해야 한다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28232" y="4974336"/>
            <a:ext cx="493776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5065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적정이자율 4.6%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0256" y="528523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세법상 적정이자율(연 4.6%)로 계산한 이자와 실제 지급 이자의 차액이 연 1천만원 미만이면 증여세를 과세하지 않습니다. 이 한도를 역산해 원금 규모를 설계하는 것이 실무적 방어선입니다.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상속세 및 증여세법 제45조·시행령, 상속세 및 증여세 사무처리규정. 증여추정 배제기준(연령·재산종류별 — 세대주 구분은 2020.7.20. 개정으로 폐지) 금액은 규정 개정에 따라 변동되므로 최신 규정 확인이 필요합니다.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대응은 네 단계로 설계한다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제도 개편의 가장 큰 실무적 의미는 대응의 축이 「사후 해명」에서 「사전 준비」로 이동했다는 점입니다.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26243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73936"/>
            <a:ext cx="2624328" cy="7863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470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 전 상시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724912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중점검증항목 기준 내부점검 정례화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적격증빙·계약서 파일링 체계 구축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 자금과 대표자 개인 자금 분리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조사유예·면제 요건 해당 여부 점검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순환조사 차례 역산 및 일정 계획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91256" y="20848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55848" y="1773936"/>
            <a:ext cx="26243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1773936"/>
            <a:ext cx="2624328" cy="7863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3557016" y="18470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7016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 후 골든타임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7016" y="23408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최대 3개월 + 20일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57016" y="2724912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시기선택제로 착수 시기 선택 (1·2순위)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필요 시 조사 연기 신청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조세전문가 선임 및 역할 분담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쟁점 예상 목록 작성 및 사전진단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 제출 창구·담당자 지정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98464" y="20848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773936"/>
            <a:ext cx="26243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773936"/>
            <a:ext cx="2624328" cy="7863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8470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64224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진행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64224" y="23408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20일 이내 원칙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64224" y="2724912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범위·기간의 근거 확인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제출 자료 목록 관리 및 사본 보관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확인서 서명은 사실관계 확정 후에만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쟁점은 서면으로 정리·제출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납세자보호담당관 제도 활용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05672" y="20848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70264" y="1773936"/>
            <a:ext cx="26243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70264" y="1773936"/>
            <a:ext cx="2624328" cy="7863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171432" y="18470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71432" y="20848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 통지 후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71432" y="23408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30일 / 90일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71432" y="2724912"/>
            <a:ext cx="2240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결과 통지 내용의 근거 검증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 청구 (30일 이내)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이의신청·심사·심판청구 (90일 이내)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행정소송 제기 여부 판단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재발 방지 위한 내부 절차 개선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제7장의2, 국세청 보도자료(2026.4.2), 법무법인 태평양 뉴스레터(2026.4.9)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1 · 평시 — 조사는 통지 전에 결정된다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9105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세목 간 정합성 점검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828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법인세 매출과 부가세 과세표준, 인건비 계상액과 지급명세서를 대조합니다. 성실도 전산분석이 가장 먼저 보는 지점입니다.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591056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9128" y="1572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법인·대표자 자금 분리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182880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가지급금을 정리하고 인정이자를 계상합니다. 대표자 개인계좌로 매출이 입금되는 관행은 즉시 차단합니다.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32304"/>
            <a:ext cx="54406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560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법인카드 사용 규정화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사용 기준을 문서화하고, 비업무 시간·장소 사용 건은 개인 부담으로 처리합니다.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2432304"/>
            <a:ext cx="544068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2560320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3912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인건비 실질 증빙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9128" y="279806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가족·친인척 등재 시 근무 사실을 증명하는 출근·업무기록과 4대보험 가입 자료를 갖춥니다.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401568"/>
            <a:ext cx="54406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52958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" y="3511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특수관계자 거래 문서화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76732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 가격의 시가 적정성 근거, 계약서, 이사회 결의를 거래 시점에 남깁니다. 사후 작성은 신뢰받지 못합니다.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3401568"/>
            <a:ext cx="544068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3529584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39128" y="3511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세액공제 요건 사후검증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39128" y="376732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연구·인력개발비 등 공제 항목은 요건 충족 근거(연구노트·인력 배분)를 매년 정리합니다.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370832"/>
            <a:ext cx="544068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49884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15568" y="4480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개인 자산은 PCI 관점 관리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47365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 취득 전에 신고소득·재산증가·소비지출을 집계해 부족액 규모를 미리 파악합니다.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4370832"/>
            <a:ext cx="544068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4498848"/>
            <a:ext cx="274320" cy="274320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39128" y="4480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조사유예·면제 요건 점검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39128" y="473659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수출 비중, 투자 증액 계획, 창업 경과연수, 일자리창출계획서 제출 여부를 매년 11월 전에 확인합니다.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64240" cy="603504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" y="539496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사전진단의 함정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560320" y="5394960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사전진단 보고서는 주요 쟁점을 확인한 문서라는 특성 때문에 세무조사에서 과세 근거자료로 활용될 위험이 있습니다. 진단 결과의 보호 방안(변호사-의뢰인 비밀유지권 등)을 함께 검토해야 합니다.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구성: 국세청 중점검증항목 10선 및 법무법인 태평양 뉴스레터(2026.4.9)를 실무 체크리스트로 재구성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2 · 통지 후 골든타임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9264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 — 준비 기간이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제도로 보장됐다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10515600" cy="1097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743200"/>
            <a:ext cx="2450592" cy="208483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962656"/>
            <a:ext cx="3291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340156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 안내문 수령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42416" y="3950208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 4월부터 정기 세무조사 대상자에게 시기선택제 안내문이 발송됩니다.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3657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2152" y="2743200"/>
            <a:ext cx="2450592" cy="208483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1608" y="2962656"/>
            <a:ext cx="3291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21608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21608" y="340156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3개월 범위에서 시기 선택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21608" y="3950208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착수 시기를 월 단위로 직접 선택합니다. 희망 시기는 1·2순위로 구분해 신청합니다.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71032" y="3657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2743200"/>
            <a:ext cx="2450592" cy="208483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962656"/>
            <a:ext cx="3291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0156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정식 사전통지 수령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950208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실제 조사 착수 20일 전에 세목·기간·사유를 담은 정식 사전통지가 별도로 발송됩니다.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50224" y="3657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60536" y="2743200"/>
            <a:ext cx="2450592" cy="2084832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9992" y="2962656"/>
            <a:ext cx="3291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79992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79992" y="340156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필요 시 연기 신청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79992" y="3950208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천재지변·화재·질병 등 사유가 있으면 조사 연기를 신청할 수 있습니다.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5010912"/>
            <a:ext cx="1051560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5138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달라지는가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54315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종전에는 국세청이 일방적으로 지정한 시기에 즉각 대응해야 했습니다. 이제는 착수 전까지 일정한 준비 기간을 확보할 수 있으므로, 특수관계자 거래 검토·세액공제 적정성 확인·적격 지출 증빙 점검 등 사전적 리스크 관리의 중요성이 결정적으로 높아졌습니다.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보도자료(2026.4.2) / 시기선택제는 국세청 자체 운영 제도이며, 사전통지·연기신청의 근거는 국세기본법 제81조의7입니다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0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3 · 조사 중 대응 7원칙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81912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4447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창구를 하나로 만든다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444752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답변 주체와 자료 제출 담당자를 지정합니다. 여러 사람이 각자 답하면 진술이 엇갈리고 그 자체가 새로운 쟁점을 만듭니다.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064240" cy="58521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24028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1031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요구 범위 안에서만 제출한다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231136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103120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요구받지 않은 자료를 선의로 더 내면 조사 범위가 확대됩니다. 제출 목록과 사본을 반드시 남깁니다.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761488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2898648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276148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확인서 서명은 마지막에 한다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9504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2761488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확인서는 사실관계를 확정하는 효력이 있습니다. 내용을 정확히 이해하고 사실과 일치할 때만 서명합니다.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19856"/>
            <a:ext cx="11064240" cy="58521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3557016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07008" y="3419856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쟁점은 구두가 아니라 서면으로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547872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341985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상주조사가 축소된 만큼 구두 소명의 여지도 줄었습니다. 논리와 근거를 문서로 정리해 제출합니다.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078224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215384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07008" y="407822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범위 확대·기간 연장의 근거를 묻는다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63440" y="4206240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4078224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세목과 과세기간을 벗어난 자료 요구, 이유 없는 기간 연장에는 근거 제시를 요청합니다.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36592"/>
            <a:ext cx="11064240" cy="58521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4873752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07008" y="473659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감정적 대응을 피한다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63440" y="4864608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4736592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기피로 해석되면 기간 제한의 예외 사유가 되고, 장부 일시보관 등 강한 수단으로 이어질 수 있습니다.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394960"/>
            <a:ext cx="11064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5532120"/>
            <a:ext cx="310896" cy="310896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5532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07008" y="539496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권리구제 창구를 활용한다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663440" y="5522976"/>
            <a:ext cx="10973" cy="329184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5394960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위법·부당한 조사에는 납세자보호담당관을 통해 납세자보호위원회 심의를 요청할 수 있습니다.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6108192"/>
            <a:ext cx="1106424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핵심: 조사관과 다투는 것이 목적이 아닙니다. 사실관계를 정확하게 확정시켜 불필요한 추정과세를 막는 것이 목적입니다.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제7장의2, 국세청 조사사무처리규정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반드시 알아야 할 납세자 권리 9선</a:t>
            </a:r>
            <a:endParaRPr lang="en-US" sz="2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85800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권리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내용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근거</a:t>
                      </a:r>
                      <a:endParaRPr lang="en-US" sz="110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07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사전통지를 받을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착수 20일 전에 조사대상 세목·조사기간·조사사유를 통지받습니다. 2024년 1월 1일부터 15일에서 20일로 확대되었습니다. 불복에 따른 재조사는 7일 전 통지.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제81조의7 ①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연기를 신청할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천재지변, 화재·재해, 질병·장기출장 등 조사가 곤란한 사유가 있으면 연기를 신청할 수 있습니다.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제81조의7 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조사기간 제한을 받을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조사대상 과세기간 중 연간 수입금액(또는 양도가액)이 가장 큰 과세기간의 금액이 100억원 미만이면 조사기간은 20일 이내입니다.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제81조의8 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연장 절차의 통제를 받을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최초 연장은 관할 세무관서장 승인, 2회 이후 연장은 상급 세무관서장 승인을 받아 각각 20일 이내에서만 가능합니다.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제81조의8 ③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조기종결을 기대할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세무공무원은 조사기간 단축에 노력해야 하며, 더 조사할 사항이 없다고 판단되면 기간 종료 전이라도 조기에 종결할 수 있습니다.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제81조의8 ⑧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중복조사를 받지 않을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같은 세목·같은 과세기간에 대한 재조사는 원칙적으로 금지됩니다. 예외 사유는 법률에 열거되어 있습니다.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제81조의4 ②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조세전문가의 조력을 받을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변호사·세무사·공인회계사로 하여금 조사에 참여하게 하거나 의견을 진술하게 할 수 있습니다.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제81조의5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 결과를 통지받을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조사를 마친 날부터 20일 이내에 조사 결과를 서면으로 통지받습니다.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제81조의12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권리구제를 요청할 권리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위법·부당한 조사, 조사기간 연장·범위 확대에 대해 납세자보호담당관을 통해 납세자보호위원회 심의를 요청할 수 있습니다.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D3D3D"/>
                          </a:solidFill>
                          <a:latin typeface="Spoqa Han Sans Neo" pitchFamily="34" charset="0"/>
                          <a:ea typeface="Spoqa Han Sans Neo" pitchFamily="34" charset="-122"/>
                          <a:cs typeface="Spoqa Han Sans Neo" pitchFamily="34" charset="-120"/>
                        </a:rPr>
                        <a:t>제81조의18</a:t>
                      </a:r>
                      <a:endParaRPr lang="en-US" sz="1050" dirty="0">
                        <a:latin typeface="Spoqa Han Sans Neo" charset="0"/>
                        <a:ea typeface="Spoqa Han Sans Neo" charset="0"/>
                        <a:cs typeface="Spoqa Han Sans Ne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착수 시 조사공무원은 납세자권리헌장을 교부하고 그 요지를 낭독해야 하며, 조사 사유와 조사기간을 설명해야 합니다.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제81조의4·5·7·8·12·18 (조문 번호는 국세기본법 기준)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상주조사 최소화 — 좋은 소식만은 아니다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3502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60년간 이어져 온 현장 상주 방식의 세무조사가 2025년을 기점으로 공식적으로 「예외적 수단」으로 전환되었습니다. ERP 등 전산장부가 보편화되어 기업에 상주하지 않고도 조사가 가능하다는 판단이 반영된 결과입니다.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5440680" cy="2011680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종전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591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 현장 상주 조사가 표준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798064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조사팀이 사업장에 장기간 상주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현장에서 구두 소명으로 보완 가능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업무 위축과 심리적 부담이 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7432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901952"/>
            <a:ext cx="5440680" cy="2011680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28232" y="23591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조사관서 내 사무실 조사가 표준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8232" y="2798064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상주는 예외적 사유에 한정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예외 ① 납세자가 현장 방식을 더 편리하다고 판단하는 경우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예외 ② 납세자의 자료 미제출·지연 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11064240" cy="1920240"/>
          </a:xfrm>
          <a:prstGeom prst="rect">
            <a:avLst/>
          </a:prstGeom>
          <a:solidFill>
            <a:srgbClr val="043B72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793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이면에 있는 것 — 대응 부담은 오히려 커질 수 있다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663440"/>
            <a:ext cx="2194560" cy="3200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분석 역량의 발전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57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상주 없이 조사가 가능해졌다는 것은 국세청의 데이터 분석 역량이 그만큼 발전했다는 신호입니다.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0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검증의 정교화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89120" y="5157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거래의 적절성, 지출의 업무 관련성, 증빙과 실제 거래의 일치 여부를 과거보다 정교하고 폭넓게 검증합니다.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09560" y="4846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입증 방식의 전환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5157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 구두 소명으로 보완되던 사안이, 이제는 체계적으로 정리된 문서와 데이터로 입증되어야 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국세청 보도자료, 법무법인 태평양 뉴스레터(2026.4.9)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PHASE 4 · 결과가 부당하다면 — 불복 절차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6858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45720" cy="7863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36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 구제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1755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46120" y="1554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결과통지·과세예고통지를 받은 날부터 30일 이내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847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고지 전에 과세관청이 스스로 시정. 1996년 도입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23113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6858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04288"/>
            <a:ext cx="45720" cy="7863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3957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1단계 (선택)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이의신청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24140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처분을 알게 된 날부터 90일 이내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관할 세무서 또는 지방국세청. 생략 가능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09067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3163824"/>
            <a:ext cx="6858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63824"/>
            <a:ext cx="45720" cy="78638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255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2단계 (필수)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6384" y="3474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심사청구 또는 심판청구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4612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90일 이내 (이의신청을 거친 경우 결정서 수령 후 90일)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3566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심사청구는 국세청, 심판청구는 조세심판원. 둘 중 하나만 선택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95020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DCEC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68580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23360"/>
            <a:ext cx="45720" cy="786384"/>
          </a:xfrm>
          <a:prstGeom prst="rect">
            <a:avLst/>
          </a:prstGeom>
          <a:solidFill>
            <a:srgbClr val="043B72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114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3단계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" y="4334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행정소송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46120" y="41330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결정 통지를 받은 날부터 90일 이내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44256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행정심판 전치주의 — 심사·심판을 거쳐야 소송 제기 가능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심판청구 인용률 (2025년)</a:t>
            </a:r>
            <a:endParaRPr lang="en-US" sz="13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7589520" y="1773936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7589520" y="4224528"/>
            <a:ext cx="4023360" cy="1773936"/>
          </a:xfrm>
          <a:prstGeom prst="rect">
            <a:avLst/>
          </a:prstGeom>
          <a:solidFill>
            <a:srgbClr val="ECEFF4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45552" y="4370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통계가 말해주는 것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845552" y="4645152"/>
            <a:ext cx="35204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세액이 클수록 인용률이 높습니다. 전문 대리인 선임과 자료 준비의 차이로 해석됩니다.</a:t>
            </a:r>
            <a:endParaRPr lang="en-US" sz="95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소액 사건의 인용률은 한 자릿수에 머무릅니다. 준비 없는 불복은 성과가 낮습니다.</a:t>
            </a:r>
            <a:endParaRPr lang="en-US" sz="95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2024년 내국세 심판청구 처리대상 7,979건 중 서울지방국세청 관할이 3,148건(약 40%)이었습니다.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48640" y="49560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기한을 놓치면 실체적 주장이 아무리 정당해도 각하됩니다. 30일과 90일, 이 두 숫자를 먼저 확보하십시오.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5340096"/>
            <a:ext cx="6858000" cy="658368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" y="54315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사전 구제를 먼저 검토할 이유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86384" y="566928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과세전적부심사는 고지 전 단계에서 다투므로 납세 부담과 가산세 발생을 피할 수 있고, 시간적·경제적 부담도 작습니다.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" y="63825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출처: 국세기본법 제55조·제61조·제66조·제68조·제81조의15, 조세심판원·국세청 처리 현황, 세무 전문지 보도(2025~2026)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4 · 어떻게 대응하는가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1106424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현장에서 반복되는 5가지 실수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26464"/>
            <a:ext cx="11064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00784"/>
            <a:ext cx="329184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151790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통지를 받은 뒤에야 준비를 시작한다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25696" y="151790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시기선택제로 최대 3개월의 준비 기간이 생겼지만, 그 기간에 만들어낼 수 없는 것이 있습니다. 거래 시점에 남기지 않은 계약서, 이사회 결의, 업무 관련성 기록은 사후에 복원되지 않습니다.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68512" y="1591056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1" name="Text 9"/>
          <p:cNvSpPr/>
          <p:nvPr/>
        </p:nvSpPr>
        <p:spPr>
          <a:xfrm>
            <a:off x="8814816" y="1517904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거래가 발생하는 시점에 증빙을 남기는 것이 유일한 해법입니다.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106424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2633472"/>
            <a:ext cx="329184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5296" y="245059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요구받지 않은 자료까지 성의껏 제출한다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5696" y="245059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협조적으로 보이려는 선의가 조사 범위를 넓힙니다. 제출한 자료는 새로운 쟁점의 출발점이 되고, 제출 목록을 관리하지 않으면 무엇을 냈는지도 알 수 없게 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68512" y="2523744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8" name="Text 16"/>
          <p:cNvSpPr/>
          <p:nvPr/>
        </p:nvSpPr>
        <p:spPr>
          <a:xfrm>
            <a:off x="8814816" y="245059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요구 사항을 문서로 특정하고, 제출 목록과 사본을 관리합니다.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11064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566160"/>
            <a:ext cx="329184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296" y="33832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확인서에 성급히 서명한다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25696" y="338328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조사 종료를 앞두고 제시되는 확인서는 사실관계를 확정하는 효력이 있습니다. 서명한 내용은 이후 불복 단계에서 뒤집기가 매우 어렵습니다.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68512" y="3456432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25" name="Text 23"/>
          <p:cNvSpPr/>
          <p:nvPr/>
        </p:nvSpPr>
        <p:spPr>
          <a:xfrm>
            <a:off x="8814816" y="3383280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내용을 정확히 이해하고 사실과 일치할 때만 서명합니다.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11064240" cy="859536"/>
          </a:xfrm>
          <a:prstGeom prst="rect">
            <a:avLst/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498848"/>
            <a:ext cx="329184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5296" y="4315968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차용증·계약서를 사후에 급조한다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25696" y="431596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이체 이후에 작성된 차용증, 공증이나 확정일자 없는 서류는 증거로서의 효력이 부인됩니다. 오히려 은폐 의도로 해석될 위험도 있습니다.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68512" y="4389120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2" name="Text 30"/>
          <p:cNvSpPr/>
          <p:nvPr/>
        </p:nvSpPr>
        <p:spPr>
          <a:xfrm>
            <a:off x="8814816" y="431596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자금 이동 전에 작성하고 공증·확정일자를 받아둡니다.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157216"/>
            <a:ext cx="110642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5431536"/>
            <a:ext cx="329184" cy="32918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" y="5431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25296" y="524865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불복 기한을 놓친다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25696" y="524865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과세전적부심사 30일, 이의신청·심사·심판청구 90일. 이 기한을 넘기면 주장의 타당성과 무관하게 각하됩니다.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68512" y="5321808"/>
            <a:ext cx="10973" cy="530352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39" name="Text 37"/>
          <p:cNvSpPr/>
          <p:nvPr/>
        </p:nvSpPr>
        <p:spPr>
          <a:xfrm>
            <a:off x="8814816" y="5248656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통지서 수령일을 기준으로 기한을 즉시 달력에 등록합니다.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1264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좌: 실수  /  중: 왜 문제인가  /  우: 대신 무엇을 할 것인가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241280" y="6382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88B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10515600" cy="10973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6070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오늘의 결론 네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828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선정은 예측 가능하다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정기선정 3트랙(성실도·순환·무작위)과 비정기 5대 사유는 모두 법률에 명시되어 있습니다. 직전 조사 시점과 수입금액 규모만 알면 차례를 역산할 수 있습니다.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성실신고는 면역이 아니다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2194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 트랙 중 둘은 신고 품질과 무관하게 작동합니다. 목표는 「선정되지 않는 것」이 아니라 「선정되어도 설명 가능한 상태」입니다.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310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2026년의 변화는 양면적이다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67588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시기선택제·상주조사 축소·중점항목 공개로 절차는 완화됐지만, 검증은 데이터 기반으로 더 정교해졌고 구두 소명의 여지는 줄었습니다.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33101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310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준비의 축이 앞으로 이동했다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67588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7D7D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거래 시점에 남기지 않은 증빙은 사후에 복원되지 않습니다. 대응은 통지를 받은 날이 아니라 거래를 하는 날 시작됩니다.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864608"/>
            <a:ext cx="10515600" cy="1207008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10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지금 바로 할 세 가지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5340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  직전 조사 시점 확인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559612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세목별 마지막 조사 연도를 확인해 순환·장기미조사 해당 여부를 판단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5340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  중점검증항목 10선 자체점검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80560" y="559612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10개 항목을 기준으로 최근 3개 사업연도 내부점검 실시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63840" y="5340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3.  유예·면제 요건 대조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63840" y="5596128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수출 비중, 투자 계획, 창업 경과연수, 일자리창출계획서 제출 여부 확인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627278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FC3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정보 제공 목적으로 작성되었으며 개별 사안에 대한 세무·법률 자문이 아닙니다. 실제 적용 시 반드시 세무대리인과 상담하십시오.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0" y="6272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FC3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세무조사 선정 대상과 대응 전략</dc:title>
  <dc:subject>PptxGenJS Presentation</dc:subject>
  <dc:creator>Mirae Asset Securities</dc:creator>
  <cp:lastModifiedBy>Mirae Asset Securities</cp:lastModifiedBy>
  <cp:revision>1</cp:revision>
  <dcterms:created xsi:type="dcterms:W3CDTF">2026-07-29T00:09:43Z</dcterms:created>
  <dcterms:modified xsi:type="dcterms:W3CDTF">2026-07-29T00:09:43Z</dcterms:modified>
</cp:coreProperties>
</file>