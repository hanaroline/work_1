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대출 가능액</c:v>
                </c:pt>
              </c:strCache>
            </c:strRef>
          </c:tx>
          <c:spPr>
            <a:solidFill>
              <a:srgbClr val="F5822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Noto Sans K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스트레스 미적용
(계산금리 4.0%)</c:v>
                  </c:pt>
                  <c:pt idx="1">
                    <c:v>+1.5%p 적용
(계산금리 5.5%)</c:v>
                  </c:pt>
                  <c:pt idx="2">
                    <c:v>+3.0%p 적용
(계산금리 7.0%)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6.98</c:v>
                </c:pt>
                <c:pt idx="1">
                  <c:v>5.87</c:v>
                </c:pt>
                <c:pt idx="2">
                  <c:v>5.01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Noto Sans K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9535B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D3D3D"/>
                </a:solidFill>
                <a:latin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6350" cap="flat">
              <a:solidFill>
                <a:srgbClr val="E5E4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DCEC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6C6C"/>
                </a:solidFill>
                <a:latin typeface="Noto Sans KR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LTV 40% 산정액</c:v>
                </c:pt>
              </c:strCache>
            </c:strRef>
          </c:tx>
          <c:spPr>
            <a:solidFill>
              <a:srgbClr val="F5822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Noto Sans K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10억</c:v>
                  </c:pt>
                  <c:pt idx="1">
                    <c:v>15억</c:v>
                  </c:pt>
                  <c:pt idx="2">
                    <c:v>20억</c:v>
                  </c:pt>
                  <c:pt idx="3">
                    <c:v>25억</c:v>
                  </c:pt>
                  <c:pt idx="4">
                    <c:v>30억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6</c:v>
                </c:pt>
                <c:pt idx="2">
                  <c:v>8</c:v>
                </c:pt>
                <c:pt idx="3">
                  <c:v>10</c:v>
                </c:pt>
                <c:pt idx="4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실제 대출 가능액</c:v>
                </c:pt>
              </c:strCache>
            </c:strRef>
          </c:tx>
          <c:spPr>
            <a:solidFill>
              <a:srgbClr val="043B72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Noto Sans K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10억</c:v>
                  </c:pt>
                  <c:pt idx="1">
                    <c:v>15억</c:v>
                  </c:pt>
                  <c:pt idx="2">
                    <c:v>20억</c:v>
                  </c:pt>
                  <c:pt idx="3">
                    <c:v>25억</c:v>
                  </c:pt>
                  <c:pt idx="4">
                    <c:v>30억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6</c:v>
                </c:pt>
                <c:pt idx="2">
                  <c:v>4</c:v>
                </c:pt>
                <c:pt idx="3">
                  <c:v>4</c:v>
                </c:pt>
                <c:pt idx="4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Noto Sans K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9535B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3D3D"/>
                </a:solidFill>
                <a:latin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6350" cap="flat">
              <a:solidFill>
                <a:srgbClr val="E5E4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DCEC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6C6C"/>
                </a:solidFill>
                <a:latin typeface="Noto Sans KR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D3D3D"/>
              </a:solidFill>
              <a:latin typeface="Noto Sans KR"/>
              <a:cs typeface="Noto Sans K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도입: 오늘 다루는 숫자는 전부 2026년 7월 28일 현행 기준입니다. 특히 세제개편안이 이달 말 또는 8월 초 발표 예정이므로, 마지막 장에서 시나리오를 함께 점검하겠습니다.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파트가 서로 연결되어 있다는 점을 강조. 규제지역 지정 하나가 대출·세금·청약을 동시에 바꾼다는 구조를 먼저 심어줄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 5월 10일이 가장 중요한 분기점. 4년간 다주택자가 누렸던 기본세율 매도 기회가 닫혔고, 그 결과 매물 잠김과 보유세 강화 논의가 동시에 진행 중임을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강의의 뼈대. 이후 모든 내용은 이 3층 구조 중 어디에 해당하는지를 짚어가며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투기지역은 소득세법상 '지정지역'이 정식 명칭. 현재는 규제지역과 중첩되어 별도로 체감되지 않지만, 법적 근거가 다르므로 해제·지정 시점이 어긋날 수 있다는 점을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경기 15곳은 '시' 단위가 아니라 '구' 단위 카운트. 성남 3구, 수원 3구를 각각 세면 15가 된다. 같은 시 안에서도 구에 따라 규제 여부가 다르다는 점을 반드시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표는 배포 자료의 핵심. 취득세 중과는 '새로 취득하는 주택의 소재지' 기준이라는 점을 여기서 미리 언급하고 24페이지에서 상세히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대지지분은 같은 단지에서도 평형·동에 따라 다르다. 등기부등본 표제부의 대지권 표시를 반드시 확인하도록 안내. 주상복합·초소형은 예외가 나올 수 있음.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 상담 시 매수인의 '계속 무주택' 요건이 가장 많이 걸린다. 5월 12일 이후 분양권을 취득했거나 상속으로 지분을 받은 경우 등을 점검해야 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토지거래허가를 거친 거래는 허가 이후 매수인이 직접 계획서와 증빙을 제출하는 사례가 늘고 있음. 중개사에게 전적으로 맡기지 말라고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조합원 지위 양도 제한은 '투기과열지구'에만 적용되는 규제라는 점이 핵심. 조정대상지역만 지정된 곳은 제한이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차례 대책이 누적 적용된다는 점이 핵심. 6.27의 6억 한도가 10.16에 시가별로 쪼개진 것이지, 6억 한도가 폐지된 것이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DSR에는 신용대출, 자동차 할부, 카드론, 학자금대출까지 포함된다는 점을 실제 사례로 설명. 마이너스통장 한도도 잡힌다.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차트 수치는 DSR 40%, 30년 원리금균등 가정의 개략치. 실제 은행 산정은 상품·가산금리에 따라 달라진다는 점을 반드시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슬라이드에서 고객의 '내 집 마련 자금계획'이 근본적으로 바뀌었다는 점을 각인시킬 것. 특히 상급지 갈아타기 상담에서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'1주택 처분 조건부'가 실무에서 가장 빈번. 약정 위반 시 제재가 무겁다는 점을 강조하고, 처분 기한과 전입 기한을 각각 다이어리에 적어두게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입주장 잔금 상담에서 반드시 확인해야 할 부분. 임차인을 새로 구할 때 전세대출이 안 되는 구조라는 점을 계약 전에 알려야 분쟁을 피할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취득세 3.5%는 9억 초과·85㎡ 초과 1주택 기준 올인세율. 국민주택규모 이하라면 농특세가 빠져 3.3%. 개별 사안은 위택스 계산기로 확인하도록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6월 1일 기준일은 고객이 가장 자주 놓치는 부분. 실제 상담 사례를 들어 설명하면 반응이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6~9억 구간 산식은 세미나에서 직접 한 번 계산해 보이면 이해도가 크게 올라간다. 위택스 취득세 계산기 활용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취득세 중과는 잔금일·등기일 기준. 계약 후 지정 사례(동탄·기흥·구리)에서 실제 문의가 많았을 것. 경과조치 여부는 개별 확인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고지서 세액을 역산해 과세표준상한제가 어떻게 작동했는지 보여주면 신뢰가 크게 올라간다. 위택스에서 과세표준 확인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 공정시장가액비율은 60% 유지. 다만 세제개편안에서 이 비율의 상향이 유력하게 거론되므로 30페이지와 연결해 설명할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건강보험 피부양자 탈락은 고령 임대인 상담에서 가장 중요한 변수. 세액 시뮬레이션에 건보료를 반드시 함께 넣어 비교할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신고 기한은 양도일이 속한 달의 말일부터 2개월. 필요경비 증빙(취득세 영수증, 중개보수, 자본적 지출)을 미리 모아두라고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보완 조치의 기한(9월 9일, 11월 9일)이 임박했다. 해당 요건을 이미 밟은 고객이 있는지 확인이 필요하고, 지금 새로 시작하는 것은 불가능하다는 점을 명확히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마무리: 확정 전 방향에 베팅하지 말고 시나리오별로 내 위치를 파악해 두라는 메시지로 닫는다. 발표 직후 재상담 일정을 잡는 것이 실무적으로 가장 유용.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8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 고객 세미나 · 심화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4000" b="1" spc="-8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아파트</a:t>
            </a:r>
            <a:endParaRPr lang="en-US" sz="40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4000" b="1" spc="-8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세제 · 대출 · 거래규제 완전정리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703320"/>
            <a:ext cx="201168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95020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취득 · 보유 · 임대 · 양도 / LTV · DSR · 절대한도 / 규제지역 · 토지거래허가제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37083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1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다주택 양도세 중과 부활(5.10) · 규제지역 추가 지정(7.1) · 2026년 세제개편안 발표(8.3)까지 반영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58064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10월 1일 현행 기준   |   미래에셋증권 마포WM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강의의 지도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규제는 세 층으로 겹쳐 있습니다. 세 층을 각각 본 다음, 마지막에 겹쳐서 봅니다.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511296" cy="324612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71600"/>
            <a:ext cx="3511296" cy="566928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4264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49808" y="16093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거래규제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096" y="2139696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조정대상지역 · 투기과열지구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투기지역 · 토지거래허가구역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실거주 의무와 한시 유예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자금조달계획서 · 자금출처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청약 · 전매 · 정비사업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34256" y="1371600"/>
            <a:ext cx="3511296" cy="324612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4256" y="1371600"/>
            <a:ext cx="3511296" cy="566928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14264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35424" y="16093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대출규제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53712" y="2139696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6·27 → 10·15 규제 연혁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 · DTI · DSR 3종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스트레스 DSR 3%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주담대 절대한도 6/4/2억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전세대출 · 신용대출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19872" y="1371600"/>
            <a:ext cx="3511296" cy="324612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9872" y="1371600"/>
            <a:ext cx="3511296" cy="566928"/>
          </a:xfrm>
          <a:prstGeom prst="rect">
            <a:avLst/>
          </a:prstGeom>
          <a:solidFill>
            <a:srgbClr val="CB60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4264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321040" y="16093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세제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39328" y="2139696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취득세 기본 · 다주택 중과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재산세 · 종합부동산세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주택임대소득세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양도세 기본 · 비과세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5·10 다주택 중과 부활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11091672" cy="1298448"/>
          </a:xfrm>
          <a:prstGeom prst="roundRect">
            <a:avLst>
              <a:gd name="adj" fmla="val 2817"/>
            </a:avLst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9834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읽는 법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5230368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세율·한도는 2026년 10월 1일 시행 중인 내용입니다. 발의·검토 단계 내용은 「예정」으로 따로 표시했습니다.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부동산 세금은 '시점'이 세율을 정합니다. 취득세는 잔금일 또는 등기일, 양도세는 잔금청산일과 등기접수일 중 빠른 날이 기준입니다.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보유세(재산세·종합부동산세)는 매년 6월 1일 소유자에게 1년치가 부과됩니다. 6월 2일에 팔아도 그 해 세금은 매도인 몫입니다.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2026년, 무엇이 바뀌었나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지난 1년간 규제는 세 번의 대출 대책과 두 번의 세제 전환으로 재편되었습니다.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353312"/>
            <a:ext cx="3511296" cy="2176272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53312"/>
            <a:ext cx="3511296" cy="45720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536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2025.06.27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18105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대출규제 1차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2313432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수도권·규제지역 주택구입 주담대 6억 상한 신설. 생애최초 LTV 80%→70%, 2주택 이상 주택구입 대출 차단. 소유권 이전 조건부 전세대출 금지.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34256" y="1353312"/>
            <a:ext cx="3511296" cy="2176272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4256" y="1353312"/>
            <a:ext cx="3511296" cy="45720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1536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2025.10.15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35424" y="18105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주택시장 안정화 대책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35424" y="2313432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25개구 전역 + 경기 12곳 조정대상지역·투기과열지구 지정. 10.20부터 토지거래허가구역.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19872" y="1353312"/>
            <a:ext cx="3511296" cy="2176272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9872" y="1353312"/>
            <a:ext cx="3511296" cy="45720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536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2025.10.16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21040" y="18105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대출한도 시가 차등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2313432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주담대 한도를 15억 이하 6억 / 15~25억 4억 / 25억 초과 2억으로 차등. 스트레스 금리 하한 1.5%→3.0%.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3511296" cy="2176272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749040"/>
            <a:ext cx="3511296" cy="457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9319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" kern="0" dirty="0">
                <a:solidFill>
                  <a:srgbClr val="043B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" y="4206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위험가중치 조기 시행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808" y="47091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은행 주담대 위험가중치 하한 15%→20% 조기 적용. 은행의 주택담보대출 취급 여력 자체가 축소.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34256" y="3749040"/>
            <a:ext cx="3511296" cy="2176272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34256" y="3749040"/>
            <a:ext cx="3511296" cy="45720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35424" y="39319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" kern="0" dirty="0">
                <a:solidFill>
                  <a:srgbClr val="C62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2026.05.10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35424" y="4206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다주택 양도세 중과 부활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35424" y="47091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2022년부터 4년간 이어진 한시 배제가 예정대로 종료. 조정대상지역 2주택 +20%p, 3주택 이상 +30%p, 장기보유특별공제 배제.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19872" y="3749040"/>
            <a:ext cx="3511296" cy="2176272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19872" y="3749040"/>
            <a:ext cx="3511296" cy="45720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39319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" kern="0" dirty="0">
                <a:solidFill>
                  <a:srgbClr val="C62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2026.07.01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21040" y="4206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규제지역 추가 지정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21040" y="47091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화성 동탄 · 용인 기흥 · 구리 신규 지정. 규제지역이 서울 25개구 + 경기 15곳으로 확대(7.5부터 토지거래허가구역).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변수: 2026년 세제개편안 — 8월 3일 발표 · 국회 심의 중 · 2027년 시행 목표 (30페이지에서 별도 정리)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규제의 3층 구조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부동산 규제는 '어디서 사느냐 → 얼마 빌리느냐 → 얼마 내느냐'의 순서로 작동합니다.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353312"/>
            <a:ext cx="3511296" cy="301752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813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874520" y="15910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규제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21214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어디서 사느냐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9808" y="2505456"/>
            <a:ext cx="3108960" cy="10973"/>
          </a:xfrm>
          <a:prstGeom prst="rect">
            <a:avLst/>
          </a:prstGeom>
          <a:solidFill>
            <a:srgbClr val="CDCE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670048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조정대상지역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투기과열지구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투기지역(지정지역)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토지거래허가구역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34256" y="1353312"/>
            <a:ext cx="3511296" cy="301752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14813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43B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660136" y="15910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금융 규제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35424" y="21214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얼마 빌리느냐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35424" y="2505456"/>
            <a:ext cx="3108960" cy="10973"/>
          </a:xfrm>
          <a:prstGeom prst="rect">
            <a:avLst/>
          </a:prstGeom>
          <a:solidFill>
            <a:srgbClr val="CDCE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2670048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 · DTI · DSR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스트레스 DSR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주담대 절대한도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전입 의무 · 처분 조건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19872" y="1353312"/>
            <a:ext cx="3511296" cy="301752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14813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B601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445752" y="15910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조세 규제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321040" y="21214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얼마 내느냐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21040" y="2505456"/>
            <a:ext cx="3108960" cy="10973"/>
          </a:xfrm>
          <a:prstGeom prst="rect">
            <a:avLst/>
          </a:prstGeom>
          <a:solidFill>
            <a:srgbClr val="CDCE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9328" y="2670048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취득세 (중과 8·12%)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재산세 · 종합부동산세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주택임대소득세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양도세 (중과 +20·30%p)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590288"/>
            <a:ext cx="11091672" cy="1554480"/>
          </a:xfrm>
          <a:prstGeom prst="roundRect">
            <a:avLst>
              <a:gd name="adj" fmla="val 2353"/>
            </a:avLst>
          </a:prstGeom>
          <a:solidFill>
            <a:srgbClr val="F58220"/>
          </a:solidFill>
          <a:ln w="9525">
            <a:solidFill>
              <a:srgbClr val="F582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736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FF1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 요약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" y="4992624"/>
            <a:ext cx="10506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아파트라도 1층(지역)이 바뀌면 2층(대출)과 3층(세금)이 동시에 바뀝니다.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41248" y="5394960"/>
            <a:ext cx="10506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7월 1일 화성 동탄이 규제지역으로 지정되자, 그날부터 무주택자 LTV가 70%에서 40%로 줄고, 2주택자 취득세가 1~3%에서 8%로 올랐으며, 다주택자 양도 시 중과 대상이 되고, 자금조달계획서가 금액과 무관하게 의무화되었습니다. 지정 공고 한 장이 네 가지를 동시에 바꾼 것입니다.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2194560" cy="45720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786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거래규제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8587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어디서 사느냐가 나머지 전부를 결정한다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0" y="233172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 규제지역 3종 세트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 2026년 10월 현재 지정 현황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 규제지역별 규제 비교표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  토지거래허가제 · 적용 범위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 실거주 의무와 한시 유예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 자금조달계획서 · 자금출처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  청약 · 전매 · 정비사업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규제지역 3종 세트 + 토지거래허가구역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이름이 비슷하지만 근거법과 지정권자, 효과가 모두 다릅니다.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960120"/>
                <a:gridCol w="1234440"/>
                <a:gridCol w="3520440"/>
                <a:gridCol w="368503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근거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지정권자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지정 요건(핵심)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대표 효과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조정대상지역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주택법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§63의2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국토교통부장관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직전 3개월 주택가격 상승률이 물가상승률의 1.3배를 초과하는 등 과열 우려가 있는 지역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취득세·양도세 중과, 1세대1주택 비과세 거주요건 2년, LTV 축소, 청약 규제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투기과열지구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주택법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§63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국토교통부장관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또는 시·도지사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주택가격 상승률이 물가상승률을 현저히 초과 + 청약경쟁률·분양권 전매 급증 등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조정대상지역 규제 + 조합원 지위양도 제한, 자금조달계획서 증빙 첨부, 전매 제한 강화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투기지역(지정지역)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소득세법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§104의2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재정경제부장관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해당 지역의 지가·주택가격 상승률이 전국 평균을 크게 상회하는 경우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주택담보대출 세대당 건수 제한 등 금융 규제 (현재는 규제지역과 상당 부분 중첩)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토지거래허가구역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부동산거래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신고법 §10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국토교통부장관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또는 시·도지사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투기적 거래가 성행하거나 지가가 급등할 우려가 있는 지역 (기간을 정해 지정)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계약 전 관할청 사전 허가 필수 + 취득 후 2년 실거주 의무 → 사실상 갭투자 차단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5000"/>
            </a:avLst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559552"/>
            <a:ext cx="10543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포인트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10월 현재 서울 25개구와 경기 15곳은 조정대상지역·투기과열지구·토지거래허가구역이 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C62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동시에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적용되는 '3중 규제' 상태입니다. 고객 상담 시 세 가지를 각각 확인해야 하며, 하나만 보고 판단하면 반드시 틀립니다.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10월 1일 현재 지정 현황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규제지역이 서울 전역 + 경기 15곳으로 확대되었습니다. 상담 전 반드시 당일 기준으로 재확인하십시오.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316736"/>
            <a:ext cx="5394960" cy="233172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463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서울특별시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4672" y="171907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25개 자치구 전역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04672" y="2176272"/>
            <a:ext cx="4882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10월 15일 조정대상지역·투기과열지구 지정(10.16 효력), 10월 20일부터 토지거래허가구역. 강남·서초·송파·용산은 이전부터 지정 상태가 유지되어 왔습니다.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3163824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아파트 및 동일 단지 내 아파트가 1개 동 이상 포함된 연립·다세대주택이 허가 대상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45352" y="1316736"/>
            <a:ext cx="5394960" cy="233172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1384" y="1463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경기도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1384" y="171907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15개 지역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01384" y="2176272"/>
            <a:ext cx="4882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과천 · 광명 · 의왕 · 하남 · 안양 동안 · 용인 수지 · 성남 분당·수정·중원 · 수원 영통·장안·팔달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C62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＋ 화성 동탄 · 용인 기흥 · 구리  (2026.7.1 신규)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1384" y="3163824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3곳의 토지거래허가구역 지정 기간: 2026.7.5 ~ 2027.12.31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858768"/>
            <a:ext cx="11091672" cy="10973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867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7월 1일 신규 지정 — 왜 이 세 곳인가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52544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3657600"/>
                <a:gridCol w="350215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지역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2026년 누적 아파트 매매가 상승률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상승 배경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규제 효과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화성 동탄구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11.38%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반도체 산업 투자 확대 기대 + GTX-A 개통 등 교통 인프라 개선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무주택 LTV 70%→40%, 유주택 주택구입 대출 불가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구리시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7.87%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서울과 인접한 입지, 역세권 실수요 유입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2주택 취득세 8%, 3주택 이상 12%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용인 기흥구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6.21%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반도체 클러스터 인접 수요, 교통 호재 기대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토지거래허가 + 2년 실거주 의무, 자금조달계획서 전건 제출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48640" y="605332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경로: 국토교통부 규제지역 지정 현황 고시 / 서울부동산정보광장(토지거래허가구역 지정현황) / 관할 구청 토지관리과. 지정·해제는 수시로 이루어지므로 계약 직전 재확인이 원칙입니다.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규제지역별 규제 비교 — 한 장 정리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표 한 장이 상담의 8할입니다. 왼쪽에서 오른쪽으로 갈수록 규제가 겹쳐서 강해집니다.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3108960"/>
                <a:gridCol w="3227832"/>
              </a:tblGrid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비규제지역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조정대상지역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투기과열지구 중복 지정 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취득세 · 2주택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5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 ~ 3%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취득세 · 3주택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증여 취득세 (공시 3억 이상)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5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3.5%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양도세 다주택 중과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5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없음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+20 ~ 30%p, 장특공제 배제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+20 ~ 30%p, 장특공제 배제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1세대1주택 비과세 요건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2년 보유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2년 보유 + 2년 거주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2년 보유 + 2년 거주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LTV · 무주택자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5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70%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LTV · 유주택자 주택 구입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제한적 허용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0% (불가)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0% (불가)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자금조달계획서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6억원 이상만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금액 무관 전건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전건 + 항목별 증빙서류 첨부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분양권 전매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상대적으로 자유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제한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수도권 아파트 최대 3년 제한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조합원 지위 양도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5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자유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자유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원칙 금지 (법정 예외만)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토지거래허가구역으로 추가 지정되면 위 규제에 더해 계약 전 사전 허가와 취득 후 2년 실거주 의무가 붙습니다. 2026년 10월 현재 서울 25개구·경기 15곳이 이 상태입니다.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토지거래허가제 ① 무엇이 허가 대상인가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'토지'거래허가제이지만 실제로는 아파트 거래를 통제하는 장치로 쓰입니다.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298448"/>
            <a:ext cx="5394960" cy="2084832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4264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 주택 유형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1700784"/>
            <a:ext cx="488289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아파트 — 원칙적으로 모두 허가 대상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단지 내 아파트가 1개 동 이상 포함된 연립·다세대주택 — 허가 대상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아파트가 없는 단지의 연립·다세대, 오피스텔, 도시형생활주택, 상가 — 허가 대상 아님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재건축·재개발 입주권, 아파트 분양권 — 허가 대상에 포함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45352" y="1298448"/>
            <a:ext cx="5394960" cy="2084832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1384" y="14264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면적 기준 — 여기서 갈립니다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01384" y="1682496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서울시 기준, 등기부상 대지권(대지지분) 면적이 아래를 초과하면 허가 대상입니다.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01384" y="2029968"/>
          <a:ext cx="4882896" cy="914400"/>
        </p:xfrm>
        <a:graphic>
          <a:graphicData uri="http://schemas.openxmlformats.org/drawingml/2006/table">
            <a:tbl>
              <a:tblPr/>
              <a:tblGrid>
                <a:gridCol w="1170432"/>
                <a:gridCol w="1481328"/>
                <a:gridCol w="2231136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용도지역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허가 대상 기준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실무 의미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주거지역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6㎡ 초과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일반 아파트는 사실상 전부 해당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상업지역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15㎡ 초과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주상복합은 지분이 작아 예외 발생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녹지지역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30㎡ 초과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해당 사례 드묾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3602736"/>
            <a:ext cx="11091672" cy="10973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37307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허가 절차와 예외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096512"/>
            <a:ext cx="2615184" cy="1207008"/>
          </a:xfrm>
          <a:prstGeom prst="roundRect">
            <a:avLst>
              <a:gd name="adj" fmla="val 3030"/>
            </a:avLst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41879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31520" y="44805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허가 조건부 계약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31520" y="473659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허가를 조건으로 매매계약을 체결합니다. 허가 전 계약은 확정적 효력이 없습니다.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364992" y="4096512"/>
            <a:ext cx="2615184" cy="1207008"/>
          </a:xfrm>
          <a:prstGeom prst="roundRect">
            <a:avLst>
              <a:gd name="adj" fmla="val 3030"/>
            </a:avLst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47872" y="41879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3547872" y="44805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허가 신청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3547872" y="473659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매도인·매수인이 공동으로 관할 시장·군수·구청장에게 신청합니다.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1344" y="4096512"/>
            <a:ext cx="2615184" cy="1207008"/>
          </a:xfrm>
          <a:prstGeom prst="roundRect">
            <a:avLst>
              <a:gd name="adj" fmla="val 3030"/>
            </a:avLst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64224" y="41879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364224" y="44805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허가증 교부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364224" y="473659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신청받은 날부터 15일 이내에 허가 여부가 통보됩니다.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997696" y="4096512"/>
            <a:ext cx="2615184" cy="1207008"/>
          </a:xfrm>
          <a:prstGeom prst="roundRect">
            <a:avLst>
              <a:gd name="adj" fmla="val 3030"/>
            </a:avLst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80576" y="41879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9180576" y="44805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잔금 · 등기 · 전입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9180576" y="473659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허가증상 기준일로부터 4개월 이내에 잔금·등기·전입을 완료해야 합니다.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48640" y="5468112"/>
            <a:ext cx="5394960" cy="713232"/>
          </a:xfrm>
          <a:prstGeom prst="roundRect">
            <a:avLst>
              <a:gd name="adj" fmla="val 5128"/>
            </a:avLst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04672" y="55961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E85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허가 불필요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상속, 대가 없는 순수 증여, 민사집행법에 따른 경매 취득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245352" y="5468112"/>
            <a:ext cx="5394960" cy="713232"/>
          </a:xfrm>
          <a:prstGeom prst="roundRect">
            <a:avLst>
              <a:gd name="adj" fmla="val 5128"/>
            </a:avLst>
          </a:prstGeom>
          <a:solidFill>
            <a:srgbClr val="FDF0EE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01384" y="55961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C62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많이 틀리는 부분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부담부증여(수증자가 대출·임대보증금 반환채무를 인수)는 허가 대상입니다.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토지거래허가제 ② 실거주 의무와 한시 유예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5월 12일 조치로 '세입자 있는 집'의 매매 경로가 열렸습니다. 다만 요건이 까다롭습니다.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298448"/>
            <a:ext cx="5394960" cy="1956816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4264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1700784"/>
            <a:ext cx="488289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허가증상 기준일로부터 4개월 이내에 잔금 · 소유권이전등기 · 전입까지 완료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취득일로부터 2년간 실거주 의무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주택담보대출을 받는 경우, 잔금일에 다른 주택이 없어야 하는 조건이 추가로 붙습니다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전세를 낀 신규 매수(갭투자)는 원칙적으로 불가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45352" y="1298448"/>
            <a:ext cx="5394960" cy="1956816"/>
          </a:xfrm>
          <a:prstGeom prst="roundRect">
            <a:avLst>
              <a:gd name="adj" fmla="val 1869"/>
            </a:avLst>
          </a:prstGeom>
          <a:solidFill>
            <a:srgbClr val="FFF6ED"/>
          </a:solidFill>
          <a:ln w="9525">
            <a:solidFill>
              <a:srgbClr val="F582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1384" y="14264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2026.5.12 유예 확대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19672" y="1700784"/>
            <a:ext cx="488289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5월 12일 현재 임대 중이거나 전세권이 설정된 주택 전체가 대상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실거주 의무를 '발표일 당시 임대차계약의 최초 만기'까지 유예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다만 늦어도 2028년 5월 11일까지는 입주해 이후 2년간 실거주해야 합니다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주담대 전입 의무도 '실행일 6개월' 또는 '임대차 종료 후 1개월' 중 늦은 시점까지 유예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401568"/>
            <a:ext cx="11091672" cy="10973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1129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유예를 받기 위한 4가지 요건 — 하나라도 빠지면 적용되지 않습니다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877056"/>
            <a:ext cx="2615184" cy="1152144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77056"/>
            <a:ext cx="2615184" cy="41148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23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매도인 요건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31596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5월 12일 당시 해당 주택을 임대 중이던 소유자여야 합니다.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64992" y="3877056"/>
            <a:ext cx="2615184" cy="1152144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64992" y="3877056"/>
            <a:ext cx="2615184" cy="41148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7872" y="4023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매수인 요건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47872" y="431596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5월 12일부터 계속해서 무주택을 유지한 세대여야 합니다.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81344" y="3877056"/>
            <a:ext cx="2615184" cy="1152144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81344" y="3877056"/>
            <a:ext cx="2615184" cy="41148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4224" y="4023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등기 기한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64224" y="431596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허가를 받은 후 4개월 이내에 소유권이전등기를 완료해야 합니다.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97696" y="3877056"/>
            <a:ext cx="2615184" cy="1152144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97696" y="3877056"/>
            <a:ext cx="2615184" cy="41148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80576" y="4023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신청 기한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80576" y="431596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12월 31일까지 관할 관청에 허가를 신청해야 합니다.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5102352"/>
            <a:ext cx="11091672" cy="1042416"/>
          </a:xfrm>
          <a:prstGeom prst="roundRect">
            <a:avLst>
              <a:gd name="adj" fmla="val 3509"/>
            </a:avLst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2120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조치의 의미와 한계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" y="5468112"/>
            <a:ext cx="10543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정부는 이를 '갭투자 신규 허용이 아니다'라고 명시했습니다. 발표일 당시 이미 임대 중인 주택만 대상이고, 2년 실거주 의무 자체는 그대로 남습니다. 이 5·12 확대조치는 시행령 개정을 거쳐 2026년 5월 29일부터 시행되며, 29쪽의 2026년 2월 12일 기준 보완조치와는 별개의 조치입니다.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 데이터 — 2026년 서울 아파트 매매 거래량은 1월 5,900건, 2월 5,600건, 3월 6,400건으로 최근 5년 평균 4,100건을 상회했고, 다주택자 매도 물량을 무주택자가 매수한 비율은 3월 73%까지 올랐습니다.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자금조달계획서와 자금출처 조사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규제지역에서는 금액과 무관하게 전건 제출입니다. 2026년부터 기재 항목도 촘촘해졌습니다.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31920"/>
                <a:gridCol w="405079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제출 대상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증빙서류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규제지역 (투기과열지구 · 조정대상지역)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거래금액과 무관하게 모든 주택 거래. 소액 거래도 예외 없음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투기과열지구는 항목별 증빙서류 첨부 의무 (예금잔액증명서, 증여세 신고서, 대출 승인 서류 등)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비규제지역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개인이 실제 거래가격 6억원 이상 주택을 매수하는 경우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원칙적으로 계획서만 제출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법인 매수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지역·금액과 무관하게 항상 제출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법인 자금 흐름 소명 필요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분양권 전매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제출 대상에 포함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전매 제한 여부와 별도로 신고 의무 발생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023360"/>
            <a:ext cx="11091672" cy="10973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4151376"/>
            <a:ext cx="5394960" cy="120700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42611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 기한과 제재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22960" y="4517136"/>
            <a:ext cx="48828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매매계약 체결일부터 30일 이내 (부동산 거래신고와 함께 제출)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미제출 또는 거짓 작성 시 500만원 이하 과태료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신고필증이 발급되지 않아 소유권 이전 등기 자체가 불가능해집니다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45352" y="4151376"/>
            <a:ext cx="5394960" cy="1207008"/>
          </a:xfrm>
          <a:prstGeom prst="roundRect">
            <a:avLst>
              <a:gd name="adj" fmla="val 3030"/>
            </a:avLst>
          </a:prstGeom>
          <a:solidFill>
            <a:srgbClr val="FFF6ED"/>
          </a:solidFill>
          <a:ln w="9525">
            <a:solidFill>
              <a:srgbClr val="F582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01384" y="426110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개정 — 기재 항목 강화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19672" y="4517136"/>
            <a:ext cx="48828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가상자산 매각대금 항목 신설 — 거래소명·매각시점·원화 환전 내역의 시간순 정합성 필요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사업자대출을 '그 밖의 대출'에서 분리해 별도 기재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임대보증금 승계액은 임대차계약서 금액과 정확히 일치해야 합니다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5486400"/>
            <a:ext cx="11091672" cy="676656"/>
          </a:xfrm>
          <a:prstGeom prst="roundRect">
            <a:avLst>
              <a:gd name="adj" fmla="val 5405"/>
            </a:avLst>
          </a:prstGeom>
          <a:solidFill>
            <a:srgbClr val="FDF0EE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5577840"/>
            <a:ext cx="10543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C62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간 차용금 — 가장 위험한 항목  </a:t>
            </a:r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세무당국은 가족 간 금전 거래를 원칙적으로 증여로 추정합니다. 차용증, 실제 이자 지급 내역, 원금 상환 이력이라는 3종 증빙이 없으면 증여세 과세 대상이 될 수 있습니다. 직업·연령·재산 상태에 비추어 자력 취득이 어렵다고 판단되면 자금출처 조사 대상자로 선정됩니다.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청약 · 전매 · 정비사업 규제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규제지역 지정은 매매뿐 아니라 분양과 재건축·재개발 진입 경로까지 함께 막습니다.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298448"/>
            <a:ext cx="3511296" cy="29260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298448"/>
            <a:ext cx="3511296" cy="45720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4447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청약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8096" y="1847088"/>
            <a:ext cx="31089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투기과열지구·조정대상지역은 1순위 요건이 강화되고 세대주 요건이 적용됩니다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재당첨 제한이 적용되어 일정 기간 다른 분양에 당첨될 수 없습니다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가점제 적용 비중이 확대되어 무주택 기간·부양가족 수의 영향이 커집니다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청약 신청 전 세대 구성원 전원의 주택 보유 이력을 확인해야 합니다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34256" y="1298448"/>
            <a:ext cx="3511296" cy="29260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34256" y="1298448"/>
            <a:ext cx="3511296" cy="457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14447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전매 제한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53712" y="1847088"/>
            <a:ext cx="31089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수도권 아파트 분양권은 최대 3년까지 전매가 제한됩니다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시점 — 규제지역 지정 공고일 이후 입주자모집승인을 신청한 단지부터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지정일 당시 이미 분양 절차가 진행 중이던 단지는 종전 규정이 적용됩니다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분양권은 취득세는 2020년 8월 12일, 양도세는 2021년 1월 1일 이후 취득분부터 주택 수에 포함됩니다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19872" y="1298448"/>
            <a:ext cx="3511296" cy="29260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1298448"/>
            <a:ext cx="3511296" cy="45720"/>
          </a:xfrm>
          <a:prstGeom prst="rect">
            <a:avLst/>
          </a:prstGeom>
          <a:solidFill>
            <a:srgbClr val="CB60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4447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정비사업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39328" y="1847088"/>
            <a:ext cx="31089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투기과열지구에서는 조합원 지위 양도가 원칙적으로 금지됩니다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재건축은 조합설립인가 이후, 재개발은 관리처분계획인가 이후부터 제한됩니다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위반 시 매수자는 조합원 자격을 얻지 못하고 현금청산 대상이 됩니다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조합원 재당첨 제한 5년, 조합원 1인당 1주택 공급 원칙이 적용됩니다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370832"/>
            <a:ext cx="11091672" cy="1188720"/>
          </a:xfrm>
          <a:prstGeom prst="roundRect">
            <a:avLst>
              <a:gd name="adj" fmla="val 3077"/>
            </a:avLst>
          </a:prstGeom>
          <a:solidFill>
            <a:srgbClr val="FDF0EE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48056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엄격한 구간 — 토지거래허가구역 내 강남3구·용산의 재건축 조합설립 주택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4773168"/>
            <a:ext cx="10543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구간에서는 매도인이 ① 10년 이상 보유, ② 5년 이상 거주, ③ 1세대 1주택자여야 하고, 매수인은 ④ 세대원 전원 무주택으로서 취득 후 1세대 1주택이 되어야 하며, ⑤ 계약일부터 3개월 이내 잔금, ⑥ 잔금일부터 6개월 이내 입주 요건까지 모두 충족해야 거래가 가능합니다. 여섯 가지 중 하나만 어긋나도 거래 자체가 성립하지 않습니다.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687568"/>
            <a:ext cx="11091672" cy="493776"/>
          </a:xfrm>
          <a:prstGeom prst="roundRect">
            <a:avLst>
              <a:gd name="adj" fmla="val 7407"/>
            </a:avLst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760720"/>
            <a:ext cx="10543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 순서  </a:t>
            </a:r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대상지가 투기과열지구인가 → ② 정비사업 단계가 조합설립·관리처분 인가를 지났는가 → ③ 법정 예외 사유에 해당하는가. 이 세 가지를 확인하지 않은 재건축 매수는 현금청산 위험을 안고 가는 것입니다.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2194560" cy="457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786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043B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대출규제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8587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개의 잣대와 하나의 절대한도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0" y="233172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  대출규제 연혁 한눈에 보기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  LTV · DTI · DSR 3종 개념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  스트레스 DSR — 한도가 줄어드는 원리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  주담대 절대한도 6억 · 4억 · 2억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  보유 주택 수별 LTV 매트릭스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  전세대출 · 신용대출 규제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  실전 계산 — 서울 18억 아파트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대출규제 연혁 한눈에 보기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6월부터 세 차례에 걸쳐 단계적으로 강화되었고, 각 조치는 지금도 모두 유효합니다.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017520"/>
                <a:gridCol w="670255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시행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822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2025.06.27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주택구입 목적 주담대 한도 신설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수도권·규제지역 주택구입 목적 주담대를 최대 6억원으로 일괄 제한. 소득이 아무리 높아도 6억원을 넘길 수 없게 되었습니다.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822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2025.06.27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LTV 축소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생애최초 주택구입자 LTV 80% → 70%. 2주택 이상 보유자의 주택 구입 목적 대출은 전면 차단(1주택자는 기존주택 처분 조건부만 허용). 규제지역 무주택자 LTV 40%는 10·15 규제지역 지정에 따라 적용됩니다.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822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2025.06.27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전세 · 신용대출 규제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소유권 이전 조건부 전세대출 금지. 전세대출 보증비율 90% → 80%. 신용대출 한도를 연소득 이내로 제한. 생활안정자금 목적 주담대 최대 1억원(2주택 이상 불가).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822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2025.07.01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스트레스 DSR 3단계 시행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수도권 우선 시행. 같은 소득이라도 계산상 이자 부담이 늘어나 한도가 약 15~20% 축소되는 효과.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3B7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2025.10.16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주담대 한도 시가별 차등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15억원 이하 6억 / 15억 초과~25억 이하 4억 / 25억 초과 2억으로 차등. 이주비대출은 주택가격과 무관하게 6억원 유지.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3B7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2025.10.16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스트레스 금리 하한 상향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수도권·규제지역 주담대에 한해 스트레스 금리 하한을 1.5% → 3.0%로 상향. 금리 인하로 한도가 늘어나는 효과를 미리 상쇄하는 장치.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3B7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2025.10.29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1주택자 전세대출 DSR 반영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1주택자가 수도권·규제지역에서 신규 전세대출을 받을 때 이자상환분을 DSR에 반영. 연장분은 제외되나 증액은 신규로 간주.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2026.01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주담대 위험가중치 하한 상향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은행권 주담대 위험가중치 하한 15% → 20%로 조기 시행(당초 2026년 4월 예정). 은행 입장에서 주담대의 자본 부담이 커져 공급 여력 자체가 줄어듭니다.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05332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2026년 2월에는 다주택 양도세 중과 유예 종료 보완 조치의 일환으로, 주담대 전입 의무가 '실행일부터 6개월' 또는 '임대차계약 종료일부터 1개월' 중 늦은 시점까지 유예되었습니다.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 · DTI · DSR — 세 개의 잣대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잣대는 각각 다른 것을 봅니다. 그리고 셋 중 가장 작은 금액이 내 한도가 됩니다.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298448"/>
            <a:ext cx="3511296" cy="3127248"/>
          </a:xfrm>
          <a:prstGeom prst="roundRect">
            <a:avLst>
              <a:gd name="adj" fmla="val 1170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2646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49808" y="18653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담보인정비율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" y="2176272"/>
            <a:ext cx="3108960" cy="548640"/>
          </a:xfrm>
          <a:prstGeom prst="roundRect">
            <a:avLst>
              <a:gd name="adj" fmla="val 6667"/>
            </a:avLst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21284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대출금 ÷ 담보가치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28163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집값 대비 얼마까지 빌려주는가. 집을 봅니다.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" y="3438144"/>
            <a:ext cx="3108960" cy="10973"/>
          </a:xfrm>
          <a:prstGeom prst="rect">
            <a:avLst/>
          </a:prstGeom>
          <a:solidFill>
            <a:srgbClr val="CDCE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5295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현행 기준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9808" y="3749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규제지역 무주택 40%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비규제지역 70%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34256" y="1298448"/>
            <a:ext cx="3511296" cy="3127248"/>
          </a:xfrm>
          <a:prstGeom prst="roundRect">
            <a:avLst>
              <a:gd name="adj" fmla="val 1170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5424" y="142646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3B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DTI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35424" y="18653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총부채상환비율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35424" y="2176272"/>
            <a:ext cx="3108960" cy="548640"/>
          </a:xfrm>
          <a:prstGeom prst="roundRect">
            <a:avLst>
              <a:gd name="adj" fmla="val 6667"/>
            </a:avLst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221284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(주담대 원리금 + 기타대출 이자) ÷ 연소득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35424" y="28163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소득 대비 주택대출 상환 부담. 소득을 봅니다.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35424" y="3438144"/>
            <a:ext cx="3108960" cy="10973"/>
          </a:xfrm>
          <a:prstGeom prst="rect">
            <a:avLst/>
          </a:prstGeom>
          <a:solidFill>
            <a:srgbClr val="CDCE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35424" y="35295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43B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현행 기준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35424" y="3749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지역·상품별 적용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(현재는 DSR이 주된 규제)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19872" y="1298448"/>
            <a:ext cx="3511296" cy="3127248"/>
          </a:xfrm>
          <a:prstGeom prst="roundRect">
            <a:avLst>
              <a:gd name="adj" fmla="val 1170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142646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B601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DSR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321040" y="18653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총부채원리금상환비율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21040" y="2176272"/>
            <a:ext cx="3108960" cy="548640"/>
          </a:xfrm>
          <a:prstGeom prst="roundRect">
            <a:avLst>
              <a:gd name="adj" fmla="val 6667"/>
            </a:avLst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221284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대출의 연간 원리금 ÷ 연소득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21040" y="28163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신용대출·자동차할부까지 전부 합산합니다.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321040" y="3438144"/>
            <a:ext cx="3108960" cy="10973"/>
          </a:xfrm>
          <a:prstGeom prst="rect">
            <a:avLst/>
          </a:prstGeom>
          <a:solidFill>
            <a:srgbClr val="CDCE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35295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CB601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현행 기준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21040" y="3749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은행권 40%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제2금융권 50%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4590288"/>
            <a:ext cx="11091672" cy="1572768"/>
          </a:xfrm>
          <a:prstGeom prst="roundRect">
            <a:avLst>
              <a:gd name="adj" fmla="val 2326"/>
            </a:avLst>
          </a:prstGeom>
          <a:solidFill>
            <a:srgbClr val="043B72"/>
          </a:solidFill>
          <a:ln w="9525">
            <a:solidFill>
              <a:srgbClr val="043B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대출 한도가 정해지는 순서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41248" y="5084064"/>
            <a:ext cx="20848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5084064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LTV 산정액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926080" y="5084064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172968" y="5084064"/>
            <a:ext cx="20848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72968" y="5084064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DTI 산정액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57800" y="5084064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504688" y="5084064"/>
            <a:ext cx="20848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04688" y="5084064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DSR 산정액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589520" y="5084064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836408" y="5084064"/>
            <a:ext cx="20848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36408" y="5084064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절대한도 6/4/2억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0168128" y="5084064"/>
            <a:ext cx="1499616" cy="457200"/>
          </a:xfrm>
          <a:prstGeom prst="roundRect">
            <a:avLst>
              <a:gd name="adj" fmla="val 8000"/>
            </a:avLst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168128" y="5084064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최솟값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41248" y="5650992"/>
            <a:ext cx="10506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고객이 은행 창구에서 "생각보다 적게 나온다"고 느끼는 이유는 대부분 ③ DSR 또는 ④ 절대한도에서 걸리기 때문입니다. LTV만 계산해서 자금계획을 세우면 잔금 사고가 납니다.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스트레스 DSR — 한도가 줄어드는 원리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실제로 내는 이자는 그대로인데, 계산상 이자만 늘려서 한도를 줄이는 장치입니다.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298448"/>
            <a:ext cx="5074920" cy="1847088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4081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45720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앞으로 금리가 오를 가능성을 미리 반영해, DSR을 계산할 때만 실제 대출금리에 스트레스 금리를 더합니다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납부 이자에는 반영되지 않습니다. 오직 한도 계산용입니다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변동금리는 스트레스 금리를 100% 반영하고, 혼합형·주기형은 금리 고정 기간이 길수록 낮은 비율만 반영합니다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236976"/>
            <a:ext cx="5074920" cy="1188720"/>
          </a:xfrm>
          <a:prstGeom prst="roundRect">
            <a:avLst>
              <a:gd name="adj" fmla="val 3077"/>
            </a:avLst>
          </a:prstGeom>
          <a:solidFill>
            <a:srgbClr val="FFF6ED"/>
          </a:solidFill>
          <a:ln w="9525">
            <a:solidFill>
              <a:srgbClr val="F582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스트레스 금리 하한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3602736"/>
          <a:ext cx="45720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55448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하한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일반 (지방·신용대출)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1.5%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수도권 · 규제지역 주담대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925312" y="1298448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연소득 1억원 · 30년 원리금균등 · 실제금리 4.0% 가정 시 대출 가능액</a:t>
            </a:r>
            <a:endParaRPr lang="en-US" sz="11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925312" y="1609344"/>
          <a:ext cx="5715000" cy="28163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1"/>
          <p:cNvSpPr/>
          <p:nvPr/>
        </p:nvSpPr>
        <p:spPr>
          <a:xfrm>
            <a:off x="5925312" y="4425696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단위: 억원 · DSR 40% 기준 개략 계산치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48640" y="4718304"/>
            <a:ext cx="11091672" cy="1444752"/>
          </a:xfrm>
          <a:prstGeom prst="roundRect">
            <a:avLst>
              <a:gd name="adj" fmla="val 2532"/>
            </a:avLst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296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여기서 읽어야 하는 것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822960" y="5102352"/>
            <a:ext cx="105430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소득·같은 실제 금리인데도 수도권·규제지역은 스트레스 금리 3.0%p가 가산되어 한도가 6.98억원 → 5.01억원으로 약 28% 줄어듭니다. 지방 비규제지역 주담대는 2026년 12월 31일까지 2단계가 유예되어 +0.75%p(1.5%×적용비율 50%)만 가산되므로 한도는 약 6.4억원 수준입니다. 가운데 +1.5%p 막대는 신용·기타대출 기준입니다.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여기에 절대한도(15억 이하 6억 / 15~25억 4억 / 25억 초과 2억)가 한 번 더 씌워집니다. 고가주택일수록 DSR 계산 결과와 무관하게 절대한도에서 먼저 잘립니다.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조언 — 금리 유형 선택이 한도를 바꿉니다. 고정 기간이 긴 주기형·혼합형을 택하면 스트레스 금리 반영 비율이 낮아져 한도가 늘어날 수 있습니다. 은행별 산정 방식을 비교해 보실 것을 권합니다.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주담대 절대한도 — 6억 · 4억 · 2억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수도권·규제지역에서는 LTV 계산 결과와 무관하게 금액 상한이 먼저 적용됩니다.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507492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28016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주택 시가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최대 한도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비고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15억원 이하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85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6억원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2025.6.27 도입 한도 유지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15억 초과 ~ 25억 이하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4A01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4억원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2025.10.16부터 적용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25억원 초과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2억원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2025.10.16부터 적용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이주비대출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43B7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6억원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주택가격과 무관하게 6억원 유지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310128"/>
            <a:ext cx="5074920" cy="1170432"/>
          </a:xfrm>
          <a:prstGeom prst="roundRect">
            <a:avLst>
              <a:gd name="adj" fmla="val 3125"/>
            </a:avLst>
          </a:prstGeom>
          <a:solidFill>
            <a:srgbClr val="FDF0EE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3419856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C62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절벽 구간 주의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시가 15억원과 25억원 경계에서 한도가 2억원씩 뚝 떨어집니다. 14.9억 주택은 6억을 빌릴 수 있지만 15.1억 주택은 4억이 상한입니다. 매매가 협상이 자금계획을 좌우하는 구간입니다.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25312" y="1298448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 40%로 계산한 금액 vs 실제 대출 가능액</a:t>
            </a:r>
            <a:endParaRPr lang="en-US" sz="11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925312" y="1609344"/>
          <a:ext cx="5715000" cy="28712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8"/>
          <p:cNvSpPr/>
          <p:nvPr/>
        </p:nvSpPr>
        <p:spPr>
          <a:xfrm>
            <a:off x="5925312" y="4480560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가로축: 주택 시가 / 세로축: 억원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48640" y="4754880"/>
            <a:ext cx="11091672" cy="1408176"/>
          </a:xfrm>
          <a:prstGeom prst="roundRect">
            <a:avLst>
              <a:gd name="adj" fmla="val 2597"/>
            </a:avLst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2960" y="4864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차트가 말하는 것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22960" y="5138928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시가 15억원까지는 LTV 40%가 실질적인 제약입니다. 두 막대가 겹칩니다.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15억원을 넘어가는 순간부터 LTV는 의미를 잃고 절대한도만 남습니다. 30억 주택은 LTV상 12억이 가능하지만 실제로는 2억이 상한입니다.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— 고가주택 매수는 사실상 현금 게임이 되었습니다. 30억 주택을 사려면 28억의 자기자금이 필요하고, 여기에 취득세와 부대비용이 추가됩니다.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보유 주택 수별 LTV 매트릭스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'집이 몇 채인가'와 '어디를 사는가'가 만나 대출 가능 여부가 결정됩니다.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en-US" sz="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11091672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874520"/>
                <a:gridCol w="1783080"/>
                <a:gridCol w="464515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차주 구분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수도권 · 규제지역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비규제지역(참고)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부가 조건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무주택 (일반)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LTV 40%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5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LTV 70%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대출 실행일부터 6개월 내 전입 의무 (임대차 잔여기간 있으면 유예 가능)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무주택 · 생애최초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01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LTV 70%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5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LTV 80%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2025.6.27 이후 80% → 70%로 하향. 전입 의무 적용, 주담대 한도 6억 상한 동일 적용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서민 · 실수요자 요건 충족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LTV 60%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소득·주택가격 요건을 모두 충족해야 하며 금융기관별 심사 기준이 다름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1주택 · 기존주택 처분 조건부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LTV 40%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LTV 60% 수준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처분 약정 + 전입 약정 필수. 약정 위반 시 대출 회수 및 향후 3년간 주택 관련 대출 제한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1주택 (처분 안 함) · 2주택 이상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0% (대출 불가)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제한적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주택 구입 목적 주담대 전면 차단. 종전에는 30%가 가능했으나 2025.6.27부터 완전 차단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생활안정자금 목적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최대 1억원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상품별 상이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2주택 이상 보유 시 이용 불가. 주택 구입에 사용할 수 없으며 용도 증빙 필요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248656"/>
            <a:ext cx="5394960" cy="841248"/>
          </a:xfrm>
          <a:prstGeom prst="roundRect">
            <a:avLst>
              <a:gd name="adj" fmla="val 4348"/>
            </a:avLst>
          </a:prstGeom>
          <a:solidFill>
            <a:srgbClr val="FDF0EE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5340096"/>
            <a:ext cx="4901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C62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반드시 함께 설명해야 하는 것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 표는 LTV 상한일 뿐입니다. DSR과 절대한도가 동시에 적용되므로 체감 한도는 표보다 훨씬 낮습니다.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45352" y="5248656"/>
            <a:ext cx="5394960" cy="841248"/>
          </a:xfrm>
          <a:prstGeom prst="roundRect">
            <a:avLst>
              <a:gd name="adj" fmla="val 4348"/>
            </a:avLst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01384" y="5340096"/>
            <a:ext cx="4901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정책대출 참고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디딤돌·버팀목·보금자리론 등 정책대출은 별도 기준이 적용되나, 2025년 7월부터 연간 공급 계획 대비 축소 관리되고 있습니다. 소득·자산 요건은 매년 변경되므로 신청 시점에 확인이 필요합니다.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4956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비규제지역 수치는 일반적인 기준이며 금융기관·상품별로 상이합니다. 실제 한도는 취급 은행 확인이 필요합니다.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전세대출 · 신용대출 규제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갭투자의 자금 경로를 끊는 데 초점이 맞춰져 있습니다.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298448"/>
            <a:ext cx="5394960" cy="1389888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298448"/>
            <a:ext cx="5394960" cy="45720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4447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소유권 이전 조건부 전세대출 금지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86384" y="175564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매매 잔금을 새 세입자의 전세대출로 충당하는 구조를 전면 차단했습니다. 즉 전세를 끼고 매매할 때 세입자는 보증금 전액을 자기자금으로 마련해야 합니다.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86384" y="23408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목적: 갭투자 자금 경로 차단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45352" y="1298448"/>
            <a:ext cx="5394960" cy="1389888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298448"/>
            <a:ext cx="5394960" cy="457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3096" y="14447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전세대출 보증비율 축소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83096" y="175564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주택금융공사·주택도시보증공사 등의 전세대출 보증비율이 90%에서 80%로 축소되었습니다. 은행 부담이 커지면서 심사가 보수적으로 바뀌었습니다.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83096" y="23408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43B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목적: 세입자 대출 한도 축소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871216"/>
            <a:ext cx="5394960" cy="1389888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871216"/>
            <a:ext cx="5394960" cy="45720"/>
          </a:xfrm>
          <a:prstGeom prst="rect">
            <a:avLst/>
          </a:prstGeom>
          <a:solidFill>
            <a:srgbClr val="CB60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1주택자 전세대출 DSR 반영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86384" y="332841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1주택자가 수도권·규제지역에서 신규 전세대출을 받을 때 이자상환분이 DSR에 포함됩니다(2025.10.29~). 연장분은 제외되지만 증액은 신규로 간주합니다.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6384" y="39136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601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목적: 본인 집 전세 주고 다른 집에 전세로 사는 구조 억제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45352" y="2871216"/>
            <a:ext cx="5394960" cy="1389888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45352" y="2871216"/>
            <a:ext cx="5394960" cy="45720"/>
          </a:xfrm>
          <a:prstGeom prst="rect">
            <a:avLst/>
          </a:prstGeom>
          <a:solidFill>
            <a:srgbClr val="848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83096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신용대출 규제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83096" y="332841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신용대출 한도가 연소득 이내로 제한되고, 1억원을 초과하는 신용대출을 받으면 1년간 규제지역 내 주택 취득이 제한됩니다.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83096" y="39136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목적: 우회 자금 조달 차단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517136"/>
            <a:ext cx="11091672" cy="1645920"/>
          </a:xfrm>
          <a:prstGeom prst="roundRect">
            <a:avLst>
              <a:gd name="adj" fmla="val 2222"/>
            </a:avLst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6268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예시 — 분양권 잔금 계획이 무너지는 경우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2960" y="4956048"/>
            <a:ext cx="822960" cy="329184"/>
          </a:xfrm>
          <a:prstGeom prst="roundRect">
            <a:avLst>
              <a:gd name="adj" fmla="val 8333"/>
            </a:avLst>
          </a:prstGeom>
          <a:solidFill>
            <a:srgbClr val="6C6C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95604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종전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773936" y="4937760"/>
            <a:ext cx="9317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분양가 8억원 주택에 보증금 6억원 전세를 놓고, 자기자금 2억원으로 잔금을 치를 수 있었습니다.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2960" y="5522976"/>
            <a:ext cx="822960" cy="329184"/>
          </a:xfrm>
          <a:prstGeom prst="roundRect">
            <a:avLst>
              <a:gd name="adj" fmla="val 8333"/>
            </a:avLst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52297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773936" y="5504688"/>
            <a:ext cx="9317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소유권 이전 조건부 전세대출이 금지되어 세입자가 6억원을 전액 현금으로 준비해야 합니다. 사실상 이 구조가 성립하지 않으므로 매수인이 8억원 전액을 조달해야 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계산 — 서울 18억원 아파트 매수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 세 층을 한 사례에 겹쳐 보겠습니다. 숫자가 어떻게 좁혀지는지 보십시오.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298448"/>
            <a:ext cx="11091672" cy="658368"/>
          </a:xfrm>
          <a:prstGeom prst="roundRect">
            <a:avLst>
              <a:gd name="adj" fmla="val 5556"/>
            </a:avLst>
          </a:prstGeom>
          <a:solidFill>
            <a:srgbClr val="043B72"/>
          </a:solidFill>
          <a:ln w="9525">
            <a:solidFill>
              <a:srgbClr val="043B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98448"/>
            <a:ext cx="10543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1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전제  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소재 아파트 매매가 18억원 · 무주택 부부 · 부부 합산 연소득 1.2억원 · 조정대상지역 + 투기과열지구 + 토지거래허가구역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39696"/>
            <a:ext cx="2615184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494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LTV 40%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6883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43B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7.2억원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31520" y="3127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18억 × 40%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64992" y="2139696"/>
            <a:ext cx="2615184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22494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DSR 40% + 스트레스 3%p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47872" y="26883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43B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6.0억원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547872" y="3127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계산금리 7.0% 적용 시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81344" y="2139696"/>
            <a:ext cx="2615184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4224" y="22494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절대한도 (15~25억 구간)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64224" y="26883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2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4.0억원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64224" y="3127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여기서 잘립니다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997696" y="2139696"/>
            <a:ext cx="2615184" cy="1298448"/>
          </a:xfrm>
          <a:prstGeom prst="roundRect">
            <a:avLst>
              <a:gd name="adj" fmla="val 2817"/>
            </a:avLst>
          </a:prstGeom>
          <a:solidFill>
            <a:srgbClr val="FDF0EE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0576" y="22494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62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대출 가능액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80576" y="26883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62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4.0억원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180576" y="3127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값 중 최솟값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639312"/>
            <a:ext cx="11091672" cy="10973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767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 자기자금 계산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091672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560320"/>
                <a:gridCol w="459943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금액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산출 근거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매매대금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18억 0,000만원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계약금 10% + 중도금 + 잔금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주택담보대출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5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△ 4억 0,000만원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절대한도 적용 후 최종 금액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취득세 등 (1주택 · 85㎡ 초과 가정)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6,300만원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18억 × 3.5% (취득세 3.0% + 지방교육세 0.3% + 농특세 0.2%)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중개보수 · 등기비용 등 (개략)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약 1,500만원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요율·법무비용에 따라 변동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필요 자기자금 합계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약 14억 7,800만원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매매대금 − 대출 + 취득세 + 부대비용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548640" y="5797296"/>
            <a:ext cx="11091672" cy="384048"/>
          </a:xfrm>
          <a:prstGeom prst="roundRect">
            <a:avLst>
              <a:gd name="adj" fmla="val 9524"/>
            </a:avLst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4672" y="5797296"/>
            <a:ext cx="10579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추가로 반드시 안내해야 할 의무  </a:t>
            </a:r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토지거래허가 신청 및 허가 후 4개월 내 잔금·등기·전입 · 취득 후 2년 실거주 · 자금조달계획서와 항목별 증빙서류 제출 · 대출 실행일부터 6개월 내 전입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C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2194560" cy="45720"/>
          </a:xfrm>
          <a:prstGeom prst="rect">
            <a:avLst/>
          </a:prstGeom>
          <a:solidFill>
            <a:srgbClr val="CB60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786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CB601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세제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8587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취득 · 보유 · 임대 · 양도, 네 번의 과세 지점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0" y="224028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  세금 4단계 지도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  취득세 · 기본 구조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  취득세 · 다주택 및 법인 중과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  재산세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  종합부동산세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  주택임대소득세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  양도소득세 · 기본과 비과세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29  양도소득세 · 5·10 중과 부활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세금 4단계 지도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부동산은 네 번 세금을 만납니다. 각 단계의 '기준일'을 아는 것이 절세의 출발점입니다.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298448"/>
            <a:ext cx="2615184" cy="312724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298448"/>
            <a:ext cx="2615184" cy="566928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07008" y="13533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취득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31520" y="19568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세목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21579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취득세 · 지방교육세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농어촌특별세 · 인지세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27614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과세 기준일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296265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잔금 지급일 또는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등기접수일 중 빠른 날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35295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신고 · 납부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31520" y="373075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취득일부터 60일 이내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(상속은 6개월)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64992" y="1298448"/>
            <a:ext cx="2615184" cy="312724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64992" y="1298448"/>
            <a:ext cx="2615184" cy="566928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47872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023360" y="13533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보유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3547872" y="19568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세목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547872" y="21579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재산세 (7월 · 9월)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종합부동산세 (12월)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47872" y="27614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과세 기준일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296265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매년 6월 1일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소유자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47872" y="35295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신고 · 납부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547872" y="373075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재산세 7/16~31, 9/16~30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종부세 12/1~15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81344" y="1298448"/>
            <a:ext cx="2615184" cy="312724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81344" y="1298448"/>
            <a:ext cx="2615184" cy="566928"/>
          </a:xfrm>
          <a:prstGeom prst="rect">
            <a:avLst/>
          </a:prstGeom>
          <a:solidFill>
            <a:srgbClr val="CB60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4224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39712" y="13533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364224" y="19568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세목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64224" y="21579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주택임대소득세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(종합소득세)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64224" y="27614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과세 기준일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64224" y="296265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연도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 수입 발생분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64224" y="35295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신고 · 납부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64224" y="373075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해 5월 1일~31일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종합소득세 신고 기간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997696" y="1298448"/>
            <a:ext cx="2615184" cy="312724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97696" y="1298448"/>
            <a:ext cx="2615184" cy="566928"/>
          </a:xfrm>
          <a:prstGeom prst="rect">
            <a:avLst/>
          </a:prstGeom>
          <a:solidFill>
            <a:srgbClr val="AD62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80576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656064" y="13533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양도</a:t>
            </a:r>
            <a:endParaRPr lang="en-US" sz="1900" dirty="0"/>
          </a:p>
        </p:txBody>
      </p:sp>
      <p:sp>
        <p:nvSpPr>
          <p:cNvPr id="41" name="Text 39"/>
          <p:cNvSpPr/>
          <p:nvPr/>
        </p:nvSpPr>
        <p:spPr>
          <a:xfrm>
            <a:off x="9180576" y="19568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세목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9180576" y="21579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양도소득세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지방소득세 (양도세의 10%)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180576" y="27614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과세 기준일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180576" y="296265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잔금청산일과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등기접수일 중 빠른 날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180576" y="35295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신고 · 납부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180576" y="373075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양도일이 속한 달의 말일부터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2개월 이내 예정신고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4590288"/>
            <a:ext cx="11091672" cy="1572768"/>
          </a:xfrm>
          <a:prstGeom prst="roundRect">
            <a:avLst>
              <a:gd name="adj" fmla="val 2326"/>
            </a:avLst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기준일이 세금을 결정하는 세 가지 장면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22960" y="4992624"/>
            <a:ext cx="105430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6월 1일의 함정 — 5월 31일에 등기를 넘기면 그 해 재산세와 종합부동산세는 매수인이 부담하고, 6월 2일에 넘기면 매도인이 1년치를 전부 부담합니다. 잔금일 협상에서 실제로 수백만원이 오갑니다.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취득세는 취득 시점의 주택 수와 소재지 규제 여부로 판단합니다. 계약 시점이 아니라 잔금·등기 시점입니다. 계약 후 규제지역으로 지정되면 세율이 달라질 수 있습니다.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양도세는 잔금청산일과 등기접수일 중 빠른 날이 양도일입니다. 2026년 5월 10일 이후 양도분부터 다주택 중과가 적용되는 것도 이 기준입니다.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취득세 ① 기본 구조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중과가 없는 1주택 취득의 기본 세율입니다. 6억~9억 구간은 산식으로 계산합니다.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</a:t>
            </a:r>
            <a:endParaRPr lang="en-US" sz="8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  <a:gridCol w="1554480"/>
                <a:gridCol w="1737360"/>
                <a:gridCol w="1828800"/>
                <a:gridCol w="203911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취득가액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취득세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지방교육세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농어촌특별세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(85㎡ 초과)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합계 (85㎡ 이하)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합계 (85㎡ 초과)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6억원 이하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1.0%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0.1%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0.2%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5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1.1%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5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1.3%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6억 초과 ~ 9억 이하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1.0 ~ 3.0%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(누진 산식)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세율 × 1/10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0.2%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1.1 ~ 3.3%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1.3 ~ 3.5%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9억원 초과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3.0%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0.3%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0.2%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3.3%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3.5%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218688"/>
            <a:ext cx="5394960" cy="1463040"/>
          </a:xfrm>
          <a:prstGeom prst="roundRect">
            <a:avLst>
              <a:gd name="adj" fmla="val 2500"/>
            </a:avLst>
          </a:prstGeom>
          <a:solidFill>
            <a:srgbClr val="FFF6ED"/>
          </a:solidFill>
          <a:ln w="9525">
            <a:solidFill>
              <a:srgbClr val="F582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33284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6억 ~ 9억 구간 누진 산식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04672" y="3584448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취득세율(%) = (취득가액 ÷ 3억원 × 2 − 3)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4672" y="3913632"/>
            <a:ext cx="4882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예시 — 취득가액 7억 5,000만원인 경우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7.5 ÷ 3 = 2.5  →  2.5 × 2 = 5  →  5 − 3 = 2.0%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따라서 취득세 2.0%, 85㎡ 초과 시 합계 2.4%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45352" y="3218688"/>
            <a:ext cx="5394960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01384" y="33284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취득 원인별 세율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01384" y="3602736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유상 승계취득(매매) 1~3%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원시취득(신축) 2.8%   ·   상속 2.8%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증여 3.5%</a:t>
            </a:r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62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—  조정대상지역 공시가격 3억원 이상 주택을 다주택자가 증여하면 12%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4791456"/>
            <a:ext cx="11091672" cy="1371600"/>
          </a:xfrm>
          <a:prstGeom prst="roundRect">
            <a:avLst>
              <a:gd name="adj" fmla="val 2667"/>
            </a:avLst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4882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체크 포인트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22960" y="5138928"/>
            <a:ext cx="105430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신고·납부 기한은 취득일부터 60일 이내이며, 상속은 상속개시일이 속한 달의 말일부터 6개월입니다. 기한을 놓치면 무신고가산세와 납부지연가산세가 붙습니다.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농어촌특별세는 전용면적 85㎡(국민주택규모)를 초과할 때만 부과됩니다. 같은 가격이라도 84㎡와 99㎡의 세 부담이 다릅니다.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2026년부터 배우자·직계존비속으로부터 부동산을 취득하는 경우, 매매 대가를 지급한 사실이 증명되지 않으면 증여 취득세율이 적용되도록 기준이 강화되었습니다. 가족 간 저가 매매를 활용한 절세 여지가 줄었습니다.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취득세 ② 다주택 · 법인 중과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'새로 취득하는 주택의 소재지'와 '취득 후 주택 수'가 세율을 정합니다. 기존 주택의 소재지는 관계없습니다.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</a:t>
            </a:r>
            <a:endParaRPr lang="en-US" sz="8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965960"/>
                <a:gridCol w="1965960"/>
                <a:gridCol w="450799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취득 후 주택 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조정대상지역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비조정대상지역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주요 예외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1주택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5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 ~ 3%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5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 ~ 3%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기본 세율 적용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2주택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5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 ~ 3%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일시적 2주택은 기본 세율 (종전 주택을 통상 3년 내 처분 조건)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3주택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비조정지역이라도 3주택부터 중과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4주택 이상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지역 무관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법인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주택 수와 무관하게 원칙적으로 12%. 법인 목적·중과 제외 대상 여부에 따라 예외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증여 (공시가격 3억원 이상)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3.5%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다주택자가 조정대상지역 주택을 증여하는 경우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590288"/>
            <a:ext cx="11091672" cy="10973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4718304"/>
            <a:ext cx="3511296" cy="1444752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48280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주택 수에 포함되는 것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68096" y="5084064"/>
            <a:ext cx="31089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세대 기준으로 합산 (부부 + 동일 세대원)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2020.8.12 이후 취득한 분양권 · 입주권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조합원입주권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주택분 재산세가 과세되는 오피스텔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334256" y="4718304"/>
            <a:ext cx="3511296" cy="1444752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35424" y="48280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2E85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주택 수에서 제외되는 것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553712" y="5084064"/>
            <a:ext cx="31089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지방 소재 공시가격 2억원 이하 주택 (2025.1.2 이후 취득분)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공시가격 1억원 이하 주택 (재개발 구역 등 제외)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가정어린이집·사원용 주택 등 법정 제외 대상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119872" y="4718304"/>
            <a:ext cx="3520440" cy="1444752"/>
          </a:xfrm>
          <a:prstGeom prst="roundRect">
            <a:avLst>
              <a:gd name="adj" fmla="val 2532"/>
            </a:avLst>
          </a:prstGeom>
          <a:solidFill>
            <a:srgbClr val="FDF0EE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21040" y="48280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C62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많이 틀리는 지점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339328" y="5084064"/>
            <a:ext cx="31089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기준은 '새로 사는 집'의 소재지입니다. 조정지역 집을 갖고 비조정지역에서 2주택째를 사면 기본 세율입니다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부담부증여는 증여분과 유상취득분(채무 인수액)을 세목별로 나누어 계산해야 합니다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보유세 ① 재산세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매년 6월 1일 소유자에게 부과되며, 물건별로 과세합니다. 따라서 공동명의는 재산세 절세 효과가 없습니다.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298448"/>
            <a:ext cx="5394960" cy="1024128"/>
          </a:xfrm>
          <a:prstGeom prst="roundRect">
            <a:avLst>
              <a:gd name="adj" fmla="val 3571"/>
            </a:avLst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89888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과세표준 = 공시가격 × 공정시장가액비율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1719072"/>
            <a:ext cx="4882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공정시장가액비율 — 1세대 1주택: 공시가격 3억 이하 43%, 3억~6억 44%, 6억 초과 45% / 다주택자·법인: 60%</a:t>
            </a:r>
            <a:endParaRPr lang="en-US" sz="10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32304"/>
          <a:ext cx="5394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463040"/>
                <a:gridCol w="18288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과세표준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표준세율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1세대1주택 특례세율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(공시 9억원 이하)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6,000만원 이하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0.10%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5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0.05%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6,000만원 ~ 1.5억원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0.15%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5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0.10%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1.5억원 ~ 3억원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0.25%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5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0.20%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3억원 초과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0.40%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5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0.35%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4206240"/>
            <a:ext cx="5394960" cy="786384"/>
          </a:xfrm>
          <a:prstGeom prst="roundRect">
            <a:avLst>
              <a:gd name="adj" fmla="val 4651"/>
            </a:avLst>
          </a:prstGeom>
          <a:solidFill>
            <a:srgbClr val="FDF0EE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4297680"/>
            <a:ext cx="4882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C62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공시가격 9억원 초과 시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1세대 1주택이라도 세율 특례가 적용되지 않습니다. 같은 단지에서 공시가격 8.9억원과 9.1억원 세대의 재산세 격차가 계단식으로 벌어지는 이유입니다.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45352" y="1298448"/>
            <a:ext cx="5394960" cy="2212848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01384" y="14081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부가되는 세목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519672" y="1664208"/>
            <a:ext cx="48828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도시지역분 — 도시계획구역 내 주택은 과세표준 × 0.14% 추가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지방교육세 — 산출된 재산세액 × 20%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지역자원시설분 — 건축물 등에 별도 부과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501384" y="25237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급등 방지 완충장치 2종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519672" y="2779776"/>
            <a:ext cx="4882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과세표준상한제 — 과세표준이 직전 연도 과세표준의 일정 비율을 넘지 못하도록 상한을 둡니다. 공시가격이 크게 올라도 과세표준 증가폭이 억제됩니다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세부담상한 — 직전 연도 세액 대비 공시가격 3억 이하 105%, 3억~6억 110%, 6억 초과 130%까지만 증가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245352" y="3621024"/>
            <a:ext cx="539496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01384" y="37307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납부 일정과 실무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19672" y="3986784"/>
            <a:ext cx="48828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1기분 7월 16~31일, 2기분 9월 16~30일 (각 1/2씩)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연세액 20만원 이하이면 7월에 전액 고지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세액 250만원 초과 시 분납 신청 가능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6월 1일 현재 소유자가 납세의무자 — 잔금일을 6월 1일 전후로 조정하면 1년치 부담 주체가 바뀝니다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48640" y="5138928"/>
            <a:ext cx="5394960" cy="1024128"/>
          </a:xfrm>
          <a:prstGeom prst="roundRect">
            <a:avLst>
              <a:gd name="adj" fmla="val 3571"/>
            </a:avLst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4672" y="52303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공동명의 절세 여부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04672" y="5468112"/>
            <a:ext cx="4882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재산세는 물건별 과세이므로 부부 공동명의로 바꾸어도 총액은 같습니다. 공동명의의 절세 효과는 종합부동산세(인별 공제)와 양도소득세(인별 기본공제·누진세율 분산)에서 나타납니다.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보유세 ② 종합부동산세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재산세와 달리 인별로 전국 합산합니다. 공동명의가 실제 절세로 이어지는 세목입니다.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298448"/>
            <a:ext cx="11091672" cy="694944"/>
          </a:xfrm>
          <a:prstGeom prst="roundRect">
            <a:avLst>
              <a:gd name="adj" fmla="val 5263"/>
            </a:avLst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98448"/>
            <a:ext cx="10543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과세표준 = [ 전국 합산 공시가격 − 공제금액 ] × 공정시장가액비율 60%   →   산출세액 = 과세표준 × 세율 − 누진공제 − 공제할 재산세액 − 세액공제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39696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55448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공제금액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세율 범위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개인 · 1세대 1주택자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85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12억원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0.5 ~ 2.7%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개인 · 그 외 (2주택 이하)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9억원 (인별)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0.5 ~ 2.7%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개인 · 3주택 이상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9억원 (인별)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0.5 ~ 5.0%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법인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2.7% / 5.0% 단일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041648"/>
            <a:ext cx="5486400" cy="1005840"/>
          </a:xfrm>
          <a:prstGeom prst="roundRect">
            <a:avLst>
              <a:gd name="adj" fmla="val 3636"/>
            </a:avLst>
          </a:prstGeom>
          <a:solidFill>
            <a:srgbClr val="FFF6ED"/>
          </a:solidFill>
          <a:ln w="9525">
            <a:solidFill>
              <a:srgbClr val="F582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4133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공동명의의 힘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04672" y="4389120"/>
            <a:ext cx="49743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공제금액은 인별로 적용됩니다. 부부가 각각 9억원씩 총 18억원을 공제받을 수 있어, 1세대 1주택 단독명의(12억원)보다 유리한 구간이 존재합니다. 다만 고령자·장기보유 세액공제(최대 80%)는 1세대 1주택자 판정을 받아야 적용되므로, 부부 공동명의 1주택 특례 신청 여부를 함께 비교해야 합니다.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336792" y="2139696"/>
            <a:ext cx="5303520" cy="1847088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92824" y="22494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1세대 1주택자 세액공제 — 합산 최대 80%</a:t>
            </a:r>
            <a:endParaRPr lang="en-US" sz="95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92824" y="2505456"/>
          <a:ext cx="4791456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1481328"/>
                <a:gridCol w="1024128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연령별 공제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공제율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보유기간별 공제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공제율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60세 이상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20%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5년 이상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20%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65세 이상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30%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10년 이상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40%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70세 이상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40%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15년 이상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50%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6592824" y="365760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공제를 합산하되 한도는 80%입니다. 70세 이상 + 15년 보유이면 40% + 50% = 90%이지만 80%까지만 적용됩니다.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336792" y="4041648"/>
            <a:ext cx="530352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592824" y="41330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1세대 1주택으로 보아주는 특례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592824" y="4389120"/>
            <a:ext cx="4791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일시적 2주택(신규 주택 취득), 상속주택, 지방 저가주택, 인구감소지역 주택, 준공 후 미분양주택을 1주택과 함께 보유하는 경우 신청에 의해 1세대 1주택자로 판정받을 수 있습니다. 자동 적용이 아니라 반드시 신청해야 합니다.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48640" y="5138928"/>
            <a:ext cx="11091672" cy="1024128"/>
          </a:xfrm>
          <a:prstGeom prst="roundRect">
            <a:avLst>
              <a:gd name="adj" fmla="val 3571"/>
            </a:avLst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22960" y="52303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납부와 완충장치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822960" y="5449824"/>
            <a:ext cx="10543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과세기준일 6월 1일, 납부기간 12월 1~15일. 250만원 초과 시 분납 가능. 국세청이 고지하므로 신고는 불필요하나, 합산배제·특례는 9월에 별도 신고해야 합니다.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세부담상한 150% — 직전 연도의 재산세와 종합부동산세 합계액의 150%를 초과하는 금액은 과세하지 않습니다.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재산세와의 이중과세를 조정하기 위해 동일 과세표준에 부과된 재산세 상당액을 종부세 산출세액에서 공제합니다.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주택임대소득세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주택 수는 부부 합산입니다. 2026년 귀속분부터 고가 2주택 전세에도 과세가 시작되었습니다.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</a:t>
            </a:r>
            <a:endParaRPr lang="en-US" sz="8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69087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보유 주택 수 (부부 합산)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보증금 (간주임대료)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1주택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85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비과세. 단 기준시가 12억원 초과 주택 또는 국외 소재 주택은 과세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85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과세하지 않음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2주택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전액 과세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2026년 신설 — 두 주택 모두 기준시가 12억원 초과이고 임대보증금 합계가 12억원을 초과하면 간주임대료 과세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3주택 이상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전액 과세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보증금 합계가 3억원을 초과하면 간주임대료 과세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090672"/>
            <a:ext cx="5394960" cy="1152144"/>
          </a:xfrm>
          <a:prstGeom prst="roundRect">
            <a:avLst>
              <a:gd name="adj" fmla="val 3175"/>
            </a:avLst>
          </a:prstGeom>
          <a:solidFill>
            <a:srgbClr val="FFF6ED"/>
          </a:solidFill>
          <a:ln w="9525">
            <a:solidFill>
              <a:srgbClr val="F582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31821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간주임대료 계산식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04672" y="340156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(보증금 합계 − 3억원) × 60% × 정기예금이자율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4672" y="3694176"/>
            <a:ext cx="4882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과세 여부 판정 기준(12억원)과 계산식에서 차감하는 금액(3억원)은 다릅니다. 실무에서 가장 자주 혼동되는 부분입니다. 정기예금이자율은 매년 고시되며 최근 기준 3.1% 수준이 적용되어 왔습니다.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245352" y="3090672"/>
            <a:ext cx="5394960" cy="1152144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01384" y="31821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C62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소형주택 주택 수 제외 특례 — 일몰 임박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01384" y="3419856"/>
            <a:ext cx="48828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전용면적 40㎡ 이하이면서 기준시가 2억원 이하인 소형주택은 간주임대료 판정 시 주택 수에서 제외됩니다. 이 특례는 2026년 12월 31일에 일몰 예정이며, 연장되지 않으면 2027년 귀속분부터 소형주택도 주택 수에 포함되어 3주택 이상 판정에 영향을 줍니다.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4352544"/>
            <a:ext cx="11091672" cy="10973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44439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수입금액 2,000만원 이하 — 분리과세와 종합과세 중 선택</a:t>
            </a:r>
            <a:endParaRPr lang="en-US" sz="140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73168"/>
          <a:ext cx="110916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188720"/>
                <a:gridCol w="1920240"/>
                <a:gridCol w="1371600"/>
                <a:gridCol w="414223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세율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필요경비율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기본공제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유리한 경우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분리과세 · 미등록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200만원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다른 종합소득이 많아 높은 누진세율이 적용되는 경우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분리과세 · 등록임대주택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5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5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400만원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임대료 인상률 등 요건 충족 시 세 부담이 크게 감소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종합과세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 ~ 45%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실제 경비 또는 추계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종합소득공제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다른 소득이 적거나 없는 경우 (전업 임대 등)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548640" y="605332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 — 사업자 미등록 시 수입금액의 0.2% 가산세. 임대소득으로 건강보험 피부양자 자격이 탈락하면 세액보다 건보료 증가액이 더 클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양도소득세 ① 기본 구조와 1세대 1주택 비과세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양도가액 12억원까지는 비과세이고, 초과분만 비율로 계산해 과세합니다.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298448"/>
            <a:ext cx="1463040" cy="749808"/>
          </a:xfrm>
          <a:prstGeom prst="roundRect">
            <a:avLst>
              <a:gd name="adj" fmla="val 4878"/>
            </a:avLst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9844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양도가액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44268" y="1298448"/>
            <a:ext cx="1463040" cy="749808"/>
          </a:xfrm>
          <a:prstGeom prst="roundRect">
            <a:avLst>
              <a:gd name="adj" fmla="val 4878"/>
            </a:avLst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4268" y="129844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 취득가액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 필요경비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39896" y="1298448"/>
            <a:ext cx="1463040" cy="749808"/>
          </a:xfrm>
          <a:prstGeom prst="roundRect">
            <a:avLst>
              <a:gd name="adj" fmla="val 4878"/>
            </a:avLst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9896" y="129844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 양도차익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35524" y="1298448"/>
            <a:ext cx="1463040" cy="749808"/>
          </a:xfrm>
          <a:prstGeom prst="roundRect">
            <a:avLst>
              <a:gd name="adj" fmla="val 4878"/>
            </a:avLst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35524" y="129844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 장기보유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특별공제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31152" y="1298448"/>
            <a:ext cx="1463040" cy="749808"/>
          </a:xfrm>
          <a:prstGeom prst="roundRect">
            <a:avLst>
              <a:gd name="adj" fmla="val 4878"/>
            </a:avLst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31152" y="129844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 기본공제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250만원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526780" y="1298448"/>
            <a:ext cx="1463040" cy="749808"/>
          </a:xfrm>
          <a:prstGeom prst="roundRect">
            <a:avLst>
              <a:gd name="adj" fmla="val 4878"/>
            </a:avLst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26780" y="129844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 과세표준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122408" y="1298448"/>
            <a:ext cx="1463040" cy="749808"/>
          </a:xfrm>
          <a:prstGeom prst="roundRect">
            <a:avLst>
              <a:gd name="adj" fmla="val 4878"/>
            </a:avLst>
          </a:prstGeom>
          <a:solidFill>
            <a:srgbClr val="F58220"/>
          </a:solidFill>
          <a:ln w="9525">
            <a:solidFill>
              <a:srgbClr val="F582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22408" y="129844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세율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210312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지방소득세는 양도소득세액의 10%가 별도로 부과되며, 홈택스가 아닌 위택스에서 따로 신고합니다.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2432304"/>
            <a:ext cx="5394960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2542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보유기간별 세율 (주택 · 조합원입주권)</a:t>
            </a:r>
            <a:endParaRPr lang="en-US" sz="9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2798064"/>
          <a:ext cx="4882896" cy="914400"/>
        </p:xfrm>
        <a:graphic>
          <a:graphicData uri="http://schemas.openxmlformats.org/drawingml/2006/table">
            <a:tbl>
              <a:tblPr/>
              <a:tblGrid>
                <a:gridCol w="1682496"/>
                <a:gridCol w="1645920"/>
                <a:gridCol w="15544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보유기간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세율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비고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1년 미만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단기 차익 환수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1년 이상 2년 미만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단기 차익 환수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2년 이상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3B7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 ~ 45% 기본세율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과세표준 구간별 누진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6245352" y="2432304"/>
            <a:ext cx="5394960" cy="1627632"/>
          </a:xfrm>
          <a:prstGeom prst="roundRect">
            <a:avLst>
              <a:gd name="adj" fmla="val 2247"/>
            </a:avLst>
          </a:prstGeom>
          <a:solidFill>
            <a:srgbClr val="FFF6ED"/>
          </a:solidFill>
          <a:ln w="9525">
            <a:solidFill>
              <a:srgbClr val="F5822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01384" y="2542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1세대 1주택 비과세 요건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519672" y="2798064"/>
            <a:ext cx="488289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양도일 기준 1세대가 국내에 1주택만 보유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2년 이상 보유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취득 당시 조정대상지역이었다면 2년 이상 거주까지 필요 (조정대상지역 해제 후 취득한 주택은 거주 요건 없음)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양도가액 12억원 이하 전액 비과세, 초과분만 과세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4187952"/>
            <a:ext cx="5394960" cy="1975104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4672" y="4297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12억원 초과 주택의 과세 대상 계산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804672" y="4553712"/>
            <a:ext cx="4882896" cy="457200"/>
          </a:xfrm>
          <a:prstGeom prst="roundRect">
            <a:avLst>
              <a:gd name="adj" fmla="val 8000"/>
            </a:avLst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59536" y="4553712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과세 대상 양도차익 = 전체 양도차익 × (양도가액 − 12억) ÷ 양도가액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04672" y="51023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예시 — 양도가액 15억원, 전체 양도차익 7억원인 1세대 1주택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04672" y="5358384"/>
            <a:ext cx="4882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과세 대상 차익 = 7억 × (15억 − 12억) ÷ 15억 = 7억 × 20% = 1억 4,000만원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차익 7억원 중 1.4억원만 과세 대상이 되고, 여기에 장기보유특별공제까지 적용하면 실제 세액은 더 줄어듭니다.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245352" y="4187952"/>
            <a:ext cx="5394960" cy="1975104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01384" y="4297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장기보유특별공제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501384" y="455371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부동산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8311896" y="45537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6% ~ 30%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9354312" y="453542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3년 이상 보유, 15년 이상 시 30%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501384" y="4864608"/>
            <a:ext cx="4882896" cy="7315"/>
          </a:xfrm>
          <a:prstGeom prst="rect">
            <a:avLst/>
          </a:prstGeom>
          <a:solidFill>
            <a:srgbClr val="E5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01384" y="491947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1세대 1주택 (과세분)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8311896" y="49194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5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80%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9354312" y="490118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보유 최대 40% + 거주 최대 40%, 3년 보유·2년 거주 이상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6501384" y="5230368"/>
            <a:ext cx="4882896" cy="7315"/>
          </a:xfrm>
          <a:prstGeom prst="rect">
            <a:avLst/>
          </a:prstGeom>
          <a:solidFill>
            <a:srgbClr val="E5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01384" y="528523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다주택 중과 대상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8311896" y="52852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배제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9354312" y="526694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2026.5.10 이후 조정지역 다주택 양도분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501384" y="5705856"/>
            <a:ext cx="4882896" cy="365760"/>
          </a:xfrm>
          <a:prstGeom prst="roundRect">
            <a:avLst>
              <a:gd name="adj" fmla="val 10000"/>
            </a:avLst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501384" y="5705856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601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— 10년 보유 + 8년 거주 시  보유 40% + 거주 32% = 총 72% 공제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양도소득세 ② 2026년 5월 10일, 다주택 중과 부활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4년간 이어진 한시 배제가 예정대로 종료되었습니다. 올해 가장 큰 세제 변화입니다.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298448"/>
            <a:ext cx="5394960" cy="1517904"/>
          </a:xfrm>
          <a:prstGeom prst="roundRect">
            <a:avLst>
              <a:gd name="adj" fmla="val 2410"/>
            </a:avLst>
          </a:prstGeom>
          <a:solidFill>
            <a:srgbClr val="FDF0EE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4081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C62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부활한 중과 구조</a:t>
            </a:r>
            <a:endParaRPr lang="en-US" sz="9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664208"/>
          <a:ext cx="4882896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1499616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보유 주택 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적용 세율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최고 세율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2주택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기본세율 + 20%p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65%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3주택 이상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기본세율 + 30%p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75%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04672" y="2505456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조정대상지역 소재 주택을 양도하는 경우에 적용되며, 장기보유특별공제가 전면 배제됩니다. 지방소득세 10%는 별도입니다.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245352" y="1298448"/>
            <a:ext cx="5394960" cy="1517904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01384" y="14081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세액 비교 — 조정지역 2주택, 양도차익 5억원, 10년 보유</a:t>
            </a:r>
            <a:endParaRPr lang="en-US" sz="95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01384" y="1664208"/>
          <a:ext cx="4882896" cy="914400"/>
        </p:xfrm>
        <a:graphic>
          <a:graphicData uri="http://schemas.openxmlformats.org/drawingml/2006/table">
            <a:tbl>
              <a:tblPr/>
              <a:tblGrid>
                <a:gridCol w="1316736"/>
                <a:gridCol w="1097280"/>
                <a:gridCol w="1097280"/>
                <a:gridCol w="13716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장특공제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과세표준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산출세액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2026.5.9 이전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85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20% 적용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약 3.98억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5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약 1.33억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2026.5.10 이후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배제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약 4.98억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약 2.73억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6501384" y="2505456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조건에서 세액이 약 1.4억원 늘어납니다(지방소득세 제외, 가정치 기준 개략 계산). 실제 세액은 취득가액·필요경비·거주기간에 따라 달라집니다.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" y="2944368"/>
            <a:ext cx="11091672" cy="10973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" y="30723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보완 조치 — 2026년 2월 27일 공포된 소득세법 시행령 개정</a:t>
            </a:r>
            <a:endParaRPr lang="en-US" sz="1400" dirty="0"/>
          </a:p>
        </p:txBody>
      </p:sp>
      <p:graphicFrame>
        <p:nvGraphicFramePr>
          <p:cNvPr id="8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19856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8056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요건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① 허가 신청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2026년 5월 9일까지 토지거래허가를 신청해야 합니다.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② 허가 후 계약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토지거래허가를 받은 뒤 매매계약을 체결하고, 계약금 수령 사실을 금융거래내역 등 객관적 증빙으로 확인받아야 합니다.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③ 잔금 · 등기 기한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계약일부터 4개월 이내 — 강남구·서초구·송파구·용산구 소재 주택 (2026년 9월 9일까지로 한정)   /   계약일부터 6개월 이내 — 2025년 10월 16일 신규 지정 조정대상지역 주택 (2026년 11월 9일까지로 한정)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임차인 보호 연계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임대 중인 주택은 2026년 2월 12일 현재 체결된 임대차계약의 최초 종료일까지 실거주 의무가 유예되며, 늦어도 2028년 2월 11일까지는 입주해야 합니다. 이는 1차 보완조치이며, 대상을 넓힌 2026년 5월 12일 확대조치(2026.5.29. 시행, 10쪽)와는 별개입니다.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3"/>
          <p:cNvSpPr/>
          <p:nvPr/>
        </p:nvSpPr>
        <p:spPr>
          <a:xfrm>
            <a:off x="548640" y="5705856"/>
            <a:ext cx="11091672" cy="475488"/>
          </a:xfrm>
          <a:prstGeom prst="roundRect">
            <a:avLst>
              <a:gd name="adj" fmla="val 7692"/>
            </a:avLst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04672" y="5705856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도구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홈택스 → 세금신고 → 양도소득세 신고 → 모의계산 → 비과세·중과세 자가진단 (손택스 모바일에서도 동일 경로 제공). 주택 수 판정에는 조합원입주권·분양권, 상속·동거봉양·혼인 특례, 일시적 2주택 등이 얽히므로 반드시 자가진단과 세무 검토를 병행해야 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091672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하반기 변수와 상담 체크리스트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8월 3일 세제개편안이 발표돼 국회 심의 중입니다. 12월 처리·2027년 시행이 유력합니다.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391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2026.10.01 현행 기준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1672" y="63916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298448"/>
            <a:ext cx="5486400" cy="3968496"/>
          </a:xfrm>
          <a:prstGeom prst="roundRect">
            <a:avLst>
              <a:gd name="adj" fmla="val 922"/>
            </a:avLst>
          </a:prstGeom>
          <a:solidFill>
            <a:srgbClr val="FFF6ED"/>
          </a:solidFill>
          <a:ln w="9525">
            <a:solidFill>
              <a:srgbClr val="F582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4081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부동산 세제개편안 — 2026년 8월 3일 발표 · 국회 심의 중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4672" y="1664208"/>
            <a:ext cx="4974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정부안은 2026년 9월 3일 국회에 제출돼 9월 28일 기획재정위원회에 상정되었습니다. 12월 본회의 처리 후 2027년 시행이 통상 경로이며, 아직 확정·시행된 내용은 없습니다.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231136"/>
            <a:ext cx="4974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발표된 3대 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487168"/>
            <a:ext cx="49743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보유 주택 수보다 보유가액 중심으로 과세 기준 재편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'표준 1주택'을 기준으로 세 부담 차등화 — 실거주·서민·중산층·지방 주택은 완화, 초고가·다주택·비거주 보유는 강화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보유세는 강화, 거래세는 완화 — 매물 잠김 방지 한시 퇴로 포함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3419856"/>
            <a:ext cx="4974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발표안의 핵심 수단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675888"/>
            <a:ext cx="49743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종부세 공정시장가액비율 60% → 70%(2027), 다주택 80%(2028)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1세대 1주택 기본공제 12억 → 거주 14억 · 비거주 9억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장특공을 실거주 중심 개편 · 다주택 중과 2027~28년 한시 인하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" y="4626864"/>
            <a:ext cx="4974336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F582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4626864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CB601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타이밍 판단 — 2026년분 보유세에는 적용되지 않으며, 국회 통과 시 2027년분부터 반영됩니다.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36792" y="1298448"/>
            <a:ext cx="5303520" cy="3968496"/>
          </a:xfrm>
          <a:prstGeom prst="roundRect">
            <a:avLst>
              <a:gd name="adj" fmla="val 922"/>
            </a:avLst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2824" y="14081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043B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 체크리스트 10문항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611112" y="1664208"/>
            <a:ext cx="486460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□"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 주택 소재지가 규제지역·토지거래허가구역인가 — 반드시 상담 당일 기준으로 재확인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□"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등기부등본상 대지권 면적이 허가 대상 기준(서울 주거지역 6㎡)을 초과하는가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□"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세대 기준 주택 수는 몇 채인가 — 분양권·입주권·주택분 재산세 과세 오피스텔 포함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□"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취득 당시 조정대상지역이었는가 — 1세대 1주택 비과세의 거주요건 판단 기준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□"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잔금일이 언제인가 — 취득세·양도세·보유세 모두 시점이 세율을 정함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□"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LTV·DSR·절대한도 중 무엇이 가장 먼저 걸리는가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□"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전입 의무 기한과 임대차 잔여기간이 서로 충돌하지 않는가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□"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자금조달계획서 증빙이 준비되었는가 — 가족 간 차용금은 차용증·이자·상환 이력 3종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□"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 중인 주택의 간주임대료 과세 여부 — 2026년 신설된 고가 2주택 요건 확인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□"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세제개편안 국회 통과(12월 예정) 후 재점검 일정을 잡았는가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5413248"/>
            <a:ext cx="11091672" cy="749808"/>
          </a:xfrm>
          <a:prstGeom prst="roundRect">
            <a:avLst>
              <a:gd name="adj" fmla="val 4878"/>
            </a:avLst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5413248"/>
            <a:ext cx="10579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C628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자료의 한계  </a:t>
            </a:r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10월 1일 시점의 공개 자료를 정리한 교육용 자료입니다. 부동산 세제와 대출·거래규제는 시행령 개정만으로도 빠르게 바뀌고, 개별 사안의 세액과 대출 한도는 취득 시기, 세대 구성, 주택 수 산정, 금융기관 심사 기준에 따라 달라집니다. 실제 의사결정 전에는 반드시 세무사·회계사 및 취급 금융기관의 확인을 받으시기 바랍니다. 본 자료는 특정 거래를 권유하지 않습니다.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2026-07-28T10:39:07Z</dcterms:created>
  <dcterms:modified xsi:type="dcterms:W3CDTF">2026-07-28T10:39:07Z</dcterms:modified>
</cp:coreProperties>
</file>