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1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2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charts/chart3.xml" ContentType="application/vnd.openxmlformats-officedocument.drawingml.chart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charts/chart4.xml" ContentType="application/vnd.openxmlformats-officedocument.drawingml.chart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charts/chart5.xml" ContentType="application/vnd.openxmlformats-officedocument.drawingml.chart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charts/chart6.xml" ContentType="application/vnd.openxmlformats-officedocument.drawingml.chart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</p:sldIdLst>
  <p:notesMasterIdLst>
    <p:notesMasterId r:id="rId3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추가 세부담</c:v>
                </c:pt>
              </c:strCache>
            </c:strRef>
          </c:tx>
          <c:spPr>
            <a:solidFill>
              <a:srgbClr val="F58220"/>
            </a:solidFill>
            <a:effectLst/>
          </c:spPr>
          <c:invertIfNegative val="0"/>
          <c:dLbls>
            <c:numFmt formatCode="#,##0&quot;만원&quot;" sourceLinked="0"/>
            <c:txPr>
              <a:bodyPr/>
              <a:lstStyle/>
              <a:p>
                <a:pPr>
                  <a:defRPr b="1" i="0" strike="noStrike" sz="1000" u="none">
                    <a:solidFill>
                      <a:srgbClr val="000000"/>
                    </a:solidFill>
                    <a:latin typeface="Spoqa Han Sans Neo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F58220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43B72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FAB072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0086B8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F58220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한계세율 15%</c:v>
                  </c:pt>
                  <c:pt idx="1">
                    <c:v>한계세율 24%</c:v>
                  </c:pt>
                  <c:pt idx="2">
                    <c:v>한계세율 35%</c:v>
                  </c:pt>
                  <c:pt idx="3">
                    <c:v>한계세율 38%</c:v>
                  </c:pt>
                  <c:pt idx="4">
                    <c:v>한계세율 45%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11</c:v>
                </c:pt>
                <c:pt idx="1">
                  <c:v>110</c:v>
                </c:pt>
                <c:pt idx="2">
                  <c:v>231</c:v>
                </c:pt>
                <c:pt idx="3">
                  <c:v>264</c:v>
                </c:pt>
                <c:pt idx="4">
                  <c:v>341</c:v>
                </c:pt>
              </c:numCache>
            </c:numRef>
          </c:val>
        </c:ser>
        <c:dLbls>
          <c:numFmt formatCode="#,##0&quot;만원&quot;" sourceLinked="0"/>
          <c:txPr>
            <a:bodyPr/>
            <a:lstStyle/>
            <a:p>
              <a:pPr>
                <a:defRPr b="1" i="0" strike="noStrike" sz="1000" u="none">
                  <a:solidFill>
                    <a:srgbClr val="000000"/>
                  </a:solidFill>
                  <a:latin typeface="Spoqa Han Sans Neo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3D3D3D"/>
                </a:solidFill>
                <a:latin typeface="Spoqa Han Sans Neo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00"/>
        </c:scaling>
        <c:delete val="0"/>
        <c:axPos val="l"/>
        <c:majorGridlines>
          <c:spPr>
            <a:ln w="6350" cap="flat">
              <a:solidFill>
                <a:srgbClr val="E5E4E1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C6C6C"/>
                </a:solidFill>
                <a:latin typeface="Spoqa Han Sans Neo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분리과세 (지방세 포함)</c:v>
                </c:pt>
              </c:strCache>
            </c:strRef>
          </c:tx>
          <c:spPr>
            <a:solidFill>
              <a:srgbClr val="F58220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1" i="0" strike="noStrike" sz="1000" u="none">
                    <a:solidFill>
                      <a:srgbClr val="000000"/>
                    </a:solidFill>
                    <a:latin typeface="Spoqa Han Sans Neo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2,000만원 이하</c:v>
                  </c:pt>
                  <c:pt idx="1">
                    <c:v>2,000만 ~ 3억</c:v>
                  </c:pt>
                  <c:pt idx="2">
                    <c:v>3억 ~ 50억</c:v>
                  </c:pt>
                  <c:pt idx="3">
                    <c:v>50억 초과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15.4</c:v>
                </c:pt>
                <c:pt idx="1">
                  <c:v>22</c:v>
                </c:pt>
                <c:pt idx="2">
                  <c:v>27.5</c:v>
                </c:pt>
                <c:pt idx="3">
                  <c:v>33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종합과세 최고세율</c:v>
                </c:pt>
              </c:strCache>
            </c:strRef>
          </c:tx>
          <c:spPr>
            <a:solidFill>
              <a:srgbClr val="043B72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1" i="0" strike="noStrike" sz="1000" u="none">
                    <a:solidFill>
                      <a:srgbClr val="000000"/>
                    </a:solidFill>
                    <a:latin typeface="Spoqa Han Sans Neo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2,000만원 이하</c:v>
                  </c:pt>
                  <c:pt idx="1">
                    <c:v>2,000만 ~ 3억</c:v>
                  </c:pt>
                  <c:pt idx="2">
                    <c:v>3억 ~ 50억</c:v>
                  </c:pt>
                  <c:pt idx="3">
                    <c:v>50억 초과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49.5</c:v>
                </c:pt>
                <c:pt idx="1">
                  <c:v>49.5</c:v>
                </c:pt>
                <c:pt idx="2">
                  <c:v>49.5</c:v>
                </c:pt>
                <c:pt idx="3">
                  <c:v>49.5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1" i="0" strike="noStrike" sz="1000" u="none">
                  <a:solidFill>
                    <a:srgbClr val="000000"/>
                  </a:solidFill>
                  <a:latin typeface="Spoqa Han Sans Neo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3D3D3D"/>
                </a:solidFill>
                <a:latin typeface="Spoqa Han Sans Neo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60"/>
        </c:scaling>
        <c:delete val="0"/>
        <c:axPos val="l"/>
        <c:majorGridlines>
          <c:spPr>
            <a:ln w="6350" cap="flat">
              <a:solidFill>
                <a:srgbClr val="E5E4E1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C6C6C"/>
                </a:solidFill>
                <a:latin typeface="Spoqa Han Sans Neo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50">
              <a:solidFill>
                <a:srgbClr val="6C6C6C"/>
              </a:solidFill>
              <a:latin typeface="Spoqa Han Sans Neo"/>
              <a:cs typeface="Spoqa Han Sans Neo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총 세부담</c:v>
                </c:pt>
              </c:strCache>
            </c:strRef>
          </c:tx>
          <c:spPr>
            <a:solidFill>
              <a:srgbClr val="F58220"/>
            </a:solidFill>
            <a:effectLst/>
          </c:spPr>
          <c:invertIfNegative val="0"/>
          <c:dLbls>
            <c:numFmt formatCode="#,##0&quot;만원&quot;" sourceLinked="0"/>
            <c:txPr>
              <a:bodyPr/>
              <a:lstStyle/>
              <a:p>
                <a:pPr>
                  <a:defRPr b="1" i="0" strike="noStrike" sz="1000" u="none">
                    <a:solidFill>
                      <a:srgbClr val="000000"/>
                    </a:solidFill>
                    <a:latin typeface="Spoqa Han Sans Neo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F58220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43B72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종합과세</c:v>
                  </c:pt>
                  <c:pt idx="1">
                    <c:v>고배당 분리과세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7728.6</c:v>
                </c:pt>
                <c:pt idx="1">
                  <c:v>6144.6</c:v>
                </c:pt>
              </c:numCache>
            </c:numRef>
          </c:val>
        </c:ser>
        <c:dLbls>
          <c:numFmt formatCode="#,##0&quot;만원&quot;" sourceLinked="0"/>
          <c:txPr>
            <a:bodyPr/>
            <a:lstStyle/>
            <a:p>
              <a:pPr>
                <a:defRPr b="1" i="0" strike="noStrike" sz="1000" u="none">
                  <a:solidFill>
                    <a:srgbClr val="000000"/>
                  </a:solidFill>
                  <a:latin typeface="Spoqa Han Sans Neo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1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3D3D3D"/>
                </a:solidFill>
                <a:latin typeface="Spoqa Han Sans Neo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9000"/>
        </c:scaling>
        <c:delete val="0"/>
        <c:axPos val="l"/>
        <c:majorGridlines>
          <c:spPr>
            <a:ln w="6350" cap="flat">
              <a:solidFill>
                <a:srgbClr val="E5E4E1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C6C6C"/>
                </a:solidFill>
                <a:latin typeface="Spoqa Han Sans Neo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연간 소득분 보험료</c:v>
                </c:pt>
              </c:strCache>
            </c:strRef>
          </c:tx>
          <c:spPr>
            <a:solidFill>
              <a:srgbClr val="F58220"/>
            </a:solidFill>
            <a:effectLst/>
          </c:spPr>
          <c:invertIfNegative val="0"/>
          <c:dLbls>
            <c:numFmt formatCode="#,##0&quot;만원&quot;" sourceLinked="0"/>
            <c:txPr>
              <a:bodyPr/>
              <a:lstStyle/>
              <a:p>
                <a:pPr>
                  <a:defRPr b="1" i="0" strike="noStrike" sz="1000" u="none">
                    <a:solidFill>
                      <a:srgbClr val="000000"/>
                    </a:solidFill>
                    <a:latin typeface="Spoqa Han Sans Neo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F58220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43B72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FAB072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0086B8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990만원</c:v>
                  </c:pt>
                  <c:pt idx="1">
                    <c:v>1,200만원</c:v>
                  </c:pt>
                  <c:pt idx="2">
                    <c:v>2,000만원</c:v>
                  </c:pt>
                  <c:pt idx="3">
                    <c:v>3,000만원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</c:v>
                </c:pt>
                <c:pt idx="1">
                  <c:v>98</c:v>
                </c:pt>
                <c:pt idx="2">
                  <c:v>163</c:v>
                </c:pt>
                <c:pt idx="3">
                  <c:v>244</c:v>
                </c:pt>
              </c:numCache>
            </c:numRef>
          </c:val>
        </c:ser>
        <c:dLbls>
          <c:numFmt formatCode="#,##0&quot;만원&quot;" sourceLinked="0"/>
          <c:txPr>
            <a:bodyPr/>
            <a:lstStyle/>
            <a:p>
              <a:pPr>
                <a:defRPr b="1" i="0" strike="noStrike" sz="1000" u="none">
                  <a:solidFill>
                    <a:srgbClr val="000000"/>
                  </a:solidFill>
                  <a:latin typeface="Spoqa Han Sans Neo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3D3D3D"/>
                </a:solidFill>
                <a:latin typeface="Spoqa Han Sans Neo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00"/>
        </c:scaling>
        <c:delete val="0"/>
        <c:axPos val="l"/>
        <c:majorGridlines>
          <c:spPr>
            <a:ln w="6350" cap="flat">
              <a:solidFill>
                <a:srgbClr val="E5E4E1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C6C6C"/>
                </a:solidFill>
                <a:latin typeface="Spoqa Han Sans Neo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평균 부담률</c:v>
                </c:pt>
              </c:strCache>
            </c:strRef>
          </c:tx>
          <c:spPr>
            <a:solidFill>
              <a:srgbClr val="F58220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000" u="none">
                    <a:solidFill>
                      <a:srgbClr val="000000"/>
                    </a:solidFill>
                    <a:latin typeface="Spoqa Han Sans Neo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F58220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43B72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FAB072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0086B8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F58220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10년</c:v>
                  </c:pt>
                  <c:pt idx="1">
                    <c:v>15년</c:v>
                  </c:pt>
                  <c:pt idx="2">
                    <c:v>20년</c:v>
                  </c:pt>
                  <c:pt idx="3">
                    <c:v>25년</c:v>
                  </c:pt>
                  <c:pt idx="4">
                    <c:v>30년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70</c:v>
                </c:pt>
                <c:pt idx="1">
                  <c:v>67</c:v>
                </c:pt>
                <c:pt idx="2">
                  <c:v>65</c:v>
                </c:pt>
                <c:pt idx="3">
                  <c:v>62</c:v>
                </c:pt>
                <c:pt idx="4">
                  <c:v>60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000" u="none">
                  <a:solidFill>
                    <a:srgbClr val="000000"/>
                  </a:solidFill>
                  <a:latin typeface="Spoqa Han Sans Neo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3D3D3D"/>
                </a:solidFill>
                <a:latin typeface="Spoqa Han Sans Neo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5"/>
          <c:min val="0"/>
        </c:scaling>
        <c:delete val="0"/>
        <c:axPos val="l"/>
        <c:majorGridlines>
          <c:spPr>
            <a:ln w="6350" cap="flat">
              <a:solidFill>
                <a:srgbClr val="E5E4E1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C6C6C"/>
                </a:solidFill>
                <a:latin typeface="Spoqa Han Sans Neo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총 납부세액</c:v>
                </c:pt>
              </c:strCache>
            </c:strRef>
          </c:tx>
          <c:spPr>
            <a:solidFill>
              <a:srgbClr val="F58220"/>
            </a:solidFill>
            <a:effectLst/>
          </c:spPr>
          <c:invertIfNegative val="0"/>
          <c:dLbls>
            <c:numFmt formatCode="#,##0&quot;만원&quot;" sourceLinked="0"/>
            <c:txPr>
              <a:bodyPr/>
              <a:lstStyle/>
              <a:p>
                <a:pPr>
                  <a:defRPr b="1" i="0" strike="noStrike" sz="1000" u="none">
                    <a:solidFill>
                      <a:srgbClr val="000000"/>
                    </a:solidFill>
                    <a:latin typeface="Spoqa Han Sans Neo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F58220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43B72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FAB072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0086B8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F58220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일시금</c:v>
                  </c:pt>
                  <c:pt idx="1">
                    <c:v>연금 10년</c:v>
                  </c:pt>
                  <c:pt idx="2">
                    <c:v>연금 20년</c:v>
                  </c:pt>
                  <c:pt idx="3">
                    <c:v>연금 25년</c:v>
                  </c:pt>
                  <c:pt idx="4">
                    <c:v>연금 30년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772.8</c:v>
                </c:pt>
                <c:pt idx="1">
                  <c:v>540.9</c:v>
                </c:pt>
                <c:pt idx="2">
                  <c:v>502.3</c:v>
                </c:pt>
                <c:pt idx="3">
                  <c:v>479.1</c:v>
                </c:pt>
                <c:pt idx="4">
                  <c:v>463.7</c:v>
                </c:pt>
              </c:numCache>
            </c:numRef>
          </c:val>
        </c:ser>
        <c:dLbls>
          <c:numFmt formatCode="#,##0&quot;만원&quot;" sourceLinked="0"/>
          <c:txPr>
            <a:bodyPr/>
            <a:lstStyle/>
            <a:p>
              <a:pPr>
                <a:defRPr b="1" i="0" strike="noStrike" sz="1000" u="none">
                  <a:solidFill>
                    <a:srgbClr val="000000"/>
                  </a:solidFill>
                  <a:latin typeface="Spoqa Han Sans Neo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3D3D3D"/>
                </a:solidFill>
                <a:latin typeface="Spoqa Han Sans Neo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950"/>
        </c:scaling>
        <c:delete val="0"/>
        <c:axPos val="l"/>
        <c:majorGridlines>
          <c:spPr>
            <a:ln w="6350" cap="flat">
              <a:solidFill>
                <a:srgbClr val="E5E4E1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C6C6C"/>
                </a:solidFill>
                <a:latin typeface="Spoqa Han Sans Neo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표지. 기준 시점과 자료의 성격(참고자료)을 먼저 밝히고 시작한다.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두 파트는 세목이 다르지만 같은 고객의 같은 지갑에서 만난다는 점을 예고한다.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슬라이드만으로도 상담 도입이 가능하다. 세 숫자를 먼저 각인시킨다.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상담 첫 단계는 고객의 소득을 이 표로 분류하는 일. 세전 총액 기준임을 강조.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기준선 판정 오류의 대부분은 1단계(세전)와 2단계(무조건 분리과세 제외)를 건너뛰어 발생한다.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11월에 당해 금융소득을 집계하고 12월 만기 이월 가능성을 먼저 확인하는 것이 실무 순서.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세율표는 2025년 귀속분과 동일. 8단계 구조는 유지되었다.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슬라이드가 상담에서 가장 자주 쓰인다. 공포를 해체하고 나서 진짜 위험(건보료)으로 넘어간다.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고객 유형을 먼저 나누는 것이 상담의 출발점. 다음 슬라이드로 자연스럽게 연결된다.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해외 배당은 종합과세 시 외국납부세액공제를 반드시 반영한다(미국 현지 15% 원천징수).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기업이 요건을 충족해야 하는 제도다. "고배당주 = 분리과세"가 아니라는 점을 반드시 짚는다.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신청주의라는 점이 이 제도의 최대 함정. 세미나에서 반복해서 강조한다.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"분리과세가 항상 유리하다"는 오해를 반드시 교정한다. Gross-up 상실이 핵심 변수.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직장가입자는 초과분 부과(누진적), 지역가입자는 전액 반영(절벽). 이 차이를 반드시 구분해 설명한다.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세금이 아니라 이 슬라이드가 은퇴 고객 상담에서 가장 큰 금액 차이를 만든다.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기준선 관리가 필요한 고객에게는 같은 미국 지수 노출도 국내 상장 ETF보다 해외 상장 ETF가 유리할 수 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ISA 확대안 관련 오정보가 많이 돌아다닌다. 확정 전까지 현행 기준으로만 안내한다.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상담의 방향이 달라진다. 금융소득은 "줄이기", 퇴직소득은 "이미 낮은 것을 더 낮추기 + 현금흐름 전환".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12를 곱하고 나누는 이유는 계산 척도 통일. 4단계에서 상쇄된다는 점을 설명하면 이해가 빠르다.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공제액이 퇴직금을 초과하면 세액은 0. 근속 30년 / 퇴직금 6,000만원이면 퇴직소득세가 없다.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홈택스 모의계산과 동일한 결과. 고객 앞에서 이 순서대로 계산해 보이면 신뢰가 높아진다.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상담 테이블에 그대로 올려놓을 수 있는 표. 고객의 좌표를 먼저 찍고 대화를 시작한다.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60일 룰은 퇴직 직후 상담에서 가장 실효성이 큰 구제 수단. 반드시 기억해 둔다.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2026년 개정의 최대 활용법은 수령기간을 21년 이상으로 잡는 것. 55세 개시가 전제된다.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세액 절감보다 건강보험료 미반영과 과세이연 복리가 실제로는 더 큰 차이를 만든다.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설계 원칙: 세액공제 재원 연금은 1,500만원 이하로 조절하고 추가 현금흐름은 이연퇴직소득·ISA에서 충당.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퇴직 통보 시점이 아니라 최소 3~6개월 전에 상담이 시작되어야 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세미나 마무리 슬라이드. 4개 기준선과 재원 우선순위만 기억해도 실무 대응이 가능하다.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면책 고지. 배포 시 이 슬라이드를 반드시 포함한다.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041648"/>
          </a:xfrm>
          <a:prstGeom prst="rect">
            <a:avLst/>
          </a:prstGeom>
          <a:solidFill>
            <a:srgbClr val="F5822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786384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MIRAE ASSET SECURITIES · FA TAX SEMINAR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66928" y="1298448"/>
            <a:ext cx="104241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금융소득종합과세</a:t>
            </a:r>
            <a:endParaRPr lang="en-US" sz="48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퇴직소득세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566928" y="3145536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2026년 시행 세법 기준 실무 가이드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566928" y="3529584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고배당 배당소득 분리과세 신설 · 이연퇴직소득 연금수령 감면 확대 반영</a:t>
            </a:r>
            <a:endParaRPr lang="en-US" sz="12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4443984"/>
          <a:ext cx="11057839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9320479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6C6C6C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기준 시점</a:t>
                      </a:r>
                      <a:endParaRPr lang="en-US" sz="10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2026년 10월 · 2026년 1월 1일 시행 개정세법 반영</a:t>
                      </a:r>
                      <a:endParaRPr lang="en-US" sz="10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6C6C6C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대상 세목</a:t>
                      </a:r>
                      <a:endParaRPr lang="en-US" sz="10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소득세(이자·배당·퇴직·연금소득), 조세특례제한법 배당 과세특례</a:t>
                      </a:r>
                      <a:endParaRPr lang="en-US" sz="10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6C6C6C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구성</a:t>
                      </a:r>
                      <a:endParaRPr lang="en-US" sz="10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PART I 금융소득종합과세 · PART II 퇴직소득세 · 종합 시사점</a:t>
                      </a:r>
                      <a:endParaRPr lang="en-US" sz="10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6C6C6C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용도</a:t>
                      </a:r>
                      <a:endParaRPr lang="en-US" sz="10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고객 상담 및 세미나용 내부 참고자료 — 개별 세무 자문 아님</a:t>
                      </a:r>
                      <a:endParaRPr lang="en-US" sz="10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66928" y="6345936"/>
            <a:ext cx="1105783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6C6C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본 자료는 공개된 법령·정부기관 자료를 정리한 참고자료입니다. 실제 신고·의사결정 전 세무 전문가 확인이 필요합니다.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7432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F58220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CONTENTS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66928" y="512064"/>
            <a:ext cx="10424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목차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66928" y="1097280"/>
            <a:ext cx="11057839" cy="11887"/>
          </a:xfrm>
          <a:prstGeom prst="rect">
            <a:avLst/>
          </a:prstGeom>
          <a:solidFill>
            <a:srgbClr val="F5822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382512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6C6C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CONTENTS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527487" y="6382512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6C6C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66928" y="1426464"/>
            <a:ext cx="5358384" cy="4480560"/>
          </a:xfrm>
          <a:prstGeom prst="rect">
            <a:avLst/>
          </a:prstGeom>
          <a:solidFill>
            <a:srgbClr val="FFFFFF"/>
          </a:solidFill>
          <a:ln w="9525">
            <a:solidFill>
              <a:srgbClr val="CDCEC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04672" y="1609344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F58220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PART I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04672" y="1865376"/>
            <a:ext cx="4846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금융소득종합과세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804672" y="2359152"/>
            <a:ext cx="4882896" cy="11887"/>
          </a:xfrm>
          <a:prstGeom prst="rect">
            <a:avLst/>
          </a:prstGeom>
          <a:solidFill>
            <a:srgbClr val="CDCEC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04672" y="2523744"/>
            <a:ext cx="4882896" cy="3163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금융소득의 범위와 과세방식 3분류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2,000만원 기준선 판정 실무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비교과세 — 세금폭탄이 아닌 이유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Gross-up과 배당세액공제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고배당기업 배당소득 분리과세 (2026 신설)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건강보험료 — 진짜 위험은 여기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상품별 과세 지도와 절세 설계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263640" y="1426464"/>
            <a:ext cx="5358384" cy="4480560"/>
          </a:xfrm>
          <a:prstGeom prst="rect">
            <a:avLst/>
          </a:prstGeom>
          <a:solidFill>
            <a:srgbClr val="FFFFFF"/>
          </a:solidFill>
          <a:ln w="9525">
            <a:solidFill>
              <a:srgbClr val="CDCEC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01384" y="1609344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F58220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PART II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501384" y="1865376"/>
            <a:ext cx="4846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퇴직소득세</a:t>
            </a:r>
            <a:endParaRPr lang="en-US" sz="2100" dirty="0"/>
          </a:p>
        </p:txBody>
      </p:sp>
      <p:sp>
        <p:nvSpPr>
          <p:cNvPr id="15" name="Shape 13"/>
          <p:cNvSpPr/>
          <p:nvPr/>
        </p:nvSpPr>
        <p:spPr>
          <a:xfrm>
            <a:off x="6501384" y="2359152"/>
            <a:ext cx="4882896" cy="11887"/>
          </a:xfrm>
          <a:prstGeom prst="rect">
            <a:avLst/>
          </a:prstGeom>
          <a:solidFill>
            <a:srgbClr val="CDCEC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01384" y="2523744"/>
            <a:ext cx="4882896" cy="3163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분류과세 원리와 계산 5단계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근속연수공제 · 환산급여공제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계산 사례와 실효세율 매트릭스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IRP 과세이연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연금수령 감면 확대 (2026 개정)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일시금 vs 연금 정면 비교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연금 인출과 재원별 과세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66928" y="5998464"/>
            <a:ext cx="11057839" cy="310896"/>
          </a:xfrm>
          <a:prstGeom prst="rect">
            <a:avLst/>
          </a:prstGeom>
          <a:solidFill>
            <a:srgbClr val="ECEFF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68096" y="6099048"/>
            <a:ext cx="10655503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종합 시사점 — 은퇴 전후 소득 설계에서 반드시 함께 관리해야 하는 4개 기준선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7432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F58220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EXECUTIVE SUMMARY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66928" y="512064"/>
            <a:ext cx="10424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핵심 요약 — 먼저 기억할 세 개의 숫자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66928" y="1097280"/>
            <a:ext cx="11057839" cy="11887"/>
          </a:xfrm>
          <a:prstGeom prst="rect">
            <a:avLst/>
          </a:prstGeom>
          <a:solidFill>
            <a:srgbClr val="F5822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382512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6C6C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EXECUTIVE SUMMARY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527487" y="6382512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6C6C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66928" y="1335024"/>
            <a:ext cx="3527450" cy="1463040"/>
          </a:xfrm>
          <a:prstGeom prst="rect">
            <a:avLst/>
          </a:prstGeom>
          <a:solidFill>
            <a:srgbClr val="FFFFFF"/>
          </a:solidFill>
          <a:ln w="9525">
            <a:solidFill>
              <a:srgbClr val="CDCEC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1463040"/>
            <a:ext cx="319826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60" kern="0" dirty="0">
                <a:solidFill>
                  <a:srgbClr val="6C6C6C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금융소득 종합과세 기준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731520" y="1719072"/>
            <a:ext cx="31982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58220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2,000</a:t>
            </a:r>
            <a:pPr indent="0" marL="0">
              <a:buNone/>
            </a:pPr>
            <a:r>
              <a:rPr lang="en-US" sz="1400" b="1" dirty="0">
                <a:solidFill>
                  <a:srgbClr val="F58220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만원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731520" y="2322576"/>
            <a:ext cx="319826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C6C6C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이자 + 배당 합산 · 세전 · 인별 과세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332122" y="1335024"/>
            <a:ext cx="3527450" cy="1463040"/>
          </a:xfrm>
          <a:prstGeom prst="rect">
            <a:avLst/>
          </a:prstGeom>
          <a:solidFill>
            <a:srgbClr val="FFFFFF"/>
          </a:solidFill>
          <a:ln w="9525">
            <a:solidFill>
              <a:srgbClr val="CDCEC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496714" y="1463040"/>
            <a:ext cx="319826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60" kern="0" dirty="0">
                <a:solidFill>
                  <a:srgbClr val="6C6C6C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고배당 분리과세 최고세율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496714" y="1719072"/>
            <a:ext cx="31982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58220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30</a:t>
            </a:r>
            <a:pPr indent="0" marL="0">
              <a:buNone/>
            </a:pPr>
            <a:r>
              <a:rPr lang="en-US" sz="1400" b="1" dirty="0">
                <a:solidFill>
                  <a:srgbClr val="F58220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%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4496714" y="2322576"/>
            <a:ext cx="319826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C6C6C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2026~2028년 한시 · 지방세 별도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8097317" y="1335024"/>
            <a:ext cx="3527450" cy="1463040"/>
          </a:xfrm>
          <a:prstGeom prst="rect">
            <a:avLst/>
          </a:prstGeom>
          <a:solidFill>
            <a:srgbClr val="FFFFFF"/>
          </a:solidFill>
          <a:ln w="9525">
            <a:solidFill>
              <a:srgbClr val="CDCEC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61909" y="1463040"/>
            <a:ext cx="319826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60" kern="0" dirty="0">
                <a:solidFill>
                  <a:srgbClr val="6C6C6C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퇴직소득세 최대 감면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8261909" y="1719072"/>
            <a:ext cx="31982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43B72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50</a:t>
            </a:r>
            <a:pPr indent="0" marL="0">
              <a:buNone/>
            </a:pPr>
            <a:r>
              <a:rPr lang="en-US" sz="1400" b="1" dirty="0">
                <a:solidFill>
                  <a:srgbClr val="043B72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%</a:t>
            </a:r>
            <a:endParaRPr lang="en-US" sz="3400" dirty="0"/>
          </a:p>
        </p:txBody>
      </p:sp>
      <p:sp>
        <p:nvSpPr>
          <p:cNvPr id="18" name="Text 16"/>
          <p:cNvSpPr/>
          <p:nvPr/>
        </p:nvSpPr>
        <p:spPr>
          <a:xfrm>
            <a:off x="8261909" y="2322576"/>
            <a:ext cx="319826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C6C6C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연금 20년 초과 수령 시</a:t>
            </a:r>
            <a:endParaRPr lang="en-US" sz="95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2999232"/>
          <a:ext cx="11057839" cy="914400"/>
        </p:xfrm>
        <a:graphic>
          <a:graphicData uri="http://schemas.openxmlformats.org/drawingml/2006/table">
            <a:tbl>
              <a:tblPr/>
              <a:tblGrid>
                <a:gridCol w="402336"/>
                <a:gridCol w="10655503"/>
              </a:tblGrid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#</a:t>
                      </a:r>
                      <a:endParaRPr lang="en-US" sz="10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07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핵심 메시지</a:t>
                      </a:r>
                      <a:endParaRPr lang="en-US" sz="10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072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58220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1</a:t>
                      </a:r>
                      <a:endParaRPr lang="en-US" sz="10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기준선은 벌칙이 아니다  </a:t>
                      </a:r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초과분에만 누진세율이 적용되고 비교과세로 조정된다. 추가 부담 ≒ 초과 금융소득 × (한계세율 − 14%)</a:t>
                      </a:r>
                      <a:endParaRPr lang="en-US" sz="10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58220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2</a:t>
                      </a:r>
                      <a:endParaRPr lang="en-US" sz="10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다른 소득이 없으면 부담도 없다  </a:t>
                      </a:r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은퇴자·전업투자자는 종합과세되어도 세액이 늘지 않는 구간이 넓다</a:t>
                      </a:r>
                      <a:endParaRPr lang="en-US" sz="10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58220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3</a:t>
                      </a:r>
                      <a:endParaRPr lang="en-US" sz="10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세금보다 건강보험료가 아프다  </a:t>
                      </a:r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지역가입자는 금융소득 1,000만원 초과 시 초과분이 아니라 전액이 반영 — 절벽형 부담</a:t>
                      </a:r>
                      <a:endParaRPr lang="en-US" sz="10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58220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4</a:t>
                      </a:r>
                      <a:endParaRPr lang="en-US" sz="10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고배당 분리과세는 신청주의  </a:t>
                      </a:r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5월 종합소득세 신고 시 신청서를 내지 않으면 요건을 갖춘 배당도 종합과세된다</a:t>
                      </a:r>
                      <a:endParaRPr lang="en-US" sz="10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58220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5</a:t>
                      </a:r>
                      <a:endParaRPr lang="en-US" sz="10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퇴직소득세는 분류과세  </a:t>
                      </a:r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금융·근로소득과 합산되지 않는다. 근속 20년 / 퇴직금 2억원의 실효세율은 3.86%</a:t>
                      </a:r>
                      <a:endParaRPr lang="en-US" sz="10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58220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6</a:t>
                      </a:r>
                      <a:endParaRPr lang="en-US" sz="10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55세와 21년이 분기점  </a:t>
                      </a:r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IRP 이체 후 55세에 개시해 21년 이상 수령하면 감면율 50%와 한도 자유를 모두 확보</a:t>
                      </a:r>
                      <a:endParaRPr lang="en-US" sz="10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8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011680"/>
            <a:ext cx="9144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FFFF">
                    <a:alpha val="88000"/>
                  </a:srgbClr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PART 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2395728"/>
            <a:ext cx="10424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금융소득종합과세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566928" y="3749040"/>
            <a:ext cx="9692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이자소득과 배당소득의 합계가 연 2,000만원을 넘으면 무슨 일이 벌어지는가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— 그리고 왜 대부분의 공포는 과장되어 있는가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0527487" y="627278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7432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F58220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PART I · 금융소득종합과세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66928" y="512064"/>
            <a:ext cx="10424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금융소득의 범위 — 무엇이 합산되는가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66928" y="1097280"/>
            <a:ext cx="11057839" cy="11887"/>
          </a:xfrm>
          <a:prstGeom prst="rect">
            <a:avLst/>
          </a:prstGeom>
          <a:solidFill>
            <a:srgbClr val="F5822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382512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6C6C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PART I · 금융소득종합과세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527487" y="6382512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6C6C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5</a:t>
            </a:r>
            <a:endParaRPr lang="en-US" sz="9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335024"/>
          <a:ext cx="5391760" cy="914400"/>
        </p:xfrm>
        <a:graphic>
          <a:graphicData uri="http://schemas.openxmlformats.org/drawingml/2006/table">
            <a:tbl>
              <a:tblPr/>
              <a:tblGrid>
                <a:gridCol w="2588045"/>
                <a:gridCol w="2803715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A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이자소득 (소득세법 §16)</a:t>
                      </a:r>
                      <a:endParaRPr lang="en-US" sz="10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07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A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실무 포인트</a:t>
                      </a:r>
                      <a:endParaRPr lang="en-US" sz="10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07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예금·적금·CMA 이자</a:t>
                      </a:r>
                      <a:endParaRPr lang="en-US" sz="10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15.4% 원천징수</a:t>
                      </a:r>
                      <a:endParaRPr lang="en-US" sz="10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채권 이자·할인액</a:t>
                      </a:r>
                      <a:endParaRPr lang="en-US" sz="10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매매차익은 개인에게 비과세</a:t>
                      </a:r>
                      <a:endParaRPr lang="en-US" sz="10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저축성보험 차익</a:t>
                      </a:r>
                      <a:endParaRPr lang="en-US" sz="10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10년 이상 등 요건 충족 시 비과세</a:t>
                      </a:r>
                      <a:endParaRPr lang="en-US" sz="10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비영업대금의 이익</a:t>
                      </a:r>
                      <a:endParaRPr lang="en-US" sz="10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원천징수 25% — 세율이 다름</a:t>
                      </a:r>
                      <a:endParaRPr lang="en-US" sz="10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직장공제회 초과반환금</a:t>
                      </a:r>
                      <a:endParaRPr lang="en-US" sz="10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무조건 분리과세 — 합산 제외</a:t>
                      </a:r>
                      <a:endParaRPr lang="en-US" sz="10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1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33008" y="1335024"/>
          <a:ext cx="5391760" cy="914400"/>
        </p:xfrm>
        <a:graphic>
          <a:graphicData uri="http://schemas.openxmlformats.org/drawingml/2006/table">
            <a:tbl>
              <a:tblPr/>
              <a:tblGrid>
                <a:gridCol w="2588045"/>
                <a:gridCol w="2803715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A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배당소득 (소득세법 §17)</a:t>
                      </a:r>
                      <a:endParaRPr lang="en-US" sz="10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07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A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실무 포인트</a:t>
                      </a:r>
                      <a:endParaRPr lang="en-US" sz="10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07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현금·현물배당</a:t>
                      </a:r>
                      <a:endParaRPr lang="en-US" sz="10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Gross-up 대상 (내국법인)</a:t>
                      </a:r>
                      <a:endParaRPr lang="en-US" sz="10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집합투자기구의 이익</a:t>
                      </a:r>
                      <a:endParaRPr lang="en-US" sz="10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펀드·ETF 분배금 및 환매이익</a:t>
                      </a:r>
                      <a:endParaRPr lang="en-US" sz="10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ELS·DLS 이익</a:t>
                      </a:r>
                      <a:endParaRPr lang="en-US" sz="10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배당소득으로 구분</a:t>
                      </a:r>
                      <a:endParaRPr lang="en-US" sz="10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의제배당·인정배당</a:t>
                      </a:r>
                      <a:endParaRPr lang="en-US" sz="10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감자·합병·소득처분 등</a:t>
                      </a:r>
                      <a:endParaRPr lang="en-US" sz="10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출자공동사업자 배당</a:t>
                      </a:r>
                      <a:endParaRPr lang="en-US" sz="10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25% 원천징수 · 무조건 종합과세</a:t>
                      </a:r>
                      <a:endParaRPr lang="en-US" sz="10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Shape 5"/>
          <p:cNvSpPr/>
          <p:nvPr/>
        </p:nvSpPr>
        <p:spPr>
          <a:xfrm>
            <a:off x="566928" y="3785616"/>
            <a:ext cx="5391760" cy="1517904"/>
          </a:xfrm>
          <a:prstGeom prst="rect">
            <a:avLst/>
          </a:prstGeom>
          <a:solidFill>
            <a:srgbClr val="FFFFFF"/>
          </a:solidFill>
          <a:ln w="9525">
            <a:solidFill>
              <a:srgbClr val="CDCECB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731520" y="3904488"/>
            <a:ext cx="50625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" kern="0" dirty="0">
                <a:solidFill>
                  <a:srgbClr val="F58220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기준선 계산에서 제외되는 것</a:t>
            </a:r>
            <a:endParaRPr lang="en-US" sz="1000" dirty="0"/>
          </a:p>
        </p:txBody>
      </p:sp>
      <p:sp>
        <p:nvSpPr>
          <p:cNvPr id="11" name="Text 7"/>
          <p:cNvSpPr/>
          <p:nvPr/>
        </p:nvSpPr>
        <p:spPr>
          <a:xfrm>
            <a:off x="731520" y="4187952"/>
            <a:ext cx="5062576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국내 상장주식 양도차익 (대주주 외 비과세)</a:t>
            </a:r>
            <a:endParaRPr lang="en-US" sz="10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해외주식·해외 ETF 양도차익 (22% 분리과세)</a:t>
            </a:r>
            <a:endParaRPr lang="en-US" sz="10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개인의 채권 매매차익 · 연금소득 · 퇴직소득</a:t>
            </a:r>
            <a:endParaRPr lang="en-US" sz="10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ISA 계좌 내 비과세·분리과세 대상 이익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6233008" y="3785616"/>
            <a:ext cx="5391760" cy="1517904"/>
          </a:xfrm>
          <a:prstGeom prst="rect">
            <a:avLst/>
          </a:prstGeom>
          <a:solidFill>
            <a:srgbClr val="FFFFFF"/>
          </a:solidFill>
          <a:ln w="9525">
            <a:solidFill>
              <a:srgbClr val="CDCECB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6397600" y="3904488"/>
            <a:ext cx="50625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" kern="0" dirty="0">
                <a:solidFill>
                  <a:srgbClr val="043B72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그러나 건강보험료의 범위는 다르다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6397600" y="4187952"/>
            <a:ext cx="5062576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세법상 금융소득과 건강보험료 산정 소득의 범위는 같지 않다.</a:t>
            </a:r>
            <a:endParaRPr lang="en-US" sz="10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특히 공적연금은 세법에서는 별도 체계이면서 피부양자 판정에서는 합산된다.</a:t>
            </a:r>
            <a:endParaRPr lang="en-US" sz="10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"세금은 괜찮은데 건보료가 왜 오르나"의 원인이 이 차이다.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566928" y="5468112"/>
            <a:ext cx="11057839" cy="658368"/>
          </a:xfrm>
          <a:prstGeom prst="roundRect">
            <a:avLst>
              <a:gd name="adj" fmla="val 4167"/>
            </a:avLst>
          </a:prstGeom>
          <a:solidFill>
            <a:srgbClr val="F5822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786384" y="5577840"/>
            <a:ext cx="1061892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가장 흔한 오해 —  "월배당 ETF 분배금 1,200만원이니 괜찮다"  ▶  예금 이자 900만원이 있으면 합계 2,100만원으로 이미 초과.  종목별이 아니라 이자 + 배당의 합산이다.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7432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F58220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PART I · 금융소득종합과세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66928" y="512064"/>
            <a:ext cx="10424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과세방식 3분류 — 기준선의 지배를 받는 것은 하나뿐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66928" y="1097280"/>
            <a:ext cx="11057839" cy="11887"/>
          </a:xfrm>
          <a:prstGeom prst="rect">
            <a:avLst/>
          </a:prstGeom>
          <a:solidFill>
            <a:srgbClr val="F5822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382512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6C6C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PART I · 금융소득종합과세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527487" y="6382512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6C6C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6</a:t>
            </a:r>
            <a:endParaRPr lang="en-US" sz="9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335024"/>
          <a:ext cx="11057839" cy="914400"/>
        </p:xfrm>
        <a:graphic>
          <a:graphicData uri="http://schemas.openxmlformats.org/drawingml/2006/table">
            <a:tbl>
              <a:tblPr/>
              <a:tblGrid>
                <a:gridCol w="1298448"/>
                <a:gridCol w="3529584"/>
                <a:gridCol w="1188720"/>
                <a:gridCol w="5041087"/>
              </a:tblGrid>
              <a:tr h="8412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1A1A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분류</a:t>
                      </a:r>
                      <a:endParaRPr lang="en-US" sz="10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07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A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해당 소득</a:t>
                      </a:r>
                      <a:endParaRPr lang="en-US" sz="10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07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1A1A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원천징수</a:t>
                      </a:r>
                      <a:endParaRPr lang="en-US" sz="10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07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A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과세 종결 방식</a:t>
                      </a:r>
                      <a:endParaRPr lang="en-US" sz="10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072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1A1A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무조건</a:t>
                      </a:r>
                      <a:endParaRPr lang="en-US" sz="10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1A1A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분리과세</a:t>
                      </a:r>
                      <a:endParaRPr lang="en-US" sz="10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비실명 금융소득, 직장공제회 초과반환금,</a:t>
                      </a:r>
                      <a:endParaRPr lang="en-US" sz="10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법원보관금 이자, 세금우대 저율과세 상품</a:t>
                      </a:r>
                      <a:endParaRPr lang="en-US" sz="10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상품별</a:t>
                      </a:r>
                      <a:endParaRPr lang="en-US" sz="10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원천징수로 완전 종결.</a:t>
                      </a:r>
                      <a:endParaRPr lang="en-US" sz="10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2,000만원 기준선 계산에 포함하지 않는다.</a:t>
                      </a:r>
                      <a:endParaRPr lang="en-US" sz="10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58220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조건부</a:t>
                      </a:r>
                      <a:endParaRPr lang="en-US" sz="10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58220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종합과세</a:t>
                      </a:r>
                      <a:endParaRPr lang="en-US" sz="10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예적금·채권 이자, 주식 배당,</a:t>
                      </a:r>
                      <a:endParaRPr lang="en-US" sz="10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펀드·ETF 분배금, ELS·DLS 이익</a:t>
                      </a:r>
                      <a:endParaRPr lang="en-US" sz="10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14%</a:t>
                      </a:r>
                      <a:endParaRPr lang="en-US" sz="10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(15.4%)</a:t>
                      </a:r>
                      <a:endParaRPr lang="en-US" sz="10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2,000만원 이하 → 원천징수 종결</a:t>
                      </a:r>
                      <a:endParaRPr lang="en-US" sz="10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초과 → 전액 합산 신고 후 비교과세</a:t>
                      </a:r>
                      <a:endParaRPr lang="en-US" sz="10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1A1A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무조건</a:t>
                      </a:r>
                      <a:endParaRPr lang="en-US" sz="10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1A1A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종합과세</a:t>
                      </a:r>
                      <a:endParaRPr lang="en-US" sz="10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국내에서 원천징수되지 않은 국외금융소득,</a:t>
                      </a:r>
                      <a:endParaRPr lang="en-US" sz="10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출자공동사업자 배당소득</a:t>
                      </a:r>
                      <a:endParaRPr lang="en-US" sz="10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없음 / 25%</a:t>
                      </a:r>
                      <a:endParaRPr lang="en-US" sz="10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금액과 무관하게 종합소득세 신고 대상.</a:t>
                      </a:r>
                      <a:endParaRPr lang="en-US" sz="10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해외 증권사·해외 은행 계좌가 대표적.</a:t>
                      </a:r>
                      <a:endParaRPr lang="en-US" sz="10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66928" y="4133088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C6C6C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※ 가운데 행(조건부 종합과세)이 대다수 상품이며, 2,000만원 기준선 판정의 대상이다. 무조건 종합과세 대상 금융소득도 기준선 판정 시 합계에 포함해 계산한다.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566928" y="45720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판정 흐름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566928" y="4937760"/>
            <a:ext cx="274320" cy="274320"/>
          </a:xfrm>
          <a:prstGeom prst="rect">
            <a:avLst/>
          </a:prstGeom>
          <a:solidFill>
            <a:srgbClr val="043B7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66928" y="49377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1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950976" y="4910328"/>
            <a:ext cx="4919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연간 금융소득 총액을 세전으로 집계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566928" y="5358384"/>
            <a:ext cx="274320" cy="274320"/>
          </a:xfrm>
          <a:prstGeom prst="rect">
            <a:avLst/>
          </a:prstGeom>
          <a:solidFill>
            <a:srgbClr val="043B7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66928" y="535838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2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950976" y="5330952"/>
            <a:ext cx="4919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무조건 분리과세 항목을 제외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566928" y="5779008"/>
            <a:ext cx="274320" cy="274320"/>
          </a:xfrm>
          <a:prstGeom prst="rect">
            <a:avLst/>
          </a:prstGeom>
          <a:solidFill>
            <a:srgbClr val="043B7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66928" y="57790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3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950976" y="5751576"/>
            <a:ext cx="4919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무조건 종합과세 항목은 금액 무관 신고 확정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6327648" y="4937760"/>
            <a:ext cx="274320" cy="274320"/>
          </a:xfrm>
          <a:prstGeom prst="rect">
            <a:avLst/>
          </a:prstGeom>
          <a:solidFill>
            <a:srgbClr val="043B7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327648" y="49377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4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6711696" y="4910328"/>
            <a:ext cx="4919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남은 금액을 2,000만원과 비교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6327648" y="5358384"/>
            <a:ext cx="274320" cy="274320"/>
          </a:xfrm>
          <a:prstGeom prst="rect">
            <a:avLst/>
          </a:prstGeom>
          <a:solidFill>
            <a:srgbClr val="043B7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327648" y="535838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5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6711696" y="5330952"/>
            <a:ext cx="4919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초과 시 비교과세로 세액 산출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6327648" y="5742432"/>
            <a:ext cx="5294376" cy="475488"/>
          </a:xfrm>
          <a:prstGeom prst="rect">
            <a:avLst/>
          </a:prstGeom>
          <a:solidFill>
            <a:srgbClr val="F7F8FA"/>
          </a:solidFill>
          <a:ln w="9525">
            <a:solidFill>
              <a:srgbClr val="E5E4E1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492240" y="5888736"/>
            <a:ext cx="49651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금융소득은 인별 과세 — 부부 합산과세는 위헌 결정으로 폐지되었다.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7432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F58220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PART I · 금융소득종합과세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66928" y="512064"/>
            <a:ext cx="10424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2,000만원 기준선의 판정 실무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66928" y="1097280"/>
            <a:ext cx="11057839" cy="11887"/>
          </a:xfrm>
          <a:prstGeom prst="rect">
            <a:avLst/>
          </a:prstGeom>
          <a:solidFill>
            <a:srgbClr val="F5822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382512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6C6C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PART I · 금융소득종합과세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527487" y="6382512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6C6C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7</a:t>
            </a:r>
            <a:endParaRPr lang="en-US" sz="9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335024"/>
          <a:ext cx="11057839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2377440"/>
                <a:gridCol w="7125919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쟁점</a:t>
                      </a:r>
                      <a:endParaRPr lang="en-US" sz="10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07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올바른 기준</a:t>
                      </a:r>
                      <a:endParaRPr lang="en-US" sz="10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07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실무 메모</a:t>
                      </a:r>
                      <a:endParaRPr lang="en-US" sz="10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07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세전 / 세후</a:t>
                      </a:r>
                      <a:endParaRPr lang="en-US" sz="10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43B72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세전(Gross) 총액</a:t>
                      </a:r>
                      <a:endParaRPr lang="en-US" sz="10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통장 입금액은 15.4%가 이미 빠진 금액. 입금액 1,700만원 ≒ 세전 2,010만원</a:t>
                      </a:r>
                      <a:endParaRPr lang="en-US" sz="10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과세단위</a:t>
                      </a:r>
                      <a:endParaRPr lang="en-US" sz="10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43B72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개인별</a:t>
                      </a:r>
                      <a:endParaRPr lang="en-US" sz="10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부부 합산하지 않는다. 다만 차명계좌는 실질과세 원칙으로 부인될 수 있다</a:t>
                      </a:r>
                      <a:endParaRPr lang="en-US" sz="10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귀속연도</a:t>
                      </a:r>
                      <a:endParaRPr lang="en-US" sz="10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43B72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지급받은 날이 속하는 연도</a:t>
                      </a:r>
                      <a:endParaRPr lang="en-US" sz="10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12월 결산배당의 지급이 다음 해 4월이면 다음 해 소득</a:t>
                      </a:r>
                      <a:endParaRPr lang="en-US" sz="10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필요경비</a:t>
                      </a:r>
                      <a:endParaRPr lang="en-US" sz="10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43B72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인정되지 않음</a:t>
                      </a:r>
                      <a:endParaRPr lang="en-US" sz="10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총수입금액 전액이 소득금액. 투자 손실·수수료 차감 불가</a:t>
                      </a:r>
                      <a:endParaRPr lang="en-US" sz="10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손익 통산</a:t>
                      </a:r>
                      <a:endParaRPr lang="en-US" sz="10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43B72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불가</a:t>
                      </a:r>
                      <a:endParaRPr lang="en-US" sz="10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A펀드 손실과 B펀드 이익을 상계 못 한다. ISA 계좌 내에서는 통산 가능</a:t>
                      </a:r>
                      <a:endParaRPr lang="en-US" sz="10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초과 시</a:t>
                      </a:r>
                      <a:endParaRPr lang="en-US" sz="10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43B72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초과분만 누진 적용</a:t>
                      </a:r>
                      <a:endParaRPr lang="en-US" sz="10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전액에 최고세율이 적용되는 것이 아니다</a:t>
                      </a:r>
                      <a:endParaRPr lang="en-US" sz="10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4041648"/>
          <a:ext cx="5391760" cy="914400"/>
        </p:xfrm>
        <a:graphic>
          <a:graphicData uri="http://schemas.openxmlformats.org/drawingml/2006/table">
            <a:tbl>
              <a:tblPr/>
              <a:tblGrid>
                <a:gridCol w="1024128"/>
                <a:gridCol w="4367632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A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시기</a:t>
                      </a:r>
                      <a:endParaRPr lang="en-US" sz="10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07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A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신고·납부 및 부과 일정</a:t>
                      </a:r>
                      <a:endParaRPr lang="en-US" sz="10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072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2월</a:t>
                      </a:r>
                      <a:endParaRPr lang="en-US" sz="10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금융회사 지급명세서 제출 → 홈택스 조회 가능</a:t>
                      </a:r>
                      <a:endParaRPr lang="en-US" sz="10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5월 1~31일</a:t>
                      </a:r>
                      <a:endParaRPr lang="en-US" sz="10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종합소득세 확정신고 · 고배당 분리과세 신청</a:t>
                      </a:r>
                      <a:endParaRPr lang="en-US" sz="10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8월</a:t>
                      </a:r>
                      <a:endParaRPr lang="en-US" sz="10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개인지방소득세 — 종합소득세와 같은 기한에 함께 신고·납부</a:t>
                      </a:r>
                      <a:endParaRPr lang="en-US" sz="10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11월</a:t>
                      </a:r>
                      <a:endParaRPr lang="en-US" sz="10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건강보험 지역가입자 보험료 정기 조정 · 피부양자 재심사</a:t>
                      </a:r>
                      <a:endParaRPr lang="en-US" sz="10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12월</a:t>
                      </a:r>
                      <a:endParaRPr lang="en-US" sz="10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연내 금융소득 최종 집계 · 만기 이월 결정</a:t>
                      </a:r>
                      <a:endParaRPr lang="en-US" sz="10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Shape 5"/>
          <p:cNvSpPr/>
          <p:nvPr/>
        </p:nvSpPr>
        <p:spPr>
          <a:xfrm>
            <a:off x="6233008" y="4041648"/>
            <a:ext cx="5391760" cy="1975104"/>
          </a:xfrm>
          <a:prstGeom prst="rect">
            <a:avLst/>
          </a:prstGeom>
          <a:solidFill>
            <a:srgbClr val="FFFFFF"/>
          </a:solidFill>
          <a:ln w="9525">
            <a:solidFill>
              <a:srgbClr val="CDCECB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6397600" y="4160520"/>
            <a:ext cx="50625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" kern="0" dirty="0">
                <a:solidFill>
                  <a:srgbClr val="F58220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연말 자기점검 체크리스트</a:t>
            </a:r>
            <a:endParaRPr lang="en-US" sz="1000" dirty="0"/>
          </a:p>
        </p:txBody>
      </p:sp>
      <p:sp>
        <p:nvSpPr>
          <p:cNvPr id="11" name="Text 7"/>
          <p:cNvSpPr/>
          <p:nvPr/>
        </p:nvSpPr>
        <p:spPr>
          <a:xfrm>
            <a:off x="6397600" y="4443984"/>
            <a:ext cx="5062576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□  이자·배당·분배금을 세전으로 모두 합산했는가</a:t>
            </a:r>
            <a:endParaRPr lang="en-US" sz="10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□  CMA·발행어음·RP 등 현금성 자산 이자를 빠뜨리지 않았는가</a:t>
            </a:r>
            <a:endParaRPr lang="en-US" sz="10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□  국내 상장 해외지수 ETF의 분배금과 매매차익을 반영했는가</a:t>
            </a:r>
            <a:endParaRPr lang="en-US" sz="10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□  원천징수되지 않은 국외 금융소득이 있는가</a:t>
            </a:r>
            <a:endParaRPr lang="en-US" sz="10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□  12월 만기 예금·채권 이자가 올해에 귀속되는가</a:t>
            </a:r>
            <a:endParaRPr lang="en-US" sz="10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□  건강보험 1,000만원 / 2,000만원 기준도 함께 점검했는가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7432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F58220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PART I · 금융소득종합과세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66928" y="512064"/>
            <a:ext cx="10424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종합과세 시 세액계산 흐름과 2026년 세율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66928" y="1097280"/>
            <a:ext cx="11057839" cy="11887"/>
          </a:xfrm>
          <a:prstGeom prst="rect">
            <a:avLst/>
          </a:prstGeom>
          <a:solidFill>
            <a:srgbClr val="F5822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382512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6C6C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PART I · 금융소득종합과세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527487" y="6382512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6C6C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8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66928" y="129844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계산 흐름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66928" y="1645920"/>
            <a:ext cx="274320" cy="274320"/>
          </a:xfrm>
          <a:prstGeom prst="rect">
            <a:avLst/>
          </a:prstGeom>
          <a:solidFill>
            <a:srgbClr val="043B7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16459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50976" y="1618488"/>
            <a:ext cx="5193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금융소득금액 확정 — 이자 + 배당(배당가산액 포함)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66928" y="2103120"/>
            <a:ext cx="274320" cy="274320"/>
          </a:xfrm>
          <a:prstGeom prst="rect">
            <a:avLst/>
          </a:prstGeom>
          <a:solidFill>
            <a:srgbClr val="043B7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21031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950976" y="2075688"/>
            <a:ext cx="5193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종합소득금액 합산 — 근로·사업·연금·기타소득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66928" y="2560320"/>
            <a:ext cx="274320" cy="274320"/>
          </a:xfrm>
          <a:prstGeom prst="rect">
            <a:avLst/>
          </a:prstGeom>
          <a:solidFill>
            <a:srgbClr val="043B7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6928" y="25603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3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950976" y="2532888"/>
            <a:ext cx="5193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종합소득공제 차감 → 종합소득 과세표준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66928" y="3017520"/>
            <a:ext cx="274320" cy="274320"/>
          </a:xfrm>
          <a:prstGeom prst="rect">
            <a:avLst/>
          </a:prstGeom>
          <a:solidFill>
            <a:srgbClr val="043B7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66928" y="30175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4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50976" y="2990088"/>
            <a:ext cx="5193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비교과세로 산출세액 결정 — 두 방식 중 큰 금액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66928" y="3474720"/>
            <a:ext cx="274320" cy="274320"/>
          </a:xfrm>
          <a:prstGeom prst="rect">
            <a:avLst/>
          </a:prstGeom>
          <a:solidFill>
            <a:srgbClr val="043B7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66928" y="34747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5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950976" y="3447288"/>
            <a:ext cx="5193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세액공제 차감 — 배당·연금계좌·외국납부세액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66928" y="3931920"/>
            <a:ext cx="274320" cy="274320"/>
          </a:xfrm>
          <a:prstGeom prst="rect">
            <a:avLst/>
          </a:prstGeom>
          <a:solidFill>
            <a:srgbClr val="043B7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66928" y="39319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6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950976" y="3904488"/>
            <a:ext cx="5193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기납부세액 차감 → 추가 납부 또는 환급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66928" y="4480560"/>
            <a:ext cx="5577840" cy="713232"/>
          </a:xfrm>
          <a:prstGeom prst="rect">
            <a:avLst/>
          </a:prstGeom>
          <a:solidFill>
            <a:srgbClr val="FFFBF0"/>
          </a:solidFill>
          <a:ln w="9525">
            <a:solidFill>
              <a:srgbClr val="D4A01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31520" y="4626864"/>
            <a:ext cx="52486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지방소득세를 빼먹지 말 것 — 실제로 통장에서 나가는 금액은 항상 산출세액의 1.1배다. 상담 시 처음부터 지방세 포함 금액으로 제시한다.</a:t>
            </a:r>
            <a:endParaRPr lang="en-US" sz="105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55664" y="1298448"/>
          <a:ext cx="5169103" cy="914400"/>
        </p:xfrm>
        <a:graphic>
          <a:graphicData uri="http://schemas.openxmlformats.org/drawingml/2006/table">
            <a:tbl>
              <a:tblPr/>
              <a:tblGrid>
                <a:gridCol w="2067641"/>
                <a:gridCol w="827057"/>
                <a:gridCol w="1240585"/>
                <a:gridCol w="1033821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A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과세표준</a:t>
                      </a:r>
                      <a:endParaRPr lang="en-US" sz="10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07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1A1A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세율</a:t>
                      </a:r>
                      <a:endParaRPr lang="en-US" sz="10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07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1A1A1A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누진공제</a:t>
                      </a:r>
                      <a:endParaRPr lang="en-US" sz="10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07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1A1A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실질세율</a:t>
                      </a:r>
                      <a:endParaRPr lang="en-US" sz="10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072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1,400만원 이하</a:t>
                      </a:r>
                      <a:endParaRPr lang="en-US" sz="10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6%</a:t>
                      </a:r>
                      <a:endParaRPr lang="en-US" sz="10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—</a:t>
                      </a:r>
                      <a:endParaRPr lang="en-US" sz="10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6.6%</a:t>
                      </a:r>
                      <a:endParaRPr lang="en-US" sz="10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1,400만 ~ 5,000만원</a:t>
                      </a:r>
                      <a:endParaRPr lang="en-US" sz="10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15%</a:t>
                      </a:r>
                      <a:endParaRPr lang="en-US" sz="10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126만원</a:t>
                      </a:r>
                      <a:endParaRPr lang="en-US" sz="10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16.5%</a:t>
                      </a:r>
                      <a:endParaRPr lang="en-US" sz="10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5,000만 ~ 8,800만원</a:t>
                      </a:r>
                      <a:endParaRPr lang="en-US" sz="10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24%</a:t>
                      </a:r>
                      <a:endParaRPr lang="en-US" sz="10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576만원</a:t>
                      </a:r>
                      <a:endParaRPr lang="en-US" sz="10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26.4%</a:t>
                      </a:r>
                      <a:endParaRPr lang="en-US" sz="10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8,800만 ~ 1.5억원</a:t>
                      </a:r>
                      <a:endParaRPr lang="en-US" sz="10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35%</a:t>
                      </a:r>
                      <a:endParaRPr lang="en-US" sz="10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1,544만원</a:t>
                      </a:r>
                      <a:endParaRPr lang="en-US" sz="10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38.5%</a:t>
                      </a:r>
                      <a:endParaRPr lang="en-US" sz="10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1.5억 ~ 3억원</a:t>
                      </a:r>
                      <a:endParaRPr lang="en-US" sz="10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38%</a:t>
                      </a:r>
                      <a:endParaRPr lang="en-US" sz="10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1,994만원</a:t>
                      </a:r>
                      <a:endParaRPr lang="en-US" sz="10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41.8%</a:t>
                      </a:r>
                      <a:endParaRPr lang="en-US" sz="10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3억 ~ 5억원</a:t>
                      </a:r>
                      <a:endParaRPr lang="en-US" sz="10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40%</a:t>
                      </a:r>
                      <a:endParaRPr lang="en-US" sz="10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2,594만원</a:t>
                      </a:r>
                      <a:endParaRPr lang="en-US" sz="10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44.0%</a:t>
                      </a:r>
                      <a:endParaRPr lang="en-US" sz="10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5억 ~ 10억원</a:t>
                      </a:r>
                      <a:endParaRPr lang="en-US" sz="10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42%</a:t>
                      </a:r>
                      <a:endParaRPr lang="en-US" sz="10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3,594만원</a:t>
                      </a:r>
                      <a:endParaRPr lang="en-US" sz="10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46.2%</a:t>
                      </a:r>
                      <a:endParaRPr lang="en-US" sz="10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A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10억원 초과</a:t>
                      </a:r>
                      <a:endParaRPr lang="en-US" sz="10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1A1A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45%</a:t>
                      </a:r>
                      <a:endParaRPr lang="en-US" sz="10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1A1A1A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6,594만원</a:t>
                      </a:r>
                      <a:endParaRPr lang="en-US" sz="10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1A1A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49.5%</a:t>
                      </a:r>
                      <a:endParaRPr lang="en-US" sz="10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</a:tr>
            </a:tbl>
          </a:graphicData>
        </a:graphic>
      </p:graphicFrame>
      <p:sp>
        <p:nvSpPr>
          <p:cNvPr id="29" name="Text 26"/>
          <p:cNvSpPr/>
          <p:nvPr/>
        </p:nvSpPr>
        <p:spPr>
          <a:xfrm>
            <a:off x="6455664" y="4315968"/>
            <a:ext cx="516910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43B72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산출세액 = 과세표준 × 세율 − 누진공제액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6455664" y="4663440"/>
            <a:ext cx="5166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C6C6C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※ 소득세법 제55조 · 실질세율은 지방소득세 10% 포함</a:t>
            </a:r>
            <a:endParaRPr lang="en-US" sz="900" dirty="0"/>
          </a:p>
        </p:txBody>
      </p:sp>
      <p:graphicFrame>
        <p:nvGraphicFramePr>
          <p:cNvPr id="1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55664" y="5010912"/>
          <a:ext cx="5169103" cy="914400"/>
        </p:xfrm>
        <a:graphic>
          <a:graphicData uri="http://schemas.openxmlformats.org/drawingml/2006/table">
            <a:tbl>
              <a:tblPr/>
              <a:tblGrid>
                <a:gridCol w="2894698"/>
                <a:gridCol w="1033821"/>
                <a:gridCol w="1240585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A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원천징수 대상</a:t>
                      </a:r>
                      <a:endParaRPr lang="en-US" sz="9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07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A1A1A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소득세</a:t>
                      </a:r>
                      <a:endParaRPr lang="en-US" sz="9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07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A1A1A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지방세 포함</a:t>
                      </a:r>
                      <a:endParaRPr lang="en-US" sz="9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07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일반 이자·배당소득</a:t>
                      </a:r>
                      <a:endParaRPr lang="en-US" sz="9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14%</a:t>
                      </a:r>
                      <a:endParaRPr lang="en-US" sz="9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58220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15.4%</a:t>
                      </a:r>
                      <a:endParaRPr lang="en-US" sz="9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비영업대금의 이익 / 출자공동사업자</a:t>
                      </a:r>
                      <a:endParaRPr lang="en-US" sz="9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25%</a:t>
                      </a:r>
                      <a:endParaRPr lang="en-US" sz="9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58220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27.5%</a:t>
                      </a:r>
                      <a:endParaRPr lang="en-US" sz="9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ISA 비과세 한도 초과분</a:t>
                      </a:r>
                      <a:endParaRPr lang="en-US" sz="9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9%</a:t>
                      </a:r>
                      <a:endParaRPr lang="en-US" sz="9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58220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9.9%</a:t>
                      </a:r>
                      <a:endParaRPr lang="en-US" sz="9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고배당기업 배당 (특례)</a:t>
                      </a:r>
                      <a:endParaRPr lang="en-US" sz="9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14~30%</a:t>
                      </a:r>
                      <a:endParaRPr lang="en-US" sz="9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58220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15.4~33.0%</a:t>
                      </a:r>
                      <a:endParaRPr lang="en-US" sz="9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7432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F58220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PART I · 금융소득종합과세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66928" y="512064"/>
            <a:ext cx="10424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비교과세 — "2천만원 넘으면 세금폭탄"의 진실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66928" y="1097280"/>
            <a:ext cx="11057839" cy="11887"/>
          </a:xfrm>
          <a:prstGeom prst="rect">
            <a:avLst/>
          </a:prstGeom>
          <a:solidFill>
            <a:srgbClr val="F5822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382512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6C6C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PART I · 금융소득종합과세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527487" y="6382512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6C6C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9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66928" y="1298448"/>
            <a:ext cx="11057839" cy="969264"/>
          </a:xfrm>
          <a:prstGeom prst="rect">
            <a:avLst/>
          </a:prstGeom>
          <a:solidFill>
            <a:srgbClr val="ECEFF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8096" y="1399032"/>
            <a:ext cx="10655503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산출세액 = MAX ( ① 종합과세 방식,  ② 분리과세 방식 )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①  = (2,000만원 × 14%) + (종합소득 과세표준 − 2,000만원) × 기본세율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②  = (금융소득 전체 × 원천징수세율) + (금융소득 외 종합소득 과세표준 × 기본세율)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66928" y="2340864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C6C6C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※ 소득세법 제62조 · ②는 "종합과세를 하지 않았을 때의 세액". 큰 쪽을 택하므로 2,000만원까지는 14% 이상으로 과세되지 않는다.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66928" y="2724912"/>
            <a:ext cx="11057839" cy="786384"/>
          </a:xfrm>
          <a:prstGeom prst="roundRect">
            <a:avLst>
              <a:gd name="adj" fmla="val 3488"/>
            </a:avLst>
          </a:prstGeom>
          <a:solidFill>
            <a:srgbClr val="F5822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86384" y="2834640"/>
            <a:ext cx="1061892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종합과세로 인한 추가 세부담  ≒  (2,000만원 초과 금융소득) × (본인 한계세율 − 14%)</a:t>
            </a:r>
            <a:endParaRPr lang="en-US" sz="15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3730752"/>
          <a:ext cx="11057839" cy="914400"/>
        </p:xfrm>
        <a:graphic>
          <a:graphicData uri="http://schemas.openxmlformats.org/drawingml/2006/table">
            <a:tbl>
              <a:tblPr/>
              <a:tblGrid>
                <a:gridCol w="3017520"/>
                <a:gridCol w="1517904"/>
                <a:gridCol w="1517904"/>
                <a:gridCol w="1517904"/>
                <a:gridCol w="1517904"/>
                <a:gridCol w="1968703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금융소득 외 과세표준</a:t>
                      </a:r>
                      <a:endParaRPr lang="en-US" sz="10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07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① 종합과세</a:t>
                      </a:r>
                      <a:endParaRPr lang="en-US" sz="10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07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② 분리과세</a:t>
                      </a:r>
                      <a:endParaRPr lang="en-US" sz="10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07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결정세액</a:t>
                      </a:r>
                      <a:endParaRPr lang="en-US" sz="10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07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원천징수액</a:t>
                      </a:r>
                      <a:endParaRPr lang="en-US" sz="10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07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순증가</a:t>
                      </a:r>
                      <a:endParaRPr lang="en-US" sz="10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07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0원 · 은퇴자</a:t>
                      </a:r>
                      <a:endParaRPr lang="en-US" sz="10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340</a:t>
                      </a:r>
                      <a:endParaRPr lang="en-US" sz="10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420</a:t>
                      </a:r>
                      <a:endParaRPr lang="en-US" sz="10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420</a:t>
                      </a:r>
                      <a:endParaRPr lang="en-US" sz="10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420</a:t>
                      </a:r>
                      <a:endParaRPr lang="en-US" sz="10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6C6C6C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없음</a:t>
                      </a:r>
                      <a:endParaRPr lang="en-US" sz="10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7,000만원 · 근로소득자</a:t>
                      </a:r>
                      <a:endParaRPr lang="en-US" sz="10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1,624</a:t>
                      </a:r>
                      <a:endParaRPr lang="en-US" sz="10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1,524</a:t>
                      </a:r>
                      <a:endParaRPr lang="en-US" sz="10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1,624</a:t>
                      </a:r>
                      <a:endParaRPr lang="en-US" sz="10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420</a:t>
                      </a:r>
                      <a:endParaRPr lang="en-US" sz="10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58220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100만원</a:t>
                      </a:r>
                      <a:endParaRPr lang="en-US" sz="10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3억원 · 고소득자</a:t>
                      </a:r>
                      <a:endParaRPr lang="en-US" sz="10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10,086</a:t>
                      </a:r>
                      <a:endParaRPr lang="en-US" sz="10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9,826</a:t>
                      </a:r>
                      <a:endParaRPr lang="en-US" sz="10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10,086</a:t>
                      </a:r>
                      <a:endParaRPr lang="en-US" sz="10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420</a:t>
                      </a:r>
                      <a:endParaRPr lang="en-US" sz="10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58220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260만원</a:t>
                      </a:r>
                      <a:endParaRPr lang="en-US" sz="10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</a:tr>
            </a:tbl>
          </a:graphicData>
        </a:graphic>
      </p:graphicFrame>
      <p:sp>
        <p:nvSpPr>
          <p:cNvPr id="13" name="Text 10"/>
          <p:cNvSpPr/>
          <p:nvPr/>
        </p:nvSpPr>
        <p:spPr>
          <a:xfrm>
            <a:off x="566928" y="5321808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C6C6C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※ 금융소득(이자) 3,000만원 · 초과분 1,000만원 · 단위 만원 · 지방세 별도 · 종합소득공제 생략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C6C6C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※ 순증가 = 금융소득이 2,000만원이었을 때와 비교한 실질 증가액. 초과분에 적용되는 구간은 과세표준에서 2,000만원을 뺀 위치의 세율이다.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566928" y="5779008"/>
            <a:ext cx="11057839" cy="566928"/>
          </a:xfrm>
          <a:prstGeom prst="rect">
            <a:avLst/>
          </a:prstGeom>
          <a:solidFill>
            <a:srgbClr val="FDF4F4"/>
          </a:solidFill>
          <a:ln w="9525">
            <a:solidFill>
              <a:srgbClr val="C6282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31520" y="5925312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상담 스크립트  |  "2천만원을 넘기면 넘긴 금액에 대해서만, 고객님 소득세율과 15.4%의 차이만큼 더 내십니다. 전액에 40%가 붙는 게 아닙니다. 다만 세금보다 건강보험료와 ISA 가입 제한이 더 큰 영향일 수 있습니다."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7432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F58220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PART I · 금융소득종합과세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66928" y="512064"/>
            <a:ext cx="10424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소득구간별 세부담 — 초과분 1,000만원의 대가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66928" y="1097280"/>
            <a:ext cx="11057839" cy="11887"/>
          </a:xfrm>
          <a:prstGeom prst="rect">
            <a:avLst/>
          </a:prstGeom>
          <a:solidFill>
            <a:srgbClr val="F5822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382512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6C6C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PART I · 금융소득종합과세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527487" y="6382512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6C6C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10</a:t>
            </a:r>
            <a:endParaRPr lang="en-US" sz="9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566928" y="1335024"/>
          <a:ext cx="5888736" cy="3017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Text 5"/>
          <p:cNvSpPr/>
          <p:nvPr/>
        </p:nvSpPr>
        <p:spPr>
          <a:xfrm>
            <a:off x="566928" y="4389120"/>
            <a:ext cx="5888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C6C6C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초과 금융소득 1,000만원당 추가 부담 (지방소득세 포함)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6766560" y="1298448"/>
            <a:ext cx="485820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금융소득 외 소득이 없는 경우 (은퇴자·전업투자자)</a:t>
            </a:r>
            <a:endParaRPr lang="en-US" sz="13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766560" y="1627632"/>
          <a:ext cx="4858207" cy="914400"/>
        </p:xfrm>
        <a:graphic>
          <a:graphicData uri="http://schemas.openxmlformats.org/drawingml/2006/table">
            <a:tbl>
              <a:tblPr/>
              <a:tblGrid>
                <a:gridCol w="1554626"/>
                <a:gridCol w="1165970"/>
                <a:gridCol w="1068806"/>
                <a:gridCol w="1068806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A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금융소득</a:t>
                      </a:r>
                      <a:endParaRPr lang="en-US" sz="10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07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1A1A1A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결정세액</a:t>
                      </a:r>
                      <a:endParaRPr lang="en-US" sz="10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07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1A1A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실효세율</a:t>
                      </a:r>
                      <a:endParaRPr lang="en-US" sz="10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07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1A1A1A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추가 납부</a:t>
                      </a:r>
                      <a:endParaRPr lang="en-US" sz="10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072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2,000만원</a:t>
                      </a:r>
                      <a:endParaRPr lang="en-US" sz="10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280</a:t>
                      </a:r>
                      <a:endParaRPr lang="en-US" sz="10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14.0%</a:t>
                      </a:r>
                      <a:endParaRPr lang="en-US" sz="10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0</a:t>
                      </a:r>
                      <a:endParaRPr lang="en-US" sz="10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3,000만원</a:t>
                      </a:r>
                      <a:endParaRPr lang="en-US" sz="10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420</a:t>
                      </a:r>
                      <a:endParaRPr lang="en-US" sz="10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14.0%</a:t>
                      </a:r>
                      <a:endParaRPr lang="en-US" sz="10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0</a:t>
                      </a:r>
                      <a:endParaRPr lang="en-US" sz="10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5,000만원</a:t>
                      </a:r>
                      <a:endParaRPr lang="en-US" sz="10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700</a:t>
                      </a:r>
                      <a:endParaRPr lang="en-US" sz="10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14.0%</a:t>
                      </a:r>
                      <a:endParaRPr lang="en-US" sz="10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0</a:t>
                      </a:r>
                      <a:endParaRPr lang="en-US" sz="10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8,000만원</a:t>
                      </a:r>
                      <a:endParaRPr lang="en-US" sz="10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1,144</a:t>
                      </a:r>
                      <a:endParaRPr lang="en-US" sz="10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14.3%</a:t>
                      </a:r>
                      <a:endParaRPr lang="en-US" sz="10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24</a:t>
                      </a:r>
                      <a:endParaRPr lang="en-US" sz="10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A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1억 5,000만원</a:t>
                      </a:r>
                      <a:endParaRPr lang="en-US" sz="10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1A1A1A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3,286</a:t>
                      </a:r>
                      <a:endParaRPr lang="en-US" sz="10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1A1A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21.9%</a:t>
                      </a:r>
                      <a:endParaRPr lang="en-US" sz="10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1A1A1A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1,186</a:t>
                      </a:r>
                      <a:endParaRPr lang="en-US" sz="10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</a:tr>
            </a:tbl>
          </a:graphicData>
        </a:graphic>
      </p:graphicFrame>
      <p:sp>
        <p:nvSpPr>
          <p:cNvPr id="11" name="Shape 7"/>
          <p:cNvSpPr/>
          <p:nvPr/>
        </p:nvSpPr>
        <p:spPr>
          <a:xfrm>
            <a:off x="6766560" y="3712464"/>
            <a:ext cx="4858207" cy="932688"/>
          </a:xfrm>
          <a:prstGeom prst="rect">
            <a:avLst/>
          </a:prstGeom>
          <a:solidFill>
            <a:srgbClr val="F7F8FA"/>
          </a:solidFill>
          <a:ln w="9525">
            <a:solidFill>
              <a:srgbClr val="E5E4E1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6931152" y="3858768"/>
            <a:ext cx="452902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다른 소득이 없으면 금융소득 8,000만원 수준까지 종합과세로 인한 추가 부담이 거의 없다. 이 구간에서 실제 불이익은 세금이 아니라 건강보험료와 ISA 가입 제한이다.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566928" y="4828032"/>
            <a:ext cx="11057839" cy="1298448"/>
          </a:xfrm>
          <a:prstGeom prst="rect">
            <a:avLst/>
          </a:prstGeom>
          <a:solidFill>
            <a:srgbClr val="FFFFFF"/>
          </a:solidFill>
          <a:ln w="9525">
            <a:solidFill>
              <a:srgbClr val="CDCECB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731520" y="4946904"/>
            <a:ext cx="1072865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" kern="0" dirty="0">
                <a:solidFill>
                  <a:srgbClr val="F58220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여기까지의 결론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731520" y="5230368"/>
            <a:ext cx="1072865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금융소득종합과세는 고소득 근로·사업소득자에게만 실질적으로 무거운 제도다. 은퇴자에게는 세금이 아니라 건강보험료 문제로 나타난다.</a:t>
            </a:r>
            <a:endParaRPr lang="en-US" sz="11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따라서 2026년 신설된 고배당 분리과세는 위 표에서 부담이 가장 큰 「고소득자 × 배당소득」 조합을 정면으로 겨냥한 제도다.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7432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F58220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PART I · 금융소득종합과세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66928" y="512064"/>
            <a:ext cx="10424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Gross-up과 배당세액공제 — 배당이 이자보다 유리한 이유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66928" y="1097280"/>
            <a:ext cx="11057839" cy="11887"/>
          </a:xfrm>
          <a:prstGeom prst="rect">
            <a:avLst/>
          </a:prstGeom>
          <a:solidFill>
            <a:srgbClr val="F5822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382512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6C6C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PART I · 금융소득종합과세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527487" y="6382512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6C6C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11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66928" y="129844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이중과세 조정 구조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66928" y="1645920"/>
            <a:ext cx="274320" cy="274320"/>
          </a:xfrm>
          <a:prstGeom prst="rect">
            <a:avLst/>
          </a:prstGeom>
          <a:solidFill>
            <a:srgbClr val="043B7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16459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50976" y="1618488"/>
            <a:ext cx="5376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배당가산 — 2,000만원 초과 배당소득에 11%를 더한다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66928" y="2084832"/>
            <a:ext cx="274320" cy="274320"/>
          </a:xfrm>
          <a:prstGeom prst="rect">
            <a:avLst/>
          </a:prstGeom>
          <a:solidFill>
            <a:srgbClr val="043B7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208483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950976" y="2057400"/>
            <a:ext cx="5376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키운 금액으로 종합소득 산출세액을 계산한다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66928" y="2523744"/>
            <a:ext cx="274320" cy="274320"/>
          </a:xfrm>
          <a:prstGeom prst="rect">
            <a:avLst/>
          </a:prstGeom>
          <a:solidFill>
            <a:srgbClr val="043B7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6928" y="252374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3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950976" y="2496312"/>
            <a:ext cx="5376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배당세액공제 — 가산한 금액을 산출세액에서 공제한다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66928" y="3035808"/>
            <a:ext cx="5760720" cy="548640"/>
          </a:xfrm>
          <a:prstGeom prst="rect">
            <a:avLst/>
          </a:prstGeom>
          <a:solidFill>
            <a:srgbClr val="ECEFF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68096" y="3136392"/>
            <a:ext cx="53583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배당가산액 = (금융소득 중 2,000만원을 초과하는 배당소득) × 11%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66928" y="3675888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C6C6C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※ 소득세법 §17③ · 가산율은 법인세 최저세율에 연동되며, 2026년 법인세율 환원(9%→10%)에 따라 10%에서 11%로 환원되었다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638544" y="1298448"/>
            <a:ext cx="498622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효과 — 금융소득 3,000만원 / 다른 과세표준 7,000만원</a:t>
            </a:r>
            <a:endParaRPr lang="en-US" sz="13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38544" y="1627632"/>
          <a:ext cx="4986223" cy="914400"/>
        </p:xfrm>
        <a:graphic>
          <a:graphicData uri="http://schemas.openxmlformats.org/drawingml/2006/table">
            <a:tbl>
              <a:tblPr/>
              <a:tblGrid>
                <a:gridCol w="1545729"/>
                <a:gridCol w="1146831"/>
                <a:gridCol w="1146831"/>
                <a:gridCol w="1146831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A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구분</a:t>
                      </a:r>
                      <a:endParaRPr lang="en-US" sz="10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07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1A1A1A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배당가산액</a:t>
                      </a:r>
                      <a:endParaRPr lang="en-US" sz="10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07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1A1A1A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① 종합과세</a:t>
                      </a:r>
                      <a:endParaRPr lang="en-US" sz="10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07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1A1A1A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결정세액</a:t>
                      </a:r>
                      <a:endParaRPr lang="en-US" sz="10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07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전액 이자소득</a:t>
                      </a:r>
                      <a:endParaRPr lang="en-US" sz="10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0</a:t>
                      </a:r>
                      <a:endParaRPr lang="en-US" sz="10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1,624</a:t>
                      </a:r>
                      <a:endParaRPr lang="en-US" sz="10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1,624</a:t>
                      </a:r>
                      <a:endParaRPr lang="en-US" sz="10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A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전액 배당소득</a:t>
                      </a:r>
                      <a:endParaRPr lang="en-US" sz="10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1A1A1A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110</a:t>
                      </a:r>
                      <a:endParaRPr lang="en-US" sz="10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1A1A1A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1,540</a:t>
                      </a:r>
                      <a:endParaRPr lang="en-US" sz="10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1A1A1A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1,540</a:t>
                      </a:r>
                      <a:endParaRPr lang="en-US" sz="10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58220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차이</a:t>
                      </a:r>
                      <a:endParaRPr lang="en-US" sz="10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F58220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− 84만원</a:t>
                      </a:r>
                      <a:endParaRPr lang="en-US" sz="10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2" name="Text 19"/>
          <p:cNvSpPr/>
          <p:nvPr/>
        </p:nvSpPr>
        <p:spPr>
          <a:xfrm>
            <a:off x="6638544" y="3154680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C6C6C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※ 단위 만원 · 지방세 별도. 공제 한도(비교과세 ①−② 차액)에 걸리면 효과는 축소된다.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6638544" y="3529584"/>
            <a:ext cx="4986223" cy="1481328"/>
          </a:xfrm>
          <a:prstGeom prst="rect">
            <a:avLst/>
          </a:prstGeom>
          <a:solidFill>
            <a:srgbClr val="FFFFFF"/>
          </a:solidFill>
          <a:ln w="9525">
            <a:solidFill>
              <a:srgbClr val="CDCECB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803136" y="3648456"/>
            <a:ext cx="46570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" kern="0" dirty="0">
                <a:solidFill>
                  <a:srgbClr val="043B72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Gross-up 대상에서 제외되는 배당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6803136" y="3931920"/>
            <a:ext cx="4657039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외국법인 배당 (해외주식·해외 ETF)</a:t>
            </a:r>
            <a:endParaRPr lang="en-US" sz="10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집합투자기구의 이익 (펀드·ETF 분배금)</a:t>
            </a:r>
            <a:endParaRPr lang="en-US" sz="10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법인세가 과세되지 않은 의제배당</a:t>
            </a:r>
            <a:endParaRPr lang="en-US" sz="10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고배당 분리과세를 선택한 배당</a:t>
            </a:r>
            <a:endParaRPr lang="en-US" sz="1050" dirty="0"/>
          </a:p>
        </p:txBody>
      </p:sp>
      <p:sp>
        <p:nvSpPr>
          <p:cNvPr id="26" name="Shape 23"/>
          <p:cNvSpPr/>
          <p:nvPr/>
        </p:nvSpPr>
        <p:spPr>
          <a:xfrm>
            <a:off x="566928" y="5138928"/>
            <a:ext cx="11057839" cy="987552"/>
          </a:xfrm>
          <a:prstGeom prst="rect">
            <a:avLst/>
          </a:prstGeom>
          <a:solidFill>
            <a:srgbClr val="FFFFFF"/>
          </a:solidFill>
          <a:ln w="9525">
            <a:solidFill>
              <a:srgbClr val="CDCECB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731520" y="5257800"/>
            <a:ext cx="1072865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" kern="0" dirty="0">
                <a:solidFill>
                  <a:srgbClr val="F58220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실무 시사점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731520" y="5541264"/>
            <a:ext cx="1072865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국내 상장주식의 직접 배당은 Gross-up 대상이지만, 국내 상장 해외지수 ETF의 분배금은 대상이 아니다. 같은 "배당소득"이라도 조정 여부가 다르다.</a:t>
            </a:r>
            <a:endParaRPr lang="en-US" sz="10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고객 포트폴리오를 「국내 주식 직접배당 / 펀드·ETF 분배금 / 해외 직접배당」 세 갈래로 구분해 두면 세액 예측 정확도가 크게 올라간다.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7432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F58220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PART I · 2026년 개정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66928" y="512064"/>
            <a:ext cx="10424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고배당기업 배당소득 분리과세 ① 제도와 요건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66928" y="1097280"/>
            <a:ext cx="11057839" cy="11887"/>
          </a:xfrm>
          <a:prstGeom prst="rect">
            <a:avLst/>
          </a:prstGeom>
          <a:solidFill>
            <a:srgbClr val="F5822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382512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6C6C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PART I · 2026년 개정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527487" y="6382512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6C6C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12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0442448" y="566928"/>
            <a:ext cx="841248" cy="219456"/>
          </a:xfrm>
          <a:prstGeom prst="rect">
            <a:avLst/>
          </a:prstGeom>
          <a:solidFill>
            <a:srgbClr val="F5822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442448" y="566928"/>
            <a:ext cx="841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2026 신설</a:t>
            </a:r>
            <a:endParaRPr lang="en-US" sz="9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335024"/>
          <a:ext cx="11057839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9594799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항목</a:t>
                      </a:r>
                      <a:endParaRPr lang="en-US" sz="10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07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내용</a:t>
                      </a:r>
                      <a:endParaRPr lang="en-US" sz="10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07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근거</a:t>
                      </a:r>
                      <a:endParaRPr lang="en-US" sz="10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조세특례제한법 배당소득 과세특례 (2025.12.23. 개정 / 2026.1.1. 시행)</a:t>
                      </a:r>
                      <a:endParaRPr lang="en-US" sz="10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대상 소득</a:t>
                      </a:r>
                      <a:endParaRPr lang="en-US" sz="10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고배당기업이 지급하는 결산배당 · 중간배당 · 분기배당</a:t>
                      </a:r>
                      <a:endParaRPr lang="en-US" sz="10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적용 시기</a:t>
                      </a:r>
                      <a:endParaRPr lang="en-US" sz="10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2026년 1월 1일 이후 지급받는 배당소득 — 2026년 초 지급되는 2025사업연도 결산배당부터</a:t>
                      </a:r>
                      <a:endParaRPr lang="en-US" sz="10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적용 기간</a:t>
                      </a:r>
                      <a:endParaRPr lang="en-US" sz="10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3년 한시 — 2026~2028년 지급 배당분 (2027년 5월 ~ 2029년 5월 신고에 반영)</a:t>
                      </a:r>
                      <a:endParaRPr lang="en-US" sz="10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과세 방식</a:t>
                      </a:r>
                      <a:endParaRPr lang="en-US" sz="10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종합소득 과세표준에 합산하지 않고 별도 세율(14~30%)로 분리과세</a:t>
                      </a:r>
                      <a:endParaRPr lang="en-US" sz="10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적용 방법</a:t>
                      </a:r>
                      <a:endParaRPr lang="en-US" sz="10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신청주의 — 특례 배당소득 2,000만원 초과 시 종합소득세 신고 때 신청서 제출 필수</a:t>
                      </a:r>
                      <a:endParaRPr lang="en-US" sz="10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제외 대상</a:t>
                      </a:r>
                      <a:endParaRPr lang="en-US" sz="10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공모·사모펀드, 리츠, 투자목적회사(SPC) 등 · 해외 상장기업 배당은 대상 아님</a:t>
                      </a:r>
                      <a:endParaRPr lang="en-US" sz="10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566928" y="422452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고배당기업의 요건</a:t>
            </a:r>
            <a:endParaRPr lang="en-US" sz="1300" dirty="0"/>
          </a:p>
        </p:txBody>
      </p:sp>
      <p:graphicFrame>
        <p:nvGraphicFramePr>
          <p:cNvPr id="2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4553712"/>
          <a:ext cx="5391760" cy="914400"/>
        </p:xfrm>
        <a:graphic>
          <a:graphicData uri="http://schemas.openxmlformats.org/drawingml/2006/table">
            <a:tbl>
              <a:tblPr/>
              <a:tblGrid>
                <a:gridCol w="658368"/>
                <a:gridCol w="4733392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구분</a:t>
                      </a:r>
                      <a:endParaRPr lang="en-US" sz="10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07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요건</a:t>
                      </a:r>
                      <a:endParaRPr lang="en-US" sz="10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07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전제</a:t>
                      </a:r>
                      <a:endParaRPr lang="en-US" sz="10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상장법인으로서 전년 대비 배당이 감소하지 않았을 것</a:t>
                      </a:r>
                      <a:endParaRPr lang="en-US" sz="10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58220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①</a:t>
                      </a:r>
                      <a:endParaRPr lang="en-US" sz="10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배당성향 40% 이상 (당기순이익 대비 배당금 비율)</a:t>
                      </a:r>
                      <a:endParaRPr lang="en-US" sz="10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58220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②</a:t>
                      </a:r>
                      <a:endParaRPr lang="en-US" sz="10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배당성향 25% 이상 + 전년 대비 배당액 10% 이상 증가</a:t>
                      </a:r>
                      <a:endParaRPr lang="en-US" sz="10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Shape 8"/>
          <p:cNvSpPr/>
          <p:nvPr/>
        </p:nvSpPr>
        <p:spPr>
          <a:xfrm>
            <a:off x="6233008" y="4224528"/>
            <a:ext cx="5391760" cy="932688"/>
          </a:xfrm>
          <a:prstGeom prst="rect">
            <a:avLst/>
          </a:prstGeom>
          <a:solidFill>
            <a:srgbClr val="FFFFFF"/>
          </a:solidFill>
          <a:ln w="9525">
            <a:solidFill>
              <a:srgbClr val="CDCECB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6397600" y="4343400"/>
            <a:ext cx="50625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" kern="0" dirty="0">
                <a:solidFill>
                  <a:srgbClr val="043B72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대상 여부는 어디서 확인하는가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6397600" y="4590288"/>
            <a:ext cx="506257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고배당기업은 정기주주총회 이익배당 결의 다음 날까지 「기업가치 제고계획 공시」를 작성해야 한다.</a:t>
            </a:r>
            <a:endParaRPr lang="en-US" sz="9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확인 창구: 한국거래소 상장공시제출시스템 (filing.krx.co.kr)</a:t>
            </a:r>
            <a:endParaRPr lang="en-US" sz="950" dirty="0"/>
          </a:p>
        </p:txBody>
      </p:sp>
      <p:sp>
        <p:nvSpPr>
          <p:cNvPr id="15" name="Shape 11"/>
          <p:cNvSpPr/>
          <p:nvPr/>
        </p:nvSpPr>
        <p:spPr>
          <a:xfrm>
            <a:off x="6233008" y="5285232"/>
            <a:ext cx="5391760" cy="841248"/>
          </a:xfrm>
          <a:prstGeom prst="rect">
            <a:avLst/>
          </a:prstGeom>
          <a:solidFill>
            <a:srgbClr val="FFFBF0"/>
          </a:solidFill>
          <a:ln w="9525">
            <a:solidFill>
              <a:srgbClr val="D4A017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6397600" y="5431536"/>
            <a:ext cx="50625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②의 증가율 판정 기준은 「전년 대비 배당액 10% 이상 증가」로 확정되었다(2025.12.2. 국회 본회의 통과). 다만 배당성향 산정 기준(연결/별도) 등 세부 사항은 시행령과 기업 공시로 확인할 것.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7432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F58220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PART I · 2026년 개정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66928" y="512064"/>
            <a:ext cx="10424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고배당기업 배당소득 분리과세 ② 세율과 신청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66928" y="1097280"/>
            <a:ext cx="11057839" cy="11887"/>
          </a:xfrm>
          <a:prstGeom prst="rect">
            <a:avLst/>
          </a:prstGeom>
          <a:solidFill>
            <a:srgbClr val="F5822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382512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6C6C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PART I · 2026년 개정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527487" y="6382512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6C6C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13</a:t>
            </a:r>
            <a:endParaRPr lang="en-US" sz="9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566928" y="1335024"/>
          <a:ext cx="5888736" cy="3072384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Text 5"/>
          <p:cNvSpPr/>
          <p:nvPr/>
        </p:nvSpPr>
        <p:spPr>
          <a:xfrm>
            <a:off x="566928" y="4443984"/>
            <a:ext cx="5888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C6C6C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구간별 분리과세 세율 vs 종합과세 최고세율 (지방소득세 포함)</a:t>
            </a:r>
            <a:endParaRPr lang="en-US" sz="95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766560" y="1335024"/>
          <a:ext cx="4858207" cy="914400"/>
        </p:xfrm>
        <a:graphic>
          <a:graphicData uri="http://schemas.openxmlformats.org/drawingml/2006/table">
            <a:tbl>
              <a:tblPr/>
              <a:tblGrid>
                <a:gridCol w="2137611"/>
                <a:gridCol w="1263134"/>
                <a:gridCol w="1457462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A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과세표준</a:t>
                      </a:r>
                      <a:endParaRPr lang="en-US" sz="10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07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1A1A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세율</a:t>
                      </a:r>
                      <a:endParaRPr lang="en-US" sz="10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07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1A1A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지방세 포함</a:t>
                      </a:r>
                      <a:endParaRPr lang="en-US" sz="10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072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2,000만원 이하</a:t>
                      </a:r>
                      <a:endParaRPr lang="en-US" sz="10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14%</a:t>
                      </a:r>
                      <a:endParaRPr lang="en-US" sz="10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15.4%</a:t>
                      </a:r>
                      <a:endParaRPr lang="en-US" sz="10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2,000만 ~ 3억원</a:t>
                      </a:r>
                      <a:endParaRPr lang="en-US" sz="10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20%</a:t>
                      </a:r>
                      <a:endParaRPr lang="en-US" sz="10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22.0%</a:t>
                      </a:r>
                      <a:endParaRPr lang="en-US" sz="10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3억 ~ 50억원</a:t>
                      </a:r>
                      <a:endParaRPr lang="en-US" sz="10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25%</a:t>
                      </a:r>
                      <a:endParaRPr lang="en-US" sz="10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27.5%</a:t>
                      </a:r>
                      <a:endParaRPr lang="en-US" sz="10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A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50억원 초과</a:t>
                      </a:r>
                      <a:endParaRPr lang="en-US" sz="10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1A1A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30%</a:t>
                      </a:r>
                      <a:endParaRPr lang="en-US" sz="10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1A1A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33.0%</a:t>
                      </a:r>
                      <a:endParaRPr lang="en-US" sz="10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</a:tr>
            </a:tbl>
          </a:graphicData>
        </a:graphic>
      </p:graphicFrame>
      <p:sp>
        <p:nvSpPr>
          <p:cNvPr id="10" name="Text 6"/>
          <p:cNvSpPr/>
          <p:nvPr/>
        </p:nvSpPr>
        <p:spPr>
          <a:xfrm>
            <a:off x="566928" y="2999232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C6C6C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※ 초과누진 구조 — 전액에 단일세율이 적용되지 않는다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6766560" y="3310128"/>
            <a:ext cx="4858207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신청 절차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6766560" y="3639312"/>
            <a:ext cx="274320" cy="274320"/>
          </a:xfrm>
          <a:prstGeom prst="rect">
            <a:avLst/>
          </a:prstGeom>
          <a:solidFill>
            <a:srgbClr val="043B7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6766560" y="363931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1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7150608" y="3611880"/>
            <a:ext cx="447415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특례 배당 2,000만원 이하 → 원천징수(15.4%)로 종결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6766560" y="4059936"/>
            <a:ext cx="274320" cy="274320"/>
          </a:xfrm>
          <a:prstGeom prst="rect">
            <a:avLst/>
          </a:prstGeom>
          <a:solidFill>
            <a:srgbClr val="043B7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6766560" y="405993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2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7150608" y="4032504"/>
            <a:ext cx="447415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2,000만원 초과 → 5월 신고 시 분리과세 신청서 제출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6766560" y="4480560"/>
            <a:ext cx="274320" cy="274320"/>
          </a:xfrm>
          <a:prstGeom prst="rect">
            <a:avLst/>
          </a:prstGeom>
          <a:solidFill>
            <a:srgbClr val="043B7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6766560" y="44805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3</a:t>
            </a:r>
            <a:endParaRPr lang="en-US" sz="1100" dirty="0"/>
          </a:p>
        </p:txBody>
      </p:sp>
      <p:sp>
        <p:nvSpPr>
          <p:cNvPr id="20" name="Text 16"/>
          <p:cNvSpPr/>
          <p:nvPr/>
        </p:nvSpPr>
        <p:spPr>
          <a:xfrm>
            <a:off x="7150608" y="4453128"/>
            <a:ext cx="447415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미신청 시 특례 미적용 — 기존 종합과세로 처리</a:t>
            </a:r>
            <a:endParaRPr lang="en-US" sz="1000" dirty="0"/>
          </a:p>
        </p:txBody>
      </p:sp>
      <p:sp>
        <p:nvSpPr>
          <p:cNvPr id="21" name="Shape 17"/>
          <p:cNvSpPr/>
          <p:nvPr/>
        </p:nvSpPr>
        <p:spPr>
          <a:xfrm>
            <a:off x="566928" y="4864608"/>
            <a:ext cx="11057839" cy="1261872"/>
          </a:xfrm>
          <a:prstGeom prst="rect">
            <a:avLst/>
          </a:prstGeom>
          <a:solidFill>
            <a:srgbClr val="FDF4F4"/>
          </a:solidFill>
          <a:ln w="9525">
            <a:solidFill>
              <a:srgbClr val="C62828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731520" y="5010912"/>
            <a:ext cx="10728655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가장 중요한 실무 포인트  |  자동 적용이 아니다.</a:t>
            </a:r>
            <a:endParaRPr lang="en-US" sz="10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신청서를 제출하지 않으면 요건을 갖춘 배당이라도 종합과세된다. 고객 안내 시 반드시 "5월에 신청서를 내야 한다"는 문장을 넣어야 한다.</a:t>
            </a:r>
            <a:endParaRPr lang="en-US" sz="10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국세청은 한국거래소 등과 자료를 연계해 신고 시 신청 대상임을 안내할 예정이라고 밝혔으나, 최종 책임은 납세자에게 있다.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7432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F58220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PART I · 2026년 개정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66928" y="512064"/>
            <a:ext cx="10424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고배당기업 배당소득 분리과세 ③ 유불리 판정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66928" y="1097280"/>
            <a:ext cx="11057839" cy="11887"/>
          </a:xfrm>
          <a:prstGeom prst="rect">
            <a:avLst/>
          </a:prstGeom>
          <a:solidFill>
            <a:srgbClr val="F5822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382512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6C6C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PART I · 2026년 개정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527487" y="6382512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6C6C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14</a:t>
            </a:r>
            <a:endParaRPr lang="en-US" sz="9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566928" y="1371600"/>
          <a:ext cx="5120640" cy="2834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Text 5"/>
          <p:cNvSpPr/>
          <p:nvPr/>
        </p:nvSpPr>
        <p:spPr>
          <a:xfrm>
            <a:off x="566928" y="4242816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C6C6C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특례 배당 1억원 / 다른 소득 과세표준 1억 5,000만원 · 지방세 포함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566928" y="4553712"/>
            <a:ext cx="5120640" cy="621792"/>
          </a:xfrm>
          <a:prstGeom prst="roundRect">
            <a:avLst>
              <a:gd name="adj" fmla="val 4412"/>
            </a:avLst>
          </a:prstGeom>
          <a:solidFill>
            <a:srgbClr val="F5822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86384" y="4663440"/>
            <a:ext cx="46817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절세 효과   1,584만원</a:t>
            </a:r>
            <a:endParaRPr lang="en-US" sz="17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98464" y="1335024"/>
          <a:ext cx="5626303" cy="914400"/>
        </p:xfrm>
        <a:graphic>
          <a:graphicData uri="http://schemas.openxmlformats.org/drawingml/2006/table">
            <a:tbl>
              <a:tblPr/>
              <a:tblGrid>
                <a:gridCol w="1700784"/>
                <a:gridCol w="3925519"/>
              </a:tblGrid>
              <a:tr h="7863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A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분리과세가 불리해지는 상황</a:t>
                      </a:r>
                      <a:endParaRPr lang="en-US" sz="10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07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A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이유</a:t>
                      </a:r>
                      <a:endParaRPr lang="en-US" sz="10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072"/>
                    </a:solidFill>
                  </a:tcPr>
                </a:tc>
              </a:tr>
              <a:tr h="7863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A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다른 소득이 적은 고객</a:t>
                      </a:r>
                      <a:endParaRPr lang="en-US" sz="10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종합과세 시 낮은 누진구간(6~15%)이 적용되므로 분리과세 14~20%보다 유리할 수 있다. 은퇴자·소득 없는 배우자 명의 계좌가 대표적.</a:t>
                      </a:r>
                      <a:endParaRPr lang="en-US" sz="10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863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A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배당세액공제 효과가 큰 고객</a:t>
                      </a:r>
                      <a:endParaRPr lang="en-US" sz="10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분리과세를 택하면 Gross-up과 배당세액공제를 적용받지 못한다. 종합과세 구간이 낮을수록 공제 효과의 비중이 커진다.</a:t>
                      </a:r>
                      <a:endParaRPr lang="en-US" sz="10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7863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A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공제 여력이 남은 고객</a:t>
                      </a:r>
                      <a:endParaRPr lang="en-US" sz="10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종합소득에서 차감할 소득공제·세액공제 여력이 있으면 종합과세로 흡수하는 편이 나을 수 있다.</a:t>
                      </a:r>
                      <a:endParaRPr lang="en-US" sz="10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Shape 8"/>
          <p:cNvSpPr/>
          <p:nvPr/>
        </p:nvSpPr>
        <p:spPr>
          <a:xfrm>
            <a:off x="5998464" y="3986784"/>
            <a:ext cx="5626303" cy="1042416"/>
          </a:xfrm>
          <a:prstGeom prst="rect">
            <a:avLst/>
          </a:prstGeom>
          <a:solidFill>
            <a:srgbClr val="FFFFFF"/>
          </a:solidFill>
          <a:ln w="9525">
            <a:solidFill>
              <a:srgbClr val="CDCECB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6163056" y="4105656"/>
            <a:ext cx="529711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" kern="0" dirty="0">
                <a:solidFill>
                  <a:srgbClr val="043B72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판정 기준선 (개략)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6163056" y="4389120"/>
            <a:ext cx="5297119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배당 외 종합소득 과세표준 5,000만원(한계세율 24%) 초과 → 분리과세 검토 실익 발생</a:t>
            </a:r>
            <a:endParaRPr lang="en-US" sz="10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8,800만원(35%) 이상 → 대체로 분리과세가 유리</a:t>
            </a:r>
            <a:endParaRPr lang="en-US" sz="10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단, 개별 계산 없이 단정 금지 — 반드시 양방 계산 후 안내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566928" y="5303520"/>
            <a:ext cx="11057839" cy="822960"/>
          </a:xfrm>
          <a:prstGeom prst="rect">
            <a:avLst/>
          </a:prstGeom>
          <a:solidFill>
            <a:srgbClr val="F7F8FA"/>
          </a:solidFill>
          <a:ln w="9525">
            <a:solidFill>
              <a:srgbClr val="E5E4E1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731520" y="5449824"/>
            <a:ext cx="1072865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배당성향 산정 기준(연결 vs 별도) 등 세부 요건은 시행령·시행규칙으로 매년 갱신될 수 있다. 연도마다 대상 기업이 바뀌므로 작년 대상 기업이 올해도 대상일 보장은 없다. 적용 시점의 최신 시행령과 당해 공시를 확인할 것.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7432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F58220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PART I · 건강보험료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66928" y="512064"/>
            <a:ext cx="10424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건강보험료 ① 세금보다 아픈 절벽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66928" y="1097280"/>
            <a:ext cx="11057839" cy="11887"/>
          </a:xfrm>
          <a:prstGeom prst="rect">
            <a:avLst/>
          </a:prstGeom>
          <a:solidFill>
            <a:srgbClr val="F5822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382512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6C6C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PART I · 건강보험료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527487" y="6382512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6C6C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15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66928" y="1298448"/>
            <a:ext cx="5760720" cy="457200"/>
          </a:xfrm>
          <a:prstGeom prst="roundRect">
            <a:avLst>
              <a:gd name="adj" fmla="val 6000"/>
            </a:avLst>
          </a:prstGeom>
          <a:solidFill>
            <a:srgbClr val="F5822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86384" y="1408176"/>
            <a:ext cx="53218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금융소득 연 1,000만원 초과 시 — 초과분이 아니라 전액이 보험료 산정 소득에 반영된다</a:t>
            </a:r>
            <a:endParaRPr lang="en-US" sz="115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566928" y="1883664"/>
          <a:ext cx="5760720" cy="2615184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0" name="Text 7"/>
          <p:cNvSpPr/>
          <p:nvPr/>
        </p:nvSpPr>
        <p:spPr>
          <a:xfrm>
            <a:off x="566928" y="4535424"/>
            <a:ext cx="5760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C6C6C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지역가입자 · 금융소득 규모별 연간 소득분 보험료 (재산분 별도)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6638544" y="1298448"/>
            <a:ext cx="498622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2026년 보험료율</a:t>
            </a:r>
            <a:endParaRPr lang="en-US" sz="13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38544" y="1627632"/>
          <a:ext cx="4986223" cy="914400"/>
        </p:xfrm>
        <a:graphic>
          <a:graphicData uri="http://schemas.openxmlformats.org/drawingml/2006/table">
            <a:tbl>
              <a:tblPr/>
              <a:tblGrid>
                <a:gridCol w="2293663"/>
                <a:gridCol w="1346280"/>
                <a:gridCol w="1346280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A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항목</a:t>
                      </a:r>
                      <a:endParaRPr lang="en-US" sz="9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07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A1A1A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2025년</a:t>
                      </a:r>
                      <a:endParaRPr lang="en-US" sz="9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07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A1A1A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2026년</a:t>
                      </a:r>
                      <a:endParaRPr lang="en-US" sz="9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07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직장가입자 건강보험료율</a:t>
                      </a:r>
                      <a:endParaRPr lang="en-US" sz="9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6C6C6C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7.09%</a:t>
                      </a:r>
                      <a:endParaRPr lang="en-US" sz="9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58220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7.19%</a:t>
                      </a:r>
                      <a:endParaRPr lang="en-US" sz="9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장기요양보험료율</a:t>
                      </a:r>
                      <a:endParaRPr lang="en-US" sz="9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6C6C6C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0.9182%</a:t>
                      </a:r>
                      <a:endParaRPr lang="en-US" sz="9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58220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0.9448%</a:t>
                      </a:r>
                      <a:endParaRPr lang="en-US" sz="9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지역 재산보험료 점수당</a:t>
                      </a:r>
                      <a:endParaRPr lang="en-US" sz="9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6C6C6C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208.4원</a:t>
                      </a:r>
                      <a:endParaRPr lang="en-US" sz="9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58220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211.5원</a:t>
                      </a:r>
                      <a:endParaRPr lang="en-US" sz="9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국민연금 보험료율</a:t>
                      </a:r>
                      <a:endParaRPr lang="en-US" sz="9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6C6C6C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9.0%</a:t>
                      </a:r>
                      <a:endParaRPr lang="en-US" sz="9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58220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9.5%</a:t>
                      </a:r>
                      <a:endParaRPr lang="en-US" sz="9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</a:tbl>
          </a:graphicData>
        </a:graphic>
      </p:graphicFrame>
      <p:sp>
        <p:nvSpPr>
          <p:cNvPr id="13" name="Text 9"/>
          <p:cNvSpPr/>
          <p:nvPr/>
        </p:nvSpPr>
        <p:spPr>
          <a:xfrm>
            <a:off x="6638544" y="3236976"/>
            <a:ext cx="498622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직장가입자 — 소득월액보험료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638544" y="3547872"/>
            <a:ext cx="4986223" cy="402336"/>
          </a:xfrm>
          <a:prstGeom prst="rect">
            <a:avLst/>
          </a:prstGeom>
          <a:solidFill>
            <a:srgbClr val="ECEFF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6839712" y="3648456"/>
            <a:ext cx="4583887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(연간 보수 외 소득 − 2,000만원) ÷ 12 × 7.19%</a:t>
            </a:r>
            <a:endParaRPr lang="en-US" sz="1050" dirty="0"/>
          </a:p>
        </p:txBody>
      </p:sp>
      <p:graphicFrame>
        <p:nvGraphicFramePr>
          <p:cNvPr id="3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38544" y="4041648"/>
          <a:ext cx="4986223" cy="914400"/>
        </p:xfrm>
        <a:graphic>
          <a:graphicData uri="http://schemas.openxmlformats.org/drawingml/2006/table">
            <a:tbl>
              <a:tblPr/>
              <a:tblGrid>
                <a:gridCol w="2592836"/>
                <a:gridCol w="2393387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A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보수 외 소득</a:t>
                      </a:r>
                      <a:endParaRPr lang="en-US" sz="9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07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A1A1A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연간 추가 보험료</a:t>
                      </a:r>
                      <a:endParaRPr lang="en-US" sz="9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07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2,000만원 이하</a:t>
                      </a:r>
                      <a:endParaRPr lang="en-US" sz="9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0원</a:t>
                      </a:r>
                      <a:endParaRPr lang="en-US" sz="9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4,000만원</a:t>
                      </a:r>
                      <a:endParaRPr lang="en-US" sz="9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약 163만원</a:t>
                      </a:r>
                      <a:endParaRPr lang="en-US" sz="9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A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6,000만원</a:t>
                      </a:r>
                      <a:endParaRPr lang="en-US" sz="9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A1A1A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약 325만원</a:t>
                      </a:r>
                      <a:endParaRPr lang="en-US" sz="9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</a:tr>
            </a:tbl>
          </a:graphicData>
        </a:graphic>
      </p:graphicFrame>
      <p:sp>
        <p:nvSpPr>
          <p:cNvPr id="17" name="Shape 12"/>
          <p:cNvSpPr/>
          <p:nvPr/>
        </p:nvSpPr>
        <p:spPr>
          <a:xfrm>
            <a:off x="566928" y="5394960"/>
            <a:ext cx="11057839" cy="749808"/>
          </a:xfrm>
          <a:prstGeom prst="rect">
            <a:avLst/>
          </a:prstGeom>
          <a:solidFill>
            <a:srgbClr val="FDF4F4"/>
          </a:solidFill>
          <a:ln w="9525">
            <a:solidFill>
              <a:srgbClr val="C62828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731520" y="5541264"/>
            <a:ext cx="107286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연 990만원과 1,010만원의 차이  |  금융소득 20만원 차이로 연 80만원 이상의 보험료가 발생할 수 있다. 지역가입자 고객은 세금 기준선(2,000만원)이 아니라 보험료 기준선(1,000만원)을 먼저 관리해야 한다.</a:t>
            </a:r>
            <a:endParaRPr lang="en-US" sz="9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※ 소득 감소 시 보험료 조정 신청, 퇴직 직후 임의계속가입 제도를 함께 검토. 구체적 산정은 국민건강보험공단(1577-1000) 확인.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7432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F58220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PART I · 건강보험료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66928" y="512064"/>
            <a:ext cx="10424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건강보험료 ② 피부양자 자격 — 0원에서 월 수십만원으로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66928" y="1097280"/>
            <a:ext cx="11057839" cy="11887"/>
          </a:xfrm>
          <a:prstGeom prst="rect">
            <a:avLst/>
          </a:prstGeom>
          <a:solidFill>
            <a:srgbClr val="F5822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382512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6C6C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PART I · 건강보험료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527487" y="6382512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6C6C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16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66928" y="129844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소득 요건</a:t>
            </a:r>
            <a:endParaRPr lang="en-US" sz="13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627632"/>
          <a:ext cx="5391760" cy="914400"/>
        </p:xfrm>
        <a:graphic>
          <a:graphicData uri="http://schemas.openxmlformats.org/drawingml/2006/table">
            <a:tbl>
              <a:tblPr/>
              <a:tblGrid>
                <a:gridCol w="1517904"/>
                <a:gridCol w="3873856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A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요건</a:t>
                      </a:r>
                      <a:endParaRPr lang="en-US" sz="10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07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A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내용</a:t>
                      </a:r>
                      <a:endParaRPr lang="en-US" sz="10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07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A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합산소득 2,000만원</a:t>
                      </a:r>
                      <a:endParaRPr lang="en-US" sz="10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초과 시 자격 상실. 금융소득 + 근로 + 사업 + 공적연금 + 기타소득 합산</a:t>
                      </a:r>
                      <a:endParaRPr lang="en-US" sz="10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A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사업소득</a:t>
                      </a:r>
                      <a:endParaRPr lang="en-US" sz="10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사업자등록이 있으면 사업소득 발생 시 원칙적 탈락. 미등록 시 500만원 이하</a:t>
                      </a:r>
                      <a:endParaRPr lang="en-US" sz="10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A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사적연금</a:t>
                      </a:r>
                      <a:endParaRPr lang="en-US" sz="10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IRP·연금저축 수령액은 합산소득에 포함되지 않는다</a:t>
                      </a:r>
                      <a:endParaRPr lang="en-US" sz="10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6233008" y="129844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재산 요건 — 소득과 연동된 3단계</a:t>
            </a:r>
            <a:endParaRPr lang="en-US" sz="1300" dirty="0"/>
          </a:p>
        </p:txBody>
      </p:sp>
      <p:graphicFrame>
        <p:nvGraphicFramePr>
          <p:cNvPr id="3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33008" y="1627632"/>
          <a:ext cx="5391760" cy="914400"/>
        </p:xfrm>
        <a:graphic>
          <a:graphicData uri="http://schemas.openxmlformats.org/drawingml/2006/table">
            <a:tbl>
              <a:tblPr/>
              <a:tblGrid>
                <a:gridCol w="2048869"/>
                <a:gridCol w="2048869"/>
                <a:gridCol w="1294022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A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재산세 과세표준 합계</a:t>
                      </a:r>
                      <a:endParaRPr lang="en-US" sz="10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07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A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추가 소득 요건</a:t>
                      </a:r>
                      <a:endParaRPr lang="en-US" sz="10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07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1A1A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판정</a:t>
                      </a:r>
                      <a:endParaRPr lang="en-US" sz="10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07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5억 4,000만원 이하</a:t>
                      </a:r>
                      <a:endParaRPr lang="en-US" sz="10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합산소득 2,000만원 이하</a:t>
                      </a:r>
                      <a:endParaRPr lang="en-US" sz="10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유지 가능</a:t>
                      </a:r>
                      <a:endParaRPr lang="en-US" sz="10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5억 4,000만 ~ 9억원</a:t>
                      </a:r>
                      <a:endParaRPr lang="en-US" sz="10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58220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합산소득 1,000만원 이하</a:t>
                      </a:r>
                      <a:endParaRPr lang="en-US" sz="10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조건부 유지</a:t>
                      </a:r>
                      <a:endParaRPr lang="en-US" sz="10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A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9억원 초과</a:t>
                      </a:r>
                      <a:endParaRPr lang="en-US" sz="10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A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소득 규모와 무관</a:t>
                      </a:r>
                      <a:endParaRPr lang="en-US" sz="10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1A1A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인정 곤란</a:t>
                      </a:r>
                      <a:endParaRPr lang="en-US" sz="10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566928" y="3218688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C6C6C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※ 시세가 아니라 재산세 과세표준 기준. 재산세 고지서 또는 위택스에서 실제 과세표준을 확인해야 한다.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566928" y="362102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탈락 절차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566928" y="3950208"/>
            <a:ext cx="274320" cy="274320"/>
          </a:xfrm>
          <a:prstGeom prst="rect">
            <a:avLst/>
          </a:prstGeom>
          <a:solidFill>
            <a:srgbClr val="043B7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566928" y="39502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1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950976" y="3922776"/>
            <a:ext cx="50077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국세청 → 건강보험공단 소득자료 통보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566928" y="4370832"/>
            <a:ext cx="274320" cy="274320"/>
          </a:xfrm>
          <a:prstGeom prst="rect">
            <a:avLst/>
          </a:prstGeom>
          <a:solidFill>
            <a:srgbClr val="043B7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566928" y="437083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2</a:t>
            </a:r>
            <a:endParaRPr lang="en-US" sz="1100" dirty="0"/>
          </a:p>
        </p:txBody>
      </p:sp>
      <p:sp>
        <p:nvSpPr>
          <p:cNvPr id="18" name="Text 14"/>
          <p:cNvSpPr/>
          <p:nvPr/>
        </p:nvSpPr>
        <p:spPr>
          <a:xfrm>
            <a:off x="950976" y="4343400"/>
            <a:ext cx="50077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매년 11월 정기 자격 재심사 (전년 소득·재산)</a:t>
            </a:r>
            <a:endParaRPr lang="en-US" sz="1050" dirty="0"/>
          </a:p>
        </p:txBody>
      </p:sp>
      <p:sp>
        <p:nvSpPr>
          <p:cNvPr id="19" name="Shape 15"/>
          <p:cNvSpPr/>
          <p:nvPr/>
        </p:nvSpPr>
        <p:spPr>
          <a:xfrm>
            <a:off x="566928" y="4791456"/>
            <a:ext cx="274320" cy="274320"/>
          </a:xfrm>
          <a:prstGeom prst="rect">
            <a:avLst/>
          </a:prstGeom>
          <a:solidFill>
            <a:srgbClr val="043B7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566928" y="47914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3</a:t>
            </a:r>
            <a:endParaRPr lang="en-US" sz="1100" dirty="0"/>
          </a:p>
        </p:txBody>
      </p:sp>
      <p:sp>
        <p:nvSpPr>
          <p:cNvPr id="21" name="Text 17"/>
          <p:cNvSpPr/>
          <p:nvPr/>
        </p:nvSpPr>
        <p:spPr>
          <a:xfrm>
            <a:off x="950976" y="4764024"/>
            <a:ext cx="50077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요건 초과 시 다음 달부터 지역가입자로 자동 전환</a:t>
            </a:r>
            <a:endParaRPr lang="en-US" sz="1050" dirty="0"/>
          </a:p>
        </p:txBody>
      </p:sp>
      <p:sp>
        <p:nvSpPr>
          <p:cNvPr id="22" name="Shape 18"/>
          <p:cNvSpPr/>
          <p:nvPr/>
        </p:nvSpPr>
        <p:spPr>
          <a:xfrm>
            <a:off x="566928" y="5230368"/>
            <a:ext cx="5391760" cy="896112"/>
          </a:xfrm>
          <a:prstGeom prst="rect">
            <a:avLst/>
          </a:prstGeom>
          <a:solidFill>
            <a:srgbClr val="FFFBF0"/>
          </a:solidFill>
          <a:ln w="9525">
            <a:solidFill>
              <a:srgbClr val="D4A017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731520" y="5376672"/>
            <a:ext cx="506257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사례  |  예금 4억원(연 4%)으로 이자 1,600만원을 받으며 피부양자를 유지하던 고객이 국민연금 연 1,200만원을 받기 시작하면 합산 2,800만원 → 즉시 자격 상실. 연금 개시 시점과 금융소득을 함께 설계해야 하는 이유다.</a:t>
            </a:r>
            <a:endParaRPr lang="en-US" sz="1000" dirty="0"/>
          </a:p>
        </p:txBody>
      </p:sp>
      <p:sp>
        <p:nvSpPr>
          <p:cNvPr id="24" name="Shape 20"/>
          <p:cNvSpPr/>
          <p:nvPr/>
        </p:nvSpPr>
        <p:spPr>
          <a:xfrm>
            <a:off x="6233008" y="3621024"/>
            <a:ext cx="5391760" cy="1572768"/>
          </a:xfrm>
          <a:prstGeom prst="rect">
            <a:avLst/>
          </a:prstGeom>
          <a:solidFill>
            <a:srgbClr val="FFFFFF"/>
          </a:solidFill>
          <a:ln w="9525">
            <a:solidFill>
              <a:srgbClr val="CDCECB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6397600" y="3739896"/>
            <a:ext cx="50625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" kern="0" dirty="0">
                <a:solidFill>
                  <a:srgbClr val="F58220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대응 방향</a:t>
            </a:r>
            <a:endParaRPr lang="en-US" sz="1000" dirty="0"/>
          </a:p>
        </p:txBody>
      </p:sp>
      <p:sp>
        <p:nvSpPr>
          <p:cNvPr id="26" name="Text 22"/>
          <p:cNvSpPr/>
          <p:nvPr/>
        </p:nvSpPr>
        <p:spPr>
          <a:xfrm>
            <a:off x="6397600" y="4023360"/>
            <a:ext cx="5062576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은퇴 후 현금흐름을 사적연금 중심으로 재배치</a:t>
            </a:r>
            <a:endParaRPr lang="en-US" sz="10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과세계좌의 이자·배당을 ISA·연금계좌로 이전</a:t>
            </a:r>
            <a:endParaRPr lang="en-US" sz="10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부부 간 실질 증여를 통한 소득 분산</a:t>
            </a:r>
            <a:endParaRPr lang="en-US" sz="10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피부양자 유지가 항상 최선은 아님 — 운용금액이 크면 지역가입자 전환을 감수하고 세후 순수익이 큰 쪽을 택하는 것이 합리적</a:t>
            </a:r>
            <a:endParaRPr lang="en-US" sz="1000" dirty="0"/>
          </a:p>
        </p:txBody>
      </p:sp>
      <p:sp>
        <p:nvSpPr>
          <p:cNvPr id="27" name="Shape 23"/>
          <p:cNvSpPr/>
          <p:nvPr/>
        </p:nvSpPr>
        <p:spPr>
          <a:xfrm>
            <a:off x="6233008" y="5230368"/>
            <a:ext cx="5391760" cy="896112"/>
          </a:xfrm>
          <a:prstGeom prst="rect">
            <a:avLst/>
          </a:prstGeom>
          <a:solidFill>
            <a:srgbClr val="FDF4F4"/>
          </a:solidFill>
          <a:ln w="9525">
            <a:solidFill>
              <a:srgbClr val="C62828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6397600" y="5376672"/>
            <a:ext cx="506257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부부 동반 탈락 주의  |  배우자 중 한 명이 요건을 초과하면 함께 자격을 잃을 수 있다. 부부 합산 관점의 사전 점검이 필요하다. 구체적 자격 판정은 국민건강보험공단에 직접 확인.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7432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F58220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PART I · 금융소득종합과세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66928" y="512064"/>
            <a:ext cx="10424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상품별 과세 지도 — 같은 수익, 다른 그릇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66928" y="1097280"/>
            <a:ext cx="11057839" cy="11887"/>
          </a:xfrm>
          <a:prstGeom prst="rect">
            <a:avLst/>
          </a:prstGeom>
          <a:solidFill>
            <a:srgbClr val="F5822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382512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6C6C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PART I · 금융소득종합과세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527487" y="6382512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6C6C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17</a:t>
            </a:r>
            <a:endParaRPr lang="en-US" sz="9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316736"/>
          <a:ext cx="11057839" cy="914400"/>
        </p:xfrm>
        <a:graphic>
          <a:graphicData uri="http://schemas.openxmlformats.org/drawingml/2006/table">
            <a:tbl>
              <a:tblPr/>
              <a:tblGrid>
                <a:gridCol w="2157984"/>
                <a:gridCol w="1572768"/>
                <a:gridCol w="786384"/>
                <a:gridCol w="6540703"/>
              </a:tblGrid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상품</a:t>
                      </a:r>
                      <a:endParaRPr lang="en-US" sz="9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07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과세 구분</a:t>
                      </a:r>
                      <a:endParaRPr lang="en-US" sz="9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07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합산</a:t>
                      </a:r>
                      <a:endParaRPr lang="en-US" sz="9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07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세율 및 실무 메모</a:t>
                      </a:r>
                      <a:endParaRPr lang="en-US" sz="9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072"/>
                    </a:solidFill>
                  </a:tcPr>
                </a:tc>
              </a:tr>
              <a:tr h="265176">
                <a:tc gridSpan="4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43B72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이자성 자산</a:t>
                      </a:r>
                      <a:endParaRPr lang="en-US" sz="9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예금·적금·CMA</a:t>
                      </a:r>
                      <a:endParaRPr lang="en-US" sz="9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이자소득</a:t>
                      </a:r>
                      <a:endParaRPr lang="en-US" sz="9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58220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○</a:t>
                      </a:r>
                      <a:endParaRPr lang="en-US" sz="9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15.4% 원천징수 · 만기 일시지급형은 이자가 한 해에 몰림</a:t>
                      </a:r>
                      <a:endParaRPr lang="en-US" sz="9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채권 직접투자</a:t>
                      </a:r>
                      <a:endParaRPr lang="en-US" sz="9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이자소득</a:t>
                      </a:r>
                      <a:endParaRPr lang="en-US" sz="9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58220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○</a:t>
                      </a:r>
                      <a:endParaRPr lang="en-US" sz="9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표면이자만 과세, 매매차익 비과세 → 저쿠폰 할인채가 유리</a:t>
                      </a:r>
                      <a:endParaRPr lang="en-US" sz="9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저축성보험</a:t>
                      </a:r>
                      <a:endParaRPr lang="en-US" sz="9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이자소득</a:t>
                      </a:r>
                      <a:endParaRPr lang="en-US" sz="9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58220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△</a:t>
                      </a:r>
                      <a:endParaRPr lang="en-US" sz="9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10년 이상 유지 등 요건 충족 시 비과세</a:t>
                      </a:r>
                      <a:endParaRPr lang="en-US" sz="9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5176">
                <a:tc gridSpan="4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43B72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국내 주식·ETF</a:t>
                      </a:r>
                      <a:endParaRPr lang="en-US" sz="9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국내 상장주식</a:t>
                      </a:r>
                      <a:endParaRPr lang="en-US" sz="9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배당 / 양도</a:t>
                      </a:r>
                      <a:endParaRPr lang="en-US" sz="9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58220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○ / ✕</a:t>
                      </a:r>
                      <a:endParaRPr lang="en-US" sz="9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배당 15.4% 합산(Gross-up 대상) · 양도차익 대주주 외 비과세</a:t>
                      </a:r>
                      <a:endParaRPr lang="en-US" sz="9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국내주식형 ETF</a:t>
                      </a:r>
                      <a:endParaRPr lang="en-US" sz="9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배당소득</a:t>
                      </a:r>
                      <a:endParaRPr lang="en-US" sz="9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58220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○ / ✕</a:t>
                      </a:r>
                      <a:endParaRPr lang="en-US" sz="9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분배금만 과세, 매매차익 비과세</a:t>
                      </a:r>
                      <a:endParaRPr lang="en-US" sz="9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기타 ETF (해외지수·채권)</a:t>
                      </a:r>
                      <a:endParaRPr lang="en-US" sz="9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배당소득</a:t>
                      </a:r>
                      <a:endParaRPr lang="en-US" sz="9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58220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○</a:t>
                      </a:r>
                      <a:endParaRPr lang="en-US" sz="9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분배금과 매매차익 모두 15.4% 합산 — 월배당 ETF의 함정</a:t>
                      </a:r>
                      <a:endParaRPr lang="en-US" sz="9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265176">
                <a:tc gridSpan="4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43B72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해외 자산</a:t>
                      </a:r>
                      <a:endParaRPr lang="en-US" sz="9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해외 상장주식·ETF</a:t>
                      </a:r>
                      <a:endParaRPr lang="en-US" sz="9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배당 / 양도</a:t>
                      </a:r>
                      <a:endParaRPr lang="en-US" sz="9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58220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○ / ✕</a:t>
                      </a:r>
                      <a:endParaRPr lang="en-US" sz="9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배당은 현지 15% 후 합산(Gross-up 없음) · 양도차익 22% 분리과세</a:t>
                      </a:r>
                      <a:endParaRPr lang="en-US" sz="9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해외 계좌 직접 이자</a:t>
                      </a:r>
                      <a:endParaRPr lang="en-US" sz="9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이자소득</a:t>
                      </a:r>
                      <a:endParaRPr lang="en-US" sz="9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58220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◎</a:t>
                      </a:r>
                      <a:endParaRPr lang="en-US" sz="9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국내 원천징수가 없으면 금액과 무관하게 종합과세</a:t>
                      </a:r>
                      <a:endParaRPr lang="en-US" sz="9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265176">
                <a:tc gridSpan="4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43B72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파생·절세계좌</a:t>
                      </a:r>
                      <a:endParaRPr lang="en-US" sz="9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ELS·DLS / ELB</a:t>
                      </a:r>
                      <a:endParaRPr lang="en-US" sz="9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배당 / 이자</a:t>
                      </a:r>
                      <a:endParaRPr lang="en-US" sz="9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58220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○</a:t>
                      </a:r>
                      <a:endParaRPr lang="en-US" sz="9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15.4% 합산</a:t>
                      </a:r>
                      <a:endParaRPr lang="en-US" sz="9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ISA</a:t>
                      </a:r>
                      <a:endParaRPr lang="en-US" sz="9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비과세 + 분리과세</a:t>
                      </a:r>
                      <a:endParaRPr lang="en-US" sz="9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43B72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✕</a:t>
                      </a:r>
                      <a:endParaRPr lang="en-US" sz="9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비과세 200만(서민형 400만), 초과분 9.9% · 계좌 내 손익통산 가능</a:t>
                      </a:r>
                      <a:endParaRPr lang="en-US" sz="9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연금저축·IRP</a:t>
                      </a:r>
                      <a:endParaRPr lang="en-US" sz="9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연금소득</a:t>
                      </a:r>
                      <a:endParaRPr lang="en-US" sz="9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43B72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✕</a:t>
                      </a:r>
                      <a:endParaRPr lang="en-US" sz="9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과세이연 · 건강보험료 부과 소득에도 미반영</a:t>
                      </a:r>
                      <a:endParaRPr lang="en-US" sz="9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66928" y="5614416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C6C6C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◎ 무조건 종합과세  ·  ○ 조건부 종합과세(합산)  ·  △ 요건에 따라 다름  ·  ✕ 합산 제외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C6C6C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※ 조세특례 항목(비과세종합저축, 공모리츠 분리과세 등)은 일몰기한과 요건이 수시로 변경되므로 적용 시점 법령을 반드시 확인할 것.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7432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F58220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PART I · 절세 설계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66928" y="512064"/>
            <a:ext cx="10424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절세 설계 — 순서를 지키는 것이 핵심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66928" y="1097280"/>
            <a:ext cx="11057839" cy="11887"/>
          </a:xfrm>
          <a:prstGeom prst="rect">
            <a:avLst/>
          </a:prstGeom>
          <a:solidFill>
            <a:srgbClr val="F5822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382512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6C6C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PART I · 절세 설계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527487" y="6382512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6C6C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18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66928" y="129844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우선순위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66928" y="1627632"/>
            <a:ext cx="274320" cy="274320"/>
          </a:xfrm>
          <a:prstGeom prst="rect">
            <a:avLst/>
          </a:prstGeom>
          <a:solidFill>
            <a:srgbClr val="043B7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162763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50976" y="1600200"/>
            <a:ext cx="5193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절세계좌 한도 소진 — ISA · 연금저축 · IRP. 비용 없이 소득을 과세권 밖으로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66928" y="2121408"/>
            <a:ext cx="274320" cy="274320"/>
          </a:xfrm>
          <a:prstGeom prst="rect">
            <a:avLst/>
          </a:prstGeom>
          <a:solidFill>
            <a:srgbClr val="043B7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21214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950976" y="2093976"/>
            <a:ext cx="5193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신규 유입 경로 변경 — 앞으로 들어갈 돈부터 비합산 자산으로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66928" y="2615184"/>
            <a:ext cx="274320" cy="274320"/>
          </a:xfrm>
          <a:prstGeom prst="rect">
            <a:avLst/>
          </a:prstGeom>
          <a:solidFill>
            <a:srgbClr val="043B7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6928" y="261518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3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950976" y="2587752"/>
            <a:ext cx="5193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시점 분산 — 만기·환매·쿠폰 구조 조정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66928" y="3108960"/>
            <a:ext cx="274320" cy="274320"/>
          </a:xfrm>
          <a:prstGeom prst="rect">
            <a:avLst/>
          </a:prstGeom>
          <a:solidFill>
            <a:srgbClr val="043B7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66928" y="31089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4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50976" y="3081528"/>
            <a:ext cx="5193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명의 분산 — 증여세·상속 계획과 함께 검토. 비가역적이므로 마지막에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66928" y="3584448"/>
            <a:ext cx="5577840" cy="877824"/>
          </a:xfrm>
          <a:prstGeom prst="rect">
            <a:avLst/>
          </a:prstGeom>
          <a:solidFill>
            <a:srgbClr val="F7F8FA"/>
          </a:solidFill>
          <a:ln w="9525">
            <a:solidFill>
              <a:srgbClr val="E5E4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" y="3730752"/>
            <a:ext cx="524865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가장 자주 나오는 실수는 ①②③을 건너뛰고 곧바로 증여를 권하는 것이다. 증여는 되돌릴 수 없고 상속 설계와 얽히므로, 계좌·경로·시점으로 해결되는 부분을 먼저 소진한 뒤 검토한다.</a:t>
            </a:r>
            <a:endParaRPr lang="en-US" sz="105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55664" y="1298448"/>
          <a:ext cx="5169103" cy="914400"/>
        </p:xfrm>
        <a:graphic>
          <a:graphicData uri="http://schemas.openxmlformats.org/drawingml/2006/table">
            <a:tbl>
              <a:tblPr/>
              <a:tblGrid>
                <a:gridCol w="1243584"/>
                <a:gridCol w="3925519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A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ISA — 현행 기준</a:t>
                      </a:r>
                      <a:endParaRPr lang="en-US" sz="9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07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A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내용</a:t>
                      </a:r>
                      <a:endParaRPr lang="en-US" sz="9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07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납입한도</a:t>
                      </a:r>
                      <a:endParaRPr lang="en-US" sz="9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연 2,000만원 · 총 1억원 (한도 이월 가능)</a:t>
                      </a:r>
                      <a:endParaRPr lang="en-US" sz="9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비과세 한도</a:t>
                      </a:r>
                      <a:endParaRPr lang="en-US" sz="9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일반형 200만원 / 서민형 400만원</a:t>
                      </a:r>
                      <a:endParaRPr lang="en-US" sz="9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초과분</a:t>
                      </a:r>
                      <a:endParaRPr lang="en-US" sz="9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9.9% 분리과세 — 금융소득에 합산되지 않음</a:t>
                      </a:r>
                      <a:endParaRPr lang="en-US" sz="9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손익통산</a:t>
                      </a:r>
                      <a:endParaRPr lang="en-US" sz="9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계좌 내 통산 후 순이익에만 과세</a:t>
                      </a:r>
                      <a:endParaRPr lang="en-US" sz="9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A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가입 제한</a:t>
                      </a:r>
                      <a:endParaRPr lang="en-US" sz="9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A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금융소득종합과세 대상자는 가입 불가 (직전 3년 중 1회 이상 초과)</a:t>
                      </a:r>
                      <a:endParaRPr lang="en-US" sz="9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</a:tr>
            </a:tbl>
          </a:graphicData>
        </a:graphic>
      </p:graphicFrame>
      <p:sp>
        <p:nvSpPr>
          <p:cNvPr id="23" name="Shape 20"/>
          <p:cNvSpPr/>
          <p:nvPr/>
        </p:nvSpPr>
        <p:spPr>
          <a:xfrm>
            <a:off x="6455664" y="3529584"/>
            <a:ext cx="5169103" cy="932688"/>
          </a:xfrm>
          <a:prstGeom prst="rect">
            <a:avLst/>
          </a:prstGeom>
          <a:solidFill>
            <a:srgbClr val="FFFBF0"/>
          </a:solidFill>
          <a:ln w="9525">
            <a:solidFill>
              <a:srgbClr val="D4A017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620256" y="3675888"/>
            <a:ext cx="483991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가입 제한이 절세 설계의 최대 제약이다. 한 번 기준선을 넘으면 3년간 신규 가입이 막히므로, 넘기기 전에 미리 계좌를 개설해 두는 것 자체가 전략이다. 납입할 목돈이 없어도 계좌만 열면 의무보유기간이 시작되고 한도가 이월된다.</a:t>
            </a:r>
            <a:endParaRPr lang="en-US" sz="1000" dirty="0"/>
          </a:p>
        </p:txBody>
      </p:sp>
      <p:graphicFrame>
        <p:nvGraphicFramePr>
          <p:cNvPr id="3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4626864"/>
          <a:ext cx="557784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411480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A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연금계좌 — 소득세법 §59의3</a:t>
                      </a:r>
                      <a:endParaRPr lang="en-US" sz="9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07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A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내용</a:t>
                      </a:r>
                      <a:endParaRPr lang="en-US" sz="9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07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세액공제 한도</a:t>
                      </a:r>
                      <a:endParaRPr lang="en-US" sz="9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연금저축 600만원 + IRP 합산 900만원</a:t>
                      </a:r>
                      <a:endParaRPr lang="en-US" sz="9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세액공제율</a:t>
                      </a:r>
                      <a:endParaRPr lang="en-US" sz="9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15% (종합소득 4,500만원 / 총급여 5,500만원 이하) · 초과 12%</a:t>
                      </a:r>
                      <a:endParaRPr lang="en-US" sz="9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연간 납입한도</a:t>
                      </a:r>
                      <a:endParaRPr lang="en-US" sz="9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1,800만원 — 초과분도 과세이연 효과</a:t>
                      </a:r>
                      <a:endParaRPr lang="en-US" sz="9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A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금융소득 관점</a:t>
                      </a:r>
                      <a:endParaRPr lang="en-US" sz="9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A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계좌 내 이자·배당은 발생 시점에 과세되지 않음</a:t>
                      </a:r>
                      <a:endParaRPr lang="en-US" sz="9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</a:tr>
            </a:tbl>
          </a:graphicData>
        </a:graphic>
      </p:graphicFrame>
      <p:sp>
        <p:nvSpPr>
          <p:cNvPr id="26" name="Shape 22"/>
          <p:cNvSpPr/>
          <p:nvPr/>
        </p:nvSpPr>
        <p:spPr>
          <a:xfrm>
            <a:off x="6455664" y="4626864"/>
            <a:ext cx="5169103" cy="1499616"/>
          </a:xfrm>
          <a:prstGeom prst="rect">
            <a:avLst/>
          </a:prstGeom>
          <a:solidFill>
            <a:srgbClr val="FFFFFF"/>
          </a:solidFill>
          <a:ln w="9525">
            <a:solidFill>
              <a:srgbClr val="C62828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6620256" y="4745736"/>
            <a:ext cx="483991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" kern="0" dirty="0">
                <a:solidFill>
                  <a:srgbClr val="C62828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ISA 확대안 — 아직 시행 전</a:t>
            </a:r>
            <a:endParaRPr lang="en-US" sz="1000" dirty="0"/>
          </a:p>
        </p:txBody>
      </p:sp>
      <p:sp>
        <p:nvSpPr>
          <p:cNvPr id="28" name="Text 24"/>
          <p:cNvSpPr/>
          <p:nvPr/>
        </p:nvSpPr>
        <p:spPr>
          <a:xfrm>
            <a:off x="6620256" y="5029200"/>
            <a:ext cx="4839919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납입한도 4,000만원, 비과세 500만원(서민형 1,000만원), 국내투자형·국민성장 ISA 신설 등은 2026년 중반 기준 입법이 완료되지 않았다.</a:t>
            </a:r>
            <a:endParaRPr lang="en-US" sz="10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시행된 것으로 기술한 자료가 다수 유통되고 있어, 고객 안내 시 각별한 주의가 필요하다.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58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011680"/>
            <a:ext cx="9144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FFFF">
                    <a:alpha val="88000"/>
                  </a:srgbClr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PART II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2395728"/>
            <a:ext cx="10424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퇴직소득세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566928" y="3749040"/>
            <a:ext cx="9692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금융소득과 합산되지 않는 별도의 세계 — 분류과세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근속 20년 · 퇴직금 2억원의 실효세율은 3.86%. 여기서 더 낮출 수 있는 방법을 찾는다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0527487" y="627278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19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7432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F58220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PART II · 퇴직소득세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66928" y="512064"/>
            <a:ext cx="10424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분류과세 원리 — 왜 이렇게 복잡한 구조인가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66928" y="1097280"/>
            <a:ext cx="11057839" cy="11887"/>
          </a:xfrm>
          <a:prstGeom prst="rect">
            <a:avLst/>
          </a:prstGeom>
          <a:solidFill>
            <a:srgbClr val="F5822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382512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6C6C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PART II · 퇴직소득세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527487" y="6382512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6C6C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20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66928" y="1335024"/>
            <a:ext cx="5391760" cy="1572768"/>
          </a:xfrm>
          <a:prstGeom prst="rect">
            <a:avLst/>
          </a:prstGeom>
          <a:solidFill>
            <a:srgbClr val="FFFFFF"/>
          </a:solidFill>
          <a:ln w="9525">
            <a:solidFill>
              <a:srgbClr val="CDCEC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1453896"/>
            <a:ext cx="50625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" kern="0" dirty="0">
                <a:solidFill>
                  <a:srgbClr val="F58220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합산되지 않는다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31520" y="1737360"/>
            <a:ext cx="5062576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근로소득과 합산되지 않는다</a:t>
            </a:r>
            <a:endParaRPr lang="en-US" sz="10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금융소득과 합산되지 않는다</a:t>
            </a:r>
            <a:endParaRPr lang="en-US" sz="10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퇴직한 해의 종합소득세율을 밀어올리지 않는다</a:t>
            </a:r>
            <a:endParaRPr lang="en-US" sz="10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퇴직금 2억원을 받아도 그 해 금융소득 종합과세 판정에 아무 영향이 없다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233008" y="1335024"/>
            <a:ext cx="5391760" cy="1572768"/>
          </a:xfrm>
          <a:prstGeom prst="rect">
            <a:avLst/>
          </a:prstGeom>
          <a:solidFill>
            <a:srgbClr val="FFFFFF"/>
          </a:solidFill>
          <a:ln w="9525">
            <a:solidFill>
              <a:srgbClr val="CDCEC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97600" y="1453896"/>
            <a:ext cx="50625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" kern="0" dirty="0">
                <a:solidFill>
                  <a:srgbClr val="043B72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그러나 세율표는 공유한다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397600" y="1737360"/>
            <a:ext cx="5062576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적용 세율은 종합소득 기본세율(6~45%)과 동일하다.</a:t>
            </a:r>
            <a:endParaRPr lang="en-US" sz="10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다만 퇴직금 총액에 세율을 곧바로 곱하지 않고, 1년치 수준으로 환산한 금액에 세율을 적용한 뒤 다시 근속연수를 곱한다(연분연승).</a:t>
            </a:r>
            <a:endParaRPr lang="en-US" sz="10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이 때문에 실효세율이 크게 낮아진다.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66928" y="305409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결집효과를 완화하는 4중 장치</a:t>
            </a:r>
            <a:endParaRPr lang="en-US" sz="14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3383280"/>
          <a:ext cx="11057839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1920240"/>
                <a:gridCol w="8406079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장치</a:t>
                      </a:r>
                      <a:endParaRPr lang="en-US" sz="10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07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이름</a:t>
                      </a:r>
                      <a:endParaRPr lang="en-US" sz="10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07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효과</a:t>
                      </a:r>
                      <a:endParaRPr lang="en-US" sz="10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07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58220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1</a:t>
                      </a:r>
                      <a:endParaRPr lang="en-US" sz="10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근속연수공제</a:t>
                      </a:r>
                      <a:endParaRPr lang="en-US" sz="10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근속연수가 길수록 과세대상 금액을 크게 덜어낸다</a:t>
                      </a:r>
                      <a:endParaRPr lang="en-US" sz="10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58220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2</a:t>
                      </a:r>
                      <a:endParaRPr lang="en-US" sz="10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12배 환산</a:t>
                      </a:r>
                      <a:endParaRPr lang="en-US" sz="10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남은 금액을 근속연수로 나눠 1년치로 되돌린 뒤 12배 — 월 단위 소득 수준으로 환산</a:t>
                      </a:r>
                      <a:endParaRPr lang="en-US" sz="10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58220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3</a:t>
                      </a:r>
                      <a:endParaRPr lang="en-US" sz="10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환산급여공제</a:t>
                      </a:r>
                      <a:endParaRPr lang="en-US" sz="10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환산된 금액에서 다시 최소 35%, 최대 100%를 공제한다</a:t>
                      </a:r>
                      <a:endParaRPr lang="en-US" sz="10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58220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4</a:t>
                      </a:r>
                      <a:endParaRPr lang="en-US" sz="10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연분연승</a:t>
                      </a:r>
                      <a:endParaRPr lang="en-US" sz="10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환산 기준 세액을 12로 나눠 근속연수를 곱함 — 낮은 세율구간이 유지된다</a:t>
                      </a:r>
                      <a:endParaRPr lang="en-US" sz="10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</a:tbl>
          </a:graphicData>
        </a:graphic>
      </p:graphicFrame>
      <p:sp>
        <p:nvSpPr>
          <p:cNvPr id="15" name="Shape 12"/>
          <p:cNvSpPr/>
          <p:nvPr/>
        </p:nvSpPr>
        <p:spPr>
          <a:xfrm>
            <a:off x="566928" y="5212080"/>
            <a:ext cx="11057839" cy="914400"/>
          </a:xfrm>
          <a:prstGeom prst="roundRect">
            <a:avLst>
              <a:gd name="adj" fmla="val 3000"/>
            </a:avLst>
          </a:prstGeom>
          <a:solidFill>
            <a:srgbClr val="F5822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86384" y="5321808"/>
            <a:ext cx="10618927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결과  |  근속 20년 · 퇴직금 2억원의 실효세율은 지방소득세를 포함해도 약 3.9%다. 같은 2억원이 금융소득이었다면 최고 49.5%까지 과세될 수 있다.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퇴직소득으로 받을 수 있는 것을 퇴직소득으로 받는 것 자체가 가장 강력한 절세다.</a:t>
            </a:r>
            <a:endParaRPr lang="en-US" sz="12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7432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F58220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PART II · 퇴직소득세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66928" y="512064"/>
            <a:ext cx="10424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계산 5단계 — 순서를 외우면 끝난다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66928" y="1097280"/>
            <a:ext cx="11057839" cy="11887"/>
          </a:xfrm>
          <a:prstGeom prst="rect">
            <a:avLst/>
          </a:prstGeom>
          <a:solidFill>
            <a:srgbClr val="F5822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382512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6C6C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PART II · 퇴직소득세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527487" y="6382512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6C6C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21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66928" y="1335024"/>
            <a:ext cx="274320" cy="274320"/>
          </a:xfrm>
          <a:prstGeom prst="rect">
            <a:avLst/>
          </a:prstGeom>
          <a:solidFill>
            <a:srgbClr val="043B7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133502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0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50976" y="1307592"/>
            <a:ext cx="5376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퇴직소득금액 = 퇴직급여액 − 비과세 퇴직소득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66928" y="1792224"/>
            <a:ext cx="274320" cy="274320"/>
          </a:xfrm>
          <a:prstGeom prst="rect">
            <a:avLst/>
          </a:prstGeom>
          <a:solidFill>
            <a:srgbClr val="043B7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6928" y="179222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1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50976" y="1764792"/>
            <a:ext cx="5376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근속연수공제를 차감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66928" y="2249424"/>
            <a:ext cx="274320" cy="274320"/>
          </a:xfrm>
          <a:prstGeom prst="rect">
            <a:avLst/>
          </a:prstGeom>
          <a:solidFill>
            <a:srgbClr val="043B7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6928" y="224942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50976" y="2221992"/>
            <a:ext cx="5376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환산급여 = (퇴직소득금액 − 근속연수공제) ÷ 근속연수 × 12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66928" y="2706624"/>
            <a:ext cx="274320" cy="274320"/>
          </a:xfrm>
          <a:prstGeom prst="rect">
            <a:avLst/>
          </a:prstGeom>
          <a:solidFill>
            <a:srgbClr val="043B7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6928" y="270662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950976" y="2679192"/>
            <a:ext cx="5376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환산급여공제 차감 → 퇴직소득 과세표준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66928" y="3163824"/>
            <a:ext cx="274320" cy="274320"/>
          </a:xfrm>
          <a:prstGeom prst="rect">
            <a:avLst/>
          </a:prstGeom>
          <a:solidFill>
            <a:srgbClr val="043B7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66928" y="316382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4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950976" y="3136392"/>
            <a:ext cx="5376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환산산출세액 = 과세표준 × 기본세율(6~45%)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66928" y="3621024"/>
            <a:ext cx="274320" cy="274320"/>
          </a:xfrm>
          <a:prstGeom prst="rect">
            <a:avLst/>
          </a:prstGeom>
          <a:solidFill>
            <a:srgbClr val="043B7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66928" y="362102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5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950976" y="3593592"/>
            <a:ext cx="5376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퇴직소득 산출세액 = 환산산출세액 ÷ 12 × 근속연수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66928" y="4133088"/>
            <a:ext cx="5760720" cy="786384"/>
          </a:xfrm>
          <a:prstGeom prst="rect">
            <a:avLst/>
          </a:prstGeom>
          <a:solidFill>
            <a:srgbClr val="ECEFF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68096" y="4233672"/>
            <a:ext cx="535838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퇴직소득세 = [ { (퇴직소득금액 − 근속연수공제) ÷ 근속연수 × 12 − 환산급여공제 } × 기본세율 ] ÷ 12 × 근속연수</a:t>
            </a:r>
            <a:endParaRPr lang="en-US" sz="105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38544" y="1335024"/>
          <a:ext cx="4986223" cy="914400"/>
        </p:xfrm>
        <a:graphic>
          <a:graphicData uri="http://schemas.openxmlformats.org/drawingml/2006/table">
            <a:tbl>
              <a:tblPr/>
              <a:tblGrid>
                <a:gridCol w="1133856"/>
                <a:gridCol w="3852367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A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근속연수 계산</a:t>
                      </a:r>
                      <a:endParaRPr lang="en-US" sz="9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07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A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기준</a:t>
                      </a:r>
                      <a:endParaRPr lang="en-US" sz="9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07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기산일</a:t>
                      </a:r>
                      <a:endParaRPr lang="en-US" sz="9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입사일 또는 중간정산 이후 기산일</a:t>
                      </a:r>
                      <a:endParaRPr lang="en-US" sz="9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단수 처리</a:t>
                      </a:r>
                      <a:endParaRPr lang="en-US" sz="9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1년 미만은 1년으로 절상 — 5년 1개월 = 6년</a:t>
                      </a:r>
                      <a:endParaRPr lang="en-US" sz="9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제외월수</a:t>
                      </a:r>
                      <a:endParaRPr lang="en-US" sz="9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중간정산 퇴직급여 산정에 포함되지 않은 기간</a:t>
                      </a:r>
                      <a:endParaRPr lang="en-US" sz="9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가산월수</a:t>
                      </a:r>
                      <a:endParaRPr lang="en-US" sz="9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입·퇴사일 계산과 실제 근속이 다를 때 가산</a:t>
                      </a:r>
                      <a:endParaRPr lang="en-US" sz="9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A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중복기간</a:t>
                      </a:r>
                      <a:endParaRPr lang="en-US" sz="9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A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여러 회사 근무기간이 중복되면 한 번만 계산</a:t>
                      </a:r>
                      <a:endParaRPr lang="en-US" sz="9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</a:tr>
            </a:tbl>
          </a:graphicData>
        </a:graphic>
      </p:graphicFrame>
      <p:sp>
        <p:nvSpPr>
          <p:cNvPr id="28" name="Shape 25"/>
          <p:cNvSpPr/>
          <p:nvPr/>
        </p:nvSpPr>
        <p:spPr>
          <a:xfrm>
            <a:off x="6638544" y="3584448"/>
            <a:ext cx="4986223" cy="1335024"/>
          </a:xfrm>
          <a:prstGeom prst="rect">
            <a:avLst/>
          </a:prstGeom>
          <a:solidFill>
            <a:srgbClr val="FFFBF0"/>
          </a:solidFill>
          <a:ln w="9525">
            <a:solidFill>
              <a:srgbClr val="D4A017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6803136" y="3730752"/>
            <a:ext cx="4657039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1년 미만 절상 규정 때문에 퇴직일을 며칠 늦춰 근속연수가 1년 늘어나는 경우가 있다. 근속 경계에 걸린 고객은 퇴직일 협의 전에 계산해 볼 가치가 있다 — 공제액이 200만~300만원 늘어난다.</a:t>
            </a:r>
            <a:endParaRPr lang="en-US" sz="1000" dirty="0"/>
          </a:p>
        </p:txBody>
      </p:sp>
      <p:graphicFrame>
        <p:nvGraphicFramePr>
          <p:cNvPr id="4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5138928"/>
          <a:ext cx="11057839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9594799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A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계산 도구 및 준비 자료</a:t>
                      </a:r>
                      <a:endParaRPr lang="en-US" sz="10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07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A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내용</a:t>
                      </a:r>
                      <a:endParaRPr lang="en-US" sz="10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072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모의계산</a:t>
                      </a:r>
                      <a:endParaRPr lang="en-US" sz="10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국세청 홈택스 → 퇴직소득 지급명세서 모의계산 (손택스 앱 동일)</a:t>
                      </a:r>
                      <a:endParaRPr lang="en-US" sz="10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입력값</a:t>
                      </a:r>
                      <a:endParaRPr lang="en-US" sz="10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입사일 · 퇴사일 · 지급일 · 퇴직급여 총액</a:t>
                      </a:r>
                      <a:endParaRPr lang="en-US" sz="10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상담 준비</a:t>
                      </a:r>
                      <a:endParaRPr lang="en-US" sz="10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퇴직 전 3개월 임금, 중간정산 이력, DB/DC 여부, 과거 퇴직소득 원천징수영수증</a:t>
                      </a:r>
                      <a:endParaRPr lang="en-US" sz="10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7432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F58220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PART II · 퇴직소득세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66928" y="512064"/>
            <a:ext cx="10424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두 개의 공제 — 근속연수공제와 환산급여공제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66928" y="1097280"/>
            <a:ext cx="11057839" cy="11887"/>
          </a:xfrm>
          <a:prstGeom prst="rect">
            <a:avLst/>
          </a:prstGeom>
          <a:solidFill>
            <a:srgbClr val="F5822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382512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6C6C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PART II · 퇴직소득세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527487" y="6382512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6C6C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22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66928" y="129844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8220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① 근속연수공제</a:t>
            </a:r>
            <a:endParaRPr lang="en-US" sz="13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627632"/>
          <a:ext cx="5391760" cy="914400"/>
        </p:xfrm>
        <a:graphic>
          <a:graphicData uri="http://schemas.openxmlformats.org/drawingml/2006/table">
            <a:tbl>
              <a:tblPr/>
              <a:tblGrid>
                <a:gridCol w="1975104"/>
                <a:gridCol w="3416656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A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근속연수</a:t>
                      </a:r>
                      <a:endParaRPr lang="en-US" sz="10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07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A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공제액 산식</a:t>
                      </a:r>
                      <a:endParaRPr lang="en-US" sz="10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072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5년 이하</a:t>
                      </a:r>
                      <a:endParaRPr lang="en-US" sz="10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100만원 × 근속연수</a:t>
                      </a:r>
                      <a:endParaRPr lang="en-US" sz="10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5년 초과 ~ 10년 이하</a:t>
                      </a:r>
                      <a:endParaRPr lang="en-US" sz="10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500만원 + 200만원 × (근속연수 − 5)</a:t>
                      </a:r>
                      <a:endParaRPr lang="en-US" sz="10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10년 초과 ~ 20년 이하</a:t>
                      </a:r>
                      <a:endParaRPr lang="en-US" sz="10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1,500만원 + 250만원 × (근속연수 − 10)</a:t>
                      </a:r>
                      <a:endParaRPr lang="en-US" sz="10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A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20년 초과</a:t>
                      </a:r>
                      <a:endParaRPr lang="en-US" sz="10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A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4,000만원 + 300만원 × (근속연수 − 20)</a:t>
                      </a:r>
                      <a:endParaRPr lang="en-US" sz="10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3127248"/>
          <a:ext cx="5391760" cy="914400"/>
        </p:xfrm>
        <a:graphic>
          <a:graphicData uri="http://schemas.openxmlformats.org/drawingml/2006/table">
            <a:tbl>
              <a:tblPr/>
              <a:tblGrid>
                <a:gridCol w="898627"/>
                <a:gridCol w="898627"/>
                <a:gridCol w="898627"/>
                <a:gridCol w="898627"/>
                <a:gridCol w="898627"/>
                <a:gridCol w="898627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A1A1A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근속</a:t>
                      </a:r>
                      <a:endParaRPr lang="en-US" sz="9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07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A1A1A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공제액</a:t>
                      </a:r>
                      <a:endParaRPr lang="en-US" sz="9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07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A1A1A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근속</a:t>
                      </a:r>
                      <a:endParaRPr lang="en-US" sz="9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07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A1A1A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공제액</a:t>
                      </a:r>
                      <a:endParaRPr lang="en-US" sz="9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07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A1A1A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근속</a:t>
                      </a:r>
                      <a:endParaRPr lang="en-US" sz="9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07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A1A1A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공제액</a:t>
                      </a:r>
                      <a:endParaRPr lang="en-US" sz="9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07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5년</a:t>
                      </a:r>
                      <a:endParaRPr lang="en-US" sz="9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500만</a:t>
                      </a:r>
                      <a:endParaRPr lang="en-US" sz="9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15년</a:t>
                      </a:r>
                      <a:endParaRPr lang="en-US" sz="9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2,750만</a:t>
                      </a:r>
                      <a:endParaRPr lang="en-US" sz="9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30년</a:t>
                      </a:r>
                      <a:endParaRPr lang="en-US" sz="9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7,000만</a:t>
                      </a:r>
                      <a:endParaRPr lang="en-US" sz="9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10년</a:t>
                      </a:r>
                      <a:endParaRPr lang="en-US" sz="9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1,500만</a:t>
                      </a:r>
                      <a:endParaRPr lang="en-US" sz="9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20년</a:t>
                      </a:r>
                      <a:endParaRPr lang="en-US" sz="9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4,000만</a:t>
                      </a:r>
                      <a:endParaRPr lang="en-US" sz="9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35년</a:t>
                      </a:r>
                      <a:endParaRPr lang="en-US" sz="9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8,500만</a:t>
                      </a:r>
                      <a:endParaRPr lang="en-US" sz="9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12년</a:t>
                      </a:r>
                      <a:endParaRPr lang="en-US" sz="9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2,000만</a:t>
                      </a:r>
                      <a:endParaRPr lang="en-US" sz="9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25년</a:t>
                      </a:r>
                      <a:endParaRPr lang="en-US" sz="9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5,500만</a:t>
                      </a:r>
                      <a:endParaRPr lang="en-US" sz="9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40년</a:t>
                      </a:r>
                      <a:endParaRPr lang="en-US" sz="9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1억</a:t>
                      </a:r>
                      <a:endParaRPr lang="en-US" sz="9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6"/>
          <p:cNvSpPr/>
          <p:nvPr/>
        </p:nvSpPr>
        <p:spPr>
          <a:xfrm>
            <a:off x="6233008" y="129844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8220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② 환산급여공제</a:t>
            </a:r>
            <a:endParaRPr lang="en-US" sz="1300" dirty="0"/>
          </a:p>
        </p:txBody>
      </p:sp>
      <p:graphicFrame>
        <p:nvGraphicFramePr>
          <p:cNvPr id="67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33008" y="1627632"/>
          <a:ext cx="5391760" cy="914400"/>
        </p:xfrm>
        <a:graphic>
          <a:graphicData uri="http://schemas.openxmlformats.org/drawingml/2006/table">
            <a:tbl>
              <a:tblPr/>
              <a:tblGrid>
                <a:gridCol w="1517904"/>
                <a:gridCol w="3050896"/>
                <a:gridCol w="82296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A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환산급여</a:t>
                      </a:r>
                      <a:endParaRPr lang="en-US" sz="10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07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A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공제액</a:t>
                      </a:r>
                      <a:endParaRPr lang="en-US" sz="10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07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1A1A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한계율</a:t>
                      </a:r>
                      <a:endParaRPr lang="en-US" sz="10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072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800만원 이하</a:t>
                      </a:r>
                      <a:endParaRPr lang="en-US" sz="10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환산급여 전액</a:t>
                      </a:r>
                      <a:endParaRPr lang="en-US" sz="10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100%</a:t>
                      </a:r>
                      <a:endParaRPr lang="en-US" sz="10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800만 ~ 7,000만원</a:t>
                      </a:r>
                      <a:endParaRPr lang="en-US" sz="10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800만원 + (초과분 × 60%)</a:t>
                      </a:r>
                      <a:endParaRPr lang="en-US" sz="10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60%</a:t>
                      </a:r>
                      <a:endParaRPr lang="en-US" sz="10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7,000만 ~ 1억원</a:t>
                      </a:r>
                      <a:endParaRPr lang="en-US" sz="10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4,520만원 + (초과분 × 55%)</a:t>
                      </a:r>
                      <a:endParaRPr lang="en-US" sz="10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55%</a:t>
                      </a:r>
                      <a:endParaRPr lang="en-US" sz="10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1억 ~ 3억원</a:t>
                      </a:r>
                      <a:endParaRPr lang="en-US" sz="10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6,170만원 + (초과분 × 45%)</a:t>
                      </a:r>
                      <a:endParaRPr lang="en-US" sz="10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45%</a:t>
                      </a:r>
                      <a:endParaRPr lang="en-US" sz="10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A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3억원 초과</a:t>
                      </a:r>
                      <a:endParaRPr lang="en-US" sz="10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A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1억 5,170만원 + (초과분 × 35%)</a:t>
                      </a:r>
                      <a:endParaRPr lang="en-US" sz="10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1A1A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35%</a:t>
                      </a:r>
                      <a:endParaRPr lang="en-US" sz="10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9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33008" y="3639312"/>
          <a:ext cx="5391760" cy="914400"/>
        </p:xfrm>
        <a:graphic>
          <a:graphicData uri="http://schemas.openxmlformats.org/drawingml/2006/table">
            <a:tbl>
              <a:tblPr/>
              <a:tblGrid>
                <a:gridCol w="1347940"/>
                <a:gridCol w="1347940"/>
                <a:gridCol w="1347940"/>
                <a:gridCol w="1347940"/>
              </a:tblGrid>
              <a:tr h="27432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A1A1A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환산급여</a:t>
                      </a:r>
                      <a:endParaRPr lang="en-US" sz="9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07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A1A1A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공제액</a:t>
                      </a:r>
                      <a:endParaRPr lang="en-US" sz="9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07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A1A1A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과세표준</a:t>
                      </a:r>
                      <a:endParaRPr lang="en-US" sz="9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07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A1A1A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비율</a:t>
                      </a:r>
                      <a:endParaRPr lang="en-US" sz="9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07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3,000만원</a:t>
                      </a:r>
                      <a:endParaRPr lang="en-US" sz="9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2,120만원</a:t>
                      </a:r>
                      <a:endParaRPr lang="en-US" sz="9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880만원</a:t>
                      </a:r>
                      <a:endParaRPr lang="en-US" sz="9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043B72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29%</a:t>
                      </a:r>
                      <a:endParaRPr lang="en-US" sz="9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1억원</a:t>
                      </a:r>
                      <a:endParaRPr lang="en-US" sz="9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6,170만원</a:t>
                      </a:r>
                      <a:endParaRPr lang="en-US" sz="9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3,830만원</a:t>
                      </a:r>
                      <a:endParaRPr lang="en-US" sz="9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043B72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38%</a:t>
                      </a:r>
                      <a:endParaRPr lang="en-US" sz="9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2억원</a:t>
                      </a:r>
                      <a:endParaRPr lang="en-US" sz="9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1억 670만원</a:t>
                      </a:r>
                      <a:endParaRPr lang="en-US" sz="9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9,330만원</a:t>
                      </a:r>
                      <a:endParaRPr lang="en-US" sz="9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043B72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47%</a:t>
                      </a:r>
                      <a:endParaRPr lang="en-US" sz="9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3억원</a:t>
                      </a:r>
                      <a:endParaRPr lang="en-US" sz="9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1억 5,170만원</a:t>
                      </a:r>
                      <a:endParaRPr lang="en-US" sz="9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1억 4,830만원</a:t>
                      </a:r>
                      <a:endParaRPr lang="en-US" sz="9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043B72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49%</a:t>
                      </a:r>
                      <a:endParaRPr lang="en-US" sz="9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</a:tbl>
          </a:graphicData>
        </a:graphic>
      </p:graphicFrame>
      <p:sp>
        <p:nvSpPr>
          <p:cNvPr id="13" name="Shape 7"/>
          <p:cNvSpPr/>
          <p:nvPr/>
        </p:nvSpPr>
        <p:spPr>
          <a:xfrm>
            <a:off x="566928" y="4626864"/>
            <a:ext cx="5391760" cy="1499616"/>
          </a:xfrm>
          <a:prstGeom prst="rect">
            <a:avLst/>
          </a:prstGeom>
          <a:solidFill>
            <a:srgbClr val="FFFFFF"/>
          </a:solidFill>
          <a:ln w="9525">
            <a:solidFill>
              <a:srgbClr val="C62828"/>
            </a:solidFill>
            <a:prstDash val="solid"/>
          </a:ln>
        </p:spPr>
      </p:sp>
      <p:sp>
        <p:nvSpPr>
          <p:cNvPr id="14" name="Text 8"/>
          <p:cNvSpPr/>
          <p:nvPr/>
        </p:nvSpPr>
        <p:spPr>
          <a:xfrm>
            <a:off x="731520" y="4745736"/>
            <a:ext cx="50625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" kern="0" dirty="0">
                <a:solidFill>
                  <a:srgbClr val="C62828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중간정산은 근속연수를 잘라 세부담을 키운다</a:t>
            </a:r>
            <a:endParaRPr lang="en-US" sz="1000" dirty="0"/>
          </a:p>
        </p:txBody>
      </p:sp>
      <p:sp>
        <p:nvSpPr>
          <p:cNvPr id="15" name="Text 9"/>
          <p:cNvSpPr/>
          <p:nvPr/>
        </p:nvSpPr>
        <p:spPr>
          <a:xfrm>
            <a:off x="731520" y="5029200"/>
            <a:ext cx="5062576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연당 공제액이 계단식으로 커지므로(100만 → 200만 → 250만 → 300만원), 20년을 10년 + 10년으로 쪼개면 1,500만 × 2 = 3,000만원 공제에 그쳐 4,000만원보다 1,000만원 적다.</a:t>
            </a:r>
            <a:endParaRPr lang="en-US" sz="10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다만 최종 퇴직 시 퇴직소득 세액정산으로 합산 재계산이 가능하다 — 과거 원천징수영수증 확보 필수.</a:t>
            </a:r>
            <a:endParaRPr lang="en-US" sz="1000" dirty="0"/>
          </a:p>
        </p:txBody>
      </p:sp>
      <p:sp>
        <p:nvSpPr>
          <p:cNvPr id="16" name="Shape 10"/>
          <p:cNvSpPr/>
          <p:nvPr/>
        </p:nvSpPr>
        <p:spPr>
          <a:xfrm>
            <a:off x="6233008" y="4626864"/>
            <a:ext cx="5391760" cy="1499616"/>
          </a:xfrm>
          <a:prstGeom prst="rect">
            <a:avLst/>
          </a:prstGeom>
          <a:solidFill>
            <a:srgbClr val="FFFFFF"/>
          </a:solidFill>
          <a:ln w="9525">
            <a:solidFill>
              <a:srgbClr val="CDCECB"/>
            </a:solidFill>
            <a:prstDash val="solid"/>
          </a:ln>
        </p:spPr>
      </p:sp>
      <p:sp>
        <p:nvSpPr>
          <p:cNvPr id="17" name="Text 11"/>
          <p:cNvSpPr/>
          <p:nvPr/>
        </p:nvSpPr>
        <p:spPr>
          <a:xfrm>
            <a:off x="6397600" y="4745736"/>
            <a:ext cx="50625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" kern="0" dirty="0">
                <a:solidFill>
                  <a:srgbClr val="043B72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환산급여공제가 만드는 상한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6397600" y="5029200"/>
            <a:ext cx="5062576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환산급여가 커질수록 공제율은 낮아지지만, 환산급여 약 3.1억원까지는 과세표준 비율이 50%를 넘지 않는다. 환산급여 3억원이라도 절반은 공제로 사라진다.</a:t>
            </a:r>
            <a:endParaRPr lang="en-US" sz="10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또한 이 구간에서도 적용 기본세율은 35%에 머문다 — 환산 과정이 고세율 구간 진입을 구조적으로 억제한다. 다만 그 이상 구간에서는 비율과 세율이 함께 올라간다(환산급여 5억 → 과세표준 약 55.7%·38% 구간).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7432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F58220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PART II · 퇴직소득세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66928" y="512064"/>
            <a:ext cx="10424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전체 계산 사례 — 근속 20년, 퇴직금 2억원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66928" y="1097280"/>
            <a:ext cx="11057839" cy="11887"/>
          </a:xfrm>
          <a:prstGeom prst="rect">
            <a:avLst/>
          </a:prstGeom>
          <a:solidFill>
            <a:srgbClr val="F5822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382512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6C6C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PART II · 퇴직소득세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527487" y="6382512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6C6C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23</a:t>
            </a:r>
            <a:endParaRPr lang="en-US" sz="9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335024"/>
          <a:ext cx="11057839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2834640"/>
                <a:gridCol w="2377440"/>
                <a:gridCol w="5114239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1A1A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단계</a:t>
                      </a:r>
                      <a:endParaRPr lang="en-US" sz="10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07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A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항목</a:t>
                      </a:r>
                      <a:endParaRPr lang="en-US" sz="10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07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1A1A1A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금액</a:t>
                      </a:r>
                      <a:endParaRPr lang="en-US" sz="10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07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A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계산 근거</a:t>
                      </a:r>
                      <a:endParaRPr lang="en-US" sz="10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07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0</a:t>
                      </a:r>
                      <a:endParaRPr lang="en-US" sz="10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퇴직소득금액</a:t>
                      </a:r>
                      <a:endParaRPr lang="en-US" sz="10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200,000,000원</a:t>
                      </a:r>
                      <a:endParaRPr lang="en-US" sz="10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퇴직급여 2억원 · 비과세 없음</a:t>
                      </a:r>
                      <a:endParaRPr lang="en-US" sz="10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1</a:t>
                      </a:r>
                      <a:endParaRPr lang="en-US" sz="10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근속연수공제</a:t>
                      </a:r>
                      <a:endParaRPr lang="en-US" sz="10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40,000,000원</a:t>
                      </a:r>
                      <a:endParaRPr lang="en-US" sz="10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1,500만 + 250만 × (20 − 10)</a:t>
                      </a:r>
                      <a:endParaRPr lang="en-US" sz="10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2</a:t>
                      </a:r>
                      <a:endParaRPr lang="en-US" sz="10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환산급여</a:t>
                      </a:r>
                      <a:endParaRPr lang="en-US" sz="10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96,000,000원</a:t>
                      </a:r>
                      <a:endParaRPr lang="en-US" sz="10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(2억 − 4,000만) ÷ 20 × 12</a:t>
                      </a:r>
                      <a:endParaRPr lang="en-US" sz="10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3</a:t>
                      </a:r>
                      <a:endParaRPr lang="en-US" sz="10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환산급여공제</a:t>
                      </a:r>
                      <a:endParaRPr lang="en-US" sz="10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59,500,000원</a:t>
                      </a:r>
                      <a:endParaRPr lang="en-US" sz="10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4,520만 + (9,600만 − 7,000만) × 55%</a:t>
                      </a:r>
                      <a:endParaRPr lang="en-US" sz="10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1A1A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3</a:t>
                      </a:r>
                      <a:endParaRPr lang="en-US" sz="10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A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퇴직소득 과세표준</a:t>
                      </a:r>
                      <a:endParaRPr lang="en-US" sz="10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1A1A1A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36,500,000원</a:t>
                      </a:r>
                      <a:endParaRPr lang="en-US" sz="10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A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9,600만 − 5,950만</a:t>
                      </a:r>
                      <a:endParaRPr lang="en-US" sz="10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4</a:t>
                      </a:r>
                      <a:endParaRPr lang="en-US" sz="10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환산산출세액</a:t>
                      </a:r>
                      <a:endParaRPr lang="en-US" sz="10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4,215,000원</a:t>
                      </a:r>
                      <a:endParaRPr lang="en-US" sz="10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3,650만 × 15% − 126만</a:t>
                      </a:r>
                      <a:endParaRPr lang="en-US" sz="10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1A1A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5</a:t>
                      </a:r>
                      <a:endParaRPr lang="en-US" sz="10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A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퇴직소득 산출세액</a:t>
                      </a:r>
                      <a:endParaRPr lang="en-US" sz="10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1A1A1A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7,025,000원</a:t>
                      </a:r>
                      <a:endParaRPr lang="en-US" sz="10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A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421.5만 ÷ 12 × 20</a:t>
                      </a:r>
                      <a:endParaRPr lang="en-US" sz="10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—</a:t>
                      </a:r>
                      <a:endParaRPr lang="en-US" sz="10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지방소득세 (10%)</a:t>
                      </a:r>
                      <a:endParaRPr lang="en-US" sz="10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702,500원</a:t>
                      </a:r>
                      <a:endParaRPr lang="en-US" sz="10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산출세액의 10%</a:t>
                      </a:r>
                      <a:endParaRPr lang="en-US" sz="10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1A1A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—</a:t>
                      </a:r>
                      <a:endParaRPr lang="en-US" sz="10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A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총 납부세액</a:t>
                      </a:r>
                      <a:endParaRPr lang="en-US" sz="10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1A1A1A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7,727,500원</a:t>
                      </a:r>
                      <a:endParaRPr lang="en-US" sz="10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58220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실효세율 3.86%</a:t>
                      </a:r>
                      <a:endParaRPr lang="en-US" sz="10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66928" y="4443984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근속·금액을 바꾸면</a:t>
            </a:r>
            <a:endParaRPr lang="en-US" sz="1300" dirty="0"/>
          </a:p>
        </p:txBody>
      </p:sp>
      <p:graphicFrame>
        <p:nvGraphicFramePr>
          <p:cNvPr id="4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4773168"/>
          <a:ext cx="11057839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481328"/>
                <a:gridCol w="1572768"/>
                <a:gridCol w="1572768"/>
                <a:gridCol w="1481328"/>
                <a:gridCol w="1700784"/>
                <a:gridCol w="1420063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A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사례</a:t>
                      </a:r>
                      <a:endParaRPr lang="en-US" sz="9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07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A1A1A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근속연수공제</a:t>
                      </a:r>
                      <a:endParaRPr lang="en-US" sz="9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07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A1A1A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환산급여</a:t>
                      </a:r>
                      <a:endParaRPr lang="en-US" sz="9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07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A1A1A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환산급여공제</a:t>
                      </a:r>
                      <a:endParaRPr lang="en-US" sz="9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07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A1A1A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과세표준</a:t>
                      </a:r>
                      <a:endParaRPr lang="en-US" sz="9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07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A1A1A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총 납부세액</a:t>
                      </a:r>
                      <a:endParaRPr lang="en-US" sz="9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07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A1A1A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실효세율</a:t>
                      </a:r>
                      <a:endParaRPr lang="en-US" sz="9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07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1A1A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5년 / 5,000만</a:t>
                      </a:r>
                      <a:endParaRPr lang="en-US" sz="9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500만</a:t>
                      </a:r>
                      <a:endParaRPr lang="en-US" sz="9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1억 800만</a:t>
                      </a:r>
                      <a:endParaRPr lang="en-US" sz="9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6,530만</a:t>
                      </a:r>
                      <a:endParaRPr lang="en-US" sz="9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4,270만</a:t>
                      </a:r>
                      <a:endParaRPr lang="en-US" sz="9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236만원</a:t>
                      </a:r>
                      <a:endParaRPr lang="en-US" sz="9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58220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4.72%</a:t>
                      </a:r>
                      <a:endParaRPr lang="en-US" sz="9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1A1A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10년 / 1억</a:t>
                      </a:r>
                      <a:endParaRPr lang="en-US" sz="9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1,500만</a:t>
                      </a:r>
                      <a:endParaRPr lang="en-US" sz="9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1억 200만</a:t>
                      </a:r>
                      <a:endParaRPr lang="en-US" sz="9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6,260만</a:t>
                      </a:r>
                      <a:endParaRPr lang="en-US" sz="9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3,940만</a:t>
                      </a:r>
                      <a:endParaRPr lang="en-US" sz="9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426만원</a:t>
                      </a:r>
                      <a:endParaRPr lang="en-US" sz="9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58220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4.26%</a:t>
                      </a:r>
                      <a:endParaRPr lang="en-US" sz="9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1A1A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25년 / 3억</a:t>
                      </a:r>
                      <a:endParaRPr lang="en-US" sz="9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5,500만</a:t>
                      </a:r>
                      <a:endParaRPr lang="en-US" sz="9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1억 1,760만</a:t>
                      </a:r>
                      <a:endParaRPr lang="en-US" sz="9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6,962만</a:t>
                      </a:r>
                      <a:endParaRPr lang="en-US" sz="9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4,798만</a:t>
                      </a:r>
                      <a:endParaRPr lang="en-US" sz="9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1,361만원</a:t>
                      </a:r>
                      <a:endParaRPr lang="en-US" sz="9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58220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4.54%</a:t>
                      </a:r>
                      <a:endParaRPr lang="en-US" sz="9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1A1A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30년 / 5억</a:t>
                      </a:r>
                      <a:endParaRPr lang="en-US" sz="9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7,000만</a:t>
                      </a:r>
                      <a:endParaRPr lang="en-US" sz="9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1억 7,200만</a:t>
                      </a:r>
                      <a:endParaRPr lang="en-US" sz="9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9,410만</a:t>
                      </a:r>
                      <a:endParaRPr lang="en-US" sz="9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7,790만</a:t>
                      </a:r>
                      <a:endParaRPr lang="en-US" sz="9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3,557만원</a:t>
                      </a:r>
                      <a:endParaRPr lang="en-US" sz="9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58220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7.11%</a:t>
                      </a:r>
                      <a:endParaRPr lang="en-US" sz="9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</a:tbl>
          </a:graphicData>
        </a:graphic>
      </p:graphicFrame>
      <p:sp>
        <p:nvSpPr>
          <p:cNvPr id="10" name="Text 6"/>
          <p:cNvSpPr/>
          <p:nvPr/>
        </p:nvSpPr>
        <p:spPr>
          <a:xfrm>
            <a:off x="566928" y="621792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C6C6C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※ 총 납부세액은 지방소득세 포함 · 비과세 퇴직소득 없음 · 세액정산·과세이연 없음 가정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7432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F58220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PART II · 퇴직소득세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66928" y="512064"/>
            <a:ext cx="10424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실효세율 매트릭스 — 근속연수가 모든 것을 결정한다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66928" y="1097280"/>
            <a:ext cx="11057839" cy="11887"/>
          </a:xfrm>
          <a:prstGeom prst="rect">
            <a:avLst/>
          </a:prstGeom>
          <a:solidFill>
            <a:srgbClr val="F5822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382512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6C6C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PART II · 퇴직소득세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527487" y="6382512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6C6C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24</a:t>
            </a:r>
            <a:endParaRPr lang="en-US" sz="9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335024"/>
          <a:ext cx="11057839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1331497"/>
                <a:gridCol w="1331497"/>
                <a:gridCol w="1331497"/>
                <a:gridCol w="1331497"/>
                <a:gridCol w="1331497"/>
                <a:gridCol w="1331497"/>
                <a:gridCol w="1331497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퇴직금</a:t>
                      </a:r>
                      <a:endParaRPr lang="en-US" sz="10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07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5년</a:t>
                      </a:r>
                      <a:endParaRPr lang="en-US" sz="10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07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10년</a:t>
                      </a:r>
                      <a:endParaRPr lang="en-US" sz="10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07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15년</a:t>
                      </a:r>
                      <a:endParaRPr lang="en-US" sz="10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07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20년</a:t>
                      </a:r>
                      <a:endParaRPr lang="en-US" sz="10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07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25년</a:t>
                      </a:r>
                      <a:endParaRPr lang="en-US" sz="10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07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30년</a:t>
                      </a:r>
                      <a:endParaRPr lang="en-US" sz="10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07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35년</a:t>
                      </a:r>
                      <a:endParaRPr lang="en-US" sz="10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072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5,000만원</a:t>
                      </a:r>
                      <a:endParaRPr lang="en-US" sz="10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4.72</a:t>
                      </a:r>
                      <a:endParaRPr lang="en-US" sz="10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1.50</a:t>
                      </a:r>
                      <a:endParaRPr lang="en-US" sz="10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0.66</a:t>
                      </a:r>
                      <a:endParaRPr lang="en-US" sz="10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C6C6C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0.00</a:t>
                      </a:r>
                      <a:endParaRPr lang="en-US" sz="10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C6C6C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0.00</a:t>
                      </a:r>
                      <a:endParaRPr lang="en-US" sz="10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C6C6C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0.00</a:t>
                      </a:r>
                      <a:endParaRPr lang="en-US" sz="10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C6C6C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0.00</a:t>
                      </a:r>
                      <a:endParaRPr lang="en-US" sz="10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1억원</a:t>
                      </a:r>
                      <a:endParaRPr lang="en-US" sz="10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10.36</a:t>
                      </a:r>
                      <a:endParaRPr lang="en-US" sz="10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4.26</a:t>
                      </a:r>
                      <a:endParaRPr lang="en-US" sz="10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2.39</a:t>
                      </a:r>
                      <a:endParaRPr lang="en-US" sz="10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1.23</a:t>
                      </a:r>
                      <a:endParaRPr lang="en-US" sz="10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0.75</a:t>
                      </a:r>
                      <a:endParaRPr lang="en-US" sz="10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0.26</a:t>
                      </a:r>
                      <a:endParaRPr lang="en-US" sz="10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C6C6C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0.00</a:t>
                      </a:r>
                      <a:endParaRPr lang="en-US" sz="10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2억원</a:t>
                      </a:r>
                      <a:endParaRPr lang="en-US" sz="10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C62828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17.85</a:t>
                      </a:r>
                      <a:endParaRPr lang="en-US" sz="10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9.83</a:t>
                      </a:r>
                      <a:endParaRPr lang="en-US" sz="10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5.81</a:t>
                      </a:r>
                      <a:endParaRPr lang="en-US" sz="10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3.86</a:t>
                      </a:r>
                      <a:endParaRPr lang="en-US" sz="10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2.79</a:t>
                      </a:r>
                      <a:endParaRPr lang="en-US" sz="10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1.90</a:t>
                      </a:r>
                      <a:endParaRPr lang="en-US" sz="10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1.21</a:t>
                      </a:r>
                      <a:endParaRPr lang="en-US" sz="10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3억원</a:t>
                      </a:r>
                      <a:endParaRPr lang="en-US" sz="10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C62828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21.31</a:t>
                      </a:r>
                      <a:endParaRPr lang="en-US" sz="10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14.30</a:t>
                      </a:r>
                      <a:endParaRPr lang="en-US" sz="10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9.48</a:t>
                      </a:r>
                      <a:endParaRPr lang="en-US" sz="10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6.61</a:t>
                      </a:r>
                      <a:endParaRPr lang="en-US" sz="10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4.54</a:t>
                      </a:r>
                      <a:endParaRPr lang="en-US" sz="10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3.62</a:t>
                      </a:r>
                      <a:endParaRPr lang="en-US" sz="10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2.90</a:t>
                      </a:r>
                      <a:endParaRPr lang="en-US" sz="10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5억원</a:t>
                      </a:r>
                      <a:endParaRPr lang="en-US" sz="10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C62828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24.64</a:t>
                      </a:r>
                      <a:endParaRPr lang="en-US" sz="10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C62828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19.56</a:t>
                      </a:r>
                      <a:endParaRPr lang="en-US" sz="10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C62828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15.31</a:t>
                      </a:r>
                      <a:endParaRPr lang="en-US" sz="10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11.68</a:t>
                      </a:r>
                      <a:endParaRPr lang="en-US" sz="10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9.09</a:t>
                      </a:r>
                      <a:endParaRPr lang="en-US" sz="10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7.11</a:t>
                      </a:r>
                      <a:endParaRPr lang="en-US" sz="10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5.78</a:t>
                      </a:r>
                      <a:endParaRPr lang="en-US" sz="10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10억원</a:t>
                      </a:r>
                      <a:endParaRPr lang="en-US" sz="10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28.03</a:t>
                      </a:r>
                      <a:endParaRPr lang="en-US" sz="10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24.49</a:t>
                      </a:r>
                      <a:endParaRPr lang="en-US" sz="10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21.68</a:t>
                      </a:r>
                      <a:endParaRPr lang="en-US" sz="10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19.28</a:t>
                      </a:r>
                      <a:endParaRPr lang="en-US" sz="10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17.04</a:t>
                      </a:r>
                      <a:endParaRPr lang="en-US" sz="10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14.90</a:t>
                      </a:r>
                      <a:endParaRPr lang="en-US" sz="10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12.77</a:t>
                      </a:r>
                      <a:endParaRPr lang="en-US" sz="10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66928" y="374904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C6C6C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※ 일시금 수령 시 실효세율(%) · 지방소득세 포함 · 15% 이상 구간은 붉은색 표시 · 비과세·세액정산·과세이연 없음 가정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566928" y="4114800"/>
            <a:ext cx="2558720" cy="1225296"/>
          </a:xfrm>
          <a:prstGeom prst="rect">
            <a:avLst/>
          </a:prstGeom>
          <a:solidFill>
            <a:srgbClr val="FFFFFF"/>
          </a:solidFill>
          <a:ln w="9525">
            <a:solidFill>
              <a:srgbClr val="CDCEC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31520" y="4233672"/>
            <a:ext cx="22295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" kern="0" dirty="0">
                <a:solidFill>
                  <a:srgbClr val="F58220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① 근속연수의 힘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731520" y="4517136"/>
            <a:ext cx="222953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퇴직금 2억원을 근속 5년에 받으면 17.85%, 30년에 받으면 1.90%. 금액이 같아도 세부담이 9배 이상 차이 난다.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3399968" y="4114800"/>
            <a:ext cx="2558720" cy="1225296"/>
          </a:xfrm>
          <a:prstGeom prst="rect">
            <a:avLst/>
          </a:prstGeom>
          <a:solidFill>
            <a:srgbClr val="FFFFFF"/>
          </a:solidFill>
          <a:ln w="9525">
            <a:solidFill>
              <a:srgbClr val="CDCEC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564560" y="4233672"/>
            <a:ext cx="22295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" kern="0" dirty="0">
                <a:solidFill>
                  <a:srgbClr val="F58220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② 소액·장기근속은 0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3564560" y="4517136"/>
            <a:ext cx="222953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근속 20년 이상 + 퇴직금 5,000만원 이하는 세액이 없다. 이 구간에 절세 목적 IRP 이체를 권하는 것은 실익이 없다.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6233008" y="4114800"/>
            <a:ext cx="2558720" cy="1225296"/>
          </a:xfrm>
          <a:prstGeom prst="rect">
            <a:avLst/>
          </a:prstGeom>
          <a:solidFill>
            <a:srgbClr val="FFFFFF"/>
          </a:solidFill>
          <a:ln w="9525">
            <a:solidFill>
              <a:srgbClr val="CDCECB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397600" y="4233672"/>
            <a:ext cx="22295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" kern="0" dirty="0">
                <a:solidFill>
                  <a:srgbClr val="043B72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③ 5억원이 분기점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6397600" y="4517136"/>
            <a:ext cx="222953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5억원 이상부터 실효세율이 두 자릿수. 절대 금액도 커져 연금 감면 효과가 수천만원 단위가 된다.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9066047" y="4114800"/>
            <a:ext cx="2558720" cy="1225296"/>
          </a:xfrm>
          <a:prstGeom prst="rect">
            <a:avLst/>
          </a:prstGeom>
          <a:solidFill>
            <a:srgbClr val="FFFFFF"/>
          </a:solidFill>
          <a:ln w="9525">
            <a:solidFill>
              <a:srgbClr val="C62828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9230639" y="4233672"/>
            <a:ext cx="22295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" kern="0" dirty="0">
                <a:solidFill>
                  <a:srgbClr val="C62828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④ 최악의 조합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9230639" y="4517136"/>
            <a:ext cx="222953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근속 5년 / 10억원 = 28.03%. 임원 취임 후 단기간 고액 퇴직금 구조. 한도 초과분 근로소득 과세까지 겹친다.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566928" y="5504688"/>
            <a:ext cx="11057839" cy="621792"/>
          </a:xfrm>
          <a:prstGeom prst="roundRect">
            <a:avLst>
              <a:gd name="adj" fmla="val 4412"/>
            </a:avLst>
          </a:prstGeom>
          <a:solidFill>
            <a:srgbClr val="F5822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86384" y="5614416"/>
            <a:ext cx="10618927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연금 수령을 반영하면  |  위 표의 값에 0.7 / 0.6 / 0.5를 곱한 것이 연금 수령 시 실효세율이다. 근속 20년 · 2억원의 3.86%는 20년 초과 수령 시 약 1.93%까지 내려간다.</a:t>
            </a:r>
            <a:endParaRPr lang="en-US" sz="1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7432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F58220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PART II · 퇴직연금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66928" y="512064"/>
            <a:ext cx="10424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IRP 과세이연 — 세금으로 나갈 돈까지 운용한다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66928" y="1097280"/>
            <a:ext cx="11057839" cy="11887"/>
          </a:xfrm>
          <a:prstGeom prst="rect">
            <a:avLst/>
          </a:prstGeom>
          <a:solidFill>
            <a:srgbClr val="F5822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382512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6C6C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PART II · 퇴직연금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527487" y="6382512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6C6C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25</a:t>
            </a:r>
            <a:endParaRPr lang="en-US" sz="90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335024"/>
          <a:ext cx="11057839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3968496"/>
                <a:gridCol w="5443423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구분</a:t>
                      </a:r>
                      <a:endParaRPr lang="en-US" sz="10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07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일시금 수령</a:t>
                      </a:r>
                      <a:endParaRPr lang="en-US" sz="10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07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IRP 이체</a:t>
                      </a:r>
                      <a:endParaRPr lang="en-US" sz="10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07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퇴직 시 과세</a:t>
                      </a:r>
                      <a:endParaRPr lang="en-US" sz="10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퇴직소득세 즉시 원천징수</a:t>
                      </a:r>
                      <a:endParaRPr lang="en-US" sz="10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43B72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원천징수하지 않음 (소득세법 §146②)</a:t>
                      </a:r>
                      <a:endParaRPr lang="en-US" sz="10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운용 원금</a:t>
                      </a:r>
                      <a:endParaRPr lang="en-US" sz="10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세후 금액</a:t>
                      </a:r>
                      <a:endParaRPr lang="en-US" sz="10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43B72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세전 금액 전액 — 세금으로 나갈 돈까지 운용</a:t>
                      </a:r>
                      <a:endParaRPr lang="en-US" sz="10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운용수익 과세</a:t>
                      </a:r>
                      <a:endParaRPr lang="en-US" sz="10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이자·배당 15.4% · 금융소득 합산</a:t>
                      </a:r>
                      <a:endParaRPr lang="en-US" sz="10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43B72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계좌 내 과세이연 → 인출 시 연금소득세</a:t>
                      </a:r>
                      <a:endParaRPr lang="en-US" sz="10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인출 시 과세</a:t>
                      </a:r>
                      <a:endParaRPr lang="en-US" sz="10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—</a:t>
                      </a:r>
                      <a:endParaRPr lang="en-US" sz="10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43B72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연금수령: 퇴직소득세의 70/60/50% · 연금외수령: 100%</a:t>
                      </a:r>
                      <a:endParaRPr lang="en-US" sz="10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건강보험료</a:t>
                      </a:r>
                      <a:endParaRPr lang="en-US" sz="10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운용수익이 금융소득으로 반영</a:t>
                      </a:r>
                      <a:endParaRPr lang="en-US" sz="10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43B72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사적연금은 보험료 부과 소득에 미반영</a:t>
                      </a:r>
                      <a:endParaRPr lang="en-US" sz="10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유동성</a:t>
                      </a:r>
                      <a:endParaRPr lang="en-US" sz="10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즉시 자유</a:t>
                      </a:r>
                      <a:endParaRPr lang="en-US" sz="10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55세 이전 해지 시 이연퇴직소득은 퇴직소득세 100%, 세액공제 재원·운용수익은 기타소득세 16.5%</a:t>
                      </a:r>
                      <a:endParaRPr lang="en-US" sz="10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66928" y="409651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이체 실무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66928" y="4425696"/>
            <a:ext cx="274320" cy="274320"/>
          </a:xfrm>
          <a:prstGeom prst="rect">
            <a:avLst/>
          </a:prstGeom>
          <a:solidFill>
            <a:srgbClr val="043B7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66928" y="442569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1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950976" y="4398264"/>
            <a:ext cx="5193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퇴직 전에 IRP 계좌를 개설한다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566928" y="4828032"/>
            <a:ext cx="274320" cy="274320"/>
          </a:xfrm>
          <a:prstGeom prst="rect">
            <a:avLst/>
          </a:prstGeom>
          <a:solidFill>
            <a:srgbClr val="043B7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66928" y="482803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2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950976" y="4800600"/>
            <a:ext cx="5193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회사에 IRP 계좌로의 이전을 신청한다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566928" y="5230368"/>
            <a:ext cx="274320" cy="274320"/>
          </a:xfrm>
          <a:prstGeom prst="rect">
            <a:avLst/>
          </a:prstGeom>
          <a:solidFill>
            <a:srgbClr val="043B7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66928" y="523036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3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950976" y="5202936"/>
            <a:ext cx="5193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이미 일시금 수령했어도 60일 내 납입하면 과세이연·환급 가능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566928" y="5632704"/>
            <a:ext cx="274320" cy="274320"/>
          </a:xfrm>
          <a:prstGeom prst="rect">
            <a:avLst/>
          </a:prstGeom>
          <a:solidFill>
            <a:srgbClr val="043B7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66928" y="563270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4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950976" y="5605272"/>
            <a:ext cx="5193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일부만 이체하는 혼합 수령도 가능 — 이체 비율만큼 이연</a:t>
            </a:r>
            <a:endParaRPr lang="en-US" sz="1050" dirty="0"/>
          </a:p>
        </p:txBody>
      </p:sp>
      <p:graphicFrame>
        <p:nvGraphicFramePr>
          <p:cNvPr id="5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55664" y="4096512"/>
          <a:ext cx="5169103" cy="914400"/>
        </p:xfrm>
        <a:graphic>
          <a:graphicData uri="http://schemas.openxmlformats.org/drawingml/2006/table">
            <a:tbl>
              <a:tblPr/>
              <a:tblGrid>
                <a:gridCol w="1860877"/>
                <a:gridCol w="1550731"/>
                <a:gridCol w="1757495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A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무이자 대출 효과</a:t>
                      </a:r>
                      <a:endParaRPr lang="en-US" sz="9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07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A1A1A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초기 원금</a:t>
                      </a:r>
                      <a:endParaRPr lang="en-US" sz="9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07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A1A1A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연 5% · 10년 후</a:t>
                      </a:r>
                      <a:endParaRPr lang="en-US" sz="9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072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일시금 수령 후 운용</a:t>
                      </a:r>
                      <a:endParaRPr lang="en-US" sz="9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1억 9,227만원</a:t>
                      </a:r>
                      <a:endParaRPr lang="en-US" sz="9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3억 1,320만원</a:t>
                      </a:r>
                      <a:endParaRPr lang="en-US" sz="9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A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IRP 이체 후 운용</a:t>
                      </a:r>
                      <a:endParaRPr lang="en-US" sz="9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A1A1A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2억원</a:t>
                      </a:r>
                      <a:endParaRPr lang="en-US" sz="9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A1A1A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3억 2,578만원</a:t>
                      </a:r>
                      <a:endParaRPr lang="en-US" sz="9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58220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차이</a:t>
                      </a:r>
                      <a:endParaRPr lang="en-US" sz="9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F58220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+ 1,258만원</a:t>
                      </a:r>
                      <a:endParaRPr lang="en-US" sz="9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2" name="Text 18"/>
          <p:cNvSpPr/>
          <p:nvPr/>
        </p:nvSpPr>
        <p:spPr>
          <a:xfrm>
            <a:off x="6455664" y="5431536"/>
            <a:ext cx="516910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6C6C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※ 퇴직금 2억원 · 퇴직소득세 773만원 기준. 운용수익 과세 차이는 제외한 원금 효과만 비교.</a:t>
            </a:r>
            <a:endParaRPr lang="en-US" sz="900" dirty="0"/>
          </a:p>
        </p:txBody>
      </p:sp>
      <p:sp>
        <p:nvSpPr>
          <p:cNvPr id="23" name="Shape 19"/>
          <p:cNvSpPr/>
          <p:nvPr/>
        </p:nvSpPr>
        <p:spPr>
          <a:xfrm>
            <a:off x="6455664" y="5669280"/>
            <a:ext cx="5169103" cy="457200"/>
          </a:xfrm>
          <a:prstGeom prst="rect">
            <a:avLst/>
          </a:prstGeom>
          <a:solidFill>
            <a:srgbClr val="FFFBF0"/>
          </a:solidFill>
          <a:ln w="9525">
            <a:solidFill>
              <a:srgbClr val="D4A017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6620256" y="5815584"/>
            <a:ext cx="4839919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90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판단 기준  |  ① 퇴직소득세가 유의미한가  ② 55세 이후 10년 이상 미룰 수 있는가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7432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F58220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PART II · 2026년 개정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66928" y="512064"/>
            <a:ext cx="10424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연금수령 시 퇴직소득세 감면 — 2026년 3단계로 확대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66928" y="1097280"/>
            <a:ext cx="11057839" cy="11887"/>
          </a:xfrm>
          <a:prstGeom prst="rect">
            <a:avLst/>
          </a:prstGeom>
          <a:solidFill>
            <a:srgbClr val="F5822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382512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6C6C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PART II · 2026년 개정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527487" y="6382512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6C6C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26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0442448" y="566928"/>
            <a:ext cx="841248" cy="219456"/>
          </a:xfrm>
          <a:prstGeom prst="rect">
            <a:avLst/>
          </a:prstGeom>
          <a:solidFill>
            <a:srgbClr val="F5822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442448" y="566928"/>
            <a:ext cx="841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2026 확대</a:t>
            </a:r>
            <a:endParaRPr lang="en-US" sz="90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335024"/>
          <a:ext cx="557784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1133856"/>
                <a:gridCol w="1280160"/>
                <a:gridCol w="1060704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실제 수령연차</a:t>
                      </a:r>
                      <a:endParaRPr lang="en-US" sz="10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07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종전</a:t>
                      </a:r>
                      <a:endParaRPr lang="en-US" sz="10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07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2026년 이후</a:t>
                      </a:r>
                      <a:endParaRPr lang="en-US" sz="10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07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감면율</a:t>
                      </a:r>
                      <a:endParaRPr lang="en-US" sz="10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07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10년 이하</a:t>
                      </a:r>
                      <a:endParaRPr lang="en-US" sz="10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C6C6C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70%</a:t>
                      </a:r>
                      <a:endParaRPr lang="en-US" sz="10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70%</a:t>
                      </a:r>
                      <a:endParaRPr lang="en-US" sz="10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30%</a:t>
                      </a:r>
                      <a:endParaRPr lang="en-US" sz="10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10년 초과 ~ 20년 이하</a:t>
                      </a:r>
                      <a:endParaRPr lang="en-US" sz="10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C6C6C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60%</a:t>
                      </a:r>
                      <a:endParaRPr lang="en-US" sz="10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60%</a:t>
                      </a:r>
                      <a:endParaRPr lang="en-US" sz="10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40%</a:t>
                      </a:r>
                      <a:endParaRPr lang="en-US" sz="10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20년 초과</a:t>
                      </a:r>
                      <a:endParaRPr lang="en-US" sz="10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60%</a:t>
                      </a:r>
                      <a:endParaRPr lang="en-US" sz="10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50%</a:t>
                      </a:r>
                      <a:endParaRPr lang="en-US" sz="10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50% 감면</a:t>
                      </a:r>
                      <a:endParaRPr lang="en-US" sz="10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566928" y="292608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C6C6C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※ 2026년 1월 1일 이후 연금을 수령하는 분부터 적용 · 소득세법 원천징수세율 규정 개정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566928" y="3291840"/>
            <a:ext cx="5577840" cy="1005840"/>
          </a:xfrm>
          <a:prstGeom prst="rect">
            <a:avLst/>
          </a:prstGeom>
          <a:solidFill>
            <a:srgbClr val="ECEFF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68096" y="3392424"/>
            <a:ext cx="517550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연금수령 시 원천징수세액 = 수령액에 대응하는 이연퇴직소득세 × (70% / 60% / 50%)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감면율은 연금 개시 시점이 아니라 각 수령분의 실제 수령연차에 따라 적용된다.</a:t>
            </a:r>
            <a:endParaRPr lang="en-US" sz="1050" dirty="0"/>
          </a:p>
        </p:txBody>
      </p:sp>
      <p:graphicFrame>
        <p:nvGraphicFramePr>
          <p:cNvPr id="13" name="Chart 0" descr=""/>
          <p:cNvGraphicFramePr/>
          <p:nvPr/>
        </p:nvGraphicFramePr>
        <p:xfrm>
          <a:off x="6455664" y="1335024"/>
          <a:ext cx="5169103" cy="2798064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4" name="Text 10"/>
          <p:cNvSpPr/>
          <p:nvPr/>
        </p:nvSpPr>
        <p:spPr>
          <a:xfrm>
            <a:off x="6455664" y="4169664"/>
            <a:ext cx="516910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C6C6C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총 수령기간별 평균 부담률 — 균등 수령 가정</a:t>
            </a:r>
            <a:endParaRPr lang="en-US" sz="950" dirty="0"/>
          </a:p>
        </p:txBody>
      </p:sp>
      <p:sp>
        <p:nvSpPr>
          <p:cNvPr id="15" name="Shape 11"/>
          <p:cNvSpPr/>
          <p:nvPr/>
        </p:nvSpPr>
        <p:spPr>
          <a:xfrm>
            <a:off x="566928" y="4517136"/>
            <a:ext cx="11057839" cy="603504"/>
          </a:xfrm>
          <a:prstGeom prst="roundRect">
            <a:avLst>
              <a:gd name="adj" fmla="val 4545"/>
            </a:avLst>
          </a:prstGeom>
          <a:solidFill>
            <a:srgbClr val="F5822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786384" y="4626864"/>
            <a:ext cx="1061892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55세 이상이라면 연금 개시를 늦추지 말라 — 개시를 미루면 수령기간을 20년 초과로 늘릴 여지가 줄어든다.</a:t>
            </a:r>
            <a:endParaRPr lang="en-US" sz="1300" dirty="0"/>
          </a:p>
        </p:txBody>
      </p:sp>
      <p:sp>
        <p:nvSpPr>
          <p:cNvPr id="17" name="Shape 13"/>
          <p:cNvSpPr/>
          <p:nvPr/>
        </p:nvSpPr>
        <p:spPr>
          <a:xfrm>
            <a:off x="566928" y="5248656"/>
            <a:ext cx="5391760" cy="877824"/>
          </a:xfrm>
          <a:prstGeom prst="rect">
            <a:avLst/>
          </a:prstGeom>
          <a:solidFill>
            <a:srgbClr val="FFFFFF"/>
          </a:solidFill>
          <a:ln w="9525">
            <a:solidFill>
              <a:srgbClr val="CDCECB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731520" y="5367528"/>
            <a:ext cx="50625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" kern="0" dirty="0">
                <a:solidFill>
                  <a:srgbClr val="F58220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기간을 늘리는 방법</a:t>
            </a:r>
            <a:endParaRPr lang="en-US" sz="1000" dirty="0"/>
          </a:p>
        </p:txBody>
      </p:sp>
      <p:sp>
        <p:nvSpPr>
          <p:cNvPr id="19" name="Text 15"/>
          <p:cNvSpPr/>
          <p:nvPr/>
        </p:nvSpPr>
        <p:spPr>
          <a:xfrm>
            <a:off x="731520" y="5650992"/>
            <a:ext cx="50625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연금 개시 연령을 55세로 앞당긴다 · 연간 수령액을 낮춰 21년 이상으로 설계 · 부족한 생활비는 과세계좌·ISA에서 충당해 인출 속도를 늦춘다</a:t>
            </a:r>
            <a:endParaRPr lang="en-US" sz="950" dirty="0"/>
          </a:p>
        </p:txBody>
      </p:sp>
      <p:sp>
        <p:nvSpPr>
          <p:cNvPr id="20" name="Shape 16"/>
          <p:cNvSpPr/>
          <p:nvPr/>
        </p:nvSpPr>
        <p:spPr>
          <a:xfrm>
            <a:off x="6233008" y="5248656"/>
            <a:ext cx="5391760" cy="877824"/>
          </a:xfrm>
          <a:prstGeom prst="rect">
            <a:avLst/>
          </a:prstGeom>
          <a:solidFill>
            <a:srgbClr val="FFFFFF"/>
          </a:solidFill>
          <a:ln w="9525">
            <a:solidFill>
              <a:srgbClr val="C62828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6397600" y="5367528"/>
            <a:ext cx="50625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" kern="0" dirty="0">
                <a:solidFill>
                  <a:srgbClr val="C62828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주의할 점</a:t>
            </a:r>
            <a:endParaRPr lang="en-US" sz="1000" dirty="0"/>
          </a:p>
        </p:txBody>
      </p:sp>
      <p:sp>
        <p:nvSpPr>
          <p:cNvPr id="22" name="Text 18"/>
          <p:cNvSpPr/>
          <p:nvPr/>
        </p:nvSpPr>
        <p:spPr>
          <a:xfrm>
            <a:off x="6397600" y="5650992"/>
            <a:ext cx="50625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기간을 늘리면 연간 현금흐름이 줄어든다 · 연금수령한도 초과분은 감면 대상이 아니다 · 중도 일시금 인출분은 감면 없이 100% 과세</a:t>
            </a:r>
            <a:endParaRPr lang="en-US" sz="9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7432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F58220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PART II · 퇴직연금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66928" y="512064"/>
            <a:ext cx="10424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일시금 vs 연금 — 정면 비교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66928" y="1097280"/>
            <a:ext cx="11057839" cy="11887"/>
          </a:xfrm>
          <a:prstGeom prst="rect">
            <a:avLst/>
          </a:prstGeom>
          <a:solidFill>
            <a:srgbClr val="F5822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382512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6C6C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PART II · 퇴직연금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527487" y="6382512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6C6C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27</a:t>
            </a:r>
            <a:endParaRPr lang="en-US" sz="9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566928" y="1572768"/>
          <a:ext cx="5577840" cy="2615184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Text 5"/>
          <p:cNvSpPr/>
          <p:nvPr/>
        </p:nvSpPr>
        <p:spPr>
          <a:xfrm>
            <a:off x="566928" y="1298448"/>
            <a:ext cx="5577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사례 A — 근속 20년 / 퇴직금 2억원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66928" y="4224528"/>
            <a:ext cx="5577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C6C6C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총 납부세액 (지방소득세 포함) · 균등 수령 가정</a:t>
            </a:r>
            <a:endParaRPr lang="en-US" sz="950" dirty="0"/>
          </a:p>
        </p:txBody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55664" y="1298448"/>
          <a:ext cx="5169103" cy="914400"/>
        </p:xfrm>
        <a:graphic>
          <a:graphicData uri="http://schemas.openxmlformats.org/drawingml/2006/table">
            <a:tbl>
              <a:tblPr/>
              <a:tblGrid>
                <a:gridCol w="1757495"/>
                <a:gridCol w="1240585"/>
                <a:gridCol w="1240585"/>
                <a:gridCol w="930439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A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사례 B — 근속 30년 / 5억원</a:t>
                      </a:r>
                      <a:endParaRPr lang="en-US" sz="9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07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A1A1A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세액</a:t>
                      </a:r>
                      <a:endParaRPr lang="en-US" sz="9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07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A1A1A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절감액</a:t>
                      </a:r>
                      <a:endParaRPr lang="en-US" sz="9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07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A1A1A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실효</a:t>
                      </a:r>
                      <a:endParaRPr lang="en-US" sz="9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07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일시금</a:t>
                      </a:r>
                      <a:endParaRPr lang="en-US" sz="9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3,557만원</a:t>
                      </a:r>
                      <a:endParaRPr lang="en-US" sz="9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—</a:t>
                      </a:r>
                      <a:endParaRPr lang="en-US" sz="9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7.11%</a:t>
                      </a:r>
                      <a:endParaRPr lang="en-US" sz="9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연금 20년</a:t>
                      </a:r>
                      <a:endParaRPr lang="en-US" sz="9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2,312만원</a:t>
                      </a:r>
                      <a:endParaRPr lang="en-US" sz="9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1,245만원</a:t>
                      </a:r>
                      <a:endParaRPr lang="en-US" sz="9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4.62%</a:t>
                      </a:r>
                      <a:endParaRPr lang="en-US" sz="9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연금 25년</a:t>
                      </a:r>
                      <a:endParaRPr lang="en-US" sz="9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2,206만원</a:t>
                      </a:r>
                      <a:endParaRPr lang="en-US" sz="9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1,352만원</a:t>
                      </a:r>
                      <a:endParaRPr lang="en-US" sz="9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4.41%</a:t>
                      </a:r>
                      <a:endParaRPr lang="en-US" sz="9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A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연금 30년</a:t>
                      </a:r>
                      <a:endParaRPr lang="en-US" sz="9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A1A1A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2,134만원</a:t>
                      </a:r>
                      <a:endParaRPr lang="en-US" sz="9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A1A1A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1,423만원</a:t>
                      </a:r>
                      <a:endParaRPr lang="en-US" sz="9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A1A1A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4.27%</a:t>
                      </a:r>
                      <a:endParaRPr lang="en-US" sz="9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566928" y="3127248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C6C6C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※ 퇴직소득세 절감액만 계산. 운용수익 과세 차이와 과세이연 복리 효과는 제외 — 실제 총 이득은 더 크다.</a:t>
            </a:r>
            <a:endParaRPr lang="en-US" sz="900" dirty="0"/>
          </a:p>
        </p:txBody>
      </p:sp>
      <p:graphicFrame>
        <p:nvGraphicFramePr>
          <p:cNvPr id="5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55664" y="3529584"/>
          <a:ext cx="5169103" cy="914400"/>
        </p:xfrm>
        <a:graphic>
          <a:graphicData uri="http://schemas.openxmlformats.org/drawingml/2006/table">
            <a:tbl>
              <a:tblPr/>
              <a:tblGrid>
                <a:gridCol w="1550731"/>
                <a:gridCol w="1860877"/>
                <a:gridCol w="1757495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A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세액 외의 차이</a:t>
                      </a:r>
                      <a:endParaRPr lang="en-US" sz="9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07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A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일시금</a:t>
                      </a:r>
                      <a:endParaRPr lang="en-US" sz="9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07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A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연금</a:t>
                      </a:r>
                      <a:endParaRPr lang="en-US" sz="9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07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운용수익 과세</a:t>
                      </a:r>
                      <a:endParaRPr lang="en-US" sz="9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15.4% · 금융소득 합산</a:t>
                      </a:r>
                      <a:endParaRPr lang="en-US" sz="9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43B72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3.3~5.5% 분리과세</a:t>
                      </a:r>
                      <a:endParaRPr lang="en-US" sz="9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건강보험료</a:t>
                      </a:r>
                      <a:endParaRPr lang="en-US" sz="9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금융소득으로 반영</a:t>
                      </a:r>
                      <a:endParaRPr lang="en-US" sz="9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43B72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부과 소득에 미반영</a:t>
                      </a:r>
                      <a:endParaRPr lang="en-US" sz="9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과세이연 복리</a:t>
                      </a:r>
                      <a:endParaRPr lang="en-US" sz="9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매년 세금 유출</a:t>
                      </a:r>
                      <a:endParaRPr lang="en-US" sz="9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43B72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인출까지 전액 재투자</a:t>
                      </a:r>
                      <a:endParaRPr lang="en-US" sz="9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3" name="Shape 8"/>
          <p:cNvSpPr/>
          <p:nvPr/>
        </p:nvSpPr>
        <p:spPr>
          <a:xfrm>
            <a:off x="566928" y="4590288"/>
            <a:ext cx="5391760" cy="1536192"/>
          </a:xfrm>
          <a:prstGeom prst="rect">
            <a:avLst/>
          </a:prstGeom>
          <a:solidFill>
            <a:srgbClr val="FFFFFF"/>
          </a:solidFill>
          <a:ln w="9525">
            <a:solidFill>
              <a:srgbClr val="CDCECB"/>
            </a:solidFill>
            <a:prstDash val="solid"/>
          </a:ln>
        </p:spPr>
      </p:sp>
      <p:sp>
        <p:nvSpPr>
          <p:cNvPr id="14" name="Text 9"/>
          <p:cNvSpPr/>
          <p:nvPr/>
        </p:nvSpPr>
        <p:spPr>
          <a:xfrm>
            <a:off x="731520" y="4709160"/>
            <a:ext cx="50625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" kern="0" dirty="0">
                <a:solidFill>
                  <a:srgbClr val="F58220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일시금이 합리적인 경우</a:t>
            </a:r>
            <a:endParaRPr lang="en-US" sz="1000" dirty="0"/>
          </a:p>
        </p:txBody>
      </p:sp>
      <p:sp>
        <p:nvSpPr>
          <p:cNvPr id="15" name="Text 10"/>
          <p:cNvSpPr/>
          <p:nvPr/>
        </p:nvSpPr>
        <p:spPr>
          <a:xfrm>
            <a:off x="731520" y="4992624"/>
            <a:ext cx="5062576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퇴직소득세가 이미 0이거나 매우 작은 경우 (근속 20년+ / 5,000만원 이하)</a:t>
            </a:r>
            <a:endParaRPr lang="en-US" sz="10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단기 대규모 자금 수요가 확정된 경우 — 55세 이전 해지는 16.5%로 불리</a:t>
            </a:r>
            <a:endParaRPr lang="en-US" sz="10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건강·기대여명 등 장기 수령의 전제가 성립하지 않는 경우</a:t>
            </a:r>
            <a:endParaRPr lang="en-US" sz="1000" dirty="0"/>
          </a:p>
        </p:txBody>
      </p:sp>
      <p:sp>
        <p:nvSpPr>
          <p:cNvPr id="16" name="Shape 11"/>
          <p:cNvSpPr/>
          <p:nvPr/>
        </p:nvSpPr>
        <p:spPr>
          <a:xfrm>
            <a:off x="6233008" y="4590288"/>
            <a:ext cx="5391760" cy="1536192"/>
          </a:xfrm>
          <a:prstGeom prst="rect">
            <a:avLst/>
          </a:prstGeom>
          <a:solidFill>
            <a:srgbClr val="FFFFFF"/>
          </a:solidFill>
          <a:ln w="9525">
            <a:solidFill>
              <a:srgbClr val="CDCECB"/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6397600" y="4709160"/>
            <a:ext cx="50625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" kern="0" dirty="0">
                <a:solidFill>
                  <a:srgbClr val="043B72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상담 결론 문장</a:t>
            </a:r>
            <a:endParaRPr lang="en-US" sz="1000" dirty="0"/>
          </a:p>
        </p:txBody>
      </p:sp>
      <p:sp>
        <p:nvSpPr>
          <p:cNvPr id="18" name="Text 13"/>
          <p:cNvSpPr/>
          <p:nvPr/>
        </p:nvSpPr>
        <p:spPr>
          <a:xfrm>
            <a:off x="6397600" y="4992624"/>
            <a:ext cx="5062576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"퇴직금 2억원이면 일시금으로 약 773만원을 내고 시작하지만, IRP로 옮겨 20년 이상 연금으로 받으면 세금은 약 500만원으로 줄고, 그 사이 세금으로 나갈 돈까지 계좌에서 운용됩니다. 다만 55세 이전에 돈이 필요하시면 이 구조는 성립하지 않습니다."</a:t>
            </a:r>
            <a:endParaRPr lang="en-US" sz="1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7432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F58220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PART II · 연금 인출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66928" y="512064"/>
            <a:ext cx="10424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연금수령한도와 재원별 과세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66928" y="1097280"/>
            <a:ext cx="11057839" cy="11887"/>
          </a:xfrm>
          <a:prstGeom prst="rect">
            <a:avLst/>
          </a:prstGeom>
          <a:solidFill>
            <a:srgbClr val="F5822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382512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6C6C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PART II · 연금 인출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527487" y="6382512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6C6C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28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66928" y="1298448"/>
            <a:ext cx="5577840" cy="603504"/>
          </a:xfrm>
          <a:prstGeom prst="rect">
            <a:avLst/>
          </a:prstGeom>
          <a:solidFill>
            <a:srgbClr val="ECEFF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8096" y="1399032"/>
            <a:ext cx="51755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연금수령한도 = 과세기간 개시일 현재 평가액 ÷ (11 − 연금수령연차) × 120%</a:t>
            </a:r>
            <a:endParaRPr lang="en-US" sz="1050" dirty="0"/>
          </a:p>
        </p:txBody>
      </p:sp>
      <p:graphicFrame>
        <p:nvGraphicFramePr>
          <p:cNvPr id="2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2029968"/>
          <a:ext cx="557784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731520"/>
                <a:gridCol w="731520"/>
                <a:gridCol w="731520"/>
                <a:gridCol w="731520"/>
                <a:gridCol w="731520"/>
                <a:gridCol w="731520"/>
              </a:tblGrid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A1A1A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연차</a:t>
                      </a:r>
                      <a:endParaRPr lang="en-US" sz="9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07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A1A1A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1</a:t>
                      </a:r>
                      <a:endParaRPr lang="en-US" sz="9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07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A1A1A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3</a:t>
                      </a:r>
                      <a:endParaRPr lang="en-US" sz="9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07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A1A1A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5</a:t>
                      </a:r>
                      <a:endParaRPr lang="en-US" sz="9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07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A1A1A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7</a:t>
                      </a:r>
                      <a:endParaRPr lang="en-US" sz="9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07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A1A1A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10</a:t>
                      </a:r>
                      <a:endParaRPr lang="en-US" sz="9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07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A1A1A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11+</a:t>
                      </a:r>
                      <a:endParaRPr lang="en-US" sz="9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072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11 − 연차</a:t>
                      </a:r>
                      <a:endParaRPr lang="en-US" sz="9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10</a:t>
                      </a:r>
                      <a:endParaRPr lang="en-US" sz="9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8</a:t>
                      </a:r>
                      <a:endParaRPr lang="en-US" sz="9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6</a:t>
                      </a:r>
                      <a:endParaRPr lang="en-US" sz="9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4</a:t>
                      </a:r>
                      <a:endParaRPr lang="en-US" sz="9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1</a:t>
                      </a:r>
                      <a:endParaRPr lang="en-US" sz="9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—</a:t>
                      </a:r>
                      <a:endParaRPr lang="en-US" sz="9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A1A1A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한도(억원)</a:t>
                      </a:r>
                      <a:endParaRPr lang="en-US" sz="9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A1A1A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0.24</a:t>
                      </a:r>
                      <a:endParaRPr lang="en-US" sz="9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A1A1A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0.30</a:t>
                      </a:r>
                      <a:endParaRPr lang="en-US" sz="9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A1A1A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0.40</a:t>
                      </a:r>
                      <a:endParaRPr lang="en-US" sz="9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A1A1A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0.60</a:t>
                      </a:r>
                      <a:endParaRPr lang="en-US" sz="9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A1A1A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2.40</a:t>
                      </a:r>
                      <a:endParaRPr lang="en-US" sz="9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A1A1A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한도 없음</a:t>
                      </a:r>
                      <a:endParaRPr lang="en-US" sz="9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566928" y="3035808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C6C6C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※ 평가액 2억원 가정 · 11년차 이상은 한도 제한이 없다 — "최소 10년 이상 연금으로" 조언의 근거</a:t>
            </a:r>
            <a:endParaRPr lang="en-US" sz="900" dirty="0"/>
          </a:p>
        </p:txBody>
      </p:sp>
      <p:graphicFrame>
        <p:nvGraphicFramePr>
          <p:cNvPr id="5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55664" y="1298448"/>
          <a:ext cx="5169103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3980383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A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연금수령 요건</a:t>
                      </a:r>
                      <a:endParaRPr lang="en-US" sz="9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07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A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기준</a:t>
                      </a:r>
                      <a:endParaRPr lang="en-US" sz="9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07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연령</a:t>
                      </a:r>
                      <a:endParaRPr lang="en-US" sz="9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만 55세 이후</a:t>
                      </a:r>
                      <a:endParaRPr lang="en-US" sz="9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가입기간</a:t>
                      </a:r>
                      <a:endParaRPr lang="en-US" sz="9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연금저축은 가입 후 5년 경과 (이연퇴직소득만 있는 IRP는 해당 없음)</a:t>
                      </a:r>
                      <a:endParaRPr lang="en-US" sz="9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인출 방식</a:t>
                      </a:r>
                      <a:endParaRPr lang="en-US" sz="9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연금수령한도 이내에서 인출</a:t>
                      </a:r>
                      <a:endParaRPr lang="en-US" sz="9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A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연금수령연차</a:t>
                      </a:r>
                      <a:endParaRPr lang="en-US" sz="9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A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요건 최초 충족 과세기간을 1년차로 기산 (2013.3.1. 이전 가입은 6년차부터)</a:t>
                      </a:r>
                      <a:endParaRPr lang="en-US" sz="9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</a:tr>
            </a:tbl>
          </a:graphicData>
        </a:graphic>
      </p:graphicFrame>
      <p:sp>
        <p:nvSpPr>
          <p:cNvPr id="12" name="Text 8"/>
          <p:cNvSpPr/>
          <p:nvPr/>
        </p:nvSpPr>
        <p:spPr>
          <a:xfrm>
            <a:off x="566928" y="336499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인출 순서와 재원별 세율</a:t>
            </a:r>
            <a:endParaRPr lang="en-US" sz="1300" dirty="0"/>
          </a:p>
        </p:txBody>
      </p:sp>
      <p:graphicFrame>
        <p:nvGraphicFramePr>
          <p:cNvPr id="85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3694176"/>
          <a:ext cx="11057839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3383280"/>
                <a:gridCol w="3749040"/>
                <a:gridCol w="3193999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1A1A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순서</a:t>
                      </a:r>
                      <a:endParaRPr lang="en-US" sz="10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07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A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재원</a:t>
                      </a:r>
                      <a:endParaRPr lang="en-US" sz="10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07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A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연금수령 시</a:t>
                      </a:r>
                      <a:endParaRPr lang="en-US" sz="10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07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A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연금외수령 시</a:t>
                      </a:r>
                      <a:endParaRPr lang="en-US" sz="10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072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58220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1</a:t>
                      </a:r>
                      <a:endParaRPr lang="en-US" sz="10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A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세액공제 받지 않은 납입액</a:t>
                      </a:r>
                      <a:endParaRPr lang="en-US" sz="10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과세 제외</a:t>
                      </a:r>
                      <a:endParaRPr lang="en-US" sz="10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과세 제외</a:t>
                      </a:r>
                      <a:endParaRPr lang="en-US" sz="10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58220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2</a:t>
                      </a:r>
                      <a:endParaRPr lang="en-US" sz="10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A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이연퇴직소득</a:t>
                      </a:r>
                      <a:endParaRPr lang="en-US" sz="10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이연퇴직소득세 × 70/60/50%</a:t>
                      </a:r>
                      <a:endParaRPr lang="en-US" sz="10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퇴직소득세 100%</a:t>
                      </a:r>
                      <a:endParaRPr lang="en-US" sz="10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1A1A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3</a:t>
                      </a:r>
                      <a:endParaRPr lang="en-US" sz="10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A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세액공제 받은 납입액 + 운용수익</a:t>
                      </a:r>
                      <a:endParaRPr lang="en-US" sz="10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A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연금소득세 3.3~5.5%</a:t>
                      </a:r>
                      <a:endParaRPr lang="en-US" sz="10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A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기타소득세 16.5%</a:t>
                      </a:r>
                      <a:endParaRPr lang="en-US" sz="10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</a:tr>
            </a:tbl>
          </a:graphicData>
        </a:graphic>
      </p:graphicFrame>
      <p:sp>
        <p:nvSpPr>
          <p:cNvPr id="14" name="Text 9"/>
          <p:cNvSpPr/>
          <p:nvPr/>
        </p:nvSpPr>
        <p:spPr>
          <a:xfrm>
            <a:off x="566928" y="484632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C6C6C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※ 인출 순서가 가입자에게 유리하게 법정되어 있다 — 비과세 재원 → 저율 재원 → 고율 재원 순으로 빠진다.</a:t>
            </a:r>
            <a:endParaRPr lang="en-US" sz="900" dirty="0"/>
          </a:p>
        </p:txBody>
      </p:sp>
      <p:graphicFrame>
        <p:nvGraphicFramePr>
          <p:cNvPr id="113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5175504"/>
          <a:ext cx="5391760" cy="914400"/>
        </p:xfrm>
        <a:graphic>
          <a:graphicData uri="http://schemas.openxmlformats.org/drawingml/2006/table">
            <a:tbl>
              <a:tblPr/>
              <a:tblGrid>
                <a:gridCol w="2156704"/>
                <a:gridCol w="1617528"/>
                <a:gridCol w="1617528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A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수령 연령</a:t>
                      </a:r>
                      <a:endParaRPr lang="en-US" sz="9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07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A1A1A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확정기간형</a:t>
                      </a:r>
                      <a:endParaRPr lang="en-US" sz="9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07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A1A1A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종신형</a:t>
                      </a:r>
                      <a:endParaRPr lang="en-US" sz="9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07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55 ~ 69세</a:t>
                      </a:r>
                      <a:endParaRPr lang="en-US" sz="9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5.5%</a:t>
                      </a:r>
                      <a:endParaRPr lang="en-US" sz="9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58220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4.4%</a:t>
                      </a:r>
                      <a:endParaRPr lang="en-US" sz="9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70 ~ 79세</a:t>
                      </a:r>
                      <a:endParaRPr lang="en-US" sz="9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4.4%</a:t>
                      </a:r>
                      <a:endParaRPr lang="en-US" sz="9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58220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4.4%</a:t>
                      </a:r>
                      <a:endParaRPr lang="en-US" sz="9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A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80세 이상</a:t>
                      </a:r>
                      <a:endParaRPr lang="en-US" sz="9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A1A1A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3.3%</a:t>
                      </a:r>
                      <a:endParaRPr lang="en-US" sz="9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A1A1A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3.3%</a:t>
                      </a:r>
                      <a:endParaRPr lang="en-US" sz="9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</a:tr>
            </a:tbl>
          </a:graphicData>
        </a:graphic>
      </p:graphicFrame>
      <p:sp>
        <p:nvSpPr>
          <p:cNvPr id="16" name="Shape 10"/>
          <p:cNvSpPr/>
          <p:nvPr/>
        </p:nvSpPr>
        <p:spPr>
          <a:xfrm>
            <a:off x="6233008" y="5175504"/>
            <a:ext cx="5391760" cy="950976"/>
          </a:xfrm>
          <a:prstGeom prst="rect">
            <a:avLst/>
          </a:prstGeom>
          <a:solidFill>
            <a:srgbClr val="FFFFFF"/>
          </a:solidFill>
          <a:ln w="9525">
            <a:solidFill>
              <a:srgbClr val="C62828"/>
            </a:solidFill>
            <a:prstDash val="solid"/>
          </a:ln>
        </p:spPr>
      </p:sp>
      <p:sp>
        <p:nvSpPr>
          <p:cNvPr id="17" name="Text 11"/>
          <p:cNvSpPr/>
          <p:nvPr/>
        </p:nvSpPr>
        <p:spPr>
          <a:xfrm>
            <a:off x="6397600" y="5294376"/>
            <a:ext cx="50625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" kern="0" dirty="0">
                <a:solidFill>
                  <a:srgbClr val="C62828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연 1,500만원 기준선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6397600" y="5577840"/>
            <a:ext cx="50625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세액공제 재원 + 운용수익 연금이 연 1,500만원 초과 시 전체 금액에 종합과세(6.6~49.5%) 또는 16.5% 분리과세 선택.</a:t>
            </a:r>
            <a:endParaRPr lang="en-US" sz="9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이연퇴직소득 연금은 이 계산에 포함되지 않는다(무조건 분리과세).</a:t>
            </a:r>
            <a:endParaRPr lang="en-US" sz="9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7432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F58220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PART II · 퇴직소득세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66928" y="512064"/>
            <a:ext cx="10424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실무 체크포인트 8선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66928" y="1097280"/>
            <a:ext cx="11057839" cy="11887"/>
          </a:xfrm>
          <a:prstGeom prst="rect">
            <a:avLst/>
          </a:prstGeom>
          <a:solidFill>
            <a:srgbClr val="F5822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382512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6C6C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PART II · 퇴직소득세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527487" y="6382512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6C6C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29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66928" y="1335024"/>
            <a:ext cx="5391760" cy="768096"/>
          </a:xfrm>
          <a:prstGeom prst="rect">
            <a:avLst/>
          </a:prstGeom>
          <a:solidFill>
            <a:srgbClr val="FFFFFF"/>
          </a:solidFill>
          <a:ln w="9525">
            <a:solidFill>
              <a:srgbClr val="CDCEC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94944" y="1463040"/>
            <a:ext cx="237744" cy="237744"/>
          </a:xfrm>
          <a:prstGeom prst="rect">
            <a:avLst/>
          </a:prstGeom>
          <a:solidFill>
            <a:srgbClr val="F5822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94944" y="146304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024128" y="1435608"/>
            <a:ext cx="47882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퇴직소득 세액정산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24128" y="1664208"/>
            <a:ext cx="47882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88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중간정산·이직 이력이 있으면 과거 퇴직급여와 근속연수를 합산해 재계산하고 기납부세액을 차감할 수 있다. 과거 원천징수영수증 확보 필수.</a:t>
            </a:r>
            <a:endParaRPr lang="en-US" sz="880" dirty="0"/>
          </a:p>
        </p:txBody>
      </p:sp>
      <p:sp>
        <p:nvSpPr>
          <p:cNvPr id="12" name="Shape 10"/>
          <p:cNvSpPr/>
          <p:nvPr/>
        </p:nvSpPr>
        <p:spPr>
          <a:xfrm>
            <a:off x="6233008" y="1335024"/>
            <a:ext cx="5391760" cy="768096"/>
          </a:xfrm>
          <a:prstGeom prst="rect">
            <a:avLst/>
          </a:prstGeom>
          <a:solidFill>
            <a:srgbClr val="F7F8FA"/>
          </a:solidFill>
          <a:ln w="9525">
            <a:solidFill>
              <a:srgbClr val="CDCEC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361024" y="1463040"/>
            <a:ext cx="237744" cy="237744"/>
          </a:xfrm>
          <a:prstGeom prst="rect">
            <a:avLst/>
          </a:prstGeom>
          <a:solidFill>
            <a:srgbClr val="F5822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61024" y="146304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2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690208" y="1435608"/>
            <a:ext cx="47882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중간정산의 비용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690208" y="1664208"/>
            <a:ext cx="47882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88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근속연수공제의 연당 금액이 계단식이므로 정산은 세부담을 키운다. 법정 사유가 있어도 세금 비용을 계산한 뒤 결정한다.</a:t>
            </a:r>
            <a:endParaRPr lang="en-US" sz="880" dirty="0"/>
          </a:p>
        </p:txBody>
      </p:sp>
      <p:sp>
        <p:nvSpPr>
          <p:cNvPr id="17" name="Shape 15"/>
          <p:cNvSpPr/>
          <p:nvPr/>
        </p:nvSpPr>
        <p:spPr>
          <a:xfrm>
            <a:off x="566928" y="2176272"/>
            <a:ext cx="5391760" cy="768096"/>
          </a:xfrm>
          <a:prstGeom prst="rect">
            <a:avLst/>
          </a:prstGeom>
          <a:solidFill>
            <a:srgbClr val="F7F8FA"/>
          </a:solidFill>
          <a:ln w="9525">
            <a:solidFill>
              <a:srgbClr val="CDCEC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94944" y="2304288"/>
            <a:ext cx="237744" cy="237744"/>
          </a:xfrm>
          <a:prstGeom prst="rect">
            <a:avLst/>
          </a:prstGeom>
          <a:solidFill>
            <a:srgbClr val="F5822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94944" y="230428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3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024128" y="2276856"/>
            <a:ext cx="47882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근속연수 절상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024128" y="2505456"/>
            <a:ext cx="47882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88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1년 미만은 1년으로 올린다. 퇴직일 조정으로 공제액이 200만~300만원 늘어날 수 있다.</a:t>
            </a:r>
            <a:endParaRPr lang="en-US" sz="880" dirty="0"/>
          </a:p>
        </p:txBody>
      </p:sp>
      <p:sp>
        <p:nvSpPr>
          <p:cNvPr id="22" name="Shape 20"/>
          <p:cNvSpPr/>
          <p:nvPr/>
        </p:nvSpPr>
        <p:spPr>
          <a:xfrm>
            <a:off x="6233008" y="2176272"/>
            <a:ext cx="5391760" cy="768096"/>
          </a:xfrm>
          <a:prstGeom prst="rect">
            <a:avLst/>
          </a:prstGeom>
          <a:solidFill>
            <a:srgbClr val="FFFFFF"/>
          </a:solidFill>
          <a:ln w="9525">
            <a:solidFill>
              <a:srgbClr val="CDCEC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361024" y="2304288"/>
            <a:ext cx="237744" cy="237744"/>
          </a:xfrm>
          <a:prstGeom prst="rect">
            <a:avLst/>
          </a:prstGeom>
          <a:solidFill>
            <a:srgbClr val="F5822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61024" y="230428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4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690208" y="2276856"/>
            <a:ext cx="47882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60일 룰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690208" y="2505456"/>
            <a:ext cx="47882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88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일시금 수령 후 60일 내 연금계좌 납입 시 과세이연 및 원천징수세액 환급 가능. 퇴직 직후 최대 구제 수단.</a:t>
            </a:r>
            <a:endParaRPr lang="en-US" sz="880" dirty="0"/>
          </a:p>
        </p:txBody>
      </p:sp>
      <p:sp>
        <p:nvSpPr>
          <p:cNvPr id="27" name="Shape 25"/>
          <p:cNvSpPr/>
          <p:nvPr/>
        </p:nvSpPr>
        <p:spPr>
          <a:xfrm>
            <a:off x="566928" y="3017520"/>
            <a:ext cx="5391760" cy="768096"/>
          </a:xfrm>
          <a:prstGeom prst="rect">
            <a:avLst/>
          </a:prstGeom>
          <a:solidFill>
            <a:srgbClr val="FFFFFF"/>
          </a:solidFill>
          <a:ln w="9525">
            <a:solidFill>
              <a:srgbClr val="CDCEC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94944" y="3145536"/>
            <a:ext cx="237744" cy="237744"/>
          </a:xfrm>
          <a:prstGeom prst="rect">
            <a:avLst/>
          </a:prstGeom>
          <a:solidFill>
            <a:srgbClr val="F5822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94944" y="314553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5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024128" y="3118104"/>
            <a:ext cx="47882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임원 퇴직금 한도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1024128" y="3346704"/>
            <a:ext cx="47882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88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정관 규정만으로 안심할 수 없다. 법정 한도 초과분은 근로소득으로 과세된다. 근무기간 구간별 배수가 달라 세무 검토 필수.</a:t>
            </a:r>
            <a:endParaRPr lang="en-US" sz="880" dirty="0"/>
          </a:p>
        </p:txBody>
      </p:sp>
      <p:sp>
        <p:nvSpPr>
          <p:cNvPr id="32" name="Shape 30"/>
          <p:cNvSpPr/>
          <p:nvPr/>
        </p:nvSpPr>
        <p:spPr>
          <a:xfrm>
            <a:off x="6233008" y="3017520"/>
            <a:ext cx="5391760" cy="768096"/>
          </a:xfrm>
          <a:prstGeom prst="rect">
            <a:avLst/>
          </a:prstGeom>
          <a:solidFill>
            <a:srgbClr val="F7F8FA"/>
          </a:solidFill>
          <a:ln w="9525">
            <a:solidFill>
              <a:srgbClr val="CDCEC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361024" y="3145536"/>
            <a:ext cx="237744" cy="237744"/>
          </a:xfrm>
          <a:prstGeom prst="rect">
            <a:avLst/>
          </a:prstGeom>
          <a:solidFill>
            <a:srgbClr val="F5822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361024" y="314553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6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690208" y="3118104"/>
            <a:ext cx="47882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55세와 5년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690208" y="3346704"/>
            <a:ext cx="47882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88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연금수령 요건은 55세 + (연금저축은 가입 5년 경과). 55세 임박 고객에게는 지금 계좌를 여는 것만으로 선택지가 넓어진다.</a:t>
            </a:r>
            <a:endParaRPr lang="en-US" sz="880" dirty="0"/>
          </a:p>
        </p:txBody>
      </p:sp>
      <p:sp>
        <p:nvSpPr>
          <p:cNvPr id="37" name="Shape 35"/>
          <p:cNvSpPr/>
          <p:nvPr/>
        </p:nvSpPr>
        <p:spPr>
          <a:xfrm>
            <a:off x="566928" y="3858768"/>
            <a:ext cx="5391760" cy="768096"/>
          </a:xfrm>
          <a:prstGeom prst="rect">
            <a:avLst/>
          </a:prstGeom>
          <a:solidFill>
            <a:srgbClr val="F7F8FA"/>
          </a:solidFill>
          <a:ln w="9525">
            <a:solidFill>
              <a:srgbClr val="CDCECB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94944" y="3986784"/>
            <a:ext cx="237744" cy="237744"/>
          </a:xfrm>
          <a:prstGeom prst="rect">
            <a:avLst/>
          </a:prstGeom>
          <a:solidFill>
            <a:srgbClr val="F5822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94944" y="398678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7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1024128" y="3959352"/>
            <a:ext cx="47882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10년 / 20년 설계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1024128" y="4187952"/>
            <a:ext cx="47882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88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11년차부터 한도 제한이 사라지고 20년 초과분은 감면율 50%. 수령기간을 21년 이상으로 잡는 것이 2026년 개정의 최대 활용법.</a:t>
            </a:r>
            <a:endParaRPr lang="en-US" sz="880" dirty="0"/>
          </a:p>
        </p:txBody>
      </p:sp>
      <p:sp>
        <p:nvSpPr>
          <p:cNvPr id="42" name="Shape 40"/>
          <p:cNvSpPr/>
          <p:nvPr/>
        </p:nvSpPr>
        <p:spPr>
          <a:xfrm>
            <a:off x="6233008" y="3858768"/>
            <a:ext cx="5391760" cy="768096"/>
          </a:xfrm>
          <a:prstGeom prst="rect">
            <a:avLst/>
          </a:prstGeom>
          <a:solidFill>
            <a:srgbClr val="FFFFFF"/>
          </a:solidFill>
          <a:ln w="9525">
            <a:solidFill>
              <a:srgbClr val="CDCECB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361024" y="3986784"/>
            <a:ext cx="237744" cy="237744"/>
          </a:xfrm>
          <a:prstGeom prst="rect">
            <a:avLst/>
          </a:prstGeom>
          <a:solidFill>
            <a:srgbClr val="F5822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361024" y="398678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8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6690208" y="3959352"/>
            <a:ext cx="47882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건강보험료 연계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6690208" y="4187952"/>
            <a:ext cx="47882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88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퇴직 직후 지역가입자 전환 시 보험료 급증. 임의계속가입과 보험료 조정 신청을 함께 안내한다.</a:t>
            </a:r>
            <a:endParaRPr lang="en-US" sz="880" dirty="0"/>
          </a:p>
        </p:txBody>
      </p:sp>
      <p:graphicFrame>
        <p:nvGraphicFramePr>
          <p:cNvPr id="3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4773168"/>
          <a:ext cx="11057839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9960559"/>
              </a:tblGrid>
              <a:tr h="2834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A1A1A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시점</a:t>
                      </a:r>
                      <a:endParaRPr lang="en-US" sz="9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07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A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퇴직 전 6개월 액션 타임라인</a:t>
                      </a:r>
                      <a:endParaRPr lang="en-US" sz="9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072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−6개월</a:t>
                      </a:r>
                      <a:endParaRPr lang="en-US" sz="9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홈택스 모의계산으로 퇴직소득세 추정 · 과거 퇴직소득 이력 확보 · 근속연수 경계 확인</a:t>
                      </a:r>
                      <a:endParaRPr lang="en-US" sz="9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−3개월</a:t>
                      </a:r>
                      <a:endParaRPr lang="en-US" sz="9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IRP 계좌 개설 · 일시금/연금/혼합 비율 결정 · 은퇴 후 필요 생활비 산정</a:t>
                      </a:r>
                      <a:endParaRPr lang="en-US" sz="9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−1개월</a:t>
                      </a:r>
                      <a:endParaRPr lang="en-US" sz="9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회사에 IRP 이전 신청 · 세액정산 신청 여부 확정 · 건강보험 임의계속가입 검토</a:t>
                      </a:r>
                      <a:endParaRPr lang="en-US" sz="9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A1A1A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+60일 내</a:t>
                      </a:r>
                      <a:endParaRPr lang="en-US" sz="9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A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일시금 수령분이 있다면 연금계좌 납입 여부 최종 결정 — 과세이연 마지막 기회</a:t>
                      </a:r>
                      <a:endParaRPr lang="en-US" sz="9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7432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F58220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종합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66928" y="512064"/>
            <a:ext cx="10424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통합 시사점 — 동시에 관리해야 하는 4개 기준선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66928" y="1097280"/>
            <a:ext cx="11057839" cy="11887"/>
          </a:xfrm>
          <a:prstGeom prst="rect">
            <a:avLst/>
          </a:prstGeom>
          <a:solidFill>
            <a:srgbClr val="F5822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382512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6C6C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종합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527487" y="6382512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6C6C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30</a:t>
            </a:r>
            <a:endParaRPr lang="en-US" sz="900" dirty="0"/>
          </a:p>
        </p:txBody>
      </p:sp>
      <p:graphicFrame>
        <p:nvGraphicFramePr>
          <p:cNvPr id="3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335024"/>
          <a:ext cx="11057839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554480"/>
                <a:gridCol w="2651760"/>
                <a:gridCol w="4657039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A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기준선</a:t>
                      </a:r>
                      <a:endParaRPr lang="en-US" sz="10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07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1A1A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금액</a:t>
                      </a:r>
                      <a:endParaRPr lang="en-US" sz="10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07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A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대상 소득</a:t>
                      </a:r>
                      <a:endParaRPr lang="en-US" sz="10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07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A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넘으면 무슨 일이</a:t>
                      </a:r>
                      <a:endParaRPr lang="en-US" sz="10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072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A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금융소득 종합과세</a:t>
                      </a:r>
                      <a:endParaRPr lang="en-US" sz="10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58220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연 2,000만원</a:t>
                      </a:r>
                      <a:endParaRPr lang="en-US" sz="10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이자 + 배당</a:t>
                      </a:r>
                      <a:endParaRPr lang="en-US" sz="10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초과분이 종합소득에 합산되어 누진세율 적용 · ISA 신규가입 3년 제한</a:t>
                      </a:r>
                      <a:endParaRPr lang="en-US" sz="10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A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지역가입자 건보료</a:t>
                      </a:r>
                      <a:endParaRPr lang="en-US" sz="10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58220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연 1,000만원</a:t>
                      </a:r>
                      <a:endParaRPr lang="en-US" sz="10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이자 + 배당</a:t>
                      </a:r>
                      <a:endParaRPr lang="en-US" sz="10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전액이 보험료 산정 소득에 반영 — 절벽형 부담</a:t>
                      </a:r>
                      <a:endParaRPr lang="en-US" sz="10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A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건보 피부양자 자격</a:t>
                      </a:r>
                      <a:endParaRPr lang="en-US" sz="10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58220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연 2,000만원</a:t>
                      </a:r>
                      <a:endParaRPr lang="en-US" sz="10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금융 + 근로 + 사업</a:t>
                      </a:r>
                      <a:endParaRPr lang="en-US" sz="10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+ 공적연금 + 기타</a:t>
                      </a:r>
                      <a:endParaRPr lang="en-US" sz="10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자격 상실 → 지역가입자 전환 · 부부 동반 탈락 가능</a:t>
                      </a:r>
                      <a:endParaRPr lang="en-US" sz="10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A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사적연금 분리과세</a:t>
                      </a:r>
                      <a:endParaRPr lang="en-US" sz="10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1A1A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연 1,500만원</a:t>
                      </a:r>
                      <a:endParaRPr lang="en-US" sz="10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A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세액공제 재원 + 운용수익</a:t>
                      </a:r>
                      <a:endParaRPr lang="en-US" sz="10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A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전체 금액에 종합과세 또는 16.5% 분리과세 선택 필요</a:t>
                      </a:r>
                      <a:endParaRPr lang="en-US" sz="10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66928" y="3675888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C6C6C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※ 이연퇴직소득 재원의 연금은 1,500만원 계산에 포함되지 않으며, 건강보험료 부과 소득에도 반영되지 않는다.</a:t>
            </a:r>
            <a:endParaRPr lang="en-US" sz="900" dirty="0"/>
          </a:p>
        </p:txBody>
      </p:sp>
      <p:graphicFrame>
        <p:nvGraphicFramePr>
          <p:cNvPr id="6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3986784"/>
          <a:ext cx="5577840" cy="914400"/>
        </p:xfrm>
        <a:graphic>
          <a:graphicData uri="http://schemas.openxmlformats.org/drawingml/2006/table">
            <a:tbl>
              <a:tblPr/>
              <a:tblGrid>
                <a:gridCol w="658368"/>
                <a:gridCol w="2322576"/>
                <a:gridCol w="1572768"/>
                <a:gridCol w="1024128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순위</a:t>
                      </a:r>
                      <a:endParaRPr lang="en-US" sz="9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07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은퇴 후 현금흐름 재원</a:t>
                      </a:r>
                      <a:endParaRPr lang="en-US" sz="9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07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세부담</a:t>
                      </a:r>
                      <a:endParaRPr lang="en-US" sz="9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07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건보료</a:t>
                      </a:r>
                      <a:endParaRPr lang="en-US" sz="9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072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58220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1</a:t>
                      </a:r>
                      <a:endParaRPr lang="en-US" sz="9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이연퇴직소득 연금</a:t>
                      </a:r>
                      <a:endParaRPr lang="en-US" sz="9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퇴직소득세 × 50~70%</a:t>
                      </a:r>
                      <a:endParaRPr lang="en-US" sz="9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43B72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미반영</a:t>
                      </a:r>
                      <a:endParaRPr lang="en-US" sz="9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58220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2</a:t>
                      </a:r>
                      <a:endParaRPr lang="en-US" sz="9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ISA 인출</a:t>
                      </a:r>
                      <a:endParaRPr lang="en-US" sz="9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비과세 / 9.9%</a:t>
                      </a:r>
                      <a:endParaRPr lang="en-US" sz="9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43B72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미반영</a:t>
                      </a:r>
                      <a:endParaRPr lang="en-US" sz="9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58220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3</a:t>
                      </a:r>
                      <a:endParaRPr lang="en-US" sz="9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사적연금 (세액공제 재원)</a:t>
                      </a:r>
                      <a:endParaRPr lang="en-US" sz="9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3.3~5.5%</a:t>
                      </a:r>
                      <a:endParaRPr lang="en-US" sz="9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43B72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미반영</a:t>
                      </a:r>
                      <a:endParaRPr lang="en-US" sz="9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58220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4</a:t>
                      </a:r>
                      <a:endParaRPr lang="en-US" sz="9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주식·ETF 양도차익</a:t>
                      </a:r>
                      <a:endParaRPr lang="en-US" sz="9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비과세 / 22%</a:t>
                      </a:r>
                      <a:endParaRPr lang="en-US" sz="9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43B72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미반영</a:t>
                      </a:r>
                      <a:endParaRPr lang="en-US" sz="9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58220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5</a:t>
                      </a:r>
                      <a:endParaRPr lang="en-US" sz="9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고배당 특례 배당</a:t>
                      </a:r>
                      <a:endParaRPr lang="en-US" sz="9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15.4~33.0%</a:t>
                      </a:r>
                      <a:endParaRPr lang="en-US" sz="9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C62828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반영</a:t>
                      </a:r>
                      <a:endParaRPr lang="en-US" sz="9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58220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6</a:t>
                      </a:r>
                      <a:endParaRPr lang="en-US" sz="9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일반 이자·배당</a:t>
                      </a:r>
                      <a:endParaRPr lang="en-US" sz="9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15.4~49.5%</a:t>
                      </a:r>
                      <a:endParaRPr lang="en-US" sz="9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C62828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반영</a:t>
                      </a:r>
                      <a:endParaRPr lang="en-US" sz="9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7</a:t>
                      </a:r>
                      <a:endParaRPr lang="en-US" sz="9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공적연금 (국민연금)</a:t>
                      </a:r>
                      <a:endParaRPr lang="en-US" sz="9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종합과세</a:t>
                      </a:r>
                      <a:endParaRPr lang="en-US" sz="9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반영</a:t>
                      </a:r>
                      <a:endParaRPr lang="en-US" sz="9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1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55664" y="3986784"/>
          <a:ext cx="5169103" cy="914400"/>
        </p:xfrm>
        <a:graphic>
          <a:graphicData uri="http://schemas.openxmlformats.org/drawingml/2006/table">
            <a:tbl>
              <a:tblPr/>
              <a:tblGrid>
                <a:gridCol w="859536"/>
                <a:gridCol w="4309567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시기</a:t>
                      </a:r>
                      <a:endParaRPr lang="en-US" sz="9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07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연간 상담 캘린더</a:t>
                      </a:r>
                      <a:endParaRPr lang="en-US" sz="9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072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1~2월</a:t>
                      </a:r>
                      <a:endParaRPr lang="en-US" sz="9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전년 금융소득 확정치 확인 · 연간 납입 계획 수립</a:t>
                      </a:r>
                      <a:endParaRPr lang="en-US" sz="9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3~4월</a:t>
                      </a:r>
                      <a:endParaRPr lang="en-US" sz="9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결산배당 지급 · 고배당기업 공시 확인 (한국거래소)</a:t>
                      </a:r>
                      <a:endParaRPr lang="en-US" sz="9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5월</a:t>
                      </a:r>
                      <a:endParaRPr lang="en-US" sz="9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종합소득세 신고 · 고배당 분리과세 신청서 제출</a:t>
                      </a:r>
                      <a:endParaRPr lang="en-US" sz="9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6~10월</a:t>
                      </a:r>
                      <a:endParaRPr lang="en-US" sz="9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포트폴리오 재배치 · 퇴직 예정자 IRP 설계</a:t>
                      </a:r>
                      <a:endParaRPr lang="en-US" sz="9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11월</a:t>
                      </a:r>
                      <a:endParaRPr lang="en-US" sz="9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건보 지역가입자 보험료 조정 · 피부양자 재심사</a:t>
                      </a:r>
                      <a:endParaRPr lang="en-US" sz="9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12월</a:t>
                      </a:r>
                      <a:endParaRPr lang="en-US" sz="9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연내 금융소득 최종 집계 · 만기 이월 · 한도 소진</a:t>
                      </a:r>
                      <a:endParaRPr lang="en-US" sz="9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</a:tbl>
          </a:graphicData>
        </a:graphic>
      </p:graphicFrame>
      <p:sp>
        <p:nvSpPr>
          <p:cNvPr id="11" name="Shape 6"/>
          <p:cNvSpPr/>
          <p:nvPr/>
        </p:nvSpPr>
        <p:spPr>
          <a:xfrm>
            <a:off x="566928" y="5797296"/>
            <a:ext cx="11057839" cy="603504"/>
          </a:xfrm>
          <a:prstGeom prst="roundRect">
            <a:avLst>
              <a:gd name="adj" fmla="val 4545"/>
            </a:avLst>
          </a:prstGeom>
          <a:solidFill>
            <a:srgbClr val="F5822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7"/>
          <p:cNvSpPr/>
          <p:nvPr/>
        </p:nvSpPr>
        <p:spPr>
          <a:xfrm>
            <a:off x="786384" y="5907024"/>
            <a:ext cx="1061892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한 문장으로  |  금융소득은 그릇을 바꿔 기준선 아래로 관리하고, 퇴직소득은 기간을 늘려 감면을 최대화한다. 그리고 두 결정은 반드시 건강보험료를 함께 계산한 뒤 내린다.</a:t>
            </a:r>
            <a:endParaRPr lang="en-US" sz="12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7432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F58220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부록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66928" y="512064"/>
            <a:ext cx="10424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근거 법령 · 자료 출처 및 유의사항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66928" y="1097280"/>
            <a:ext cx="11057839" cy="11887"/>
          </a:xfrm>
          <a:prstGeom prst="rect">
            <a:avLst/>
          </a:prstGeom>
          <a:solidFill>
            <a:srgbClr val="F5822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382512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6C6C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부록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527487" y="6382512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6C6C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31</a:t>
            </a:r>
            <a:endParaRPr lang="en-US" sz="900" dirty="0"/>
          </a:p>
        </p:txBody>
      </p:sp>
      <p:graphicFrame>
        <p:nvGraphicFramePr>
          <p:cNvPr id="3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335024"/>
          <a:ext cx="5391760" cy="914400"/>
        </p:xfrm>
        <a:graphic>
          <a:graphicData uri="http://schemas.openxmlformats.org/drawingml/2006/table">
            <a:tbl>
              <a:tblPr/>
              <a:tblGrid>
                <a:gridCol w="1060704"/>
                <a:gridCol w="4331056"/>
              </a:tblGrid>
              <a:tr h="6766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b="1" dirty="0">
                          <a:solidFill>
                            <a:srgbClr val="1A1A1A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구분</a:t>
                      </a:r>
                      <a:endParaRPr lang="en-US" sz="88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07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b="1" dirty="0">
                          <a:solidFill>
                            <a:srgbClr val="1A1A1A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근거 법령</a:t>
                      </a:r>
                      <a:endParaRPr lang="en-US" sz="88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072"/>
                    </a:solidFill>
                  </a:tcPr>
                </a:tc>
              </a:tr>
              <a:tr h="6766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b="1" dirty="0">
                          <a:solidFill>
                            <a:srgbClr val="043B72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금융소득</a:t>
                      </a:r>
                      <a:endParaRPr lang="en-US" sz="88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소득세법 §14③(분리과세 범위) · §16·§17(이자·배당소득, 배당가산율 11%)</a:t>
                      </a:r>
                      <a:endParaRPr lang="en-US" sz="88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§55(기본세율) · §56(배당세액공제) · §62(비교과세)</a:t>
                      </a:r>
                      <a:endParaRPr lang="en-US" sz="88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766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b="1" dirty="0">
                          <a:solidFill>
                            <a:srgbClr val="043B72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배당 특례</a:t>
                      </a:r>
                      <a:endParaRPr lang="en-US" sz="88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조세특례제한법 배당소득 과세특례 (2025.12.23. 개정 / 2026.1.1. 시행)</a:t>
                      </a:r>
                      <a:endParaRPr lang="en-US" sz="88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동법 시행령 — 고배당기업 공시방법(기업가치 제고계획 공시)</a:t>
                      </a:r>
                      <a:endParaRPr lang="en-US" sz="88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6766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b="1" dirty="0">
                          <a:solidFill>
                            <a:srgbClr val="043B72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퇴직소득</a:t>
                      </a:r>
                      <a:endParaRPr lang="en-US" sz="88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소득세법 §22(범위·임원 한도) · §48(근속연수·환산급여공제) · §55②(연분연승)</a:t>
                      </a:r>
                      <a:endParaRPr lang="en-US" sz="88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§146②(과세이연)</a:t>
                      </a:r>
                      <a:endParaRPr lang="en-US" sz="88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766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b="1" dirty="0">
                          <a:solidFill>
                            <a:srgbClr val="043B72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연금소득</a:t>
                      </a:r>
                      <a:endParaRPr lang="en-US" sz="88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소득세법 §59의3(연금계좌세액공제) · §64의4(세액계산 특례)</a:t>
                      </a:r>
                      <a:endParaRPr lang="en-US" sz="88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§129·§143의2(원천징수세율) · 시행령 §40의2③(연금수령 요건·한도)</a:t>
                      </a:r>
                      <a:endParaRPr lang="en-US" sz="88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6766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b="1" dirty="0">
                          <a:solidFill>
                            <a:srgbClr val="043B72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건강보험</a:t>
                      </a:r>
                      <a:endParaRPr lang="en-US" sz="88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국민건강보험법 §69 등(보험료 산정) · 동법 시행규칙 별표 1의2(피부양자 인정기준)</a:t>
                      </a:r>
                      <a:endParaRPr lang="en-US" sz="88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6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33008" y="1335024"/>
          <a:ext cx="5391760" cy="914400"/>
        </p:xfrm>
        <a:graphic>
          <a:graphicData uri="http://schemas.openxmlformats.org/drawingml/2006/table">
            <a:tbl>
              <a:tblPr/>
              <a:tblGrid>
                <a:gridCol w="1517904"/>
                <a:gridCol w="3873856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b="1" dirty="0">
                          <a:solidFill>
                            <a:srgbClr val="1A1A1A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기관 · 매체</a:t>
                      </a:r>
                      <a:endParaRPr lang="en-US" sz="88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07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b="1" dirty="0">
                          <a:solidFill>
                            <a:srgbClr val="1A1A1A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확인 내용</a:t>
                      </a:r>
                      <a:endParaRPr lang="en-US" sz="88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07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b="1" dirty="0">
                          <a:solidFill>
                            <a:srgbClr val="043B72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국세청</a:t>
                      </a:r>
                      <a:endParaRPr lang="en-US" sz="88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퇴직소득세 계산방법·사례, 연금소득 원천징수, 연금계좌 세액공제,</a:t>
                      </a:r>
                      <a:endParaRPr lang="en-US" sz="88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종합소득세율, 고배당 분리과세 도입 안내</a:t>
                      </a:r>
                      <a:endParaRPr lang="en-US" sz="88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b="1" dirty="0">
                          <a:solidFill>
                            <a:srgbClr val="043B72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금융위원회</a:t>
                      </a:r>
                      <a:endParaRPr lang="en-US" sz="88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배당소득 과세특례 대상기업의 공시방법 및 지원계획 (2026.2.24.)</a:t>
                      </a:r>
                      <a:endParaRPr lang="en-US" sz="88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b="1" dirty="0">
                          <a:solidFill>
                            <a:srgbClr val="043B72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재정경제부</a:t>
                      </a:r>
                      <a:endParaRPr lang="en-US" sz="88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2025년 세제개편안 · 2026년 경제성장전략(2026.1.9.) 생산적 금융 ISA</a:t>
                      </a:r>
                      <a:endParaRPr lang="en-US" sz="88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b="1" dirty="0">
                          <a:solidFill>
                            <a:srgbClr val="043B72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국민건강보험공단</a:t>
                      </a:r>
                      <a:endParaRPr lang="en-US" sz="88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2026년도 보험료율 인상 안내 (7.19% · 0.9448% · 211.5원)</a:t>
                      </a:r>
                      <a:endParaRPr lang="en-US" sz="88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b="1" dirty="0">
                          <a:solidFill>
                            <a:srgbClr val="043B72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국회예산정책처</a:t>
                      </a:r>
                      <a:endParaRPr lang="en-US" sz="88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ISA의 국내외 현황 및 쟁점 (2026.4.30.)</a:t>
                      </a:r>
                      <a:endParaRPr lang="en-US" sz="88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b="1" dirty="0">
                          <a:solidFill>
                            <a:srgbClr val="043B72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미래에셋투자와연금센터</a:t>
                      </a:r>
                      <a:endParaRPr lang="en-US" sz="88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2026년 확인해야 할 개정 세법 (2026.1.16.)</a:t>
                      </a:r>
                      <a:endParaRPr lang="en-US" sz="88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</a:tbl>
          </a:graphicData>
        </a:graphic>
      </p:graphicFrame>
      <p:sp>
        <p:nvSpPr>
          <p:cNvPr id="9" name="Shape 5"/>
          <p:cNvSpPr/>
          <p:nvPr/>
        </p:nvSpPr>
        <p:spPr>
          <a:xfrm>
            <a:off x="566928" y="4791456"/>
            <a:ext cx="11057839" cy="1060704"/>
          </a:xfrm>
          <a:prstGeom prst="rect">
            <a:avLst/>
          </a:prstGeom>
          <a:solidFill>
            <a:srgbClr val="FFFFFF"/>
          </a:solidFill>
          <a:ln w="9525">
            <a:solidFill>
              <a:srgbClr val="C62828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731520" y="4910328"/>
            <a:ext cx="1072865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" kern="0" dirty="0">
                <a:solidFill>
                  <a:srgbClr val="C62828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확인이 필요한 항목</a:t>
            </a:r>
            <a:endParaRPr lang="en-US" sz="1000" dirty="0"/>
          </a:p>
        </p:txBody>
      </p:sp>
      <p:sp>
        <p:nvSpPr>
          <p:cNvPr id="11" name="Text 7"/>
          <p:cNvSpPr/>
          <p:nvPr/>
        </p:nvSpPr>
        <p:spPr>
          <a:xfrm>
            <a:off x="731520" y="5193792"/>
            <a:ext cx="1072865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고배당기업 요건 — 배당성향 산정 기준(연결/별도)과 증가율 판정 기준은 시행령 및 기업 공시로 개별 확인할 것</a:t>
            </a:r>
            <a:endParaRPr lang="en-US" sz="9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ISA 확대안 — 납입한도 4,000만원·비과세 500만원·국내투자형 신설은 2026년 중반 기준 입법 미완료. 시행된 것으로 기술한 자료 다수 유통 중</a:t>
            </a:r>
            <a:endParaRPr lang="en-US" sz="9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조세특례 일몰 — 비과세종합저축, 공모리츠 분리과세 등은 일몰기한·요건이 수시로 변경 · 2026년 세제개편안(2026.8.3. 발표, 국회 심의 중) 내용은 미반영</a:t>
            </a:r>
            <a:endParaRPr lang="en-US" sz="950" dirty="0"/>
          </a:p>
        </p:txBody>
      </p:sp>
      <p:sp>
        <p:nvSpPr>
          <p:cNvPr id="12" name="Text 8"/>
          <p:cNvSpPr/>
          <p:nvPr/>
        </p:nvSpPr>
        <p:spPr>
          <a:xfrm>
            <a:off x="566928" y="5943600"/>
            <a:ext cx="1105783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6C6C6C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본 자료는 공개된 법령 및 정부기관 자료를 정리한 내부 참고용 교육자료이며, 개별 고객에 대한 세무 자문이 아닙니다. 기재된 세액과 실효세율은 종합소득공제·세액공제·기타 소득 구성을 단순화한 개략치이므로 실제 세액과 다를 수 있습니다. 구체적인 신고·납부 및 의사결정 전에는 세무 전문가의 검토를 받으시고, 세액 확인은 국세청 홈택스 모의계산 또는 국세상담센터(126)를 이용하시기 바랍니다.  |  기준 시점: 2026년 7월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31</Slides>
  <Notes>31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금융소득종합과세 · 퇴직소득세 실무 가이드 (2026년 기준)</dc:title>
  <dc:subject>PptxGenJS Presentation</dc:subject>
  <dc:creator>Mirae Asset Securities</dc:creator>
  <cp:lastModifiedBy>Mirae Asset Securities</cp:lastModifiedBy>
  <cp:revision>1</cp:revision>
  <dcterms:created xsi:type="dcterms:W3CDTF">2026-07-29T00:02:06Z</dcterms:created>
  <dcterms:modified xsi:type="dcterms:W3CDTF">2026-07-29T00:02:06Z</dcterms:modified>
</cp:coreProperties>
</file>