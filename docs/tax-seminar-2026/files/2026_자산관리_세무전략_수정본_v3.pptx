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6.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금융소득 실효세율</c:v>
                </c:pt>
              </c:strCache>
            </c:strRef>
          </c:tx>
          <c:spPr>
            <a:solidFill>
              <a:srgbClr val="F58220"/>
            </a:solidFill>
            <a:effectLst/>
          </c:spPr>
          <c:invertIfNegative val="0"/>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58220"/>
              </a:solidFill>
              <a:effectLst/>
            </c:spPr>
          </c:dPt>
          <c:dPt>
            <c:idx val="1"/>
            <c:invertIfNegative val="0"/>
            <c:bubble3D val="0"/>
            <c:spPr>
              <a:solidFill>
                <a:srgbClr val="043B72"/>
              </a:solidFill>
              <a:effectLst/>
            </c:spPr>
          </c:dPt>
          <c:dPt>
            <c:idx val="2"/>
            <c:invertIfNegative val="0"/>
            <c:bubble3D val="0"/>
            <c:spPr>
              <a:solidFill>
                <a:srgbClr val="FAB072"/>
              </a:solidFill>
              <a:effectLst/>
            </c:spPr>
          </c:dPt>
          <c:dPt>
            <c:idx val="3"/>
            <c:invertIfNegative val="0"/>
            <c:bubble3D val="0"/>
            <c:spPr>
              <a:solidFill>
                <a:srgbClr val="0086B8"/>
              </a:solidFill>
              <a:effectLst/>
            </c:spPr>
          </c:dPt>
          <c:dPt>
            <c:idx val="4"/>
            <c:invertIfNegative val="0"/>
            <c:bubble3D val="0"/>
            <c:spPr>
              <a:solidFill>
                <a:srgbClr val="AD624E"/>
              </a:solidFill>
              <a:effectLst/>
            </c:spPr>
          </c:dPt>
          <c:cat>
            <c:multiLvlStrRef>
              <c:f>Sheet1!$A$2:$A$6</c:f>
              <c:multiLvlStrCache>
                <c:ptCount val="5"/>
                <c:lvl>
                  <c:pt idx="0">
                    <c:v>1,500만원</c:v>
                  </c:pt>
                  <c:pt idx="1">
                    <c:v>2,000만원</c:v>
                  </c:pt>
                  <c:pt idx="2">
                    <c:v>3,000만원</c:v>
                  </c:pt>
                  <c:pt idx="3">
                    <c:v>5,000만원</c:v>
                  </c:pt>
                  <c:pt idx="4">
                    <c:v>1억원</c:v>
                  </c:pt>
                </c:lvl>
              </c:multiLvlStrCache>
            </c:multiLvlStrRef>
          </c:cat>
          <c:val>
            <c:numRef>
              <c:f>Sheet1!$B$2:$B$6</c:f>
              <c:numCache>
                <c:formatCode>General</c:formatCode>
                <c:ptCount val="5"/>
                <c:pt idx="0">
                  <c:v>15.4</c:v>
                </c:pt>
                <c:pt idx="1">
                  <c:v>15.4</c:v>
                </c:pt>
                <c:pt idx="2">
                  <c:v>23.1</c:v>
                </c:pt>
                <c:pt idx="3">
                  <c:v>29.3</c:v>
                </c:pt>
                <c:pt idx="4">
                  <c:v>33.9</c:v>
                </c:pt>
              </c:numCache>
            </c:numRef>
          </c:val>
        </c:ser>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Spoqa Han Sans Neo"/>
              </a:defRPr>
            </a:pPr>
            <a:endParaRPr lang="en-US"/>
          </a:p>
        </c:txPr>
        <c:crossAx val="2094734552"/>
        <c:crosses val="autoZero"/>
        <c:auto val="1"/>
        <c:lblAlgn val="ctr"/>
        <c:noMultiLvlLbl val="1"/>
      </c:catAx>
      <c:valAx>
        <c:axId val="2094734552"/>
        <c:scaling>
          <c:orientation val="minMax"/>
          <c:max val="40"/>
        </c:scaling>
        <c:delete val="0"/>
        <c:axPos val="l"/>
        <c:majorGridlines>
          <c:spPr>
            <a:ln w="9525" cap="flat">
              <a:solidFill>
                <a:srgbClr val="E5E4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4888B"/>
                </a:solidFill>
                <a:latin typeface="Spoqa Han Sans Neo"/>
              </a:defRPr>
            </a:pPr>
            <a:endParaRPr lang="en-US"/>
          </a:p>
        </c:txPr>
        <c:crossAx val="2094734554"/>
        <c:crosses val="autoZero"/>
        <c:crossBetween val="between"/>
        <c:majorUnit val="10"/>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종합과세</c:v>
                </c:pt>
              </c:strCache>
            </c:strRef>
          </c:tx>
          <c:spPr>
            <a:solidFill>
              <a:srgbClr val="F58220"/>
            </a:solidFill>
            <a:effectLst/>
          </c:spPr>
          <c:invertIfNegative val="0"/>
          <c:dLbls>
            <c:numFmt formatCode="#,##0"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Sheet1!$A$2:$A$4</c:f>
              <c:multiLvlStrCache>
                <c:ptCount val="3"/>
                <c:lvl>
                  <c:pt idx="0">
                    <c:v>배당 5,000만원</c:v>
                  </c:pt>
                  <c:pt idx="1">
                    <c:v>배당 1억원</c:v>
                  </c:pt>
                  <c:pt idx="2">
                    <c:v>배당 3억원</c:v>
                  </c:pt>
                </c:lvl>
              </c:multiLvlStrCache>
            </c:multiLvlStrRef>
          </c:cat>
          <c:val>
            <c:numRef>
              <c:f>Sheet1!$B$2:$B$4</c:f>
              <c:numCache>
                <c:formatCode>General</c:formatCode>
                <c:ptCount val="3"/>
                <c:pt idx="0">
                  <c:v>1420</c:v>
                </c:pt>
                <c:pt idx="1">
                  <c:v>3320</c:v>
                </c:pt>
                <c:pt idx="2">
                  <c:v>10920</c:v>
                </c:pt>
              </c:numCache>
            </c:numRef>
          </c:val>
        </c:ser>
        <c:ser>
          <c:idx val="1"/>
          <c:order val="1"/>
          <c:tx>
            <c:strRef>
              <c:f>Sheet1!$C$1</c:f>
              <c:strCache>
                <c:ptCount val="1"/>
                <c:pt idx="0">
                  <c:v>분리과세 선택</c:v>
                </c:pt>
              </c:strCache>
            </c:strRef>
          </c:tx>
          <c:spPr>
            <a:solidFill>
              <a:srgbClr val="043B72"/>
            </a:solidFill>
            <a:effectLst/>
          </c:spPr>
          <c:invertIfNegative val="0"/>
          <c:dLbls>
            <c:numFmt formatCode="#,##0"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Sheet1!$A$2:$A$4</c:f>
              <c:multiLvlStrCache>
                <c:ptCount val="3"/>
                <c:lvl>
                  <c:pt idx="0">
                    <c:v>배당 5,000만원</c:v>
                  </c:pt>
                  <c:pt idx="1">
                    <c:v>배당 1억원</c:v>
                  </c:pt>
                  <c:pt idx="2">
                    <c:v>배당 3억원</c:v>
                  </c:pt>
                </c:lvl>
              </c:multiLvlStrCache>
            </c:multiLvlStrRef>
          </c:cat>
          <c:val>
            <c:numRef>
              <c:f>Sheet1!$C$2:$C$4</c:f>
              <c:numCache>
                <c:formatCode>General</c:formatCode>
                <c:ptCount val="3"/>
                <c:pt idx="0">
                  <c:v>880</c:v>
                </c:pt>
                <c:pt idx="1">
                  <c:v>1880</c:v>
                </c:pt>
                <c:pt idx="2">
                  <c:v>5880</c:v>
                </c:pt>
              </c:numCache>
            </c:numRef>
          </c:val>
        </c:ser>
        <c:dLbls>
          <c:numFmt formatCode="#,##0"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Spoqa Han Sans Neo"/>
              </a:defRPr>
            </a:pPr>
            <a:endParaRPr lang="en-US"/>
          </a:p>
        </c:txPr>
        <c:crossAx val="2094734552"/>
        <c:crosses val="autoZero"/>
        <c:auto val="1"/>
        <c:lblAlgn val="ctr"/>
        <c:noMultiLvlLbl val="1"/>
      </c:catAx>
      <c:valAx>
        <c:axId val="2094734552"/>
        <c:scaling>
          <c:orientation val="minMax"/>
          <c:max val="12000"/>
        </c:scaling>
        <c:delete val="0"/>
        <c:axPos val="l"/>
        <c:majorGridlines>
          <c:spPr>
            <a:ln w="9525" cap="flat">
              <a:solidFill>
                <a:srgbClr val="E5E4E1"/>
              </a:solidFill>
              <a:prstDash val="solid"/>
              <a:round/>
            </a:ln>
          </c:spPr>
        </c:majorGridlines>
        <c:title>
          <c:tx>
            <c:rich>
              <a:bodyPr/>
              <a:lstStyle/>
              <a:p>
                <a:pPr>
                  <a:defRPr sz="950" b="0" i="0" u="none" strike="noStrike">
                    <a:solidFill>
                      <a:srgbClr val="000000"/>
                    </a:solidFill>
                    <a:latin typeface="Spoqa Han Sans Neo"/>
                  </a:defRPr>
                </a:pPr>
                <a:r>
                  <a:rPr sz="950" b="0" i="0" u="none" strike="noStrike">
                    <a:solidFill>
                      <a:srgbClr val="000000"/>
                    </a:solidFill>
                    <a:latin typeface="Spoqa Han Sans Neo"/>
                  </a:rPr>
                  <a:t>세액(만원)</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4888B"/>
                </a:solidFill>
                <a:latin typeface="Spoqa Han Sans Neo"/>
              </a:defRPr>
            </a:pPr>
            <a:endParaRPr lang="en-US"/>
          </a:p>
        </c:txPr>
        <c:crossAx val="2094734554"/>
        <c:crosses val="autoZero"/>
        <c:crossBetween val="between"/>
      </c:valAx>
      <c:spPr>
        <a:noFill/>
        <a:ln w="12700" cap="flat">
          <a:solidFill>
            <a:srgbClr val="FFFFFF"/>
          </a:solidFill>
        </a:ln>
        <a:effectLst/>
      </c:spPr>
    </c:plotArea>
    <c:legend>
      <c:legendPos val="t"/>
      <c:overlay val="0"/>
      <c:txPr>
        <a:bodyPr/>
        <a:lstStyle/>
        <a:p>
          <a:pPr>
            <a:defRPr sz="1000">
              <a:latin typeface="Spoqa Han Sans Neo"/>
              <a:cs typeface="Spoqa Han Sans Neo"/>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공제율 16.5%</c:v>
                </c:pt>
              </c:strCache>
            </c:strRef>
          </c:tx>
          <c:spPr>
            <a:solidFill>
              <a:srgbClr val="F58220"/>
            </a:solidFill>
            <a:effectLst/>
          </c:spPr>
          <c:invertIfNegative val="0"/>
          <c:dLbls>
            <c:numFmt formatCode="#,##0.0"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Sheet1!$A$2:$A$4</c:f>
              <c:multiLvlStrCache>
                <c:ptCount val="3"/>
                <c:lvl>
                  <c:pt idx="0">
                    <c:v>연금저축 600만원</c:v>
                  </c:pt>
                  <c:pt idx="1">
                    <c:v>연금저축+IRP 900만원</c:v>
                  </c:pt>
                  <c:pt idx="2">
                    <c:v>+ISA 전환 1,200만원</c:v>
                  </c:pt>
                </c:lvl>
              </c:multiLvlStrCache>
            </c:multiLvlStrRef>
          </c:cat>
          <c:val>
            <c:numRef>
              <c:f>Sheet1!$B$2:$B$4</c:f>
              <c:numCache>
                <c:formatCode>General</c:formatCode>
                <c:ptCount val="3"/>
                <c:pt idx="0">
                  <c:v>99</c:v>
                </c:pt>
                <c:pt idx="1">
                  <c:v>148.5</c:v>
                </c:pt>
                <c:pt idx="2">
                  <c:v>198</c:v>
                </c:pt>
              </c:numCache>
            </c:numRef>
          </c:val>
        </c:ser>
        <c:ser>
          <c:idx val="1"/>
          <c:order val="1"/>
          <c:tx>
            <c:strRef>
              <c:f>Sheet1!$C$1</c:f>
              <c:strCache>
                <c:ptCount val="1"/>
                <c:pt idx="0">
                  <c:v>공제율 13.2%</c:v>
                </c:pt>
              </c:strCache>
            </c:strRef>
          </c:tx>
          <c:spPr>
            <a:solidFill>
              <a:srgbClr val="043B72"/>
            </a:solidFill>
            <a:effectLst/>
          </c:spPr>
          <c:invertIfNegative val="0"/>
          <c:dLbls>
            <c:numFmt formatCode="#,##0.0"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Sheet1!$A$2:$A$4</c:f>
              <c:multiLvlStrCache>
                <c:ptCount val="3"/>
                <c:lvl>
                  <c:pt idx="0">
                    <c:v>연금저축 600만원</c:v>
                  </c:pt>
                  <c:pt idx="1">
                    <c:v>연금저축+IRP 900만원</c:v>
                  </c:pt>
                  <c:pt idx="2">
                    <c:v>+ISA 전환 1,200만원</c:v>
                  </c:pt>
                </c:lvl>
              </c:multiLvlStrCache>
            </c:multiLvlStrRef>
          </c:cat>
          <c:val>
            <c:numRef>
              <c:f>Sheet1!$C$2:$C$4</c:f>
              <c:numCache>
                <c:formatCode>General</c:formatCode>
                <c:ptCount val="3"/>
                <c:pt idx="0">
                  <c:v>79.2</c:v>
                </c:pt>
                <c:pt idx="1">
                  <c:v>118.8</c:v>
                </c:pt>
                <c:pt idx="2">
                  <c:v>158.4</c:v>
                </c:pt>
              </c:numCache>
            </c:numRef>
          </c:val>
        </c:ser>
        <c:dLbls>
          <c:numFmt formatCode="#,##0.0"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Spoqa Han Sans Neo"/>
              </a:defRPr>
            </a:pPr>
            <a:endParaRPr lang="en-US"/>
          </a:p>
        </c:txPr>
        <c:crossAx val="2094734552"/>
        <c:crosses val="autoZero"/>
        <c:auto val="1"/>
        <c:lblAlgn val="ctr"/>
        <c:noMultiLvlLbl val="1"/>
      </c:catAx>
      <c:valAx>
        <c:axId val="2094734552"/>
        <c:scaling>
          <c:orientation val="minMax"/>
          <c:max val="240"/>
        </c:scaling>
        <c:delete val="0"/>
        <c:axPos val="l"/>
        <c:majorGridlines>
          <c:spPr>
            <a:ln w="9525" cap="flat">
              <a:solidFill>
                <a:srgbClr val="E5E4E1"/>
              </a:solidFill>
              <a:prstDash val="solid"/>
              <a:round/>
            </a:ln>
          </c:spPr>
        </c:majorGridlines>
        <c:title>
          <c:tx>
            <c:rich>
              <a:bodyPr/>
              <a:lstStyle/>
              <a:p>
                <a:pPr>
                  <a:defRPr sz="950" b="0" i="0" u="none" strike="noStrike">
                    <a:solidFill>
                      <a:srgbClr val="000000"/>
                    </a:solidFill>
                    <a:latin typeface="Spoqa Han Sans Neo"/>
                  </a:defRPr>
                </a:pPr>
                <a:r>
                  <a:rPr sz="950" b="0" i="0" u="none" strike="noStrike">
                    <a:solidFill>
                      <a:srgbClr val="000000"/>
                    </a:solidFill>
                    <a:latin typeface="Spoqa Han Sans Neo"/>
                  </a:rPr>
                  <a:t>세액공제액(만원)</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4888B"/>
                </a:solidFill>
                <a:latin typeface="Spoqa Han Sans Neo"/>
              </a:defRPr>
            </a:pPr>
            <a:endParaRPr lang="en-US"/>
          </a:p>
        </c:txPr>
        <c:crossAx val="2094734554"/>
        <c:crosses val="autoZero"/>
        <c:crossBetween val="between"/>
      </c:valAx>
      <c:spPr>
        <a:noFill/>
        <a:ln w="12700" cap="flat">
          <a:solidFill>
            <a:srgbClr val="FFFFFF"/>
          </a:solidFill>
        </a:ln>
        <a:effectLst/>
      </c:spPr>
    </c:plotArea>
    <c:legend>
      <c:legendPos val="t"/>
      <c:overlay val="0"/>
      <c:txPr>
        <a:bodyPr/>
        <a:lstStyle/>
        <a:p>
          <a:pPr>
            <a:defRPr sz="1000">
              <a:latin typeface="Spoqa Han Sans Neo"/>
              <a:cs typeface="Spoqa Han Sans Neo"/>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개인 종합소득세</c:v>
                </c:pt>
              </c:strCache>
            </c:strRef>
          </c:tx>
          <c:spPr>
            <a:solidFill>
              <a:srgbClr val="F58220"/>
            </a:solidFill>
            <a:effectLst/>
          </c:spPr>
          <c:invertIfNegative val="0"/>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Sheet1!$A$2:$A$5</c:f>
              <c:multiLvlStrCache>
                <c:ptCount val="4"/>
                <c:lvl>
                  <c:pt idx="0">
                    <c:v>과세표준 1억</c:v>
                  </c:pt>
                  <c:pt idx="1">
                    <c:v>3억</c:v>
                  </c:pt>
                  <c:pt idx="2">
                    <c:v>5억</c:v>
                  </c:pt>
                  <c:pt idx="3">
                    <c:v>10억</c:v>
                  </c:pt>
                </c:lvl>
              </c:multiLvlStrCache>
            </c:multiLvlStrRef>
          </c:cat>
          <c:val>
            <c:numRef>
              <c:f>Sheet1!$B$2:$B$5</c:f>
              <c:numCache>
                <c:formatCode>General</c:formatCode>
                <c:ptCount val="4"/>
                <c:pt idx="0">
                  <c:v>21.5</c:v>
                </c:pt>
                <c:pt idx="1">
                  <c:v>34.5</c:v>
                </c:pt>
                <c:pt idx="2">
                  <c:v>38.3</c:v>
                </c:pt>
                <c:pt idx="3">
                  <c:v>42.2</c:v>
                </c:pt>
              </c:numCache>
            </c:numRef>
          </c:val>
        </c:ser>
        <c:ser>
          <c:idx val="1"/>
          <c:order val="1"/>
          <c:tx>
            <c:strRef>
              <c:f>Sheet1!$C$1</c:f>
              <c:strCache>
                <c:ptCount val="1"/>
                <c:pt idx="0">
                  <c:v>법인세</c:v>
                </c:pt>
              </c:strCache>
            </c:strRef>
          </c:tx>
          <c:spPr>
            <a:solidFill>
              <a:srgbClr val="043B72"/>
            </a:solidFill>
            <a:effectLst/>
          </c:spPr>
          <c:invertIfNegative val="0"/>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Sheet1!$A$2:$A$5</c:f>
              <c:multiLvlStrCache>
                <c:ptCount val="4"/>
                <c:lvl>
                  <c:pt idx="0">
                    <c:v>과세표준 1억</c:v>
                  </c:pt>
                  <c:pt idx="1">
                    <c:v>3억</c:v>
                  </c:pt>
                  <c:pt idx="2">
                    <c:v>5억</c:v>
                  </c:pt>
                  <c:pt idx="3">
                    <c:v>10억</c:v>
                  </c:pt>
                </c:lvl>
              </c:multiLvlStrCache>
            </c:multiLvlStrRef>
          </c:cat>
          <c:val>
            <c:numRef>
              <c:f>Sheet1!$C$2:$C$5</c:f>
              <c:numCache>
                <c:formatCode>General</c:formatCode>
                <c:ptCount val="4"/>
                <c:pt idx="0">
                  <c:v>11</c:v>
                </c:pt>
                <c:pt idx="1">
                  <c:v>14.7</c:v>
                </c:pt>
                <c:pt idx="2">
                  <c:v>17.6</c:v>
                </c:pt>
                <c:pt idx="3">
                  <c:v>19.8</c:v>
                </c:pt>
              </c:numCache>
            </c:numRef>
          </c:val>
        </c:ser>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Spoqa Han Sans Neo"/>
              </a:defRPr>
            </a:pPr>
            <a:endParaRPr lang="en-US"/>
          </a:p>
        </c:txPr>
        <c:crossAx val="2094734552"/>
        <c:crosses val="autoZero"/>
        <c:auto val="1"/>
        <c:lblAlgn val="ctr"/>
        <c:noMultiLvlLbl val="1"/>
      </c:catAx>
      <c:valAx>
        <c:axId val="2094734552"/>
        <c:scaling>
          <c:orientation val="minMax"/>
          <c:max val="50"/>
        </c:scaling>
        <c:delete val="0"/>
        <c:axPos val="l"/>
        <c:majorGridlines>
          <c:spPr>
            <a:ln w="9525" cap="flat">
              <a:solidFill>
                <a:srgbClr val="E5E4E1"/>
              </a:solidFill>
              <a:prstDash val="solid"/>
              <a:round/>
            </a:ln>
          </c:spPr>
        </c:majorGridlines>
        <c:title>
          <c:tx>
            <c:rich>
              <a:bodyPr/>
              <a:lstStyle/>
              <a:p>
                <a:pPr>
                  <a:defRPr sz="950" b="0" i="0" u="none" strike="noStrike">
                    <a:solidFill>
                      <a:srgbClr val="000000"/>
                    </a:solidFill>
                    <a:latin typeface="Spoqa Han Sans Neo"/>
                  </a:defRPr>
                </a:pPr>
                <a:r>
                  <a:rPr sz="950" b="0" i="0" u="none" strike="noStrike">
                    <a:solidFill>
                      <a:srgbClr val="000000"/>
                    </a:solidFill>
                    <a:latin typeface="Spoqa Han Sans Neo"/>
                  </a:rPr>
                  <a:t>실효세율(%)</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4888B"/>
                </a:solidFill>
                <a:latin typeface="Spoqa Han Sans Neo"/>
              </a:defRPr>
            </a:pPr>
            <a:endParaRPr lang="en-US"/>
          </a:p>
        </c:txPr>
        <c:crossAx val="2094734554"/>
        <c:crosses val="autoZero"/>
        <c:crossBetween val="between"/>
      </c:valAx>
      <c:spPr>
        <a:noFill/>
        <a:ln w="12700" cap="flat">
          <a:solidFill>
            <a:srgbClr val="FFFFFF"/>
          </a:solidFill>
        </a:ln>
        <a:effectLst/>
      </c:spPr>
    </c:plotArea>
    <c:legend>
      <c:legendPos val="t"/>
      <c:overlay val="0"/>
      <c:txPr>
        <a:bodyPr/>
        <a:lstStyle/>
        <a:p>
          <a:pPr>
            <a:defRPr sz="1000">
              <a:latin typeface="Spoqa Han Sans Neo"/>
              <a:cs typeface="Spoqa Han Sans Neo"/>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증여세 실효세율(성년 자녀 1인)</c:v>
                </c:pt>
              </c:strCache>
            </c:strRef>
          </c:tx>
          <c:spPr>
            <a:solidFill>
              <a:srgbClr val="F58220"/>
            </a:solidFill>
            <a:effectLst/>
          </c:spPr>
          <c:invertIfNegative val="0"/>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58220"/>
              </a:solidFill>
              <a:effectLst/>
            </c:spPr>
          </c:dPt>
          <c:dPt>
            <c:idx val="1"/>
            <c:invertIfNegative val="0"/>
            <c:bubble3D val="0"/>
            <c:spPr>
              <a:solidFill>
                <a:srgbClr val="043B72"/>
              </a:solidFill>
              <a:effectLst/>
            </c:spPr>
          </c:dPt>
          <c:dPt>
            <c:idx val="2"/>
            <c:invertIfNegative val="0"/>
            <c:bubble3D val="0"/>
            <c:spPr>
              <a:solidFill>
                <a:srgbClr val="FAB072"/>
              </a:solidFill>
              <a:effectLst/>
            </c:spPr>
          </c:dPt>
          <c:dPt>
            <c:idx val="3"/>
            <c:invertIfNegative val="0"/>
            <c:bubble3D val="0"/>
            <c:spPr>
              <a:solidFill>
                <a:srgbClr val="0086B8"/>
              </a:solidFill>
              <a:effectLst/>
            </c:spPr>
          </c:dPt>
          <c:cat>
            <c:multiLvlStrRef>
              <c:f>Sheet1!$A$2:$A$5</c:f>
              <c:multiLvlStrCache>
                <c:ptCount val="4"/>
                <c:lvl>
                  <c:pt idx="0">
                    <c:v>1억원</c:v>
                  </c:pt>
                  <c:pt idx="1">
                    <c:v>3억원</c:v>
                  </c:pt>
                  <c:pt idx="2">
                    <c:v>5억원</c:v>
                  </c:pt>
                  <c:pt idx="3">
                    <c:v>10억원</c:v>
                  </c:pt>
                </c:lvl>
              </c:multiLvlStrCache>
            </c:multiLvlStrRef>
          </c:cat>
          <c:val>
            <c:numRef>
              <c:f>Sheet1!$B$2:$B$5</c:f>
              <c:numCache>
                <c:formatCode>General</c:formatCode>
                <c:ptCount val="4"/>
                <c:pt idx="0">
                  <c:v>4.9</c:v>
                </c:pt>
                <c:pt idx="1">
                  <c:v>12.9</c:v>
                </c:pt>
                <c:pt idx="2">
                  <c:v>15.5</c:v>
                </c:pt>
                <c:pt idx="3">
                  <c:v>21.8</c:v>
                </c:pt>
              </c:numCache>
            </c:numRef>
          </c:val>
        </c:ser>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Spoqa Han Sans Neo"/>
              </a:defRPr>
            </a:pPr>
            <a:endParaRPr lang="en-US"/>
          </a:p>
        </c:txPr>
        <c:crossAx val="2094734552"/>
        <c:crosses val="autoZero"/>
        <c:auto val="1"/>
        <c:lblAlgn val="ctr"/>
        <c:noMultiLvlLbl val="1"/>
      </c:catAx>
      <c:valAx>
        <c:axId val="2094734552"/>
        <c:scaling>
          <c:orientation val="minMax"/>
          <c:max val="26"/>
        </c:scaling>
        <c:delete val="0"/>
        <c:axPos val="l"/>
        <c:majorGridlines>
          <c:spPr>
            <a:ln w="9525" cap="flat">
              <a:solidFill>
                <a:srgbClr val="E5E4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4888B"/>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2025년</c:v>
                </c:pt>
              </c:strCache>
            </c:strRef>
          </c:tx>
          <c:spPr>
            <a:solidFill>
              <a:srgbClr val="F58220"/>
            </a:solidFill>
            <a:effectLst/>
          </c:spPr>
          <c:invertIfNegative val="0"/>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Sheet1!$A$2:$A$5</c:f>
              <c:multiLvlStrCache>
                <c:ptCount val="4"/>
                <c:lvl>
                  <c:pt idx="0">
                    <c:v>과세표준 2억</c:v>
                  </c:pt>
                  <c:pt idx="1">
                    <c:v>10억</c:v>
                  </c:pt>
                  <c:pt idx="2">
                    <c:v>50억</c:v>
                  </c:pt>
                  <c:pt idx="3">
                    <c:v>300억</c:v>
                  </c:pt>
                </c:lvl>
              </c:multiLvlStrCache>
            </c:multiLvlStrRef>
          </c:cat>
          <c:val>
            <c:numRef>
              <c:f>Sheet1!$B$2:$B$5</c:f>
              <c:numCache>
                <c:formatCode>General</c:formatCode>
                <c:ptCount val="4"/>
                <c:pt idx="0">
                  <c:v>9</c:v>
                </c:pt>
                <c:pt idx="1">
                  <c:v>17</c:v>
                </c:pt>
                <c:pt idx="2">
                  <c:v>18.6</c:v>
                </c:pt>
                <c:pt idx="3">
                  <c:v>19.6</c:v>
                </c:pt>
              </c:numCache>
            </c:numRef>
          </c:val>
        </c:ser>
        <c:ser>
          <c:idx val="1"/>
          <c:order val="1"/>
          <c:tx>
            <c:strRef>
              <c:f>Sheet1!$C$1</c:f>
              <c:strCache>
                <c:ptCount val="1"/>
                <c:pt idx="0">
                  <c:v>2026년</c:v>
                </c:pt>
              </c:strCache>
            </c:strRef>
          </c:tx>
          <c:spPr>
            <a:solidFill>
              <a:srgbClr val="043B72"/>
            </a:solidFill>
            <a:effectLst/>
          </c:spPr>
          <c:invertIfNegative val="0"/>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cat>
            <c:multiLvlStrRef>
              <c:f>Sheet1!$A$2:$A$5</c:f>
              <c:multiLvlStrCache>
                <c:ptCount val="4"/>
                <c:lvl>
                  <c:pt idx="0">
                    <c:v>과세표준 2억</c:v>
                  </c:pt>
                  <c:pt idx="1">
                    <c:v>10억</c:v>
                  </c:pt>
                  <c:pt idx="2">
                    <c:v>50억</c:v>
                  </c:pt>
                  <c:pt idx="3">
                    <c:v>300억</c:v>
                  </c:pt>
                </c:lvl>
              </c:multiLvlStrCache>
            </c:multiLvlStrRef>
          </c:cat>
          <c:val>
            <c:numRef>
              <c:f>Sheet1!$C$2:$C$5</c:f>
              <c:numCache>
                <c:formatCode>General</c:formatCode>
                <c:ptCount val="4"/>
                <c:pt idx="0">
                  <c:v>10</c:v>
                </c:pt>
                <c:pt idx="1">
                  <c:v>18</c:v>
                </c:pt>
                <c:pt idx="2">
                  <c:v>19.6</c:v>
                </c:pt>
                <c:pt idx="3">
                  <c:v>20.6</c:v>
                </c:pt>
              </c:numCache>
            </c:numRef>
          </c:val>
        </c:ser>
        <c:dLbls>
          <c:numFmt formatCode="0.0&quot;%&quot;" sourceLinked="0"/>
          <c:txPr>
            <a:bodyPr/>
            <a:lstStyle/>
            <a:p>
              <a:pPr>
                <a:defRPr b="0" i="0" strike="noStrike" sz="95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Spoqa Han Sans Neo"/>
              </a:defRPr>
            </a:pPr>
            <a:endParaRPr lang="en-US"/>
          </a:p>
        </c:txPr>
        <c:crossAx val="2094734552"/>
        <c:crosses val="autoZero"/>
        <c:auto val="1"/>
        <c:lblAlgn val="ctr"/>
        <c:noMultiLvlLbl val="1"/>
      </c:catAx>
      <c:valAx>
        <c:axId val="2094734552"/>
        <c:scaling>
          <c:orientation val="minMax"/>
          <c:max val="26"/>
        </c:scaling>
        <c:delete val="0"/>
        <c:axPos val="l"/>
        <c:majorGridlines>
          <c:spPr>
            <a:ln w="9525" cap="flat">
              <a:solidFill>
                <a:srgbClr val="E5E4E1"/>
              </a:solidFill>
              <a:prstDash val="solid"/>
              <a:round/>
            </a:ln>
          </c:spPr>
        </c:majorGridlines>
        <c:title>
          <c:tx>
            <c:rich>
              <a:bodyPr/>
              <a:lstStyle/>
              <a:p>
                <a:pPr>
                  <a:defRPr sz="900" b="0" i="0" u="none" strike="noStrike">
                    <a:solidFill>
                      <a:srgbClr val="000000"/>
                    </a:solidFill>
                    <a:latin typeface="Spoqa Han Sans Neo"/>
                  </a:defRPr>
                </a:pPr>
                <a:r>
                  <a:rPr sz="900" b="0" i="0" u="none" strike="noStrike">
                    <a:solidFill>
                      <a:srgbClr val="000000"/>
                    </a:solidFill>
                    <a:latin typeface="Spoqa Han Sans Neo"/>
                  </a:rPr>
                  <a:t>실효세율(%)</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4888B"/>
                </a:solidFill>
                <a:latin typeface="Spoqa Han Sans Neo"/>
              </a:defRPr>
            </a:pPr>
            <a:endParaRPr lang="en-US"/>
          </a:p>
        </c:txPr>
        <c:crossAx val="2094734554"/>
        <c:crosses val="autoZero"/>
        <c:crossBetween val="between"/>
      </c:valAx>
      <c:spPr>
        <a:noFill/>
        <a:ln w="12700" cap="flat">
          <a:solidFill>
            <a:srgbClr val="FFFFFF"/>
          </a:solidFill>
        </a:ln>
        <a:effectLst/>
      </c:spPr>
    </c:plotArea>
    <c:legend>
      <c:legendPos val="t"/>
      <c:overlay val="0"/>
      <c:txPr>
        <a:bodyPr/>
        <a:lstStyle/>
        <a:p>
          <a:pPr>
            <a:defRPr sz="1000">
              <a:latin typeface="Spoqa Han Sans Neo"/>
              <a:cs typeface="Spoqa Han Sans Ne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본 자료는 2026년 7월 기준 확정 세법을 기준으로 하며, 국회 계류 중인 개정안은 '미확정'으로 별도 표기한다.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 안내. 개요 2면, 4개 파트 27면, 마무리 1면 구성.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장에서 '확정된 것'과 '아직 안인 것'을 분리해 두면 이후 상담에서 혼선이 줄어든다. 특히 상속세 인하와 ISA 확대는 언론 보도만 보고 확정으로 오해하는 고객이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세미나 도입부. 고객은 '세율 몇 %'에 반응하지만 실무 절세는 과세표준 단계에서 결정된다는 점을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과세 방식의 구분. 좌측 6가지 소득은 합산 대상, 우측은 과세 방식별 차이.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세율표는 2023년 개정 이후 변동 없음. 지방소득세 10% 별도.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연간 일정. 12월 31일 대주주 판정 기준일은 투자자 상담에서 가장 중요한 날짜.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2,000만원 임계. 세금뿐 아니라 건강보험료 영향도 함께 설명할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2025년 12월 2일 국회 본회의 통과. 요건이 까다로워 대상 종목이 한정적이라는 비판도 있다는 점을 균형 있게 전달.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단순 가정에 따른 예시 계산이며 실제는 배당세액공제·지방소득세·타소득 구조에 따라 달라진다. 세미나에서는 '가정'을 반드시 낭독할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 실무에서 가장 활용도 높은 장. 같은 지수라도 국내상장 해외ETF와 직접 해외주식 투자의 세제가 다르다는 점을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연말정산 상담용 요약. 소득공제와 세액공제의 작동 위치 차이를 먼저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세액공제 900만원 한도는 연금저축 600만원 + IRP 추가 300만원 구조. 총한도 900만원을 넘겨 납입해도 공제는 900만원까지.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ISA 확대안의 입법 상태를 정확히 전달하는 것이 이 장의 핵심. 확정 사실과 추진안을 섞어 말하면 신뢰를 잃는다.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사업자 상담의 기본. 장부 작성은 비용이 아니라 투자라는 점을 숫자로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사업자 상담 체크리스트. 노란우산+연금계좌는 사실상 모든 사업자에게 권할 수 있는 조합.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세율 격차만 보고 법인 전환을 권하는 것은 위험. 인출 계획이 핵심 변수임을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유산세와 유산취득세의 차이는 21면에서 다룬다. 여기서는 현행 구조만 확실히 정리.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배우자 상속공제의 분할 기한(신고기한 후 6개월)은 실무에서 가장 흔한 실수 지점.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 사례는 세미나 몰입도를 높인다. 다만 '가정'을 명확히 밝히고 개별 상담을 안내할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언론 보도로 '상속세 인하 확정'으로 오해하는 대표적 항목. 확정 여부를 분명히 구분해 전달.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사전증여의 핵심은 시간. 10년 합산 규정 때문에 60대 이후 시작하면 효과가 제한된다는 점을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증여는 '무엇을 언제'가 핵심. 특히 이월과세 10년 규정을 놓쳐 절세가 무효화되는 사례가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가업승계는 요건 관리에 수년이 걸린다. 상담 초기에 요건 진단부터 시작할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세율 인상은 확정 사항. 인상폭 자체보다 세액공제 재점검으로 상쇄하는 접근을 제시.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법인세 신고 실무의 골격. 세무조정 항목이 곧 절세 여지임을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 상담에서 자주 나오는 '법인 계좌로 투자할까요' 질문에 대한 정리. 국내주식 비과세를 포기하는 점이 결정적.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비상장법인 배당은 2026년 고배당 분리과세 대상이 아님을 명확히 할 것(상장법인 대상 제도).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가족 부동산임대 법인 상담에서 가장 중요한 함정. 설립 전에 반드시 짚어야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실행 항목을 대상별로 분리해 세미나 직후 행동으로 연결되도록 구성. 유의사항은 반드시 함께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8220"/>
        </a:solidFill>
      </p:bgPr>
    </p:bg>
    <p:spTree>
      <p:nvGrpSpPr>
        <p:cNvPr id="1" name=""/>
        <p:cNvGrpSpPr/>
        <p:nvPr/>
      </p:nvGrpSpPr>
      <p:grpSpPr>
        <a:xfrm>
          <a:off x="0" y="0"/>
          <a:ext cx="0" cy="0"/>
          <a:chOff x="0" y="0"/>
          <a:chExt cx="0" cy="0"/>
        </a:xfrm>
      </p:grpSpPr>
      <p:sp>
        <p:nvSpPr>
          <p:cNvPr id="2" name="Text 0"/>
          <p:cNvSpPr/>
          <p:nvPr/>
        </p:nvSpPr>
        <p:spPr>
          <a:xfrm>
            <a:off x="566928" y="457200"/>
            <a:ext cx="5486400" cy="274320"/>
          </a:xfrm>
          <a:prstGeom prst="rect">
            <a:avLst/>
          </a:prstGeom>
          <a:noFill/>
          <a:ln/>
        </p:spPr>
        <p:txBody>
          <a:bodyPr wrap="square" lIns="0" tIns="0" rIns="0" bIns="0" rtlCol="0" anchor="ctr"/>
          <a:lstStyle/>
          <a:p>
            <a:pPr indent="0" marL="0">
              <a:buNone/>
            </a:pPr>
            <a:r>
              <a:rPr lang="en-US" sz="1100" b="1" spc="80" kern="0" dirty="0">
                <a:solidFill>
                  <a:srgbClr val="FFFFFF"/>
                </a:solidFill>
                <a:latin typeface="Spoqa Han Sans Neo" pitchFamily="34" charset="0"/>
                <a:ea typeface="Spoqa Han Sans Neo" pitchFamily="34" charset="-122"/>
                <a:cs typeface="Spoqa Han Sans Neo" pitchFamily="34" charset="-120"/>
              </a:rPr>
              <a:t>[교육용 · 고객 세미나 자료]</a:t>
            </a:r>
            <a:endParaRPr lang="en-US" sz="1100" dirty="0"/>
          </a:p>
        </p:txBody>
      </p:sp>
      <p:sp>
        <p:nvSpPr>
          <p:cNvPr id="3" name="Text 1"/>
          <p:cNvSpPr/>
          <p:nvPr/>
        </p:nvSpPr>
        <p:spPr>
          <a:xfrm>
            <a:off x="566928" y="1920240"/>
            <a:ext cx="10515600" cy="914400"/>
          </a:xfrm>
          <a:prstGeom prst="rect">
            <a:avLst/>
          </a:prstGeom>
          <a:noFill/>
          <a:ln/>
        </p:spPr>
        <p:txBody>
          <a:bodyPr wrap="square" lIns="0" tIns="0" rIns="0" bIns="0" rtlCol="0" anchor="ctr"/>
          <a:lstStyle/>
          <a:p>
            <a:pPr indent="0" marL="0">
              <a:buNone/>
            </a:pPr>
            <a:r>
              <a:rPr lang="en-US" sz="4600" b="1" spc="-100" kern="0" dirty="0">
                <a:solidFill>
                  <a:srgbClr val="FFFFFF"/>
                </a:solidFill>
                <a:latin typeface="Spoqa Han Sans Neo" pitchFamily="34" charset="0"/>
                <a:ea typeface="Spoqa Han Sans Neo" pitchFamily="34" charset="-122"/>
                <a:cs typeface="Spoqa Han Sans Neo" pitchFamily="34" charset="-120"/>
              </a:rPr>
              <a:t>2026 자산관리 세무 전략</a:t>
            </a:r>
            <a:endParaRPr lang="en-US" sz="4600" dirty="0"/>
          </a:p>
        </p:txBody>
      </p:sp>
      <p:sp>
        <p:nvSpPr>
          <p:cNvPr id="4" name="Text 2"/>
          <p:cNvSpPr/>
          <p:nvPr/>
        </p:nvSpPr>
        <p:spPr>
          <a:xfrm>
            <a:off x="566928" y="2880360"/>
            <a:ext cx="10058400" cy="365760"/>
          </a:xfrm>
          <a:prstGeom prst="rect">
            <a:avLst/>
          </a:prstGeom>
          <a:noFill/>
          <a:ln/>
        </p:spPr>
        <p:txBody>
          <a:bodyPr wrap="square" lIns="0" tIns="0" rIns="0" bIns="0" rtlCol="0" anchor="ctr"/>
          <a:lstStyle/>
          <a:p>
            <a:pPr indent="0" marL="0">
              <a:buNone/>
            </a:pPr>
            <a:r>
              <a:rPr lang="en-US" sz="1500" dirty="0">
                <a:solidFill>
                  <a:srgbClr val="FFFFFF"/>
                </a:solidFill>
                <a:latin typeface="Spoqa Han Sans Neo" pitchFamily="34" charset="0"/>
                <a:ea typeface="Spoqa Han Sans Neo" pitchFamily="34" charset="-122"/>
                <a:cs typeface="Spoqa Han Sans Neo" pitchFamily="34" charset="-120"/>
              </a:rPr>
              <a:t>개인의 소득세부터 법인의 투자 세제까지 — 확정 세법과 개정 추진안을 구분한 실무 가이드</a:t>
            </a:r>
            <a:endParaRPr lang="en-US" sz="1500" dirty="0"/>
          </a:p>
        </p:txBody>
      </p:sp>
      <p:sp>
        <p:nvSpPr>
          <p:cNvPr id="5" name="Shape 3"/>
          <p:cNvSpPr/>
          <p:nvPr/>
        </p:nvSpPr>
        <p:spPr>
          <a:xfrm>
            <a:off x="566928" y="4160520"/>
            <a:ext cx="2615184" cy="512064"/>
          </a:xfrm>
          <a:prstGeom prst="rect">
            <a:avLst/>
          </a:prstGeom>
          <a:solidFill>
            <a:srgbClr val="F58220"/>
          </a:solidFill>
          <a:ln w="12700">
            <a:solidFill>
              <a:srgbClr val="FFFFFF"/>
            </a:solidFill>
            <a:prstDash val="solid"/>
          </a:ln>
        </p:spPr>
      </p:sp>
      <p:sp>
        <p:nvSpPr>
          <p:cNvPr id="6" name="Text 4"/>
          <p:cNvSpPr/>
          <p:nvPr/>
        </p:nvSpPr>
        <p:spPr>
          <a:xfrm>
            <a:off x="566928" y="4160520"/>
            <a:ext cx="261518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Spoqa Han Sans Neo" pitchFamily="34" charset="0"/>
                <a:ea typeface="Spoqa Han Sans Neo" pitchFamily="34" charset="-122"/>
                <a:cs typeface="Spoqa Han Sans Neo" pitchFamily="34" charset="-120"/>
              </a:rPr>
              <a:t>PART I  종합소득세</a:t>
            </a:r>
            <a:endParaRPr lang="en-US" sz="1100" dirty="0"/>
          </a:p>
        </p:txBody>
      </p:sp>
      <p:sp>
        <p:nvSpPr>
          <p:cNvPr id="7" name="Shape 5"/>
          <p:cNvSpPr/>
          <p:nvPr/>
        </p:nvSpPr>
        <p:spPr>
          <a:xfrm>
            <a:off x="3355848" y="4160520"/>
            <a:ext cx="2615184" cy="512064"/>
          </a:xfrm>
          <a:prstGeom prst="rect">
            <a:avLst/>
          </a:prstGeom>
          <a:solidFill>
            <a:srgbClr val="F58220"/>
          </a:solidFill>
          <a:ln w="12700">
            <a:solidFill>
              <a:srgbClr val="FFFFFF"/>
            </a:solidFill>
            <a:prstDash val="solid"/>
          </a:ln>
        </p:spPr>
      </p:sp>
      <p:sp>
        <p:nvSpPr>
          <p:cNvPr id="8" name="Text 6"/>
          <p:cNvSpPr/>
          <p:nvPr/>
        </p:nvSpPr>
        <p:spPr>
          <a:xfrm>
            <a:off x="3355848" y="4160520"/>
            <a:ext cx="261518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Spoqa Han Sans Neo" pitchFamily="34" charset="0"/>
                <a:ea typeface="Spoqa Han Sans Neo" pitchFamily="34" charset="-122"/>
                <a:cs typeface="Spoqa Han Sans Neo" pitchFamily="34" charset="-120"/>
              </a:rPr>
              <a:t>PART II  근로 · 사업소득</a:t>
            </a:r>
            <a:endParaRPr lang="en-US" sz="1100" dirty="0"/>
          </a:p>
        </p:txBody>
      </p:sp>
      <p:sp>
        <p:nvSpPr>
          <p:cNvPr id="9" name="Shape 7"/>
          <p:cNvSpPr/>
          <p:nvPr/>
        </p:nvSpPr>
        <p:spPr>
          <a:xfrm>
            <a:off x="6144768" y="4160520"/>
            <a:ext cx="2615184" cy="512064"/>
          </a:xfrm>
          <a:prstGeom prst="rect">
            <a:avLst/>
          </a:prstGeom>
          <a:solidFill>
            <a:srgbClr val="F58220"/>
          </a:solidFill>
          <a:ln w="12700">
            <a:solidFill>
              <a:srgbClr val="FFFFFF"/>
            </a:solidFill>
            <a:prstDash val="solid"/>
          </a:ln>
        </p:spPr>
      </p:sp>
      <p:sp>
        <p:nvSpPr>
          <p:cNvPr id="10" name="Text 8"/>
          <p:cNvSpPr/>
          <p:nvPr/>
        </p:nvSpPr>
        <p:spPr>
          <a:xfrm>
            <a:off x="6144768" y="4160520"/>
            <a:ext cx="261518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Spoqa Han Sans Neo" pitchFamily="34" charset="0"/>
                <a:ea typeface="Spoqa Han Sans Neo" pitchFamily="34" charset="-122"/>
                <a:cs typeface="Spoqa Han Sans Neo" pitchFamily="34" charset="-120"/>
              </a:rPr>
              <a:t>PART III  상속 · 증여</a:t>
            </a:r>
            <a:endParaRPr lang="en-US" sz="1100" dirty="0"/>
          </a:p>
        </p:txBody>
      </p:sp>
      <p:sp>
        <p:nvSpPr>
          <p:cNvPr id="11" name="Shape 9"/>
          <p:cNvSpPr/>
          <p:nvPr/>
        </p:nvSpPr>
        <p:spPr>
          <a:xfrm>
            <a:off x="8933688" y="4160520"/>
            <a:ext cx="2615184" cy="512064"/>
          </a:xfrm>
          <a:prstGeom prst="rect">
            <a:avLst/>
          </a:prstGeom>
          <a:solidFill>
            <a:srgbClr val="F58220"/>
          </a:solidFill>
          <a:ln w="12700">
            <a:solidFill>
              <a:srgbClr val="FFFFFF"/>
            </a:solidFill>
            <a:prstDash val="solid"/>
          </a:ln>
        </p:spPr>
      </p:sp>
      <p:sp>
        <p:nvSpPr>
          <p:cNvPr id="12" name="Text 10"/>
          <p:cNvSpPr/>
          <p:nvPr/>
        </p:nvSpPr>
        <p:spPr>
          <a:xfrm>
            <a:off x="8933688" y="4160520"/>
            <a:ext cx="261518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Spoqa Han Sans Neo" pitchFamily="34" charset="0"/>
                <a:ea typeface="Spoqa Han Sans Neo" pitchFamily="34" charset="-122"/>
                <a:cs typeface="Spoqa Han Sans Neo" pitchFamily="34" charset="-120"/>
              </a:rPr>
              <a:t>PART IV  법인 · 금융투자</a:t>
            </a:r>
            <a:endParaRPr lang="en-US" sz="1100" dirty="0"/>
          </a:p>
        </p:txBody>
      </p:sp>
      <p:sp>
        <p:nvSpPr>
          <p:cNvPr id="13" name="Text 11"/>
          <p:cNvSpPr/>
          <p:nvPr/>
        </p:nvSpPr>
        <p:spPr>
          <a:xfrm>
            <a:off x="566928" y="5943600"/>
            <a:ext cx="5486400" cy="274320"/>
          </a:xfrm>
          <a:prstGeom prst="rect">
            <a:avLst/>
          </a:prstGeom>
          <a:noFill/>
          <a:ln/>
        </p:spPr>
        <p:txBody>
          <a:bodyPr wrap="square" lIns="0" tIns="0" rIns="0" bIns="0" rtlCol="0" anchor="ctr"/>
          <a:lstStyle/>
          <a:p>
            <a:pPr indent="0" marL="0">
              <a:buNone/>
            </a:pPr>
            <a:r>
              <a:rPr lang="en-US" sz="1150" dirty="0">
                <a:solidFill>
                  <a:srgbClr val="FFFFFF"/>
                </a:solidFill>
                <a:latin typeface="Spoqa Han Sans Neo" pitchFamily="34" charset="0"/>
                <a:ea typeface="Spoqa Han Sans Neo" pitchFamily="34" charset="-122"/>
                <a:cs typeface="Spoqa Han Sans Neo" pitchFamily="34" charset="-120"/>
              </a:rPr>
              <a:t>2026년 10월  ·  전 30면</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CONTENTS</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이 자료의 구성</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확정 세법 기준 · 개정 추진안은 별도 표기 · 4개 파트 30면</a:t>
            </a:r>
            <a:endParaRPr lang="en-US" sz="1250" dirty="0"/>
          </a:p>
        </p:txBody>
      </p:sp>
      <p:sp>
        <p:nvSpPr>
          <p:cNvPr id="6" name="Shape 4"/>
          <p:cNvSpPr/>
          <p:nvPr/>
        </p:nvSpPr>
        <p:spPr>
          <a:xfrm>
            <a:off x="566928" y="1627632"/>
            <a:ext cx="3502152" cy="2103120"/>
          </a:xfrm>
          <a:prstGeom prst="rect">
            <a:avLst/>
          </a:prstGeom>
          <a:solidFill>
            <a:srgbClr val="F7F8FA"/>
          </a:solidFill>
          <a:ln w="9525">
            <a:solidFill>
              <a:srgbClr val="CDCECB"/>
            </a:solidFill>
            <a:prstDash val="solid"/>
          </a:ln>
        </p:spPr>
      </p:sp>
      <p:sp>
        <p:nvSpPr>
          <p:cNvPr id="7" name="Text 5"/>
          <p:cNvSpPr/>
          <p:nvPr/>
        </p:nvSpPr>
        <p:spPr>
          <a:xfrm>
            <a:off x="768096" y="1810512"/>
            <a:ext cx="2679192" cy="274320"/>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개요</a:t>
            </a:r>
            <a:endParaRPr lang="en-US" sz="1250" dirty="0"/>
          </a:p>
        </p:txBody>
      </p:sp>
      <p:sp>
        <p:nvSpPr>
          <p:cNvPr id="8" name="Text 6"/>
          <p:cNvSpPr/>
          <p:nvPr/>
        </p:nvSpPr>
        <p:spPr>
          <a:xfrm>
            <a:off x="3246120" y="1810512"/>
            <a:ext cx="621792" cy="274320"/>
          </a:xfrm>
          <a:prstGeom prst="rect">
            <a:avLst/>
          </a:prstGeom>
          <a:noFill/>
          <a:ln/>
        </p:spPr>
        <p:txBody>
          <a:bodyPr wrap="square" lIns="0" tIns="0" rIns="0" bIns="0" rtlCol="0" anchor="t"/>
          <a:lstStyle/>
          <a:p>
            <a:pPr algn="r"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p.3–4</a:t>
            </a:r>
            <a:endParaRPr lang="en-US" sz="1000" dirty="0"/>
          </a:p>
        </p:txBody>
      </p:sp>
      <p:sp>
        <p:nvSpPr>
          <p:cNvPr id="9" name="Text 7"/>
          <p:cNvSpPr/>
          <p:nvPr/>
        </p:nvSpPr>
        <p:spPr>
          <a:xfrm>
            <a:off x="768096" y="2176272"/>
            <a:ext cx="3099816" cy="14173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2026년 세제 5대 변화</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세액 계산 5단계와 절세 개입 지점</a:t>
            </a:r>
            <a:endParaRPr lang="en-US" sz="1050" dirty="0"/>
          </a:p>
        </p:txBody>
      </p:sp>
      <p:sp>
        <p:nvSpPr>
          <p:cNvPr id="10" name="Shape 8"/>
          <p:cNvSpPr/>
          <p:nvPr/>
        </p:nvSpPr>
        <p:spPr>
          <a:xfrm>
            <a:off x="4361688" y="1627632"/>
            <a:ext cx="3502152" cy="2103120"/>
          </a:xfrm>
          <a:prstGeom prst="rect">
            <a:avLst/>
          </a:prstGeom>
          <a:solidFill>
            <a:srgbClr val="FFFFFF"/>
          </a:solidFill>
          <a:ln w="9525">
            <a:solidFill>
              <a:srgbClr val="CDCECB"/>
            </a:solidFill>
            <a:prstDash val="solid"/>
          </a:ln>
        </p:spPr>
      </p:sp>
      <p:sp>
        <p:nvSpPr>
          <p:cNvPr id="11" name="Text 9"/>
          <p:cNvSpPr/>
          <p:nvPr/>
        </p:nvSpPr>
        <p:spPr>
          <a:xfrm>
            <a:off x="4562856" y="1810512"/>
            <a:ext cx="2679192" cy="274320"/>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PART I  종합소득세</a:t>
            </a:r>
            <a:endParaRPr lang="en-US" sz="1250" dirty="0"/>
          </a:p>
        </p:txBody>
      </p:sp>
      <p:sp>
        <p:nvSpPr>
          <p:cNvPr id="12" name="Text 10"/>
          <p:cNvSpPr/>
          <p:nvPr/>
        </p:nvSpPr>
        <p:spPr>
          <a:xfrm>
            <a:off x="7040880" y="1810512"/>
            <a:ext cx="621792" cy="274320"/>
          </a:xfrm>
          <a:prstGeom prst="rect">
            <a:avLst/>
          </a:prstGeom>
          <a:noFill/>
          <a:ln/>
        </p:spPr>
        <p:txBody>
          <a:bodyPr wrap="square" lIns="0" tIns="0" rIns="0" bIns="0" rtlCol="0" anchor="t"/>
          <a:lstStyle/>
          <a:p>
            <a:pPr algn="r"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p.5–11</a:t>
            </a:r>
            <a:endParaRPr lang="en-US" sz="1000" dirty="0"/>
          </a:p>
        </p:txBody>
      </p:sp>
      <p:sp>
        <p:nvSpPr>
          <p:cNvPr id="13" name="Text 11"/>
          <p:cNvSpPr/>
          <p:nvPr/>
        </p:nvSpPr>
        <p:spPr>
          <a:xfrm>
            <a:off x="4562856" y="2176272"/>
            <a:ext cx="3099816" cy="14173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소득 합산 구조와 과세 방식</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2026년 세율표 · 신고 캘린더</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금융소득종합과세 · 배당 분리과세</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금융상품별 세제 지도</a:t>
            </a:r>
            <a:endParaRPr lang="en-US" sz="1050" dirty="0"/>
          </a:p>
        </p:txBody>
      </p:sp>
      <p:sp>
        <p:nvSpPr>
          <p:cNvPr id="14" name="Shape 12"/>
          <p:cNvSpPr/>
          <p:nvPr/>
        </p:nvSpPr>
        <p:spPr>
          <a:xfrm>
            <a:off x="8156448" y="1627632"/>
            <a:ext cx="3502152" cy="2103120"/>
          </a:xfrm>
          <a:prstGeom prst="rect">
            <a:avLst/>
          </a:prstGeom>
          <a:solidFill>
            <a:srgbClr val="FFFFFF"/>
          </a:solidFill>
          <a:ln w="9525">
            <a:solidFill>
              <a:srgbClr val="CDCECB"/>
            </a:solidFill>
            <a:prstDash val="solid"/>
          </a:ln>
        </p:spPr>
      </p:sp>
      <p:sp>
        <p:nvSpPr>
          <p:cNvPr id="15" name="Text 13"/>
          <p:cNvSpPr/>
          <p:nvPr/>
        </p:nvSpPr>
        <p:spPr>
          <a:xfrm>
            <a:off x="8357616" y="1810512"/>
            <a:ext cx="2679192" cy="274320"/>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PART II  근로 · 사업소득</a:t>
            </a:r>
            <a:endParaRPr lang="en-US" sz="1250" dirty="0"/>
          </a:p>
        </p:txBody>
      </p:sp>
      <p:sp>
        <p:nvSpPr>
          <p:cNvPr id="16" name="Text 14"/>
          <p:cNvSpPr/>
          <p:nvPr/>
        </p:nvSpPr>
        <p:spPr>
          <a:xfrm>
            <a:off x="10835640" y="1810512"/>
            <a:ext cx="621792" cy="274320"/>
          </a:xfrm>
          <a:prstGeom prst="rect">
            <a:avLst/>
          </a:prstGeom>
          <a:noFill/>
          <a:ln/>
        </p:spPr>
        <p:txBody>
          <a:bodyPr wrap="square" lIns="0" tIns="0" rIns="0" bIns="0" rtlCol="0" anchor="t"/>
          <a:lstStyle/>
          <a:p>
            <a:pPr algn="r"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p.12–17</a:t>
            </a:r>
            <a:endParaRPr lang="en-US" sz="1000" dirty="0"/>
          </a:p>
        </p:txBody>
      </p:sp>
      <p:sp>
        <p:nvSpPr>
          <p:cNvPr id="17" name="Text 15"/>
          <p:cNvSpPr/>
          <p:nvPr/>
        </p:nvSpPr>
        <p:spPr>
          <a:xfrm>
            <a:off x="8357616" y="2176272"/>
            <a:ext cx="3099816" cy="14173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근로소득 공제 · 세액공제 지도</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연금계좌 900만원 활용</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ISA 현행과 확대 추진안</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장부 · 경비 · 사업자 절세 카드</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개인 vs 법인 판단 기준</a:t>
            </a:r>
            <a:endParaRPr lang="en-US" sz="1050" dirty="0"/>
          </a:p>
        </p:txBody>
      </p:sp>
      <p:sp>
        <p:nvSpPr>
          <p:cNvPr id="18" name="Shape 16"/>
          <p:cNvSpPr/>
          <p:nvPr/>
        </p:nvSpPr>
        <p:spPr>
          <a:xfrm>
            <a:off x="566928" y="3986784"/>
            <a:ext cx="3502152" cy="2103120"/>
          </a:xfrm>
          <a:prstGeom prst="rect">
            <a:avLst/>
          </a:prstGeom>
          <a:solidFill>
            <a:srgbClr val="FFFFFF"/>
          </a:solidFill>
          <a:ln w="9525">
            <a:solidFill>
              <a:srgbClr val="CDCECB"/>
            </a:solidFill>
            <a:prstDash val="solid"/>
          </a:ln>
        </p:spPr>
      </p:sp>
      <p:sp>
        <p:nvSpPr>
          <p:cNvPr id="19" name="Text 17"/>
          <p:cNvSpPr/>
          <p:nvPr/>
        </p:nvSpPr>
        <p:spPr>
          <a:xfrm>
            <a:off x="768096" y="4169664"/>
            <a:ext cx="2679192" cy="274320"/>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PART III  상속 · 증여</a:t>
            </a:r>
            <a:endParaRPr lang="en-US" sz="1250" dirty="0"/>
          </a:p>
        </p:txBody>
      </p:sp>
      <p:sp>
        <p:nvSpPr>
          <p:cNvPr id="20" name="Text 18"/>
          <p:cNvSpPr/>
          <p:nvPr/>
        </p:nvSpPr>
        <p:spPr>
          <a:xfrm>
            <a:off x="3246120" y="4169664"/>
            <a:ext cx="621792" cy="274320"/>
          </a:xfrm>
          <a:prstGeom prst="rect">
            <a:avLst/>
          </a:prstGeom>
          <a:noFill/>
          <a:ln/>
        </p:spPr>
        <p:txBody>
          <a:bodyPr wrap="square" lIns="0" tIns="0" rIns="0" bIns="0" rtlCol="0" anchor="t"/>
          <a:lstStyle/>
          <a:p>
            <a:pPr algn="r"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p.18–24</a:t>
            </a:r>
            <a:endParaRPr lang="en-US" sz="1000" dirty="0"/>
          </a:p>
        </p:txBody>
      </p:sp>
      <p:sp>
        <p:nvSpPr>
          <p:cNvPr id="21" name="Text 19"/>
          <p:cNvSpPr/>
          <p:nvPr/>
        </p:nvSpPr>
        <p:spPr>
          <a:xfrm>
            <a:off x="768096" y="4535424"/>
            <a:ext cx="3099816" cy="14173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세율 구조와 공제 총정리</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상속세 계산 사례</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유산취득세 전환(미확정)</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사전증여 10년 플랜</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가업승계 세제</a:t>
            </a:r>
            <a:endParaRPr lang="en-US" sz="1050" dirty="0"/>
          </a:p>
        </p:txBody>
      </p:sp>
      <p:sp>
        <p:nvSpPr>
          <p:cNvPr id="22" name="Shape 20"/>
          <p:cNvSpPr/>
          <p:nvPr/>
        </p:nvSpPr>
        <p:spPr>
          <a:xfrm>
            <a:off x="4361688" y="3986784"/>
            <a:ext cx="3502152" cy="2103120"/>
          </a:xfrm>
          <a:prstGeom prst="rect">
            <a:avLst/>
          </a:prstGeom>
          <a:solidFill>
            <a:srgbClr val="FFFFFF"/>
          </a:solidFill>
          <a:ln w="9525">
            <a:solidFill>
              <a:srgbClr val="CDCECB"/>
            </a:solidFill>
            <a:prstDash val="solid"/>
          </a:ln>
        </p:spPr>
      </p:sp>
      <p:sp>
        <p:nvSpPr>
          <p:cNvPr id="23" name="Text 21"/>
          <p:cNvSpPr/>
          <p:nvPr/>
        </p:nvSpPr>
        <p:spPr>
          <a:xfrm>
            <a:off x="4562856" y="4169664"/>
            <a:ext cx="2679192" cy="274320"/>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PART IV  법인 · 금융투자</a:t>
            </a:r>
            <a:endParaRPr lang="en-US" sz="1250" dirty="0"/>
          </a:p>
        </p:txBody>
      </p:sp>
      <p:sp>
        <p:nvSpPr>
          <p:cNvPr id="24" name="Text 22"/>
          <p:cNvSpPr/>
          <p:nvPr/>
        </p:nvSpPr>
        <p:spPr>
          <a:xfrm>
            <a:off x="7040880" y="4169664"/>
            <a:ext cx="621792" cy="274320"/>
          </a:xfrm>
          <a:prstGeom prst="rect">
            <a:avLst/>
          </a:prstGeom>
          <a:noFill/>
          <a:ln/>
        </p:spPr>
        <p:txBody>
          <a:bodyPr wrap="square" lIns="0" tIns="0" rIns="0" bIns="0" rtlCol="0" anchor="t"/>
          <a:lstStyle/>
          <a:p>
            <a:pPr algn="r"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p.25–29</a:t>
            </a:r>
            <a:endParaRPr lang="en-US" sz="1000" dirty="0"/>
          </a:p>
        </p:txBody>
      </p:sp>
      <p:sp>
        <p:nvSpPr>
          <p:cNvPr id="25" name="Text 23"/>
          <p:cNvSpPr/>
          <p:nvPr/>
        </p:nvSpPr>
        <p:spPr>
          <a:xfrm>
            <a:off x="4562856" y="4535424"/>
            <a:ext cx="3099816" cy="14173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2026년 법인세율 인상 영향</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법인세 계산구조 · 신고 일정</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법인의 금융 · 투자 소득 과세</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잉여금 환류와 세액공제</a:t>
            </a:r>
            <a:endParaRPr lang="en-US" sz="1050" dirty="0"/>
          </a:p>
        </p:txBody>
      </p:sp>
      <p:sp>
        <p:nvSpPr>
          <p:cNvPr id="26" name="Shape 24"/>
          <p:cNvSpPr/>
          <p:nvPr/>
        </p:nvSpPr>
        <p:spPr>
          <a:xfrm>
            <a:off x="8156448" y="3986784"/>
            <a:ext cx="3502152" cy="2103120"/>
          </a:xfrm>
          <a:prstGeom prst="rect">
            <a:avLst/>
          </a:prstGeom>
          <a:solidFill>
            <a:srgbClr val="F7F8FA"/>
          </a:solidFill>
          <a:ln w="9525">
            <a:solidFill>
              <a:srgbClr val="CDCECB"/>
            </a:solidFill>
            <a:prstDash val="solid"/>
          </a:ln>
        </p:spPr>
      </p:sp>
      <p:sp>
        <p:nvSpPr>
          <p:cNvPr id="27" name="Text 25"/>
          <p:cNvSpPr/>
          <p:nvPr/>
        </p:nvSpPr>
        <p:spPr>
          <a:xfrm>
            <a:off x="8357616" y="4169664"/>
            <a:ext cx="2679192" cy="274320"/>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마무리</a:t>
            </a:r>
            <a:endParaRPr lang="en-US" sz="1250" dirty="0"/>
          </a:p>
        </p:txBody>
      </p:sp>
      <p:sp>
        <p:nvSpPr>
          <p:cNvPr id="28" name="Text 26"/>
          <p:cNvSpPr/>
          <p:nvPr/>
        </p:nvSpPr>
        <p:spPr>
          <a:xfrm>
            <a:off x="10835640" y="4169664"/>
            <a:ext cx="621792" cy="274320"/>
          </a:xfrm>
          <a:prstGeom prst="rect">
            <a:avLst/>
          </a:prstGeom>
          <a:noFill/>
          <a:ln/>
        </p:spPr>
        <p:txBody>
          <a:bodyPr wrap="square" lIns="0" tIns="0" rIns="0" bIns="0" rtlCol="0" anchor="t"/>
          <a:lstStyle/>
          <a:p>
            <a:pPr algn="r"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p.30</a:t>
            </a:r>
            <a:endParaRPr lang="en-US" sz="1000" dirty="0"/>
          </a:p>
        </p:txBody>
      </p:sp>
      <p:sp>
        <p:nvSpPr>
          <p:cNvPr id="29" name="Text 27"/>
          <p:cNvSpPr/>
          <p:nvPr/>
        </p:nvSpPr>
        <p:spPr>
          <a:xfrm>
            <a:off x="8357616" y="4535424"/>
            <a:ext cx="3099816" cy="14173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대상별 실행 체크리스트</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자료 이용 시 유의사항</a:t>
            </a:r>
            <a:endParaRPr lang="en-US" sz="1050" dirty="0"/>
          </a:p>
        </p:txBody>
      </p:sp>
      <p:sp>
        <p:nvSpPr>
          <p:cNvPr id="30" name="Text 28"/>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1" name="Text 29"/>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개요</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2026년 세제, 무엇이 달라졌는가</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2025년 12월 국회 통과 · 2026년 1월 1일 이후 시행 항목 중심</a:t>
            </a:r>
            <a:endParaRPr lang="en-US" sz="1250" dirty="0"/>
          </a:p>
        </p:txBody>
      </p:sp>
      <p:sp>
        <p:nvSpPr>
          <p:cNvPr id="6" name="Shape 4"/>
          <p:cNvSpPr/>
          <p:nvPr/>
        </p:nvSpPr>
        <p:spPr>
          <a:xfrm>
            <a:off x="566928" y="1572768"/>
            <a:ext cx="5358384" cy="1325880"/>
          </a:xfrm>
          <a:prstGeom prst="rect">
            <a:avLst/>
          </a:prstGeom>
          <a:solidFill>
            <a:srgbClr val="FFFFFF"/>
          </a:solidFill>
          <a:ln w="9525">
            <a:solidFill>
              <a:srgbClr val="CDCECB"/>
            </a:solidFill>
            <a:prstDash val="solid"/>
          </a:ln>
        </p:spPr>
      </p:sp>
      <p:sp>
        <p:nvSpPr>
          <p:cNvPr id="7" name="Shape 5"/>
          <p:cNvSpPr/>
          <p:nvPr/>
        </p:nvSpPr>
        <p:spPr>
          <a:xfrm>
            <a:off x="749808" y="1755648"/>
            <a:ext cx="384048" cy="384048"/>
          </a:xfrm>
          <a:prstGeom prst="ellipse">
            <a:avLst/>
          </a:prstGeom>
          <a:solidFill>
            <a:srgbClr val="F58220"/>
          </a:solidFill>
          <a:ln/>
        </p:spPr>
      </p:sp>
      <p:sp>
        <p:nvSpPr>
          <p:cNvPr id="8" name="Text 6"/>
          <p:cNvSpPr/>
          <p:nvPr/>
        </p:nvSpPr>
        <p:spPr>
          <a:xfrm>
            <a:off x="749808" y="17556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1</a:t>
            </a:r>
            <a:endParaRPr lang="en-US" sz="1250" dirty="0"/>
          </a:p>
        </p:txBody>
      </p:sp>
      <p:sp>
        <p:nvSpPr>
          <p:cNvPr id="9" name="Text 7"/>
          <p:cNvSpPr/>
          <p:nvPr/>
        </p:nvSpPr>
        <p:spPr>
          <a:xfrm>
            <a:off x="1280160" y="1737360"/>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법인세율 전 구간 1%p 인상</a:t>
            </a:r>
            <a:endParaRPr lang="en-US" sz="1250" dirty="0"/>
          </a:p>
        </p:txBody>
      </p:sp>
      <p:sp>
        <p:nvSpPr>
          <p:cNvPr id="10" name="Text 8"/>
          <p:cNvSpPr/>
          <p:nvPr/>
        </p:nvSpPr>
        <p:spPr>
          <a:xfrm>
            <a:off x="1280160" y="1993392"/>
            <a:ext cx="4462272" cy="731520"/>
          </a:xfrm>
          <a:prstGeom prst="rect">
            <a:avLst/>
          </a:prstGeom>
          <a:noFill/>
          <a:ln/>
        </p:spPr>
        <p:txBody>
          <a:bodyPr wrap="square" lIns="0" tIns="0" rIns="0" bIns="0" rtlCol="0" anchor="t"/>
          <a:lstStyle/>
          <a:p>
            <a:pPr indent="0" marL="0">
              <a:lnSpc>
                <a:spcPct val="120000"/>
              </a:lnSpc>
              <a:buNone/>
            </a:pPr>
            <a:r>
              <a:rPr lang="en-US" sz="1050" dirty="0">
                <a:solidFill>
                  <a:srgbClr val="3D3D3D"/>
                </a:solidFill>
                <a:latin typeface="Spoqa Han Sans Neo" pitchFamily="34" charset="0"/>
                <a:ea typeface="Spoqa Han Sans Neo" pitchFamily="34" charset="-122"/>
                <a:cs typeface="Spoqa Han Sans Neo" pitchFamily="34" charset="-120"/>
              </a:rPr>
              <a:t>2억 이하 10% / 2억~200억 20% / 200억~3천억 22% / 3천억 초과 25%. 2026.1.1 이후 개시 사업연도부터 적용되므로 실제 신고는 2027년 3월.</a:t>
            </a:r>
            <a:endParaRPr lang="en-US" sz="1050" dirty="0"/>
          </a:p>
        </p:txBody>
      </p:sp>
      <p:sp>
        <p:nvSpPr>
          <p:cNvPr id="11" name="Shape 9"/>
          <p:cNvSpPr/>
          <p:nvPr/>
        </p:nvSpPr>
        <p:spPr>
          <a:xfrm>
            <a:off x="6254496" y="1572768"/>
            <a:ext cx="5358384" cy="1325880"/>
          </a:xfrm>
          <a:prstGeom prst="rect">
            <a:avLst/>
          </a:prstGeom>
          <a:solidFill>
            <a:srgbClr val="FFFFFF"/>
          </a:solidFill>
          <a:ln w="9525">
            <a:solidFill>
              <a:srgbClr val="CDCECB"/>
            </a:solidFill>
            <a:prstDash val="solid"/>
          </a:ln>
        </p:spPr>
      </p:sp>
      <p:sp>
        <p:nvSpPr>
          <p:cNvPr id="12" name="Shape 10"/>
          <p:cNvSpPr/>
          <p:nvPr/>
        </p:nvSpPr>
        <p:spPr>
          <a:xfrm>
            <a:off x="6437376" y="1755648"/>
            <a:ext cx="384048" cy="384048"/>
          </a:xfrm>
          <a:prstGeom prst="ellipse">
            <a:avLst/>
          </a:prstGeom>
          <a:solidFill>
            <a:srgbClr val="F58220"/>
          </a:solidFill>
          <a:ln/>
        </p:spPr>
      </p:sp>
      <p:sp>
        <p:nvSpPr>
          <p:cNvPr id="13" name="Text 11"/>
          <p:cNvSpPr/>
          <p:nvPr/>
        </p:nvSpPr>
        <p:spPr>
          <a:xfrm>
            <a:off x="6437376" y="17556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2</a:t>
            </a:r>
            <a:endParaRPr lang="en-US" sz="1250" dirty="0"/>
          </a:p>
        </p:txBody>
      </p:sp>
      <p:sp>
        <p:nvSpPr>
          <p:cNvPr id="14" name="Text 12"/>
          <p:cNvSpPr/>
          <p:nvPr/>
        </p:nvSpPr>
        <p:spPr>
          <a:xfrm>
            <a:off x="6967728" y="1737360"/>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고배당 상장법인 배당소득 분리과세 신설</a:t>
            </a:r>
            <a:endParaRPr lang="en-US" sz="1250" dirty="0"/>
          </a:p>
        </p:txBody>
      </p:sp>
      <p:sp>
        <p:nvSpPr>
          <p:cNvPr id="15" name="Text 13"/>
          <p:cNvSpPr/>
          <p:nvPr/>
        </p:nvSpPr>
        <p:spPr>
          <a:xfrm>
            <a:off x="6967728" y="1993392"/>
            <a:ext cx="4462272" cy="731520"/>
          </a:xfrm>
          <a:prstGeom prst="rect">
            <a:avLst/>
          </a:prstGeom>
          <a:noFill/>
          <a:ln/>
        </p:spPr>
        <p:txBody>
          <a:bodyPr wrap="square" lIns="0" tIns="0" rIns="0" bIns="0" rtlCol="0" anchor="t"/>
          <a:lstStyle/>
          <a:p>
            <a:pPr indent="0" marL="0">
              <a:lnSpc>
                <a:spcPct val="120000"/>
              </a:lnSpc>
              <a:buNone/>
            </a:pPr>
            <a:r>
              <a:rPr lang="en-US" sz="1050" dirty="0">
                <a:solidFill>
                  <a:srgbClr val="3D3D3D"/>
                </a:solidFill>
                <a:latin typeface="Spoqa Han Sans Neo" pitchFamily="34" charset="0"/>
                <a:ea typeface="Spoqa Han Sans Neo" pitchFamily="34" charset="-122"/>
                <a:cs typeface="Spoqa Han Sans Neo" pitchFamily="34" charset="-120"/>
              </a:rPr>
              <a:t>요건 충족 배당에 14~30% 누진 분리과세를 선택 적용. 2026~2028년 지급분 3년 한시.</a:t>
            </a:r>
            <a:endParaRPr lang="en-US" sz="1050" dirty="0"/>
          </a:p>
        </p:txBody>
      </p:sp>
      <p:sp>
        <p:nvSpPr>
          <p:cNvPr id="16" name="Shape 14"/>
          <p:cNvSpPr/>
          <p:nvPr/>
        </p:nvSpPr>
        <p:spPr>
          <a:xfrm>
            <a:off x="566928" y="3081528"/>
            <a:ext cx="5358384" cy="1325880"/>
          </a:xfrm>
          <a:prstGeom prst="rect">
            <a:avLst/>
          </a:prstGeom>
          <a:solidFill>
            <a:srgbClr val="FFFFFF"/>
          </a:solidFill>
          <a:ln w="9525">
            <a:solidFill>
              <a:srgbClr val="CDCECB"/>
            </a:solidFill>
            <a:prstDash val="solid"/>
          </a:ln>
        </p:spPr>
      </p:sp>
      <p:sp>
        <p:nvSpPr>
          <p:cNvPr id="17" name="Shape 15"/>
          <p:cNvSpPr/>
          <p:nvPr/>
        </p:nvSpPr>
        <p:spPr>
          <a:xfrm>
            <a:off x="749808" y="3264408"/>
            <a:ext cx="384048" cy="384048"/>
          </a:xfrm>
          <a:prstGeom prst="ellipse">
            <a:avLst/>
          </a:prstGeom>
          <a:solidFill>
            <a:srgbClr val="F58220"/>
          </a:solidFill>
          <a:ln/>
        </p:spPr>
      </p:sp>
      <p:sp>
        <p:nvSpPr>
          <p:cNvPr id="18" name="Text 16"/>
          <p:cNvSpPr/>
          <p:nvPr/>
        </p:nvSpPr>
        <p:spPr>
          <a:xfrm>
            <a:off x="749808" y="326440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3</a:t>
            </a:r>
            <a:endParaRPr lang="en-US" sz="1250" dirty="0"/>
          </a:p>
        </p:txBody>
      </p:sp>
      <p:sp>
        <p:nvSpPr>
          <p:cNvPr id="19" name="Text 17"/>
          <p:cNvSpPr/>
          <p:nvPr/>
        </p:nvSpPr>
        <p:spPr>
          <a:xfrm>
            <a:off x="1280160" y="3246120"/>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증권거래세율 2023년 수준 환원</a:t>
            </a:r>
            <a:endParaRPr lang="en-US" sz="1250" dirty="0"/>
          </a:p>
        </p:txBody>
      </p:sp>
      <p:sp>
        <p:nvSpPr>
          <p:cNvPr id="20" name="Text 18"/>
          <p:cNvSpPr/>
          <p:nvPr/>
        </p:nvSpPr>
        <p:spPr>
          <a:xfrm>
            <a:off x="1280160" y="3502152"/>
            <a:ext cx="4462272" cy="731520"/>
          </a:xfrm>
          <a:prstGeom prst="rect">
            <a:avLst/>
          </a:prstGeom>
          <a:noFill/>
          <a:ln/>
        </p:spPr>
        <p:txBody>
          <a:bodyPr wrap="square" lIns="0" tIns="0" rIns="0" bIns="0" rtlCol="0" anchor="t"/>
          <a:lstStyle/>
          <a:p>
            <a:pPr indent="0" marL="0">
              <a:lnSpc>
                <a:spcPct val="120000"/>
              </a:lnSpc>
              <a:buNone/>
            </a:pPr>
            <a:r>
              <a:rPr lang="en-US" sz="1050" dirty="0">
                <a:solidFill>
                  <a:srgbClr val="3D3D3D"/>
                </a:solidFill>
                <a:latin typeface="Spoqa Han Sans Neo" pitchFamily="34" charset="0"/>
                <a:ea typeface="Spoqa Han Sans Neo" pitchFamily="34" charset="-122"/>
                <a:cs typeface="Spoqa Han Sans Neo" pitchFamily="34" charset="-120"/>
              </a:rPr>
              <a:t>코스피 0.05%(농어촌특별세 0.15% 별도), 코스닥·K-OTC 0.20%. 2026.1.1 이후 양도분.</a:t>
            </a:r>
            <a:endParaRPr lang="en-US" sz="1050" dirty="0"/>
          </a:p>
        </p:txBody>
      </p:sp>
      <p:sp>
        <p:nvSpPr>
          <p:cNvPr id="21" name="Shape 19"/>
          <p:cNvSpPr/>
          <p:nvPr/>
        </p:nvSpPr>
        <p:spPr>
          <a:xfrm>
            <a:off x="6254496" y="3081528"/>
            <a:ext cx="5358384" cy="1325880"/>
          </a:xfrm>
          <a:prstGeom prst="rect">
            <a:avLst/>
          </a:prstGeom>
          <a:solidFill>
            <a:srgbClr val="FFFFFF"/>
          </a:solidFill>
          <a:ln w="9525">
            <a:solidFill>
              <a:srgbClr val="CDCECB"/>
            </a:solidFill>
            <a:prstDash val="solid"/>
          </a:ln>
        </p:spPr>
      </p:sp>
      <p:sp>
        <p:nvSpPr>
          <p:cNvPr id="22" name="Shape 20"/>
          <p:cNvSpPr/>
          <p:nvPr/>
        </p:nvSpPr>
        <p:spPr>
          <a:xfrm>
            <a:off x="6437376" y="3264408"/>
            <a:ext cx="384048" cy="384048"/>
          </a:xfrm>
          <a:prstGeom prst="ellipse">
            <a:avLst/>
          </a:prstGeom>
          <a:solidFill>
            <a:srgbClr val="F58220"/>
          </a:solidFill>
          <a:ln/>
        </p:spPr>
      </p:sp>
      <p:sp>
        <p:nvSpPr>
          <p:cNvPr id="23" name="Text 21"/>
          <p:cNvSpPr/>
          <p:nvPr/>
        </p:nvSpPr>
        <p:spPr>
          <a:xfrm>
            <a:off x="6437376" y="326440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4</a:t>
            </a:r>
            <a:endParaRPr lang="en-US" sz="1250" dirty="0"/>
          </a:p>
        </p:txBody>
      </p:sp>
      <p:sp>
        <p:nvSpPr>
          <p:cNvPr id="24" name="Text 22"/>
          <p:cNvSpPr/>
          <p:nvPr/>
        </p:nvSpPr>
        <p:spPr>
          <a:xfrm>
            <a:off x="6967728" y="3246120"/>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금융·보험업 교육세 인상</a:t>
            </a:r>
            <a:endParaRPr lang="en-US" sz="1250" dirty="0"/>
          </a:p>
        </p:txBody>
      </p:sp>
      <p:sp>
        <p:nvSpPr>
          <p:cNvPr id="25" name="Text 23"/>
          <p:cNvSpPr/>
          <p:nvPr/>
        </p:nvSpPr>
        <p:spPr>
          <a:xfrm>
            <a:off x="6967728" y="3502152"/>
            <a:ext cx="4462272" cy="731520"/>
          </a:xfrm>
          <a:prstGeom prst="rect">
            <a:avLst/>
          </a:prstGeom>
          <a:noFill/>
          <a:ln/>
        </p:spPr>
        <p:txBody>
          <a:bodyPr wrap="square" lIns="0" tIns="0" rIns="0" bIns="0" rtlCol="0" anchor="t"/>
          <a:lstStyle/>
          <a:p>
            <a:pPr indent="0" marL="0">
              <a:lnSpc>
                <a:spcPct val="120000"/>
              </a:lnSpc>
              <a:buNone/>
            </a:pPr>
            <a:r>
              <a:rPr lang="en-US" sz="1050" dirty="0">
                <a:solidFill>
                  <a:srgbClr val="3D3D3D"/>
                </a:solidFill>
                <a:latin typeface="Spoqa Han Sans Neo" pitchFamily="34" charset="0"/>
                <a:ea typeface="Spoqa Han Sans Neo" pitchFamily="34" charset="-122"/>
                <a:cs typeface="Spoqa Han Sans Neo" pitchFamily="34" charset="-120"/>
              </a:rPr>
              <a:t>수익금액 1조원 이하 0.5%, 1조원 초과분 1.0%로 과표 구간 신설.</a:t>
            </a:r>
            <a:endParaRPr lang="en-US" sz="1050" dirty="0"/>
          </a:p>
        </p:txBody>
      </p:sp>
      <p:sp>
        <p:nvSpPr>
          <p:cNvPr id="26" name="Shape 24"/>
          <p:cNvSpPr/>
          <p:nvPr/>
        </p:nvSpPr>
        <p:spPr>
          <a:xfrm>
            <a:off x="566928" y="4590288"/>
            <a:ext cx="5358384" cy="1325880"/>
          </a:xfrm>
          <a:prstGeom prst="rect">
            <a:avLst/>
          </a:prstGeom>
          <a:solidFill>
            <a:srgbClr val="FFFFFF"/>
          </a:solidFill>
          <a:ln w="9525">
            <a:solidFill>
              <a:srgbClr val="CDCECB"/>
            </a:solidFill>
            <a:prstDash val="solid"/>
          </a:ln>
        </p:spPr>
      </p:sp>
      <p:sp>
        <p:nvSpPr>
          <p:cNvPr id="27" name="Shape 25"/>
          <p:cNvSpPr/>
          <p:nvPr/>
        </p:nvSpPr>
        <p:spPr>
          <a:xfrm>
            <a:off x="749808" y="4773168"/>
            <a:ext cx="384048" cy="384048"/>
          </a:xfrm>
          <a:prstGeom prst="ellipse">
            <a:avLst/>
          </a:prstGeom>
          <a:solidFill>
            <a:srgbClr val="F58220"/>
          </a:solidFill>
          <a:ln/>
        </p:spPr>
      </p:sp>
      <p:sp>
        <p:nvSpPr>
          <p:cNvPr id="28" name="Text 26"/>
          <p:cNvSpPr/>
          <p:nvPr/>
        </p:nvSpPr>
        <p:spPr>
          <a:xfrm>
            <a:off x="749808" y="477316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5</a:t>
            </a:r>
            <a:endParaRPr lang="en-US" sz="1250" dirty="0"/>
          </a:p>
        </p:txBody>
      </p:sp>
      <p:sp>
        <p:nvSpPr>
          <p:cNvPr id="29" name="Text 27"/>
          <p:cNvSpPr/>
          <p:nvPr/>
        </p:nvSpPr>
        <p:spPr>
          <a:xfrm>
            <a:off x="1280160" y="4754880"/>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상속세 유산취득세 전환은 아직 '안'</a:t>
            </a:r>
            <a:endParaRPr lang="en-US" sz="1250" dirty="0"/>
          </a:p>
        </p:txBody>
      </p:sp>
      <p:sp>
        <p:nvSpPr>
          <p:cNvPr id="30" name="Text 28"/>
          <p:cNvSpPr/>
          <p:nvPr/>
        </p:nvSpPr>
        <p:spPr>
          <a:xfrm>
            <a:off x="1280160" y="5010912"/>
            <a:ext cx="4462272" cy="731520"/>
          </a:xfrm>
          <a:prstGeom prst="rect">
            <a:avLst/>
          </a:prstGeom>
          <a:noFill/>
          <a:ln/>
        </p:spPr>
        <p:txBody>
          <a:bodyPr wrap="square" lIns="0" tIns="0" rIns="0" bIns="0" rtlCol="0" anchor="t"/>
          <a:lstStyle/>
          <a:p>
            <a:pPr indent="0" marL="0">
              <a:lnSpc>
                <a:spcPct val="120000"/>
              </a:lnSpc>
              <a:buNone/>
            </a:pPr>
            <a:r>
              <a:rPr lang="en-US" sz="1050" dirty="0">
                <a:solidFill>
                  <a:srgbClr val="3D3D3D"/>
                </a:solidFill>
                <a:latin typeface="Spoqa Han Sans Neo" pitchFamily="34" charset="0"/>
                <a:ea typeface="Spoqa Han Sans Neo" pitchFamily="34" charset="-122"/>
                <a:cs typeface="Spoqa Han Sans Neo" pitchFamily="34" charset="-120"/>
              </a:rPr>
              <a:t>정부안은 2028년 시행 목표로 국회 계류 중. 현재 상속은 여전히 유산세 방식으로 신고·납부.</a:t>
            </a:r>
            <a:endParaRPr lang="en-US" sz="1050" dirty="0"/>
          </a:p>
        </p:txBody>
      </p:sp>
      <p:sp>
        <p:nvSpPr>
          <p:cNvPr id="31" name="Shape 29"/>
          <p:cNvSpPr/>
          <p:nvPr/>
        </p:nvSpPr>
        <p:spPr>
          <a:xfrm>
            <a:off x="6254496" y="4590288"/>
            <a:ext cx="5358384" cy="1325880"/>
          </a:xfrm>
          <a:prstGeom prst="rect">
            <a:avLst/>
          </a:prstGeom>
          <a:solidFill>
            <a:srgbClr val="ECEFF4"/>
          </a:solidFill>
          <a:ln/>
        </p:spPr>
      </p:sp>
      <p:sp>
        <p:nvSpPr>
          <p:cNvPr id="32" name="Text 30"/>
          <p:cNvSpPr/>
          <p:nvPr/>
        </p:nvSpPr>
        <p:spPr>
          <a:xfrm>
            <a:off x="6437376" y="4736592"/>
            <a:ext cx="4992624" cy="256032"/>
          </a:xfrm>
          <a:prstGeom prst="rect">
            <a:avLst/>
          </a:prstGeom>
          <a:noFill/>
          <a:ln/>
        </p:spPr>
        <p:txBody>
          <a:bodyPr wrap="square" lIns="0" tIns="0" rIns="0" bIns="0" rtlCol="0" anchor="t"/>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그대로 유지된 것 — 오해 주의</a:t>
            </a:r>
            <a:endParaRPr lang="en-US" sz="1250" dirty="0"/>
          </a:p>
        </p:txBody>
      </p:sp>
      <p:sp>
        <p:nvSpPr>
          <p:cNvPr id="33" name="Text 31"/>
          <p:cNvSpPr/>
          <p:nvPr/>
        </p:nvSpPr>
        <p:spPr>
          <a:xfrm>
            <a:off x="6437376" y="5047488"/>
            <a:ext cx="4992624" cy="777240"/>
          </a:xfrm>
          <a:prstGeom prst="rect">
            <a:avLst/>
          </a:prstGeom>
          <a:noFill/>
          <a:ln/>
        </p:spPr>
        <p:txBody>
          <a:bodyPr wrap="square" lIns="0" tIns="0" rIns="0" bIns="0" rtlCol="0" anchor="t"/>
          <a:lstStyle/>
          <a:p>
            <a:pPr marL="342900" indent="-342900">
              <a:lnSpc>
                <a:spcPct val="120000"/>
              </a:lnSpc>
              <a:spcAft>
                <a:spcPts val="3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소득세율 6~45% 8단계 · 금융소득종합과세 기준 2,000만원</a:t>
            </a:r>
            <a:endParaRPr lang="en-US" sz="1030" dirty="0"/>
          </a:p>
          <a:p>
            <a:pPr marL="342900" indent="-342900">
              <a:lnSpc>
                <a:spcPct val="120000"/>
              </a:lnSpc>
              <a:spcAft>
                <a:spcPts val="3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상장주식 대주주 기준 종목당 50억원(10억원 환원안은 미채택)</a:t>
            </a:r>
            <a:endParaRPr lang="en-US" sz="1030" dirty="0"/>
          </a:p>
          <a:p>
            <a:pPr marL="342900" indent="-342900">
              <a:lnSpc>
                <a:spcPct val="120000"/>
              </a:lnSpc>
              <a:spcAft>
                <a:spcPts val="3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ISA 납입·비과세 한도 확대안은 국회 통과 전</a:t>
            </a:r>
            <a:endParaRPr lang="en-US" sz="1030" dirty="0"/>
          </a:p>
        </p:txBody>
      </p:sp>
      <p:sp>
        <p:nvSpPr>
          <p:cNvPr id="34" name="Text 32"/>
          <p:cNvSpPr/>
          <p:nvPr/>
        </p:nvSpPr>
        <p:spPr>
          <a:xfrm>
            <a:off x="566928" y="6035040"/>
            <a:ext cx="11057839"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자료: 기획재정부 2025년 세제개편, 2025년 12월 국회 통과 개정세법 및 2026년 2월 개정 시행령</a:t>
            </a:r>
            <a:endParaRPr lang="en-US" sz="900" dirty="0"/>
          </a:p>
        </p:txBody>
      </p:sp>
      <p:sp>
        <p:nvSpPr>
          <p:cNvPr id="35" name="Text 33"/>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6" name="Text 34"/>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개요</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절세는 세율이 아니라 '단계'에서 결정된다</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모든 소득세·법인세는 동일한 5단계 구조를 따른다</a:t>
            </a:r>
            <a:endParaRPr lang="en-US" sz="1250" dirty="0"/>
          </a:p>
        </p:txBody>
      </p:sp>
      <p:sp>
        <p:nvSpPr>
          <p:cNvPr id="6" name="Shape 4"/>
          <p:cNvSpPr/>
          <p:nvPr/>
        </p:nvSpPr>
        <p:spPr>
          <a:xfrm>
            <a:off x="566928" y="1600200"/>
            <a:ext cx="2057400" cy="841248"/>
          </a:xfrm>
          <a:prstGeom prst="rect">
            <a:avLst/>
          </a:prstGeom>
          <a:solidFill>
            <a:srgbClr val="ECEFF4"/>
          </a:solidFill>
          <a:ln/>
        </p:spPr>
      </p:sp>
      <p:sp>
        <p:nvSpPr>
          <p:cNvPr id="7" name="Text 5"/>
          <p:cNvSpPr/>
          <p:nvPr/>
        </p:nvSpPr>
        <p:spPr>
          <a:xfrm>
            <a:off x="694944" y="1673352"/>
            <a:ext cx="1801368" cy="219456"/>
          </a:xfrm>
          <a:prstGeom prst="rect">
            <a:avLst/>
          </a:prstGeom>
          <a:noFill/>
          <a:ln/>
        </p:spPr>
        <p:txBody>
          <a:bodyPr wrap="square" lIns="0" tIns="0" rIns="0" bIns="0" rtlCol="0" anchor="t"/>
          <a:lstStyle/>
          <a:p>
            <a:pPr algn="l"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01</a:t>
            </a:r>
            <a:endParaRPr lang="en-US" sz="1000" dirty="0"/>
          </a:p>
        </p:txBody>
      </p:sp>
      <p:sp>
        <p:nvSpPr>
          <p:cNvPr id="8" name="Text 6"/>
          <p:cNvSpPr/>
          <p:nvPr/>
        </p:nvSpPr>
        <p:spPr>
          <a:xfrm>
            <a:off x="694944" y="1874520"/>
            <a:ext cx="1801368" cy="256032"/>
          </a:xfrm>
          <a:prstGeom prst="rect">
            <a:avLst/>
          </a:prstGeom>
          <a:noFill/>
          <a:ln/>
        </p:spPr>
        <p:txBody>
          <a:bodyPr wrap="square" lIns="0" tIns="0" rIns="0" bIns="0" rtlCol="0" anchor="t"/>
          <a:lstStyle/>
          <a:p>
            <a:pPr algn="l" indent="0" marL="0">
              <a:lnSpc>
                <a:spcPct val="124000"/>
              </a:lnSpc>
              <a:buNone/>
            </a:pPr>
            <a:r>
              <a:rPr lang="en-US" sz="1350" b="1" dirty="0">
                <a:solidFill>
                  <a:srgbClr val="1A1A1A"/>
                </a:solidFill>
                <a:latin typeface="Spoqa Han Sans Neo" pitchFamily="34" charset="0"/>
                <a:ea typeface="Spoqa Han Sans Neo" pitchFamily="34" charset="-122"/>
                <a:cs typeface="Spoqa Han Sans Neo" pitchFamily="34" charset="-120"/>
              </a:rPr>
              <a:t>총수입금액</a:t>
            </a:r>
            <a:endParaRPr lang="en-US" sz="1350" dirty="0"/>
          </a:p>
        </p:txBody>
      </p:sp>
      <p:sp>
        <p:nvSpPr>
          <p:cNvPr id="9" name="Text 7"/>
          <p:cNvSpPr/>
          <p:nvPr/>
        </p:nvSpPr>
        <p:spPr>
          <a:xfrm>
            <a:off x="694944" y="2148840"/>
            <a:ext cx="1801368" cy="219456"/>
          </a:xfrm>
          <a:prstGeom prst="rect">
            <a:avLst/>
          </a:prstGeom>
          <a:noFill/>
          <a:ln/>
        </p:spPr>
        <p:txBody>
          <a:bodyPr wrap="square" lIns="0" tIns="0" rIns="0" bIns="0" rtlCol="0" anchor="t"/>
          <a:lstStyle/>
          <a:p>
            <a:pPr algn="l" indent="0" marL="0">
              <a:lnSpc>
                <a:spcPct val="124000"/>
              </a:lnSpc>
              <a:buNone/>
            </a:pPr>
            <a:r>
              <a:rPr lang="en-US" sz="950" dirty="0">
                <a:solidFill>
                  <a:srgbClr val="6C6C6C"/>
                </a:solidFill>
                <a:latin typeface="Spoqa Han Sans Neo" pitchFamily="34" charset="0"/>
                <a:ea typeface="Spoqa Han Sans Neo" pitchFamily="34" charset="-122"/>
                <a:cs typeface="Spoqa Han Sans Neo" pitchFamily="34" charset="-120"/>
              </a:rPr>
              <a:t>매출 · 급여 · 이자 · 배당</a:t>
            </a:r>
            <a:endParaRPr lang="en-US" sz="950" dirty="0"/>
          </a:p>
        </p:txBody>
      </p:sp>
      <p:sp>
        <p:nvSpPr>
          <p:cNvPr id="10" name="Shape 8"/>
          <p:cNvSpPr/>
          <p:nvPr/>
        </p:nvSpPr>
        <p:spPr>
          <a:xfrm>
            <a:off x="2807208" y="1600200"/>
            <a:ext cx="2057400" cy="841248"/>
          </a:xfrm>
          <a:prstGeom prst="rect">
            <a:avLst/>
          </a:prstGeom>
          <a:solidFill>
            <a:srgbClr val="ECEFF4"/>
          </a:solidFill>
          <a:ln/>
        </p:spPr>
      </p:sp>
      <p:sp>
        <p:nvSpPr>
          <p:cNvPr id="11" name="Text 9"/>
          <p:cNvSpPr/>
          <p:nvPr/>
        </p:nvSpPr>
        <p:spPr>
          <a:xfrm>
            <a:off x="2935224" y="1673352"/>
            <a:ext cx="1801368" cy="219456"/>
          </a:xfrm>
          <a:prstGeom prst="rect">
            <a:avLst/>
          </a:prstGeom>
          <a:noFill/>
          <a:ln/>
        </p:spPr>
        <p:txBody>
          <a:bodyPr wrap="square" lIns="0" tIns="0" rIns="0" bIns="0" rtlCol="0" anchor="t"/>
          <a:lstStyle/>
          <a:p>
            <a:pPr algn="l"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02</a:t>
            </a:r>
            <a:endParaRPr lang="en-US" sz="1000" dirty="0"/>
          </a:p>
        </p:txBody>
      </p:sp>
      <p:sp>
        <p:nvSpPr>
          <p:cNvPr id="12" name="Text 10"/>
          <p:cNvSpPr/>
          <p:nvPr/>
        </p:nvSpPr>
        <p:spPr>
          <a:xfrm>
            <a:off x="2935224" y="1874520"/>
            <a:ext cx="1801368" cy="256032"/>
          </a:xfrm>
          <a:prstGeom prst="rect">
            <a:avLst/>
          </a:prstGeom>
          <a:noFill/>
          <a:ln/>
        </p:spPr>
        <p:txBody>
          <a:bodyPr wrap="square" lIns="0" tIns="0" rIns="0" bIns="0" rtlCol="0" anchor="t"/>
          <a:lstStyle/>
          <a:p>
            <a:pPr algn="l" indent="0" marL="0">
              <a:lnSpc>
                <a:spcPct val="124000"/>
              </a:lnSpc>
              <a:buNone/>
            </a:pPr>
            <a:r>
              <a:rPr lang="en-US" sz="1350" b="1" dirty="0">
                <a:solidFill>
                  <a:srgbClr val="1A1A1A"/>
                </a:solidFill>
                <a:latin typeface="Spoqa Han Sans Neo" pitchFamily="34" charset="0"/>
                <a:ea typeface="Spoqa Han Sans Neo" pitchFamily="34" charset="-122"/>
                <a:cs typeface="Spoqa Han Sans Neo" pitchFamily="34" charset="-120"/>
              </a:rPr>
              <a:t>소득금액</a:t>
            </a:r>
            <a:endParaRPr lang="en-US" sz="1350" dirty="0"/>
          </a:p>
        </p:txBody>
      </p:sp>
      <p:sp>
        <p:nvSpPr>
          <p:cNvPr id="13" name="Text 11"/>
          <p:cNvSpPr/>
          <p:nvPr/>
        </p:nvSpPr>
        <p:spPr>
          <a:xfrm>
            <a:off x="2935224" y="2148840"/>
            <a:ext cx="1801368" cy="219456"/>
          </a:xfrm>
          <a:prstGeom prst="rect">
            <a:avLst/>
          </a:prstGeom>
          <a:noFill/>
          <a:ln/>
        </p:spPr>
        <p:txBody>
          <a:bodyPr wrap="square" lIns="0" tIns="0" rIns="0" bIns="0" rtlCol="0" anchor="t"/>
          <a:lstStyle/>
          <a:p>
            <a:pPr algn="l" indent="0" marL="0">
              <a:lnSpc>
                <a:spcPct val="124000"/>
              </a:lnSpc>
              <a:buNone/>
            </a:pPr>
            <a:r>
              <a:rPr lang="en-US" sz="950" dirty="0">
                <a:solidFill>
                  <a:srgbClr val="6C6C6C"/>
                </a:solidFill>
                <a:latin typeface="Spoqa Han Sans Neo" pitchFamily="34" charset="0"/>
                <a:ea typeface="Spoqa Han Sans Neo" pitchFamily="34" charset="-122"/>
                <a:cs typeface="Spoqa Han Sans Neo" pitchFamily="34" charset="-120"/>
              </a:rPr>
              <a:t>− 필요경비 / 근로소득공제</a:t>
            </a:r>
            <a:endParaRPr lang="en-US" sz="950" dirty="0"/>
          </a:p>
        </p:txBody>
      </p:sp>
      <p:sp>
        <p:nvSpPr>
          <p:cNvPr id="14" name="Shape 12"/>
          <p:cNvSpPr/>
          <p:nvPr/>
        </p:nvSpPr>
        <p:spPr>
          <a:xfrm>
            <a:off x="5047488" y="1600200"/>
            <a:ext cx="2057400" cy="841248"/>
          </a:xfrm>
          <a:prstGeom prst="rect">
            <a:avLst/>
          </a:prstGeom>
          <a:solidFill>
            <a:srgbClr val="ECEFF4"/>
          </a:solidFill>
          <a:ln/>
        </p:spPr>
      </p:sp>
      <p:sp>
        <p:nvSpPr>
          <p:cNvPr id="15" name="Text 13"/>
          <p:cNvSpPr/>
          <p:nvPr/>
        </p:nvSpPr>
        <p:spPr>
          <a:xfrm>
            <a:off x="5175504" y="1673352"/>
            <a:ext cx="1801368" cy="219456"/>
          </a:xfrm>
          <a:prstGeom prst="rect">
            <a:avLst/>
          </a:prstGeom>
          <a:noFill/>
          <a:ln/>
        </p:spPr>
        <p:txBody>
          <a:bodyPr wrap="square" lIns="0" tIns="0" rIns="0" bIns="0" rtlCol="0" anchor="t"/>
          <a:lstStyle/>
          <a:p>
            <a:pPr algn="l"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03</a:t>
            </a:r>
            <a:endParaRPr lang="en-US" sz="1000" dirty="0"/>
          </a:p>
        </p:txBody>
      </p:sp>
      <p:sp>
        <p:nvSpPr>
          <p:cNvPr id="16" name="Text 14"/>
          <p:cNvSpPr/>
          <p:nvPr/>
        </p:nvSpPr>
        <p:spPr>
          <a:xfrm>
            <a:off x="5175504" y="1874520"/>
            <a:ext cx="1801368" cy="256032"/>
          </a:xfrm>
          <a:prstGeom prst="rect">
            <a:avLst/>
          </a:prstGeom>
          <a:noFill/>
          <a:ln/>
        </p:spPr>
        <p:txBody>
          <a:bodyPr wrap="square" lIns="0" tIns="0" rIns="0" bIns="0" rtlCol="0" anchor="t"/>
          <a:lstStyle/>
          <a:p>
            <a:pPr algn="l" indent="0" marL="0">
              <a:lnSpc>
                <a:spcPct val="124000"/>
              </a:lnSpc>
              <a:buNone/>
            </a:pPr>
            <a:r>
              <a:rPr lang="en-US" sz="1350" b="1" dirty="0">
                <a:solidFill>
                  <a:srgbClr val="1A1A1A"/>
                </a:solidFill>
                <a:latin typeface="Spoqa Han Sans Neo" pitchFamily="34" charset="0"/>
                <a:ea typeface="Spoqa Han Sans Neo" pitchFamily="34" charset="-122"/>
                <a:cs typeface="Spoqa Han Sans Neo" pitchFamily="34" charset="-120"/>
              </a:rPr>
              <a:t>과세표준</a:t>
            </a:r>
            <a:endParaRPr lang="en-US" sz="1350" dirty="0"/>
          </a:p>
        </p:txBody>
      </p:sp>
      <p:sp>
        <p:nvSpPr>
          <p:cNvPr id="17" name="Text 15"/>
          <p:cNvSpPr/>
          <p:nvPr/>
        </p:nvSpPr>
        <p:spPr>
          <a:xfrm>
            <a:off x="5175504" y="2148840"/>
            <a:ext cx="1801368" cy="219456"/>
          </a:xfrm>
          <a:prstGeom prst="rect">
            <a:avLst/>
          </a:prstGeom>
          <a:noFill/>
          <a:ln/>
        </p:spPr>
        <p:txBody>
          <a:bodyPr wrap="square" lIns="0" tIns="0" rIns="0" bIns="0" rtlCol="0" anchor="t"/>
          <a:lstStyle/>
          <a:p>
            <a:pPr algn="l" indent="0" marL="0">
              <a:lnSpc>
                <a:spcPct val="124000"/>
              </a:lnSpc>
              <a:buNone/>
            </a:pPr>
            <a:r>
              <a:rPr lang="en-US" sz="950" dirty="0">
                <a:solidFill>
                  <a:srgbClr val="6C6C6C"/>
                </a:solidFill>
                <a:latin typeface="Spoqa Han Sans Neo" pitchFamily="34" charset="0"/>
                <a:ea typeface="Spoqa Han Sans Neo" pitchFamily="34" charset="-122"/>
                <a:cs typeface="Spoqa Han Sans Neo" pitchFamily="34" charset="-120"/>
              </a:rPr>
              <a:t>− 인적 · 물적 소득공제</a:t>
            </a:r>
            <a:endParaRPr lang="en-US" sz="950" dirty="0"/>
          </a:p>
        </p:txBody>
      </p:sp>
      <p:sp>
        <p:nvSpPr>
          <p:cNvPr id="18" name="Shape 16"/>
          <p:cNvSpPr/>
          <p:nvPr/>
        </p:nvSpPr>
        <p:spPr>
          <a:xfrm>
            <a:off x="7287768" y="1600200"/>
            <a:ext cx="2057400" cy="841248"/>
          </a:xfrm>
          <a:prstGeom prst="rect">
            <a:avLst/>
          </a:prstGeom>
          <a:solidFill>
            <a:srgbClr val="ECEFF4"/>
          </a:solidFill>
          <a:ln/>
        </p:spPr>
      </p:sp>
      <p:sp>
        <p:nvSpPr>
          <p:cNvPr id="19" name="Text 17"/>
          <p:cNvSpPr/>
          <p:nvPr/>
        </p:nvSpPr>
        <p:spPr>
          <a:xfrm>
            <a:off x="7415784" y="1673352"/>
            <a:ext cx="1801368" cy="219456"/>
          </a:xfrm>
          <a:prstGeom prst="rect">
            <a:avLst/>
          </a:prstGeom>
          <a:noFill/>
          <a:ln/>
        </p:spPr>
        <p:txBody>
          <a:bodyPr wrap="square" lIns="0" tIns="0" rIns="0" bIns="0" rtlCol="0" anchor="t"/>
          <a:lstStyle/>
          <a:p>
            <a:pPr algn="l" indent="0" marL="0">
              <a:lnSpc>
                <a:spcPct val="124000"/>
              </a:lnSpc>
              <a:buNone/>
            </a:pPr>
            <a:r>
              <a:rPr lang="en-US" sz="1000" b="1" dirty="0">
                <a:solidFill>
                  <a:srgbClr val="F58220"/>
                </a:solidFill>
                <a:latin typeface="Spoqa Han Sans Neo" pitchFamily="34" charset="0"/>
                <a:ea typeface="Spoqa Han Sans Neo" pitchFamily="34" charset="-122"/>
                <a:cs typeface="Spoqa Han Sans Neo" pitchFamily="34" charset="-120"/>
              </a:rPr>
              <a:t>04</a:t>
            </a:r>
            <a:endParaRPr lang="en-US" sz="1000" dirty="0"/>
          </a:p>
        </p:txBody>
      </p:sp>
      <p:sp>
        <p:nvSpPr>
          <p:cNvPr id="20" name="Text 18"/>
          <p:cNvSpPr/>
          <p:nvPr/>
        </p:nvSpPr>
        <p:spPr>
          <a:xfrm>
            <a:off x="7415784" y="1874520"/>
            <a:ext cx="1801368" cy="256032"/>
          </a:xfrm>
          <a:prstGeom prst="rect">
            <a:avLst/>
          </a:prstGeom>
          <a:noFill/>
          <a:ln/>
        </p:spPr>
        <p:txBody>
          <a:bodyPr wrap="square" lIns="0" tIns="0" rIns="0" bIns="0" rtlCol="0" anchor="t"/>
          <a:lstStyle/>
          <a:p>
            <a:pPr algn="l" indent="0" marL="0">
              <a:lnSpc>
                <a:spcPct val="124000"/>
              </a:lnSpc>
              <a:buNone/>
            </a:pPr>
            <a:r>
              <a:rPr lang="en-US" sz="1350" b="1" dirty="0">
                <a:solidFill>
                  <a:srgbClr val="1A1A1A"/>
                </a:solidFill>
                <a:latin typeface="Spoqa Han Sans Neo" pitchFamily="34" charset="0"/>
                <a:ea typeface="Spoqa Han Sans Neo" pitchFamily="34" charset="-122"/>
                <a:cs typeface="Spoqa Han Sans Neo" pitchFamily="34" charset="-120"/>
              </a:rPr>
              <a:t>산출세액</a:t>
            </a:r>
            <a:endParaRPr lang="en-US" sz="1350" dirty="0"/>
          </a:p>
        </p:txBody>
      </p:sp>
      <p:sp>
        <p:nvSpPr>
          <p:cNvPr id="21" name="Text 19"/>
          <p:cNvSpPr/>
          <p:nvPr/>
        </p:nvSpPr>
        <p:spPr>
          <a:xfrm>
            <a:off x="7415784" y="2148840"/>
            <a:ext cx="1801368" cy="219456"/>
          </a:xfrm>
          <a:prstGeom prst="rect">
            <a:avLst/>
          </a:prstGeom>
          <a:noFill/>
          <a:ln/>
        </p:spPr>
        <p:txBody>
          <a:bodyPr wrap="square" lIns="0" tIns="0" rIns="0" bIns="0" rtlCol="0" anchor="t"/>
          <a:lstStyle/>
          <a:p>
            <a:pPr algn="l" indent="0" marL="0">
              <a:lnSpc>
                <a:spcPct val="124000"/>
              </a:lnSpc>
              <a:buNone/>
            </a:pPr>
            <a:r>
              <a:rPr lang="en-US" sz="950" dirty="0">
                <a:solidFill>
                  <a:srgbClr val="6C6C6C"/>
                </a:solidFill>
                <a:latin typeface="Spoqa Han Sans Neo" pitchFamily="34" charset="0"/>
                <a:ea typeface="Spoqa Han Sans Neo" pitchFamily="34" charset="-122"/>
                <a:cs typeface="Spoqa Han Sans Neo" pitchFamily="34" charset="-120"/>
              </a:rPr>
              <a:t>× 기본세율(누진)</a:t>
            </a:r>
            <a:endParaRPr lang="en-US" sz="950" dirty="0"/>
          </a:p>
        </p:txBody>
      </p:sp>
      <p:sp>
        <p:nvSpPr>
          <p:cNvPr id="22" name="Shape 20"/>
          <p:cNvSpPr/>
          <p:nvPr/>
        </p:nvSpPr>
        <p:spPr>
          <a:xfrm>
            <a:off x="9528048" y="1600200"/>
            <a:ext cx="2057400" cy="841248"/>
          </a:xfrm>
          <a:prstGeom prst="rect">
            <a:avLst/>
          </a:prstGeom>
          <a:solidFill>
            <a:srgbClr val="F58220"/>
          </a:solidFill>
          <a:ln/>
        </p:spPr>
      </p:sp>
      <p:sp>
        <p:nvSpPr>
          <p:cNvPr id="23" name="Text 21"/>
          <p:cNvSpPr/>
          <p:nvPr/>
        </p:nvSpPr>
        <p:spPr>
          <a:xfrm>
            <a:off x="9656064" y="1673352"/>
            <a:ext cx="1801368" cy="219456"/>
          </a:xfrm>
          <a:prstGeom prst="rect">
            <a:avLst/>
          </a:prstGeom>
          <a:noFill/>
          <a:ln/>
        </p:spPr>
        <p:txBody>
          <a:bodyPr wrap="square" lIns="0" tIns="0" rIns="0" bIns="0" rtlCol="0" anchor="t"/>
          <a:lstStyle/>
          <a:p>
            <a:pPr algn="l" indent="0" marL="0">
              <a:lnSpc>
                <a:spcPct val="124000"/>
              </a:lnSpc>
              <a:buNone/>
            </a:pPr>
            <a:r>
              <a:rPr lang="en-US" sz="1000" b="1" dirty="0">
                <a:solidFill>
                  <a:srgbClr val="FFFFFF"/>
                </a:solidFill>
                <a:latin typeface="Spoqa Han Sans Neo" pitchFamily="34" charset="0"/>
                <a:ea typeface="Spoqa Han Sans Neo" pitchFamily="34" charset="-122"/>
                <a:cs typeface="Spoqa Han Sans Neo" pitchFamily="34" charset="-120"/>
              </a:rPr>
              <a:t>05</a:t>
            </a:r>
            <a:endParaRPr lang="en-US" sz="1000" dirty="0"/>
          </a:p>
        </p:txBody>
      </p:sp>
      <p:sp>
        <p:nvSpPr>
          <p:cNvPr id="24" name="Text 22"/>
          <p:cNvSpPr/>
          <p:nvPr/>
        </p:nvSpPr>
        <p:spPr>
          <a:xfrm>
            <a:off x="9656064" y="1874520"/>
            <a:ext cx="1801368" cy="256032"/>
          </a:xfrm>
          <a:prstGeom prst="rect">
            <a:avLst/>
          </a:prstGeom>
          <a:noFill/>
          <a:ln/>
        </p:spPr>
        <p:txBody>
          <a:bodyPr wrap="square" lIns="0" tIns="0" rIns="0" bIns="0" rtlCol="0" anchor="t"/>
          <a:lstStyle/>
          <a:p>
            <a:pPr algn="l" indent="0" marL="0">
              <a:lnSpc>
                <a:spcPct val="124000"/>
              </a:lnSpc>
              <a:buNone/>
            </a:pPr>
            <a:r>
              <a:rPr lang="en-US" sz="1350" b="1" dirty="0">
                <a:solidFill>
                  <a:srgbClr val="FFFFFF"/>
                </a:solidFill>
                <a:latin typeface="Spoqa Han Sans Neo" pitchFamily="34" charset="0"/>
                <a:ea typeface="Spoqa Han Sans Neo" pitchFamily="34" charset="-122"/>
                <a:cs typeface="Spoqa Han Sans Neo" pitchFamily="34" charset="-120"/>
              </a:rPr>
              <a:t>결정세액</a:t>
            </a:r>
            <a:endParaRPr lang="en-US" sz="1350" dirty="0"/>
          </a:p>
        </p:txBody>
      </p:sp>
      <p:sp>
        <p:nvSpPr>
          <p:cNvPr id="25" name="Text 23"/>
          <p:cNvSpPr/>
          <p:nvPr/>
        </p:nvSpPr>
        <p:spPr>
          <a:xfrm>
            <a:off x="9656064" y="2148840"/>
            <a:ext cx="1801368" cy="219456"/>
          </a:xfrm>
          <a:prstGeom prst="rect">
            <a:avLst/>
          </a:prstGeom>
          <a:noFill/>
          <a:ln/>
        </p:spPr>
        <p:txBody>
          <a:bodyPr wrap="square" lIns="0" tIns="0" rIns="0" bIns="0" rtlCol="0" anchor="t"/>
          <a:lstStyle/>
          <a:p>
            <a:pPr algn="l" indent="0" marL="0">
              <a:lnSpc>
                <a:spcPct val="124000"/>
              </a:lnSpc>
              <a:buNone/>
            </a:pPr>
            <a:r>
              <a:rPr lang="en-US" sz="950" dirty="0">
                <a:solidFill>
                  <a:srgbClr val="FFFFFF"/>
                </a:solidFill>
                <a:latin typeface="Spoqa Han Sans Neo" pitchFamily="34" charset="0"/>
                <a:ea typeface="Spoqa Han Sans Neo" pitchFamily="34" charset="-122"/>
                <a:cs typeface="Spoqa Han Sans Neo" pitchFamily="34" charset="-120"/>
              </a:rPr>
              <a:t>− 세액공제 · 감면</a:t>
            </a:r>
            <a:endParaRPr lang="en-US" sz="950" dirty="0"/>
          </a:p>
        </p:txBody>
      </p:sp>
      <p:sp>
        <p:nvSpPr>
          <p:cNvPr id="26" name="Shape 24"/>
          <p:cNvSpPr/>
          <p:nvPr/>
        </p:nvSpPr>
        <p:spPr>
          <a:xfrm>
            <a:off x="566928" y="2670048"/>
            <a:ext cx="2057400" cy="2148840"/>
          </a:xfrm>
          <a:prstGeom prst="rect">
            <a:avLst/>
          </a:prstGeom>
          <a:solidFill>
            <a:srgbClr val="FFFFFF"/>
          </a:solidFill>
          <a:ln w="9525">
            <a:solidFill>
              <a:srgbClr val="CDCECB"/>
            </a:solidFill>
            <a:prstDash val="solid"/>
          </a:ln>
        </p:spPr>
      </p:sp>
      <p:sp>
        <p:nvSpPr>
          <p:cNvPr id="27" name="Text 25"/>
          <p:cNvSpPr/>
          <p:nvPr/>
        </p:nvSpPr>
        <p:spPr>
          <a:xfrm>
            <a:off x="713232" y="2798064"/>
            <a:ext cx="1764792" cy="457200"/>
          </a:xfrm>
          <a:prstGeom prst="rect">
            <a:avLst/>
          </a:prstGeom>
          <a:noFill/>
          <a:ln/>
        </p:spPr>
        <p:txBody>
          <a:bodyPr wrap="square" lIns="0" tIns="0" rIns="0" bIns="0" rtlCol="0" anchor="t"/>
          <a:lstStyle/>
          <a:p>
            <a:pPr algn="l" indent="0" marL="0">
              <a:lnSpc>
                <a:spcPct val="110000"/>
              </a:lnSpc>
              <a:buNone/>
            </a:pPr>
            <a:r>
              <a:rPr lang="en-US" sz="1150" b="1" dirty="0">
                <a:solidFill>
                  <a:srgbClr val="043B72"/>
                </a:solidFill>
                <a:latin typeface="Spoqa Han Sans Neo" pitchFamily="34" charset="0"/>
                <a:ea typeface="Spoqa Han Sans Neo" pitchFamily="34" charset="-122"/>
                <a:cs typeface="Spoqa Han Sans Neo" pitchFamily="34" charset="-120"/>
              </a:rPr>
              <a:t>수입 시기와 명의</a:t>
            </a:r>
            <a:endParaRPr lang="en-US" sz="1150" dirty="0"/>
          </a:p>
        </p:txBody>
      </p:sp>
      <p:sp>
        <p:nvSpPr>
          <p:cNvPr id="28" name="Text 26"/>
          <p:cNvSpPr/>
          <p:nvPr/>
        </p:nvSpPr>
        <p:spPr>
          <a:xfrm>
            <a:off x="713232" y="3291840"/>
            <a:ext cx="1764792" cy="1417320"/>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귀속연도 조절(수입 인식 시기)</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가족 · 법인으로 소득 주체 분산</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임계구간 직전에서 이연</a:t>
            </a:r>
            <a:endParaRPr lang="en-US" sz="980" dirty="0"/>
          </a:p>
        </p:txBody>
      </p:sp>
      <p:sp>
        <p:nvSpPr>
          <p:cNvPr id="29" name="Shape 27"/>
          <p:cNvSpPr/>
          <p:nvPr/>
        </p:nvSpPr>
        <p:spPr>
          <a:xfrm>
            <a:off x="2807208" y="2670048"/>
            <a:ext cx="2057400" cy="2148840"/>
          </a:xfrm>
          <a:prstGeom prst="rect">
            <a:avLst/>
          </a:prstGeom>
          <a:solidFill>
            <a:srgbClr val="FFFFFF"/>
          </a:solidFill>
          <a:ln w="9525">
            <a:solidFill>
              <a:srgbClr val="CDCECB"/>
            </a:solidFill>
            <a:prstDash val="solid"/>
          </a:ln>
        </p:spPr>
      </p:sp>
      <p:sp>
        <p:nvSpPr>
          <p:cNvPr id="30" name="Text 28"/>
          <p:cNvSpPr/>
          <p:nvPr/>
        </p:nvSpPr>
        <p:spPr>
          <a:xfrm>
            <a:off x="2953512" y="2798064"/>
            <a:ext cx="1764792" cy="457200"/>
          </a:xfrm>
          <a:prstGeom prst="rect">
            <a:avLst/>
          </a:prstGeom>
          <a:noFill/>
          <a:ln/>
        </p:spPr>
        <p:txBody>
          <a:bodyPr wrap="square" lIns="0" tIns="0" rIns="0" bIns="0" rtlCol="0" anchor="t"/>
          <a:lstStyle/>
          <a:p>
            <a:pPr algn="l" indent="0" marL="0">
              <a:lnSpc>
                <a:spcPct val="110000"/>
              </a:lnSpc>
              <a:buNone/>
            </a:pPr>
            <a:r>
              <a:rPr lang="en-US" sz="1150" b="1" dirty="0">
                <a:solidFill>
                  <a:srgbClr val="043B72"/>
                </a:solidFill>
                <a:latin typeface="Spoqa Han Sans Neo" pitchFamily="34" charset="0"/>
                <a:ea typeface="Spoqa Han Sans Neo" pitchFamily="34" charset="-122"/>
                <a:cs typeface="Spoqa Han Sans Neo" pitchFamily="34" charset="-120"/>
              </a:rPr>
              <a:t>필요경비 입증</a:t>
            </a:r>
            <a:endParaRPr lang="en-US" sz="1150" dirty="0"/>
          </a:p>
        </p:txBody>
      </p:sp>
      <p:sp>
        <p:nvSpPr>
          <p:cNvPr id="31" name="Text 29"/>
          <p:cNvSpPr/>
          <p:nvPr/>
        </p:nvSpPr>
        <p:spPr>
          <a:xfrm>
            <a:off x="2953512" y="3291840"/>
            <a:ext cx="1764792" cy="1417320"/>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적격증빙 확보와 장부 작성</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감가상각 · 대손 · 퇴직급여 반영</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업무 관련성 소명 자료 축적</a:t>
            </a:r>
            <a:endParaRPr lang="en-US" sz="980" dirty="0"/>
          </a:p>
        </p:txBody>
      </p:sp>
      <p:sp>
        <p:nvSpPr>
          <p:cNvPr id="32" name="Shape 30"/>
          <p:cNvSpPr/>
          <p:nvPr/>
        </p:nvSpPr>
        <p:spPr>
          <a:xfrm>
            <a:off x="5047488" y="2670048"/>
            <a:ext cx="2057400" cy="2148840"/>
          </a:xfrm>
          <a:prstGeom prst="rect">
            <a:avLst/>
          </a:prstGeom>
          <a:solidFill>
            <a:srgbClr val="FFFFFF"/>
          </a:solidFill>
          <a:ln w="9525">
            <a:solidFill>
              <a:srgbClr val="CDCECB"/>
            </a:solidFill>
            <a:prstDash val="solid"/>
          </a:ln>
        </p:spPr>
      </p:sp>
      <p:sp>
        <p:nvSpPr>
          <p:cNvPr id="33" name="Text 31"/>
          <p:cNvSpPr/>
          <p:nvPr/>
        </p:nvSpPr>
        <p:spPr>
          <a:xfrm>
            <a:off x="5193792" y="2798064"/>
            <a:ext cx="1764792" cy="457200"/>
          </a:xfrm>
          <a:prstGeom prst="rect">
            <a:avLst/>
          </a:prstGeom>
          <a:noFill/>
          <a:ln/>
        </p:spPr>
        <p:txBody>
          <a:bodyPr wrap="square" lIns="0" tIns="0" rIns="0" bIns="0" rtlCol="0" anchor="t"/>
          <a:lstStyle/>
          <a:p>
            <a:pPr algn="l" indent="0" marL="0">
              <a:lnSpc>
                <a:spcPct val="110000"/>
              </a:lnSpc>
              <a:buNone/>
            </a:pPr>
            <a:r>
              <a:rPr lang="en-US" sz="1150" b="1" dirty="0">
                <a:solidFill>
                  <a:srgbClr val="043B72"/>
                </a:solidFill>
                <a:latin typeface="Spoqa Han Sans Neo" pitchFamily="34" charset="0"/>
                <a:ea typeface="Spoqa Han Sans Neo" pitchFamily="34" charset="-122"/>
                <a:cs typeface="Spoqa Han Sans Neo" pitchFamily="34" charset="-120"/>
              </a:rPr>
              <a:t>소득공제 활용</a:t>
            </a:r>
            <a:endParaRPr lang="en-US" sz="1150" dirty="0"/>
          </a:p>
        </p:txBody>
      </p:sp>
      <p:sp>
        <p:nvSpPr>
          <p:cNvPr id="34" name="Text 32"/>
          <p:cNvSpPr/>
          <p:nvPr/>
        </p:nvSpPr>
        <p:spPr>
          <a:xfrm>
            <a:off x="5193792" y="3291840"/>
            <a:ext cx="1764792" cy="1417320"/>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인적공제 · 연금보험료</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노란우산공제(최대 500만원)</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주택자금 · 신용카드 등</a:t>
            </a:r>
            <a:endParaRPr lang="en-US" sz="980" dirty="0"/>
          </a:p>
        </p:txBody>
      </p:sp>
      <p:sp>
        <p:nvSpPr>
          <p:cNvPr id="35" name="Shape 33"/>
          <p:cNvSpPr/>
          <p:nvPr/>
        </p:nvSpPr>
        <p:spPr>
          <a:xfrm>
            <a:off x="7287768" y="2670048"/>
            <a:ext cx="2057400" cy="2148840"/>
          </a:xfrm>
          <a:prstGeom prst="rect">
            <a:avLst/>
          </a:prstGeom>
          <a:solidFill>
            <a:srgbClr val="FFFFFF"/>
          </a:solidFill>
          <a:ln w="9525">
            <a:solidFill>
              <a:srgbClr val="CDCECB"/>
            </a:solidFill>
            <a:prstDash val="solid"/>
          </a:ln>
        </p:spPr>
      </p:sp>
      <p:sp>
        <p:nvSpPr>
          <p:cNvPr id="36" name="Text 34"/>
          <p:cNvSpPr/>
          <p:nvPr/>
        </p:nvSpPr>
        <p:spPr>
          <a:xfrm>
            <a:off x="7434072" y="2798064"/>
            <a:ext cx="1764792" cy="457200"/>
          </a:xfrm>
          <a:prstGeom prst="rect">
            <a:avLst/>
          </a:prstGeom>
          <a:noFill/>
          <a:ln/>
        </p:spPr>
        <p:txBody>
          <a:bodyPr wrap="square" lIns="0" tIns="0" rIns="0" bIns="0" rtlCol="0" anchor="t"/>
          <a:lstStyle/>
          <a:p>
            <a:pPr algn="l" indent="0" marL="0">
              <a:lnSpc>
                <a:spcPct val="110000"/>
              </a:lnSpc>
              <a:buNone/>
            </a:pPr>
            <a:r>
              <a:rPr lang="en-US" sz="1150" b="1" dirty="0">
                <a:solidFill>
                  <a:srgbClr val="043B72"/>
                </a:solidFill>
                <a:latin typeface="Spoqa Han Sans Neo" pitchFamily="34" charset="0"/>
                <a:ea typeface="Spoqa Han Sans Neo" pitchFamily="34" charset="-122"/>
                <a:cs typeface="Spoqa Han Sans Neo" pitchFamily="34" charset="-120"/>
              </a:rPr>
              <a:t>누진구간 관리</a:t>
            </a:r>
            <a:endParaRPr lang="en-US" sz="1150" dirty="0"/>
          </a:p>
        </p:txBody>
      </p:sp>
      <p:sp>
        <p:nvSpPr>
          <p:cNvPr id="37" name="Text 35"/>
          <p:cNvSpPr/>
          <p:nvPr/>
        </p:nvSpPr>
        <p:spPr>
          <a:xfrm>
            <a:off x="7434072" y="3291840"/>
            <a:ext cx="1764792" cy="1417320"/>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가족 간 소득 분산으로 한계세율 인하</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분리과세 선택 여부 비교</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다년 분산 실현</a:t>
            </a:r>
            <a:endParaRPr lang="en-US" sz="980" dirty="0"/>
          </a:p>
        </p:txBody>
      </p:sp>
      <p:sp>
        <p:nvSpPr>
          <p:cNvPr id="38" name="Shape 36"/>
          <p:cNvSpPr/>
          <p:nvPr/>
        </p:nvSpPr>
        <p:spPr>
          <a:xfrm>
            <a:off x="9528048" y="2670048"/>
            <a:ext cx="2057400" cy="2148840"/>
          </a:xfrm>
          <a:prstGeom prst="rect">
            <a:avLst/>
          </a:prstGeom>
          <a:solidFill>
            <a:srgbClr val="FFFFFF"/>
          </a:solidFill>
          <a:ln w="9525">
            <a:solidFill>
              <a:srgbClr val="CDCECB"/>
            </a:solidFill>
            <a:prstDash val="solid"/>
          </a:ln>
        </p:spPr>
      </p:sp>
      <p:sp>
        <p:nvSpPr>
          <p:cNvPr id="39" name="Text 37"/>
          <p:cNvSpPr/>
          <p:nvPr/>
        </p:nvSpPr>
        <p:spPr>
          <a:xfrm>
            <a:off x="9674352" y="2798064"/>
            <a:ext cx="1764792" cy="457200"/>
          </a:xfrm>
          <a:prstGeom prst="rect">
            <a:avLst/>
          </a:prstGeom>
          <a:noFill/>
          <a:ln/>
        </p:spPr>
        <p:txBody>
          <a:bodyPr wrap="square" lIns="0" tIns="0" rIns="0" bIns="0" rtlCol="0" anchor="t"/>
          <a:lstStyle/>
          <a:p>
            <a:pPr algn="l" indent="0" marL="0">
              <a:lnSpc>
                <a:spcPct val="110000"/>
              </a:lnSpc>
              <a:buNone/>
            </a:pPr>
            <a:r>
              <a:rPr lang="en-US" sz="1150" b="1" dirty="0">
                <a:solidFill>
                  <a:srgbClr val="043B72"/>
                </a:solidFill>
                <a:latin typeface="Spoqa Han Sans Neo" pitchFamily="34" charset="0"/>
                <a:ea typeface="Spoqa Han Sans Neo" pitchFamily="34" charset="-122"/>
                <a:cs typeface="Spoqa Han Sans Neo" pitchFamily="34" charset="-120"/>
              </a:rPr>
              <a:t>세액공제 · 감면</a:t>
            </a:r>
            <a:endParaRPr lang="en-US" sz="1150" dirty="0"/>
          </a:p>
        </p:txBody>
      </p:sp>
      <p:sp>
        <p:nvSpPr>
          <p:cNvPr id="40" name="Text 38"/>
          <p:cNvSpPr/>
          <p:nvPr/>
        </p:nvSpPr>
        <p:spPr>
          <a:xfrm>
            <a:off x="9674352" y="3291840"/>
            <a:ext cx="1764792" cy="1417320"/>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연금계좌 최대 900만원</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통합고용 · R&amp;D · 투자세액공제</a:t>
            </a:r>
            <a:endParaRPr lang="en-US" sz="980" dirty="0"/>
          </a:p>
          <a:p>
            <a:pPr marL="342900" indent="-342900">
              <a:lnSpc>
                <a:spcPct val="120000"/>
              </a:lnSpc>
              <a:spcAft>
                <a:spcPts val="400"/>
              </a:spcAft>
              <a:buSzPct val="100000"/>
              <a:buChar char="•"/>
            </a:pPr>
            <a:r>
              <a:rPr lang="en-US" sz="980" dirty="0">
                <a:solidFill>
                  <a:srgbClr val="3D3D3D"/>
                </a:solidFill>
                <a:latin typeface="Spoqa Han Sans Neo" pitchFamily="34" charset="0"/>
                <a:ea typeface="Spoqa Han Sans Neo" pitchFamily="34" charset="-122"/>
                <a:cs typeface="Spoqa Han Sans Neo" pitchFamily="34" charset="-120"/>
              </a:rPr>
              <a:t>창업 · 중소기업 감면</a:t>
            </a:r>
            <a:endParaRPr lang="en-US" sz="980" dirty="0"/>
          </a:p>
        </p:txBody>
      </p:sp>
      <p:sp>
        <p:nvSpPr>
          <p:cNvPr id="41" name="Shape 39"/>
          <p:cNvSpPr/>
          <p:nvPr/>
        </p:nvSpPr>
        <p:spPr>
          <a:xfrm>
            <a:off x="566928" y="5029200"/>
            <a:ext cx="11057839" cy="786384"/>
          </a:xfrm>
          <a:prstGeom prst="rect">
            <a:avLst/>
          </a:prstGeom>
          <a:solidFill>
            <a:srgbClr val="F58220"/>
          </a:solidFill>
          <a:ln/>
        </p:spPr>
      </p:sp>
      <p:sp>
        <p:nvSpPr>
          <p:cNvPr id="42" name="Text 40"/>
          <p:cNvSpPr/>
          <p:nvPr/>
        </p:nvSpPr>
        <p:spPr>
          <a:xfrm>
            <a:off x="786384" y="5138928"/>
            <a:ext cx="10618927" cy="256032"/>
          </a:xfrm>
          <a:prstGeom prst="rect">
            <a:avLst/>
          </a:prstGeom>
          <a:noFill/>
          <a:ln/>
        </p:spPr>
        <p:txBody>
          <a:bodyPr wrap="square" lIns="0" tIns="0" rIns="0" bIns="0" rtlCol="0" anchor="ctr"/>
          <a:lstStyle/>
          <a:p>
            <a:pP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세율은 법이 정하고, 과세표준은 설계할 수 있다</a:t>
            </a:r>
            <a:endParaRPr lang="en-US" sz="1250" dirty="0"/>
          </a:p>
        </p:txBody>
      </p:sp>
      <p:sp>
        <p:nvSpPr>
          <p:cNvPr id="43" name="Text 41"/>
          <p:cNvSpPr/>
          <p:nvPr/>
        </p:nvSpPr>
        <p:spPr>
          <a:xfrm>
            <a:off x="786384" y="5394960"/>
            <a:ext cx="10618927" cy="329184"/>
          </a:xfrm>
          <a:prstGeom prst="rect">
            <a:avLst/>
          </a:prstGeom>
          <a:noFill/>
          <a:ln/>
        </p:spPr>
        <p:txBody>
          <a:bodyPr wrap="square" lIns="0" tIns="0" rIns="0" bIns="0" rtlCol="0" anchor="t"/>
          <a:lstStyle/>
          <a:p>
            <a:pPr indent="0" marL="0">
              <a:lnSpc>
                <a:spcPct val="120000"/>
              </a:lnSpc>
              <a:buNone/>
            </a:pPr>
            <a:r>
              <a:rPr lang="en-US" sz="1080" dirty="0">
                <a:solidFill>
                  <a:srgbClr val="FFFFFF"/>
                </a:solidFill>
                <a:latin typeface="Spoqa Han Sans Neo" pitchFamily="34" charset="0"/>
                <a:ea typeface="Spoqa Han Sans Neo" pitchFamily="34" charset="-122"/>
                <a:cs typeface="Spoqa Han Sans Neo" pitchFamily="34" charset="-120"/>
              </a:rPr>
              <a:t>같은 소득이라도 ①~③ 단계에서 과세표준을 낮추면 적용 세율 구간 자체가 내려간다. 반면 ⑤ 세액공제는 한도가 정해져 있어 추가 절감폭이 제한적이다. 상담은 항상 ③ 과세표준 단계에서 시작한다.</a:t>
            </a:r>
            <a:endParaRPr lang="en-US" sz="1080" dirty="0"/>
          </a:p>
        </p:txBody>
      </p:sp>
      <p:sp>
        <p:nvSpPr>
          <p:cNvPr id="44" name="Text 42"/>
          <p:cNvSpPr/>
          <p:nvPr/>
        </p:nvSpPr>
        <p:spPr>
          <a:xfrm>
            <a:off x="566928" y="5989320"/>
            <a:ext cx="11057839"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지방소득세는 소득세 결정세액의 10%가 별도 부과된다(소득세 6~45% → 실효 6.6~49.5%).</a:t>
            </a:r>
            <a:endParaRPr lang="en-US" sz="900" dirty="0"/>
          </a:p>
        </p:txBody>
      </p:sp>
      <p:sp>
        <p:nvSpPr>
          <p:cNvPr id="45" name="Text 43"/>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46" name="Text 44"/>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  종합소득세</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합산되는 소득과 합산되지 않는 소득</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종합 · 분류 · 분리과세의 구분이 절세 설계의 출발점</a:t>
            </a:r>
            <a:endParaRPr lang="en-US" sz="1250" dirty="0"/>
          </a:p>
        </p:txBody>
      </p:sp>
      <p:sp>
        <p:nvSpPr>
          <p:cNvPr id="6" name="Shape 4"/>
          <p:cNvSpPr/>
          <p:nvPr/>
        </p:nvSpPr>
        <p:spPr>
          <a:xfrm>
            <a:off x="566928" y="1572768"/>
            <a:ext cx="5029200" cy="3291840"/>
          </a:xfrm>
          <a:prstGeom prst="rect">
            <a:avLst/>
          </a:prstGeom>
          <a:solidFill>
            <a:srgbClr val="FFFFFF"/>
          </a:solidFill>
          <a:ln w="9525">
            <a:solidFill>
              <a:srgbClr val="CDCECB"/>
            </a:solidFill>
            <a:prstDash val="solid"/>
          </a:ln>
        </p:spPr>
      </p:sp>
      <p:sp>
        <p:nvSpPr>
          <p:cNvPr id="7" name="Text 5"/>
          <p:cNvSpPr/>
          <p:nvPr/>
        </p:nvSpPr>
        <p:spPr>
          <a:xfrm>
            <a:off x="768096" y="1737360"/>
            <a:ext cx="4626864" cy="274320"/>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종합과세 대상 6가지 소득</a:t>
            </a:r>
            <a:endParaRPr lang="en-US" sz="1300" dirty="0"/>
          </a:p>
        </p:txBody>
      </p:sp>
      <p:sp>
        <p:nvSpPr>
          <p:cNvPr id="8" name="Shape 6"/>
          <p:cNvSpPr/>
          <p:nvPr/>
        </p:nvSpPr>
        <p:spPr>
          <a:xfrm>
            <a:off x="768096" y="2103120"/>
            <a:ext cx="1371600" cy="329184"/>
          </a:xfrm>
          <a:prstGeom prst="rect">
            <a:avLst/>
          </a:prstGeom>
          <a:solidFill>
            <a:srgbClr val="F7F8FA"/>
          </a:solidFill>
          <a:ln/>
        </p:spPr>
      </p:sp>
      <p:sp>
        <p:nvSpPr>
          <p:cNvPr id="9" name="Text 7"/>
          <p:cNvSpPr/>
          <p:nvPr/>
        </p:nvSpPr>
        <p:spPr>
          <a:xfrm>
            <a:off x="768096" y="2103120"/>
            <a:ext cx="1371600" cy="329184"/>
          </a:xfrm>
          <a:prstGeom prst="rect">
            <a:avLst/>
          </a:prstGeom>
          <a:noFill/>
          <a:ln/>
        </p:spPr>
        <p:txBody>
          <a:bodyPr wrap="square" lIns="0" tIns="0" rIns="0" bIns="0" rtlCol="0" anchor="ctr"/>
          <a:lstStyle/>
          <a:p>
            <a:pPr algn="ctr" indent="0" marL="0">
              <a:lnSpc>
                <a:spcPct val="124000"/>
              </a:lnSpc>
              <a:buNone/>
            </a:pPr>
            <a:r>
              <a:rPr lang="en-US" sz="1080" b="1" dirty="0">
                <a:solidFill>
                  <a:srgbClr val="043B72"/>
                </a:solidFill>
                <a:latin typeface="Spoqa Han Sans Neo" pitchFamily="34" charset="0"/>
                <a:ea typeface="Spoqa Han Sans Neo" pitchFamily="34" charset="-122"/>
                <a:cs typeface="Spoqa Han Sans Neo" pitchFamily="34" charset="-120"/>
              </a:rPr>
              <a:t>이자소득</a:t>
            </a:r>
            <a:endParaRPr lang="en-US" sz="1080" dirty="0"/>
          </a:p>
        </p:txBody>
      </p:sp>
      <p:sp>
        <p:nvSpPr>
          <p:cNvPr id="10" name="Text 8"/>
          <p:cNvSpPr/>
          <p:nvPr/>
        </p:nvSpPr>
        <p:spPr>
          <a:xfrm>
            <a:off x="2249424" y="2103120"/>
            <a:ext cx="3127248" cy="329184"/>
          </a:xfrm>
          <a:prstGeom prst="rect">
            <a:avLst/>
          </a:prstGeom>
          <a:noFill/>
          <a:ln/>
        </p:spPr>
        <p:txBody>
          <a:bodyPr wrap="square" lIns="0" tIns="0" rIns="0" bIns="0" rtlCol="0" anchor="ctr"/>
          <a:lstStyle/>
          <a:p>
            <a:pPr algn="l" indent="0" marL="0">
              <a:lnSpc>
                <a:spcPct val="124000"/>
              </a:lnSpc>
              <a:buNone/>
            </a:pPr>
            <a:r>
              <a:rPr lang="en-US" sz="1030" dirty="0">
                <a:solidFill>
                  <a:srgbClr val="3D3D3D"/>
                </a:solidFill>
                <a:latin typeface="Spoqa Han Sans Neo" pitchFamily="34" charset="0"/>
                <a:ea typeface="Spoqa Han Sans Neo" pitchFamily="34" charset="-122"/>
                <a:cs typeface="Spoqa Han Sans Neo" pitchFamily="34" charset="-120"/>
              </a:rPr>
              <a:t>예금 · 채권 이자, 비영업대금 이익</a:t>
            </a:r>
            <a:endParaRPr lang="en-US" sz="1030" dirty="0"/>
          </a:p>
        </p:txBody>
      </p:sp>
      <p:sp>
        <p:nvSpPr>
          <p:cNvPr id="11" name="Shape 9"/>
          <p:cNvSpPr/>
          <p:nvPr/>
        </p:nvSpPr>
        <p:spPr>
          <a:xfrm>
            <a:off x="768096" y="2560320"/>
            <a:ext cx="1371600" cy="329184"/>
          </a:xfrm>
          <a:prstGeom prst="rect">
            <a:avLst/>
          </a:prstGeom>
          <a:solidFill>
            <a:srgbClr val="F7F8FA"/>
          </a:solidFill>
          <a:ln/>
        </p:spPr>
      </p:sp>
      <p:sp>
        <p:nvSpPr>
          <p:cNvPr id="12" name="Text 10"/>
          <p:cNvSpPr/>
          <p:nvPr/>
        </p:nvSpPr>
        <p:spPr>
          <a:xfrm>
            <a:off x="768096" y="2560320"/>
            <a:ext cx="1371600" cy="329184"/>
          </a:xfrm>
          <a:prstGeom prst="rect">
            <a:avLst/>
          </a:prstGeom>
          <a:noFill/>
          <a:ln/>
        </p:spPr>
        <p:txBody>
          <a:bodyPr wrap="square" lIns="0" tIns="0" rIns="0" bIns="0" rtlCol="0" anchor="ctr"/>
          <a:lstStyle/>
          <a:p>
            <a:pPr algn="ctr" indent="0" marL="0">
              <a:lnSpc>
                <a:spcPct val="124000"/>
              </a:lnSpc>
              <a:buNone/>
            </a:pPr>
            <a:r>
              <a:rPr lang="en-US" sz="1080" b="1" dirty="0">
                <a:solidFill>
                  <a:srgbClr val="043B72"/>
                </a:solidFill>
                <a:latin typeface="Spoqa Han Sans Neo" pitchFamily="34" charset="0"/>
                <a:ea typeface="Spoqa Han Sans Neo" pitchFamily="34" charset="-122"/>
                <a:cs typeface="Spoqa Han Sans Neo" pitchFamily="34" charset="-120"/>
              </a:rPr>
              <a:t>배당소득</a:t>
            </a:r>
            <a:endParaRPr lang="en-US" sz="1080" dirty="0"/>
          </a:p>
        </p:txBody>
      </p:sp>
      <p:sp>
        <p:nvSpPr>
          <p:cNvPr id="13" name="Text 11"/>
          <p:cNvSpPr/>
          <p:nvPr/>
        </p:nvSpPr>
        <p:spPr>
          <a:xfrm>
            <a:off x="2249424" y="2560320"/>
            <a:ext cx="3127248" cy="329184"/>
          </a:xfrm>
          <a:prstGeom prst="rect">
            <a:avLst/>
          </a:prstGeom>
          <a:noFill/>
          <a:ln/>
        </p:spPr>
        <p:txBody>
          <a:bodyPr wrap="square" lIns="0" tIns="0" rIns="0" bIns="0" rtlCol="0" anchor="ctr"/>
          <a:lstStyle/>
          <a:p>
            <a:pPr algn="l" indent="0" marL="0">
              <a:lnSpc>
                <a:spcPct val="124000"/>
              </a:lnSpc>
              <a:buNone/>
            </a:pPr>
            <a:r>
              <a:rPr lang="en-US" sz="1030" dirty="0">
                <a:solidFill>
                  <a:srgbClr val="3D3D3D"/>
                </a:solidFill>
                <a:latin typeface="Spoqa Han Sans Neo" pitchFamily="34" charset="0"/>
                <a:ea typeface="Spoqa Han Sans Neo" pitchFamily="34" charset="-122"/>
                <a:cs typeface="Spoqa Han Sans Neo" pitchFamily="34" charset="-120"/>
              </a:rPr>
              <a:t>주식 배당, 펀드 · ETF 분배금</a:t>
            </a:r>
            <a:endParaRPr lang="en-US" sz="1030" dirty="0"/>
          </a:p>
        </p:txBody>
      </p:sp>
      <p:sp>
        <p:nvSpPr>
          <p:cNvPr id="14" name="Shape 12"/>
          <p:cNvSpPr/>
          <p:nvPr/>
        </p:nvSpPr>
        <p:spPr>
          <a:xfrm>
            <a:off x="768096" y="3017520"/>
            <a:ext cx="1371600" cy="329184"/>
          </a:xfrm>
          <a:prstGeom prst="rect">
            <a:avLst/>
          </a:prstGeom>
          <a:solidFill>
            <a:srgbClr val="F7F8FA"/>
          </a:solidFill>
          <a:ln/>
        </p:spPr>
      </p:sp>
      <p:sp>
        <p:nvSpPr>
          <p:cNvPr id="15" name="Text 13"/>
          <p:cNvSpPr/>
          <p:nvPr/>
        </p:nvSpPr>
        <p:spPr>
          <a:xfrm>
            <a:off x="768096" y="3017520"/>
            <a:ext cx="1371600" cy="329184"/>
          </a:xfrm>
          <a:prstGeom prst="rect">
            <a:avLst/>
          </a:prstGeom>
          <a:noFill/>
          <a:ln/>
        </p:spPr>
        <p:txBody>
          <a:bodyPr wrap="square" lIns="0" tIns="0" rIns="0" bIns="0" rtlCol="0" anchor="ctr"/>
          <a:lstStyle/>
          <a:p>
            <a:pPr algn="ctr" indent="0" marL="0">
              <a:lnSpc>
                <a:spcPct val="124000"/>
              </a:lnSpc>
              <a:buNone/>
            </a:pPr>
            <a:r>
              <a:rPr lang="en-US" sz="1080" b="1" dirty="0">
                <a:solidFill>
                  <a:srgbClr val="043B72"/>
                </a:solidFill>
                <a:latin typeface="Spoqa Han Sans Neo" pitchFamily="34" charset="0"/>
                <a:ea typeface="Spoqa Han Sans Neo" pitchFamily="34" charset="-122"/>
                <a:cs typeface="Spoqa Han Sans Neo" pitchFamily="34" charset="-120"/>
              </a:rPr>
              <a:t>사업소득</a:t>
            </a:r>
            <a:endParaRPr lang="en-US" sz="1080" dirty="0"/>
          </a:p>
        </p:txBody>
      </p:sp>
      <p:sp>
        <p:nvSpPr>
          <p:cNvPr id="16" name="Text 14"/>
          <p:cNvSpPr/>
          <p:nvPr/>
        </p:nvSpPr>
        <p:spPr>
          <a:xfrm>
            <a:off x="2249424" y="3017520"/>
            <a:ext cx="3127248" cy="329184"/>
          </a:xfrm>
          <a:prstGeom prst="rect">
            <a:avLst/>
          </a:prstGeom>
          <a:noFill/>
          <a:ln/>
        </p:spPr>
        <p:txBody>
          <a:bodyPr wrap="square" lIns="0" tIns="0" rIns="0" bIns="0" rtlCol="0" anchor="ctr"/>
          <a:lstStyle/>
          <a:p>
            <a:pPr algn="l" indent="0" marL="0">
              <a:lnSpc>
                <a:spcPct val="124000"/>
              </a:lnSpc>
              <a:buNone/>
            </a:pPr>
            <a:r>
              <a:rPr lang="en-US" sz="1030" dirty="0">
                <a:solidFill>
                  <a:srgbClr val="3D3D3D"/>
                </a:solidFill>
                <a:latin typeface="Spoqa Han Sans Neo" pitchFamily="34" charset="0"/>
                <a:ea typeface="Spoqa Han Sans Neo" pitchFamily="34" charset="-122"/>
                <a:cs typeface="Spoqa Han Sans Neo" pitchFamily="34" charset="-120"/>
              </a:rPr>
              <a:t>개인사업 · 프리랜서 · 부동산임대</a:t>
            </a:r>
            <a:endParaRPr lang="en-US" sz="1030" dirty="0"/>
          </a:p>
        </p:txBody>
      </p:sp>
      <p:sp>
        <p:nvSpPr>
          <p:cNvPr id="17" name="Shape 15"/>
          <p:cNvSpPr/>
          <p:nvPr/>
        </p:nvSpPr>
        <p:spPr>
          <a:xfrm>
            <a:off x="768096" y="3474720"/>
            <a:ext cx="1371600" cy="329184"/>
          </a:xfrm>
          <a:prstGeom prst="rect">
            <a:avLst/>
          </a:prstGeom>
          <a:solidFill>
            <a:srgbClr val="F7F8FA"/>
          </a:solidFill>
          <a:ln/>
        </p:spPr>
      </p:sp>
      <p:sp>
        <p:nvSpPr>
          <p:cNvPr id="18" name="Text 16"/>
          <p:cNvSpPr/>
          <p:nvPr/>
        </p:nvSpPr>
        <p:spPr>
          <a:xfrm>
            <a:off x="768096" y="3474720"/>
            <a:ext cx="1371600" cy="329184"/>
          </a:xfrm>
          <a:prstGeom prst="rect">
            <a:avLst/>
          </a:prstGeom>
          <a:noFill/>
          <a:ln/>
        </p:spPr>
        <p:txBody>
          <a:bodyPr wrap="square" lIns="0" tIns="0" rIns="0" bIns="0" rtlCol="0" anchor="ctr"/>
          <a:lstStyle/>
          <a:p>
            <a:pPr algn="ctr" indent="0" marL="0">
              <a:lnSpc>
                <a:spcPct val="124000"/>
              </a:lnSpc>
              <a:buNone/>
            </a:pPr>
            <a:r>
              <a:rPr lang="en-US" sz="1080" b="1" dirty="0">
                <a:solidFill>
                  <a:srgbClr val="043B72"/>
                </a:solidFill>
                <a:latin typeface="Spoqa Han Sans Neo" pitchFamily="34" charset="0"/>
                <a:ea typeface="Spoqa Han Sans Neo" pitchFamily="34" charset="-122"/>
                <a:cs typeface="Spoqa Han Sans Neo" pitchFamily="34" charset="-120"/>
              </a:rPr>
              <a:t>근로소득</a:t>
            </a:r>
            <a:endParaRPr lang="en-US" sz="1080" dirty="0"/>
          </a:p>
        </p:txBody>
      </p:sp>
      <p:sp>
        <p:nvSpPr>
          <p:cNvPr id="19" name="Text 17"/>
          <p:cNvSpPr/>
          <p:nvPr/>
        </p:nvSpPr>
        <p:spPr>
          <a:xfrm>
            <a:off x="2249424" y="3474720"/>
            <a:ext cx="3127248" cy="329184"/>
          </a:xfrm>
          <a:prstGeom prst="rect">
            <a:avLst/>
          </a:prstGeom>
          <a:noFill/>
          <a:ln/>
        </p:spPr>
        <p:txBody>
          <a:bodyPr wrap="square" lIns="0" tIns="0" rIns="0" bIns="0" rtlCol="0" anchor="ctr"/>
          <a:lstStyle/>
          <a:p>
            <a:pPr algn="l" indent="0" marL="0">
              <a:lnSpc>
                <a:spcPct val="124000"/>
              </a:lnSpc>
              <a:buNone/>
            </a:pPr>
            <a:r>
              <a:rPr lang="en-US" sz="1030" dirty="0">
                <a:solidFill>
                  <a:srgbClr val="3D3D3D"/>
                </a:solidFill>
                <a:latin typeface="Spoqa Han Sans Neo" pitchFamily="34" charset="0"/>
                <a:ea typeface="Spoqa Han Sans Neo" pitchFamily="34" charset="-122"/>
                <a:cs typeface="Spoqa Han Sans Neo" pitchFamily="34" charset="-120"/>
              </a:rPr>
              <a:t>급여 · 상여 · 인정상여</a:t>
            </a:r>
            <a:endParaRPr lang="en-US" sz="1030" dirty="0"/>
          </a:p>
        </p:txBody>
      </p:sp>
      <p:sp>
        <p:nvSpPr>
          <p:cNvPr id="20" name="Shape 18"/>
          <p:cNvSpPr/>
          <p:nvPr/>
        </p:nvSpPr>
        <p:spPr>
          <a:xfrm>
            <a:off x="768096" y="3931920"/>
            <a:ext cx="1371600" cy="329184"/>
          </a:xfrm>
          <a:prstGeom prst="rect">
            <a:avLst/>
          </a:prstGeom>
          <a:solidFill>
            <a:srgbClr val="F7F8FA"/>
          </a:solidFill>
          <a:ln/>
        </p:spPr>
      </p:sp>
      <p:sp>
        <p:nvSpPr>
          <p:cNvPr id="21" name="Text 19"/>
          <p:cNvSpPr/>
          <p:nvPr/>
        </p:nvSpPr>
        <p:spPr>
          <a:xfrm>
            <a:off x="768096" y="3931920"/>
            <a:ext cx="1371600" cy="329184"/>
          </a:xfrm>
          <a:prstGeom prst="rect">
            <a:avLst/>
          </a:prstGeom>
          <a:noFill/>
          <a:ln/>
        </p:spPr>
        <p:txBody>
          <a:bodyPr wrap="square" lIns="0" tIns="0" rIns="0" bIns="0" rtlCol="0" anchor="ctr"/>
          <a:lstStyle/>
          <a:p>
            <a:pPr algn="ctr" indent="0" marL="0">
              <a:lnSpc>
                <a:spcPct val="124000"/>
              </a:lnSpc>
              <a:buNone/>
            </a:pPr>
            <a:r>
              <a:rPr lang="en-US" sz="1080" b="1" dirty="0">
                <a:solidFill>
                  <a:srgbClr val="043B72"/>
                </a:solidFill>
                <a:latin typeface="Spoqa Han Sans Neo" pitchFamily="34" charset="0"/>
                <a:ea typeface="Spoqa Han Sans Neo" pitchFamily="34" charset="-122"/>
                <a:cs typeface="Spoqa Han Sans Neo" pitchFamily="34" charset="-120"/>
              </a:rPr>
              <a:t>연금소득</a:t>
            </a:r>
            <a:endParaRPr lang="en-US" sz="1080" dirty="0"/>
          </a:p>
        </p:txBody>
      </p:sp>
      <p:sp>
        <p:nvSpPr>
          <p:cNvPr id="22" name="Text 20"/>
          <p:cNvSpPr/>
          <p:nvPr/>
        </p:nvSpPr>
        <p:spPr>
          <a:xfrm>
            <a:off x="2249424" y="3931920"/>
            <a:ext cx="3127248" cy="329184"/>
          </a:xfrm>
          <a:prstGeom prst="rect">
            <a:avLst/>
          </a:prstGeom>
          <a:noFill/>
          <a:ln/>
        </p:spPr>
        <p:txBody>
          <a:bodyPr wrap="square" lIns="0" tIns="0" rIns="0" bIns="0" rtlCol="0" anchor="ctr"/>
          <a:lstStyle/>
          <a:p>
            <a:pPr algn="l" indent="0" marL="0">
              <a:lnSpc>
                <a:spcPct val="124000"/>
              </a:lnSpc>
              <a:buNone/>
            </a:pPr>
            <a:r>
              <a:rPr lang="en-US" sz="1030" dirty="0">
                <a:solidFill>
                  <a:srgbClr val="3D3D3D"/>
                </a:solidFill>
                <a:latin typeface="Spoqa Han Sans Neo" pitchFamily="34" charset="0"/>
                <a:ea typeface="Spoqa Han Sans Neo" pitchFamily="34" charset="-122"/>
                <a:cs typeface="Spoqa Han Sans Neo" pitchFamily="34" charset="-120"/>
              </a:rPr>
              <a:t>공적연금, 사적연금(연 1,500만원 초과)</a:t>
            </a:r>
            <a:endParaRPr lang="en-US" sz="1030" dirty="0"/>
          </a:p>
        </p:txBody>
      </p:sp>
      <p:sp>
        <p:nvSpPr>
          <p:cNvPr id="23" name="Shape 21"/>
          <p:cNvSpPr/>
          <p:nvPr/>
        </p:nvSpPr>
        <p:spPr>
          <a:xfrm>
            <a:off x="768096" y="4389120"/>
            <a:ext cx="1371600" cy="329184"/>
          </a:xfrm>
          <a:prstGeom prst="rect">
            <a:avLst/>
          </a:prstGeom>
          <a:solidFill>
            <a:srgbClr val="F7F8FA"/>
          </a:solidFill>
          <a:ln/>
        </p:spPr>
      </p:sp>
      <p:sp>
        <p:nvSpPr>
          <p:cNvPr id="24" name="Text 22"/>
          <p:cNvSpPr/>
          <p:nvPr/>
        </p:nvSpPr>
        <p:spPr>
          <a:xfrm>
            <a:off x="768096" y="4389120"/>
            <a:ext cx="1371600" cy="329184"/>
          </a:xfrm>
          <a:prstGeom prst="rect">
            <a:avLst/>
          </a:prstGeom>
          <a:noFill/>
          <a:ln/>
        </p:spPr>
        <p:txBody>
          <a:bodyPr wrap="square" lIns="0" tIns="0" rIns="0" bIns="0" rtlCol="0" anchor="ctr"/>
          <a:lstStyle/>
          <a:p>
            <a:pPr algn="ctr" indent="0" marL="0">
              <a:lnSpc>
                <a:spcPct val="124000"/>
              </a:lnSpc>
              <a:buNone/>
            </a:pPr>
            <a:r>
              <a:rPr lang="en-US" sz="1080" b="1" dirty="0">
                <a:solidFill>
                  <a:srgbClr val="043B72"/>
                </a:solidFill>
                <a:latin typeface="Spoqa Han Sans Neo" pitchFamily="34" charset="0"/>
                <a:ea typeface="Spoqa Han Sans Neo" pitchFamily="34" charset="-122"/>
                <a:cs typeface="Spoqa Han Sans Neo" pitchFamily="34" charset="-120"/>
              </a:rPr>
              <a:t>기타소득</a:t>
            </a:r>
            <a:endParaRPr lang="en-US" sz="1080" dirty="0"/>
          </a:p>
        </p:txBody>
      </p:sp>
      <p:sp>
        <p:nvSpPr>
          <p:cNvPr id="25" name="Text 23"/>
          <p:cNvSpPr/>
          <p:nvPr/>
        </p:nvSpPr>
        <p:spPr>
          <a:xfrm>
            <a:off x="2249424" y="4389120"/>
            <a:ext cx="3127248" cy="329184"/>
          </a:xfrm>
          <a:prstGeom prst="rect">
            <a:avLst/>
          </a:prstGeom>
          <a:noFill/>
          <a:ln/>
        </p:spPr>
        <p:txBody>
          <a:bodyPr wrap="square" lIns="0" tIns="0" rIns="0" bIns="0" rtlCol="0" anchor="ctr"/>
          <a:lstStyle/>
          <a:p>
            <a:pPr algn="l" indent="0" marL="0">
              <a:lnSpc>
                <a:spcPct val="124000"/>
              </a:lnSpc>
              <a:buNone/>
            </a:pPr>
            <a:r>
              <a:rPr lang="en-US" sz="1030" dirty="0">
                <a:solidFill>
                  <a:srgbClr val="3D3D3D"/>
                </a:solidFill>
                <a:latin typeface="Spoqa Han Sans Neo" pitchFamily="34" charset="0"/>
                <a:ea typeface="Spoqa Han Sans Neo" pitchFamily="34" charset="-122"/>
                <a:cs typeface="Spoqa Han Sans Neo" pitchFamily="34" charset="-120"/>
              </a:rPr>
              <a:t>강연료 · 원고료 · 사용료 · 상금</a:t>
            </a:r>
            <a:endParaRPr lang="en-US" sz="1030" dirty="0"/>
          </a:p>
        </p:txBody>
      </p:sp>
      <p:sp>
        <p:nvSpPr>
          <p:cNvPr id="26" name="Shape 24"/>
          <p:cNvSpPr/>
          <p:nvPr/>
        </p:nvSpPr>
        <p:spPr>
          <a:xfrm>
            <a:off x="5907024" y="1572768"/>
            <a:ext cx="5717743" cy="1024128"/>
          </a:xfrm>
          <a:prstGeom prst="rect">
            <a:avLst/>
          </a:prstGeom>
          <a:solidFill>
            <a:srgbClr val="FFFFFF"/>
          </a:solidFill>
          <a:ln w="9525">
            <a:solidFill>
              <a:srgbClr val="CDCECB"/>
            </a:solidFill>
            <a:prstDash val="solid"/>
          </a:ln>
        </p:spPr>
      </p:sp>
      <p:sp>
        <p:nvSpPr>
          <p:cNvPr id="27" name="Shape 25"/>
          <p:cNvSpPr/>
          <p:nvPr/>
        </p:nvSpPr>
        <p:spPr>
          <a:xfrm>
            <a:off x="5907024" y="1572768"/>
            <a:ext cx="50292" cy="1024128"/>
          </a:xfrm>
          <a:prstGeom prst="rect">
            <a:avLst/>
          </a:prstGeom>
          <a:solidFill>
            <a:srgbClr val="F58220"/>
          </a:solidFill>
          <a:ln/>
        </p:spPr>
      </p:sp>
      <p:sp>
        <p:nvSpPr>
          <p:cNvPr id="28" name="Text 26"/>
          <p:cNvSpPr/>
          <p:nvPr/>
        </p:nvSpPr>
        <p:spPr>
          <a:xfrm>
            <a:off x="6126480" y="1700784"/>
            <a:ext cx="5278831" cy="274320"/>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종합과세</a:t>
            </a:r>
            <a:endParaRPr lang="en-US" sz="1300" dirty="0"/>
          </a:p>
        </p:txBody>
      </p:sp>
      <p:sp>
        <p:nvSpPr>
          <p:cNvPr id="29" name="Text 27"/>
          <p:cNvSpPr/>
          <p:nvPr/>
        </p:nvSpPr>
        <p:spPr>
          <a:xfrm>
            <a:off x="6126480" y="1993392"/>
            <a:ext cx="5278831" cy="548640"/>
          </a:xfrm>
          <a:prstGeom prst="rect">
            <a:avLst/>
          </a:prstGeom>
          <a:noFill/>
          <a:ln/>
        </p:spPr>
        <p:txBody>
          <a:bodyPr wrap="square" lIns="0" tIns="0" rIns="0" bIns="0" rtlCol="0" anchor="t"/>
          <a:lstStyle/>
          <a:p>
            <a:pPr algn="l" indent="0" marL="0">
              <a:lnSpc>
                <a:spcPct val="124000"/>
              </a:lnSpc>
              <a:buNone/>
            </a:pPr>
            <a:r>
              <a:rPr lang="en-US" sz="1060" dirty="0">
                <a:solidFill>
                  <a:srgbClr val="3D3D3D"/>
                </a:solidFill>
                <a:latin typeface="Spoqa Han Sans Neo" pitchFamily="34" charset="0"/>
                <a:ea typeface="Spoqa Han Sans Neo" pitchFamily="34" charset="-122"/>
                <a:cs typeface="Spoqa Han Sans Neo" pitchFamily="34" charset="-120"/>
              </a:rPr>
              <a:t>6가지 소득을 합산해 6~45% 누진세율 적용. 다음 해 5월 확정신고(성실신고확인 대상자는 6월).</a:t>
            </a:r>
            <a:endParaRPr lang="en-US" sz="1060" dirty="0"/>
          </a:p>
        </p:txBody>
      </p:sp>
      <p:sp>
        <p:nvSpPr>
          <p:cNvPr id="30" name="Shape 28"/>
          <p:cNvSpPr/>
          <p:nvPr/>
        </p:nvSpPr>
        <p:spPr>
          <a:xfrm>
            <a:off x="5907024" y="2706624"/>
            <a:ext cx="5717743" cy="1024128"/>
          </a:xfrm>
          <a:prstGeom prst="rect">
            <a:avLst/>
          </a:prstGeom>
          <a:solidFill>
            <a:srgbClr val="FFFFFF"/>
          </a:solidFill>
          <a:ln w="9525">
            <a:solidFill>
              <a:srgbClr val="CDCECB"/>
            </a:solidFill>
            <a:prstDash val="solid"/>
          </a:ln>
        </p:spPr>
      </p:sp>
      <p:sp>
        <p:nvSpPr>
          <p:cNvPr id="31" name="Shape 29"/>
          <p:cNvSpPr/>
          <p:nvPr/>
        </p:nvSpPr>
        <p:spPr>
          <a:xfrm>
            <a:off x="5907024" y="2706624"/>
            <a:ext cx="50292" cy="1024128"/>
          </a:xfrm>
          <a:prstGeom prst="rect">
            <a:avLst/>
          </a:prstGeom>
          <a:solidFill>
            <a:srgbClr val="043B72"/>
          </a:solidFill>
          <a:ln/>
        </p:spPr>
      </p:sp>
      <p:sp>
        <p:nvSpPr>
          <p:cNvPr id="32" name="Text 30"/>
          <p:cNvSpPr/>
          <p:nvPr/>
        </p:nvSpPr>
        <p:spPr>
          <a:xfrm>
            <a:off x="6126480" y="2834640"/>
            <a:ext cx="5278831" cy="274320"/>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분류과세</a:t>
            </a:r>
            <a:endParaRPr lang="en-US" sz="1300" dirty="0"/>
          </a:p>
        </p:txBody>
      </p:sp>
      <p:sp>
        <p:nvSpPr>
          <p:cNvPr id="33" name="Text 31"/>
          <p:cNvSpPr/>
          <p:nvPr/>
        </p:nvSpPr>
        <p:spPr>
          <a:xfrm>
            <a:off x="6126480" y="3127248"/>
            <a:ext cx="5278831" cy="548640"/>
          </a:xfrm>
          <a:prstGeom prst="rect">
            <a:avLst/>
          </a:prstGeom>
          <a:noFill/>
          <a:ln/>
        </p:spPr>
        <p:txBody>
          <a:bodyPr wrap="square" lIns="0" tIns="0" rIns="0" bIns="0" rtlCol="0" anchor="t"/>
          <a:lstStyle/>
          <a:p>
            <a:pPr algn="l" indent="0" marL="0">
              <a:lnSpc>
                <a:spcPct val="124000"/>
              </a:lnSpc>
              <a:buNone/>
            </a:pPr>
            <a:r>
              <a:rPr lang="en-US" sz="1060" dirty="0">
                <a:solidFill>
                  <a:srgbClr val="3D3D3D"/>
                </a:solidFill>
                <a:latin typeface="Spoqa Han Sans Neo" pitchFamily="34" charset="0"/>
                <a:ea typeface="Spoqa Han Sans Neo" pitchFamily="34" charset="-122"/>
                <a:cs typeface="Spoqa Han Sans Neo" pitchFamily="34" charset="-120"/>
              </a:rPr>
              <a:t>양도소득 · 퇴직소득은 다른 소득과 합산하지 않고 각각 별도 계산. 장기간 형성된 소득의 누진 완화 목적.</a:t>
            </a:r>
            <a:endParaRPr lang="en-US" sz="1060" dirty="0"/>
          </a:p>
        </p:txBody>
      </p:sp>
      <p:sp>
        <p:nvSpPr>
          <p:cNvPr id="34" name="Shape 32"/>
          <p:cNvSpPr/>
          <p:nvPr/>
        </p:nvSpPr>
        <p:spPr>
          <a:xfrm>
            <a:off x="5907024" y="3840480"/>
            <a:ext cx="5717743" cy="1024128"/>
          </a:xfrm>
          <a:prstGeom prst="rect">
            <a:avLst/>
          </a:prstGeom>
          <a:solidFill>
            <a:srgbClr val="FFFFFF"/>
          </a:solidFill>
          <a:ln w="9525">
            <a:solidFill>
              <a:srgbClr val="CDCECB"/>
            </a:solidFill>
            <a:prstDash val="solid"/>
          </a:ln>
        </p:spPr>
      </p:sp>
      <p:sp>
        <p:nvSpPr>
          <p:cNvPr id="35" name="Shape 33"/>
          <p:cNvSpPr/>
          <p:nvPr/>
        </p:nvSpPr>
        <p:spPr>
          <a:xfrm>
            <a:off x="5907024" y="3840480"/>
            <a:ext cx="50292" cy="1024128"/>
          </a:xfrm>
          <a:prstGeom prst="rect">
            <a:avLst/>
          </a:prstGeom>
          <a:solidFill>
            <a:srgbClr val="84888B"/>
          </a:solidFill>
          <a:ln/>
        </p:spPr>
      </p:sp>
      <p:sp>
        <p:nvSpPr>
          <p:cNvPr id="36" name="Text 34"/>
          <p:cNvSpPr/>
          <p:nvPr/>
        </p:nvSpPr>
        <p:spPr>
          <a:xfrm>
            <a:off x="6126480" y="3968496"/>
            <a:ext cx="5278831" cy="274320"/>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분리과세</a:t>
            </a:r>
            <a:endParaRPr lang="en-US" sz="1300" dirty="0"/>
          </a:p>
        </p:txBody>
      </p:sp>
      <p:sp>
        <p:nvSpPr>
          <p:cNvPr id="37" name="Text 35"/>
          <p:cNvSpPr/>
          <p:nvPr/>
        </p:nvSpPr>
        <p:spPr>
          <a:xfrm>
            <a:off x="6126480" y="4261104"/>
            <a:ext cx="5278831" cy="548640"/>
          </a:xfrm>
          <a:prstGeom prst="rect">
            <a:avLst/>
          </a:prstGeom>
          <a:noFill/>
          <a:ln/>
        </p:spPr>
        <p:txBody>
          <a:bodyPr wrap="square" lIns="0" tIns="0" rIns="0" bIns="0" rtlCol="0" anchor="t"/>
          <a:lstStyle/>
          <a:p>
            <a:pPr algn="l" indent="0" marL="0">
              <a:lnSpc>
                <a:spcPct val="124000"/>
              </a:lnSpc>
              <a:buNone/>
            </a:pPr>
            <a:r>
              <a:rPr lang="en-US" sz="1060" dirty="0">
                <a:solidFill>
                  <a:srgbClr val="3D3D3D"/>
                </a:solidFill>
                <a:latin typeface="Spoqa Han Sans Neo" pitchFamily="34" charset="0"/>
                <a:ea typeface="Spoqa Han Sans Neo" pitchFamily="34" charset="-122"/>
                <a:cs typeface="Spoqa Han Sans Neo" pitchFamily="34" charset="-120"/>
              </a:rPr>
              <a:t>원천징수로 납세의무 종결. 금융소득 2,000만원 이하 15.4%, 사적연금 연 1,500만원 이하 3.3~5.5%, 일용근로소득, 기타소득 300만원 이하(선택).</a:t>
            </a:r>
            <a:endParaRPr lang="en-US" sz="1060" dirty="0"/>
          </a:p>
        </p:txBody>
      </p:sp>
      <p:sp>
        <p:nvSpPr>
          <p:cNvPr id="38" name="Shape 36"/>
          <p:cNvSpPr/>
          <p:nvPr/>
        </p:nvSpPr>
        <p:spPr>
          <a:xfrm>
            <a:off x="566928" y="5029200"/>
            <a:ext cx="11057839" cy="822960"/>
          </a:xfrm>
          <a:prstGeom prst="rect">
            <a:avLst/>
          </a:prstGeom>
          <a:solidFill>
            <a:srgbClr val="ECEFF4"/>
          </a:solidFill>
          <a:ln/>
        </p:spPr>
      </p:sp>
      <p:sp>
        <p:nvSpPr>
          <p:cNvPr id="39" name="Text 37"/>
          <p:cNvSpPr/>
          <p:nvPr/>
        </p:nvSpPr>
        <p:spPr>
          <a:xfrm>
            <a:off x="749808" y="5120640"/>
            <a:ext cx="10692079" cy="23774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실무 포인트</a:t>
            </a:r>
            <a:endParaRPr lang="en-US" sz="1100" dirty="0"/>
          </a:p>
        </p:txBody>
      </p:sp>
      <p:sp>
        <p:nvSpPr>
          <p:cNvPr id="40" name="Text 38"/>
          <p:cNvSpPr/>
          <p:nvPr/>
        </p:nvSpPr>
        <p:spPr>
          <a:xfrm>
            <a:off x="749808" y="5358384"/>
            <a:ext cx="10692079" cy="402336"/>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분리과세 상품을 늘리는 것이 곧 종합소득 과세표준을 낮추는 것이다. 금융소득 2,000만원 임계, 사적연금 1,500만원 임계, 기타소득 300만원 임계 — 세 개의 문턱을 넘지 않도록 수령 시기와 명의를 배분하는 것이 상담의 기본 작업이다.</a:t>
            </a:r>
            <a:endParaRPr lang="en-US" sz="1060" dirty="0"/>
          </a:p>
        </p:txBody>
      </p:sp>
      <p:sp>
        <p:nvSpPr>
          <p:cNvPr id="41" name="Text 39"/>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42" name="Text 40"/>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  종합소득세</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2026년 종합소득세 세율 — 변동 없음</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8단계 누진구조 유지, 지방소득세 10% 별도 부과</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9144000" cy="914400"/>
        </p:xfrm>
        <a:graphic>
          <a:graphicData uri="http://schemas.openxmlformats.org/drawingml/2006/table">
            <a:tbl>
              <a:tblPr/>
              <a:tblGrid>
                <a:gridCol w="2834640"/>
                <a:gridCol w="914400"/>
                <a:gridCol w="1234440"/>
                <a:gridCol w="1234440"/>
              </a:tblGrid>
              <a:tr h="310896">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과세표준</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세율</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누진공제</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지방세 포함</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1089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1,400만원 이하</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6%</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6.6%</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1,400만원 ~ 5,000만원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126만원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16.5%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5,000만원 ~ 8,800만원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24%</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576만원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26.4%</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8,800만원 ~ 1억 5,000만원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35%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1,544만원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38.5%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1억 5,000만원 ~ 3억원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38%</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1,994만원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41.8%</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3억원 ~ 5억원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40%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2,594만원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44.0%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5억원 ~ 10억원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42%</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3,594만원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46.2%</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80" b="1" dirty="0">
                          <a:solidFill>
                            <a:srgbClr val="3D3D3D"/>
                          </a:solidFill>
                          <a:latin typeface="Spoqa Han Sans Neo" pitchFamily="34" charset="0"/>
                          <a:ea typeface="Spoqa Han Sans Neo" pitchFamily="34" charset="-122"/>
                          <a:cs typeface="Spoqa Han Sans Neo" pitchFamily="34" charset="-120"/>
                        </a:rPr>
                        <a:t>10억원 초과</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45%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6,594만원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49.5%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7" name="Text 4"/>
          <p:cNvSpPr/>
          <p:nvPr/>
        </p:nvSpPr>
        <p:spPr>
          <a:xfrm>
            <a:off x="566928" y="4517136"/>
            <a:ext cx="621792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산출세액 = 과세표준 × 세율 − 누진공제</a:t>
            </a:r>
            <a:endParaRPr lang="en-US" sz="900" dirty="0"/>
          </a:p>
        </p:txBody>
      </p:sp>
      <p:sp>
        <p:nvSpPr>
          <p:cNvPr id="8" name="Text 5"/>
          <p:cNvSpPr/>
          <p:nvPr/>
        </p:nvSpPr>
        <p:spPr>
          <a:xfrm>
            <a:off x="6858000" y="1627632"/>
            <a:ext cx="4766767" cy="274320"/>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한계세율과 실효세율은 다르다</a:t>
            </a:r>
            <a:endParaRPr lang="en-US" sz="1300" dirty="0"/>
          </a:p>
        </p:txBody>
      </p:sp>
      <p:sp>
        <p:nvSpPr>
          <p:cNvPr id="9" name="Shape 6"/>
          <p:cNvSpPr/>
          <p:nvPr/>
        </p:nvSpPr>
        <p:spPr>
          <a:xfrm>
            <a:off x="6858000" y="2011680"/>
            <a:ext cx="4766767" cy="932688"/>
          </a:xfrm>
          <a:prstGeom prst="rect">
            <a:avLst/>
          </a:prstGeom>
          <a:solidFill>
            <a:srgbClr val="FFFFFF"/>
          </a:solidFill>
          <a:ln w="9525">
            <a:solidFill>
              <a:srgbClr val="CDCECB"/>
            </a:solidFill>
            <a:prstDash val="solid"/>
          </a:ln>
        </p:spPr>
      </p:sp>
      <p:sp>
        <p:nvSpPr>
          <p:cNvPr id="10" name="Text 7"/>
          <p:cNvSpPr/>
          <p:nvPr/>
        </p:nvSpPr>
        <p:spPr>
          <a:xfrm>
            <a:off x="7022592" y="2139696"/>
            <a:ext cx="443758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과세표준 5,000만원</a:t>
            </a:r>
            <a:endParaRPr lang="en-US" sz="1000" dirty="0"/>
          </a:p>
        </p:txBody>
      </p:sp>
      <p:sp>
        <p:nvSpPr>
          <p:cNvPr id="11" name="Text 8"/>
          <p:cNvSpPr/>
          <p:nvPr/>
        </p:nvSpPr>
        <p:spPr>
          <a:xfrm>
            <a:off x="7022592" y="2340864"/>
            <a:ext cx="4437583" cy="365760"/>
          </a:xfrm>
          <a:prstGeom prst="rect">
            <a:avLst/>
          </a:prstGeom>
          <a:noFill/>
          <a:ln/>
        </p:spPr>
        <p:txBody>
          <a:bodyPr wrap="square" lIns="0" tIns="0" rIns="0" bIns="0" rtlCol="0" anchor="ctr"/>
          <a:lstStyle/>
          <a:p>
            <a:pPr indent="0" marL="0">
              <a:buNone/>
            </a:pPr>
            <a:r>
              <a:rPr lang="en-US" sz="2100" b="1" spc="-60" kern="0" dirty="0">
                <a:solidFill>
                  <a:srgbClr val="F58220"/>
                </a:solidFill>
                <a:latin typeface="Spoqa Han Sans Neo" pitchFamily="34" charset="0"/>
                <a:ea typeface="Spoqa Han Sans Neo" pitchFamily="34" charset="-122"/>
                <a:cs typeface="Spoqa Han Sans Neo" pitchFamily="34" charset="-120"/>
              </a:rPr>
              <a:t>624만원</a:t>
            </a:r>
            <a:endParaRPr lang="en-US" sz="2100" dirty="0"/>
          </a:p>
        </p:txBody>
      </p:sp>
      <p:sp>
        <p:nvSpPr>
          <p:cNvPr id="12" name="Text 9"/>
          <p:cNvSpPr/>
          <p:nvPr/>
        </p:nvSpPr>
        <p:spPr>
          <a:xfrm>
            <a:off x="7022592" y="2724912"/>
            <a:ext cx="4437583" cy="237744"/>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적용 한계세율 15% · 실효세율 12.5%</a:t>
            </a:r>
            <a:endParaRPr lang="en-US" sz="1000" dirty="0"/>
          </a:p>
        </p:txBody>
      </p:sp>
      <p:sp>
        <p:nvSpPr>
          <p:cNvPr id="13" name="Shape 10"/>
          <p:cNvSpPr/>
          <p:nvPr/>
        </p:nvSpPr>
        <p:spPr>
          <a:xfrm>
            <a:off x="6858000" y="2999232"/>
            <a:ext cx="4766767" cy="932688"/>
          </a:xfrm>
          <a:prstGeom prst="rect">
            <a:avLst/>
          </a:prstGeom>
          <a:solidFill>
            <a:srgbClr val="FFFFFF"/>
          </a:solidFill>
          <a:ln w="9525">
            <a:solidFill>
              <a:srgbClr val="CDCECB"/>
            </a:solidFill>
            <a:prstDash val="solid"/>
          </a:ln>
        </p:spPr>
      </p:sp>
      <p:sp>
        <p:nvSpPr>
          <p:cNvPr id="14" name="Text 11"/>
          <p:cNvSpPr/>
          <p:nvPr/>
        </p:nvSpPr>
        <p:spPr>
          <a:xfrm>
            <a:off x="7022592" y="3127248"/>
            <a:ext cx="443758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과세표준 1억 5,000만원</a:t>
            </a:r>
            <a:endParaRPr lang="en-US" sz="1000" dirty="0"/>
          </a:p>
        </p:txBody>
      </p:sp>
      <p:sp>
        <p:nvSpPr>
          <p:cNvPr id="15" name="Text 12"/>
          <p:cNvSpPr/>
          <p:nvPr/>
        </p:nvSpPr>
        <p:spPr>
          <a:xfrm>
            <a:off x="7022592" y="3328416"/>
            <a:ext cx="4437583" cy="365760"/>
          </a:xfrm>
          <a:prstGeom prst="rect">
            <a:avLst/>
          </a:prstGeom>
          <a:noFill/>
          <a:ln/>
        </p:spPr>
        <p:txBody>
          <a:bodyPr wrap="square" lIns="0" tIns="0" rIns="0" bIns="0" rtlCol="0" anchor="ctr"/>
          <a:lstStyle/>
          <a:p>
            <a:pPr indent="0" marL="0">
              <a:buNone/>
            </a:pPr>
            <a:r>
              <a:rPr lang="en-US" sz="2100" b="1" spc="-60" kern="0" dirty="0">
                <a:solidFill>
                  <a:srgbClr val="F58220"/>
                </a:solidFill>
                <a:latin typeface="Spoqa Han Sans Neo" pitchFamily="34" charset="0"/>
                <a:ea typeface="Spoqa Han Sans Neo" pitchFamily="34" charset="-122"/>
                <a:cs typeface="Spoqa Han Sans Neo" pitchFamily="34" charset="-120"/>
              </a:rPr>
              <a:t>3,706만원</a:t>
            </a:r>
            <a:endParaRPr lang="en-US" sz="2100" dirty="0"/>
          </a:p>
        </p:txBody>
      </p:sp>
      <p:sp>
        <p:nvSpPr>
          <p:cNvPr id="16" name="Text 13"/>
          <p:cNvSpPr/>
          <p:nvPr/>
        </p:nvSpPr>
        <p:spPr>
          <a:xfrm>
            <a:off x="7022592" y="3712464"/>
            <a:ext cx="4437583" cy="237744"/>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적용 한계세율 35% · 실효세율 24.7%</a:t>
            </a:r>
            <a:endParaRPr lang="en-US" sz="1000" dirty="0"/>
          </a:p>
        </p:txBody>
      </p:sp>
      <p:sp>
        <p:nvSpPr>
          <p:cNvPr id="17" name="Shape 14"/>
          <p:cNvSpPr/>
          <p:nvPr/>
        </p:nvSpPr>
        <p:spPr>
          <a:xfrm>
            <a:off x="6858000" y="3986784"/>
            <a:ext cx="4766767" cy="932688"/>
          </a:xfrm>
          <a:prstGeom prst="rect">
            <a:avLst/>
          </a:prstGeom>
          <a:solidFill>
            <a:srgbClr val="FFFFFF"/>
          </a:solidFill>
          <a:ln w="9525">
            <a:solidFill>
              <a:srgbClr val="CDCECB"/>
            </a:solidFill>
            <a:prstDash val="solid"/>
          </a:ln>
        </p:spPr>
      </p:sp>
      <p:sp>
        <p:nvSpPr>
          <p:cNvPr id="18" name="Text 15"/>
          <p:cNvSpPr/>
          <p:nvPr/>
        </p:nvSpPr>
        <p:spPr>
          <a:xfrm>
            <a:off x="7022592" y="4114800"/>
            <a:ext cx="443758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과세표준 5억원</a:t>
            </a:r>
            <a:endParaRPr lang="en-US" sz="1000" dirty="0"/>
          </a:p>
        </p:txBody>
      </p:sp>
      <p:sp>
        <p:nvSpPr>
          <p:cNvPr id="19" name="Text 16"/>
          <p:cNvSpPr/>
          <p:nvPr/>
        </p:nvSpPr>
        <p:spPr>
          <a:xfrm>
            <a:off x="7022592" y="4315968"/>
            <a:ext cx="4437583" cy="365760"/>
          </a:xfrm>
          <a:prstGeom prst="rect">
            <a:avLst/>
          </a:prstGeom>
          <a:noFill/>
          <a:ln/>
        </p:spPr>
        <p:txBody>
          <a:bodyPr wrap="square" lIns="0" tIns="0" rIns="0" bIns="0" rtlCol="0" anchor="ctr"/>
          <a:lstStyle/>
          <a:p>
            <a:pPr indent="0" marL="0">
              <a:buNone/>
            </a:pPr>
            <a:r>
              <a:rPr lang="en-US" sz="2100" b="1" spc="-60" kern="0" dirty="0">
                <a:solidFill>
                  <a:srgbClr val="043B72"/>
                </a:solidFill>
                <a:latin typeface="Spoqa Han Sans Neo" pitchFamily="34" charset="0"/>
                <a:ea typeface="Spoqa Han Sans Neo" pitchFamily="34" charset="-122"/>
                <a:cs typeface="Spoqa Han Sans Neo" pitchFamily="34" charset="-120"/>
              </a:rPr>
              <a:t>1억 7,406만원</a:t>
            </a:r>
            <a:endParaRPr lang="en-US" sz="2100" dirty="0"/>
          </a:p>
        </p:txBody>
      </p:sp>
      <p:sp>
        <p:nvSpPr>
          <p:cNvPr id="20" name="Text 17"/>
          <p:cNvSpPr/>
          <p:nvPr/>
        </p:nvSpPr>
        <p:spPr>
          <a:xfrm>
            <a:off x="7022592" y="4700016"/>
            <a:ext cx="4437583" cy="237744"/>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적용 한계세율 40% · 실효세율 34.8%</a:t>
            </a:r>
            <a:endParaRPr lang="en-US" sz="1000" dirty="0"/>
          </a:p>
        </p:txBody>
      </p:sp>
      <p:sp>
        <p:nvSpPr>
          <p:cNvPr id="21" name="Shape 18"/>
          <p:cNvSpPr/>
          <p:nvPr/>
        </p:nvSpPr>
        <p:spPr>
          <a:xfrm>
            <a:off x="566928" y="5138928"/>
            <a:ext cx="11057839" cy="914400"/>
          </a:xfrm>
          <a:prstGeom prst="rect">
            <a:avLst/>
          </a:prstGeom>
          <a:solidFill>
            <a:srgbClr val="ECEFF4"/>
          </a:solidFill>
          <a:ln/>
        </p:spPr>
      </p:sp>
      <p:sp>
        <p:nvSpPr>
          <p:cNvPr id="22" name="Text 19"/>
          <p:cNvSpPr/>
          <p:nvPr/>
        </p:nvSpPr>
        <p:spPr>
          <a:xfrm>
            <a:off x="749808" y="5230368"/>
            <a:ext cx="10692079" cy="23774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상담 화법</a:t>
            </a:r>
            <a:endParaRPr lang="en-US" sz="1100" dirty="0"/>
          </a:p>
        </p:txBody>
      </p:sp>
      <p:sp>
        <p:nvSpPr>
          <p:cNvPr id="23" name="Text 20"/>
          <p:cNvSpPr/>
          <p:nvPr/>
        </p:nvSpPr>
        <p:spPr>
          <a:xfrm>
            <a:off x="749808" y="5468112"/>
            <a:ext cx="10692079" cy="493776"/>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"세율 45%"라는 표현은 과장이다. 과세표준 5억원의 실효세율은 34.8%다. 고객에게는 한계세율(다음 1원에 붙는 세율)과 평균 실효세율을 함께 제시해야 절세 효과도 정확히 계산된다.</a:t>
            </a:r>
            <a:endParaRPr lang="en-US" sz="1060" dirty="0"/>
          </a:p>
        </p:txBody>
      </p:sp>
      <p:sp>
        <p:nvSpPr>
          <p:cNvPr id="24" name="Text 21"/>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5" name="Text 22"/>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  종합소득세</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연간 세무 캘린더와 가산세</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일정 관리만으로 피할 수 있는 세금이 가장 아깝다</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9144000" cy="914400"/>
        </p:xfrm>
        <a:graphic>
          <a:graphicData uri="http://schemas.openxmlformats.org/drawingml/2006/table">
            <a:tbl>
              <a:tblPr/>
              <a:tblGrid>
                <a:gridCol w="1417320"/>
                <a:gridCol w="3977640"/>
                <a:gridCol w="1691640"/>
              </a:tblGrid>
              <a:tr h="288036">
                <a:tc>
                  <a:txBody>
                    <a:bodyPr/>
                    <a:lstStyle/>
                    <a:p>
                      <a:pPr algn="ct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시기</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신고 · 납부 항목</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대상</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1월 25일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부가가치세 확정신고(2기)</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일반과세 사업자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2월 10일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사업장현황신고(면세사업자) · 기타소득 지급명세서는 2월 말일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원천징수의무자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3월 10일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근로 · 퇴직 · 사업소득 지급명세서, 연말정산 신고</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원천징수의무자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3월 31일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법인세 신고 · 납부</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12월 결산 법인</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4월 30일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법인 지방소득세</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12월 결산 법인</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5월 31일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종합소득세 확정신고</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개인 종합소득자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6월 30일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종합소득세 확정신고(연장)</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성실신고확인 대상자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7월 25일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부가가치세 확정신고(1기)</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일반과세 사업자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8월 31일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법인세 중간예납</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12월 결산 법인</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11월 30일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종합소득세 중간예납</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직전연도 납부세액 있는 사업자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288036">
                <a:tc>
                  <a:txBody>
                    <a:bodyPr/>
                    <a:lstStyle/>
                    <a:p>
                      <a:pPr algn="ctr" indent="0" marL="0">
                        <a:buNone/>
                      </a:pPr>
                      <a:r>
                        <a:rPr lang="en-US" sz="1030" b="1" dirty="0">
                          <a:solidFill>
                            <a:srgbClr val="3D3D3D"/>
                          </a:solidFill>
                          <a:latin typeface="Spoqa Han Sans Neo" pitchFamily="34" charset="0"/>
                          <a:ea typeface="Spoqa Han Sans Neo" pitchFamily="34" charset="-122"/>
                          <a:cs typeface="Spoqa Han Sans Neo" pitchFamily="34" charset="-120"/>
                        </a:rPr>
                        <a:t>12월 31일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30" b="1" dirty="0">
                          <a:solidFill>
                            <a:srgbClr val="3D3D3D"/>
                          </a:solidFill>
                          <a:latin typeface="Spoqa Han Sans Neo" pitchFamily="34" charset="0"/>
                          <a:ea typeface="Spoqa Han Sans Neo" pitchFamily="34" charset="-122"/>
                          <a:cs typeface="Spoqa Han Sans Neo" pitchFamily="34" charset="-120"/>
                        </a:rPr>
                        <a:t>대주주 판정 기준일 · ISA 연간 납입 마감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30" b="1" dirty="0">
                          <a:solidFill>
                            <a:srgbClr val="3D3D3D"/>
                          </a:solidFill>
                          <a:latin typeface="Spoqa Han Sans Neo" pitchFamily="34" charset="0"/>
                          <a:ea typeface="Spoqa Han Sans Neo" pitchFamily="34" charset="-122"/>
                          <a:cs typeface="Spoqa Han Sans Neo" pitchFamily="34" charset="-120"/>
                        </a:rPr>
                        <a:t>투자자 전원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7" name="Shape 4"/>
          <p:cNvSpPr/>
          <p:nvPr/>
        </p:nvSpPr>
        <p:spPr>
          <a:xfrm>
            <a:off x="7927848" y="1627632"/>
            <a:ext cx="3696919" cy="2057400"/>
          </a:xfrm>
          <a:prstGeom prst="rect">
            <a:avLst/>
          </a:prstGeom>
          <a:solidFill>
            <a:srgbClr val="FFFFFF"/>
          </a:solidFill>
          <a:ln w="9525">
            <a:solidFill>
              <a:srgbClr val="CDCECB"/>
            </a:solidFill>
            <a:prstDash val="solid"/>
          </a:ln>
        </p:spPr>
      </p:sp>
      <p:sp>
        <p:nvSpPr>
          <p:cNvPr id="8" name="Text 5"/>
          <p:cNvSpPr/>
          <p:nvPr/>
        </p:nvSpPr>
        <p:spPr>
          <a:xfrm>
            <a:off x="8110728" y="1755648"/>
            <a:ext cx="3331159" cy="274320"/>
          </a:xfrm>
          <a:prstGeom prst="rect">
            <a:avLst/>
          </a:prstGeom>
          <a:noFill/>
          <a:ln/>
        </p:spPr>
        <p:txBody>
          <a:bodyPr wrap="square" lIns="0" tIns="0" rIns="0" bIns="0" rtlCol="0" anchor="t"/>
          <a:lstStyle/>
          <a:p>
            <a:pPr algn="l" indent="0" marL="0">
              <a:lnSpc>
                <a:spcPct val="124000"/>
              </a:lnSpc>
              <a:buNone/>
            </a:pPr>
            <a:r>
              <a:rPr lang="en-US" sz="1250" b="1" dirty="0">
                <a:solidFill>
                  <a:srgbClr val="C62828"/>
                </a:solidFill>
                <a:latin typeface="Spoqa Han Sans Neo" pitchFamily="34" charset="0"/>
                <a:ea typeface="Spoqa Han Sans Neo" pitchFamily="34" charset="-122"/>
                <a:cs typeface="Spoqa Han Sans Neo" pitchFamily="34" charset="-120"/>
              </a:rPr>
              <a:t>가산세 — 지연의 대가</a:t>
            </a:r>
            <a:endParaRPr lang="en-US" sz="1250" dirty="0"/>
          </a:p>
        </p:txBody>
      </p:sp>
      <p:sp>
        <p:nvSpPr>
          <p:cNvPr id="9" name="Text 6"/>
          <p:cNvSpPr/>
          <p:nvPr/>
        </p:nvSpPr>
        <p:spPr>
          <a:xfrm>
            <a:off x="8110728" y="2103120"/>
            <a:ext cx="1005840" cy="274320"/>
          </a:xfrm>
          <a:prstGeom prst="rect">
            <a:avLst/>
          </a:prstGeom>
          <a:noFill/>
          <a:ln/>
        </p:spPr>
        <p:txBody>
          <a:bodyPr wrap="square" lIns="0" tIns="0" rIns="0" bIns="0" rtlCol="0" anchor="ctr"/>
          <a:lstStyle/>
          <a:p>
            <a:pPr algn="l" indent="0" marL="0">
              <a:lnSpc>
                <a:spcPct val="124000"/>
              </a:lnSpc>
              <a:buNone/>
            </a:pPr>
            <a:r>
              <a:rPr lang="en-US" sz="1030" b="1" dirty="0">
                <a:solidFill>
                  <a:srgbClr val="1A1A1A"/>
                </a:solidFill>
                <a:latin typeface="Spoqa Han Sans Neo" pitchFamily="34" charset="0"/>
                <a:ea typeface="Spoqa Han Sans Neo" pitchFamily="34" charset="-122"/>
                <a:cs typeface="Spoqa Han Sans Neo" pitchFamily="34" charset="-120"/>
              </a:rPr>
              <a:t>무신고</a:t>
            </a:r>
            <a:endParaRPr lang="en-US" sz="1030" dirty="0"/>
          </a:p>
        </p:txBody>
      </p:sp>
      <p:sp>
        <p:nvSpPr>
          <p:cNvPr id="10" name="Text 7"/>
          <p:cNvSpPr/>
          <p:nvPr/>
        </p:nvSpPr>
        <p:spPr>
          <a:xfrm>
            <a:off x="9153144" y="2103120"/>
            <a:ext cx="2288743" cy="274320"/>
          </a:xfrm>
          <a:prstGeom prst="rect">
            <a:avLst/>
          </a:prstGeom>
          <a:noFill/>
          <a:ln/>
        </p:spPr>
        <p:txBody>
          <a:bodyPr wrap="square" lIns="0" tIns="0" rIns="0" bIns="0" rtlCol="0" anchor="ctr"/>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납부세액의 20% (부정행위 40%)</a:t>
            </a:r>
            <a:endParaRPr lang="en-US" sz="1020" dirty="0"/>
          </a:p>
        </p:txBody>
      </p:sp>
      <p:sp>
        <p:nvSpPr>
          <p:cNvPr id="11" name="Text 8"/>
          <p:cNvSpPr/>
          <p:nvPr/>
        </p:nvSpPr>
        <p:spPr>
          <a:xfrm>
            <a:off x="8110728" y="2404872"/>
            <a:ext cx="1005840" cy="274320"/>
          </a:xfrm>
          <a:prstGeom prst="rect">
            <a:avLst/>
          </a:prstGeom>
          <a:noFill/>
          <a:ln/>
        </p:spPr>
        <p:txBody>
          <a:bodyPr wrap="square" lIns="0" tIns="0" rIns="0" bIns="0" rtlCol="0" anchor="ctr"/>
          <a:lstStyle/>
          <a:p>
            <a:pPr algn="l" indent="0" marL="0">
              <a:lnSpc>
                <a:spcPct val="124000"/>
              </a:lnSpc>
              <a:buNone/>
            </a:pPr>
            <a:r>
              <a:rPr lang="en-US" sz="1030" b="1" dirty="0">
                <a:solidFill>
                  <a:srgbClr val="1A1A1A"/>
                </a:solidFill>
                <a:latin typeface="Spoqa Han Sans Neo" pitchFamily="34" charset="0"/>
                <a:ea typeface="Spoqa Han Sans Neo" pitchFamily="34" charset="-122"/>
                <a:cs typeface="Spoqa Han Sans Neo" pitchFamily="34" charset="-120"/>
              </a:rPr>
              <a:t>과소신고</a:t>
            </a:r>
            <a:endParaRPr lang="en-US" sz="1030" dirty="0"/>
          </a:p>
        </p:txBody>
      </p:sp>
      <p:sp>
        <p:nvSpPr>
          <p:cNvPr id="12" name="Text 9"/>
          <p:cNvSpPr/>
          <p:nvPr/>
        </p:nvSpPr>
        <p:spPr>
          <a:xfrm>
            <a:off x="9153144" y="2404872"/>
            <a:ext cx="2288743" cy="274320"/>
          </a:xfrm>
          <a:prstGeom prst="rect">
            <a:avLst/>
          </a:prstGeom>
          <a:noFill/>
          <a:ln/>
        </p:spPr>
        <p:txBody>
          <a:bodyPr wrap="square" lIns="0" tIns="0" rIns="0" bIns="0" rtlCol="0" anchor="ctr"/>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납부세액의 10% (부정행위 40%)</a:t>
            </a:r>
            <a:endParaRPr lang="en-US" sz="1020" dirty="0"/>
          </a:p>
        </p:txBody>
      </p:sp>
      <p:sp>
        <p:nvSpPr>
          <p:cNvPr id="13" name="Text 10"/>
          <p:cNvSpPr/>
          <p:nvPr/>
        </p:nvSpPr>
        <p:spPr>
          <a:xfrm>
            <a:off x="8110728" y="2706624"/>
            <a:ext cx="1005840" cy="274320"/>
          </a:xfrm>
          <a:prstGeom prst="rect">
            <a:avLst/>
          </a:prstGeom>
          <a:noFill/>
          <a:ln/>
        </p:spPr>
        <p:txBody>
          <a:bodyPr wrap="square" lIns="0" tIns="0" rIns="0" bIns="0" rtlCol="0" anchor="ctr"/>
          <a:lstStyle/>
          <a:p>
            <a:pPr algn="l" indent="0" marL="0">
              <a:lnSpc>
                <a:spcPct val="124000"/>
              </a:lnSpc>
              <a:buNone/>
            </a:pPr>
            <a:r>
              <a:rPr lang="en-US" sz="1030" b="1" dirty="0">
                <a:solidFill>
                  <a:srgbClr val="1A1A1A"/>
                </a:solidFill>
                <a:latin typeface="Spoqa Han Sans Neo" pitchFamily="34" charset="0"/>
                <a:ea typeface="Spoqa Han Sans Neo" pitchFamily="34" charset="-122"/>
                <a:cs typeface="Spoqa Han Sans Neo" pitchFamily="34" charset="-120"/>
              </a:rPr>
              <a:t>납부지연</a:t>
            </a:r>
            <a:endParaRPr lang="en-US" sz="1030" dirty="0"/>
          </a:p>
        </p:txBody>
      </p:sp>
      <p:sp>
        <p:nvSpPr>
          <p:cNvPr id="14" name="Text 11"/>
          <p:cNvSpPr/>
          <p:nvPr/>
        </p:nvSpPr>
        <p:spPr>
          <a:xfrm>
            <a:off x="9153144" y="2706624"/>
            <a:ext cx="2288743" cy="274320"/>
          </a:xfrm>
          <a:prstGeom prst="rect">
            <a:avLst/>
          </a:prstGeom>
          <a:noFill/>
          <a:ln/>
        </p:spPr>
        <p:txBody>
          <a:bodyPr wrap="square" lIns="0" tIns="0" rIns="0" bIns="0" rtlCol="0" anchor="ctr"/>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미납세액 × 0.022% × 지연일수</a:t>
            </a:r>
            <a:endParaRPr lang="en-US" sz="1020" dirty="0"/>
          </a:p>
        </p:txBody>
      </p:sp>
      <p:sp>
        <p:nvSpPr>
          <p:cNvPr id="15" name="Text 12"/>
          <p:cNvSpPr/>
          <p:nvPr/>
        </p:nvSpPr>
        <p:spPr>
          <a:xfrm>
            <a:off x="8110728" y="3008376"/>
            <a:ext cx="1005840" cy="274320"/>
          </a:xfrm>
          <a:prstGeom prst="rect">
            <a:avLst/>
          </a:prstGeom>
          <a:noFill/>
          <a:ln/>
        </p:spPr>
        <p:txBody>
          <a:bodyPr wrap="square" lIns="0" tIns="0" rIns="0" bIns="0" rtlCol="0" anchor="ctr"/>
          <a:lstStyle/>
          <a:p>
            <a:pPr algn="l" indent="0" marL="0">
              <a:lnSpc>
                <a:spcPct val="124000"/>
              </a:lnSpc>
              <a:buNone/>
            </a:pPr>
            <a:r>
              <a:rPr lang="en-US" sz="1030" b="1" dirty="0">
                <a:solidFill>
                  <a:srgbClr val="1A1A1A"/>
                </a:solidFill>
                <a:latin typeface="Spoqa Han Sans Neo" pitchFamily="34" charset="0"/>
                <a:ea typeface="Spoqa Han Sans Neo" pitchFamily="34" charset="-122"/>
                <a:cs typeface="Spoqa Han Sans Neo" pitchFamily="34" charset="-120"/>
              </a:rPr>
              <a:t>무기장</a:t>
            </a:r>
            <a:endParaRPr lang="en-US" sz="1030" dirty="0"/>
          </a:p>
        </p:txBody>
      </p:sp>
      <p:sp>
        <p:nvSpPr>
          <p:cNvPr id="16" name="Text 13"/>
          <p:cNvSpPr/>
          <p:nvPr/>
        </p:nvSpPr>
        <p:spPr>
          <a:xfrm>
            <a:off x="9153144" y="3008376"/>
            <a:ext cx="2288743" cy="274320"/>
          </a:xfrm>
          <a:prstGeom prst="rect">
            <a:avLst/>
          </a:prstGeom>
          <a:noFill/>
          <a:ln/>
        </p:spPr>
        <p:txBody>
          <a:bodyPr wrap="square" lIns="0" tIns="0" rIns="0" bIns="0" rtlCol="0" anchor="ctr"/>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산출세액의 20% (복식부기 의무자)</a:t>
            </a:r>
            <a:endParaRPr lang="en-US" sz="1020" dirty="0"/>
          </a:p>
        </p:txBody>
      </p:sp>
      <p:sp>
        <p:nvSpPr>
          <p:cNvPr id="17" name="Text 14"/>
          <p:cNvSpPr/>
          <p:nvPr/>
        </p:nvSpPr>
        <p:spPr>
          <a:xfrm>
            <a:off x="8110728" y="3310128"/>
            <a:ext cx="1005840" cy="274320"/>
          </a:xfrm>
          <a:prstGeom prst="rect">
            <a:avLst/>
          </a:prstGeom>
          <a:noFill/>
          <a:ln/>
        </p:spPr>
        <p:txBody>
          <a:bodyPr wrap="square" lIns="0" tIns="0" rIns="0" bIns="0" rtlCol="0" anchor="ctr"/>
          <a:lstStyle/>
          <a:p>
            <a:pPr algn="l" indent="0" marL="0">
              <a:lnSpc>
                <a:spcPct val="124000"/>
              </a:lnSpc>
              <a:buNone/>
            </a:pPr>
            <a:r>
              <a:rPr lang="en-US" sz="1030" b="1" dirty="0">
                <a:solidFill>
                  <a:srgbClr val="1A1A1A"/>
                </a:solidFill>
                <a:latin typeface="Spoqa Han Sans Neo" pitchFamily="34" charset="0"/>
                <a:ea typeface="Spoqa Han Sans Neo" pitchFamily="34" charset="-122"/>
                <a:cs typeface="Spoqa Han Sans Neo" pitchFamily="34" charset="-120"/>
              </a:rPr>
              <a:t>증빙 불비</a:t>
            </a:r>
            <a:endParaRPr lang="en-US" sz="1030" dirty="0"/>
          </a:p>
        </p:txBody>
      </p:sp>
      <p:sp>
        <p:nvSpPr>
          <p:cNvPr id="18" name="Text 15"/>
          <p:cNvSpPr/>
          <p:nvPr/>
        </p:nvSpPr>
        <p:spPr>
          <a:xfrm>
            <a:off x="9153144" y="3310128"/>
            <a:ext cx="2288743" cy="274320"/>
          </a:xfrm>
          <a:prstGeom prst="rect">
            <a:avLst/>
          </a:prstGeom>
          <a:noFill/>
          <a:ln/>
        </p:spPr>
        <p:txBody>
          <a:bodyPr wrap="square" lIns="0" tIns="0" rIns="0" bIns="0" rtlCol="0" anchor="ctr"/>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적격증빙 미수취 금액의 2%</a:t>
            </a:r>
            <a:endParaRPr lang="en-US" sz="1020" dirty="0"/>
          </a:p>
        </p:txBody>
      </p:sp>
      <p:sp>
        <p:nvSpPr>
          <p:cNvPr id="19" name="Shape 16"/>
          <p:cNvSpPr/>
          <p:nvPr/>
        </p:nvSpPr>
        <p:spPr>
          <a:xfrm>
            <a:off x="7927848" y="3840480"/>
            <a:ext cx="3696919" cy="2048256"/>
          </a:xfrm>
          <a:prstGeom prst="rect">
            <a:avLst/>
          </a:prstGeom>
          <a:solidFill>
            <a:srgbClr val="FFFFFF"/>
          </a:solidFill>
          <a:ln w="9525">
            <a:solidFill>
              <a:srgbClr val="CDCECB"/>
            </a:solidFill>
            <a:prstDash val="solid"/>
          </a:ln>
        </p:spPr>
      </p:sp>
      <p:sp>
        <p:nvSpPr>
          <p:cNvPr id="20" name="Text 17"/>
          <p:cNvSpPr/>
          <p:nvPr/>
        </p:nvSpPr>
        <p:spPr>
          <a:xfrm>
            <a:off x="8110728" y="3968496"/>
            <a:ext cx="3331159" cy="274320"/>
          </a:xfrm>
          <a:prstGeom prst="rect">
            <a:avLst/>
          </a:prstGeom>
          <a:noFill/>
          <a:ln/>
        </p:spPr>
        <p:txBody>
          <a:bodyPr wrap="square" lIns="0" tIns="0" rIns="0" bIns="0" rtlCol="0" anchor="t"/>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납부 부담을 나누는 제도</a:t>
            </a:r>
            <a:endParaRPr lang="en-US" sz="1250" dirty="0"/>
          </a:p>
        </p:txBody>
      </p:sp>
      <p:sp>
        <p:nvSpPr>
          <p:cNvPr id="21" name="Text 18"/>
          <p:cNvSpPr/>
          <p:nvPr/>
        </p:nvSpPr>
        <p:spPr>
          <a:xfrm>
            <a:off x="8110728" y="4315968"/>
            <a:ext cx="3331159" cy="1463040"/>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1020" dirty="0">
                <a:solidFill>
                  <a:srgbClr val="3D3D3D"/>
                </a:solidFill>
                <a:latin typeface="Spoqa Han Sans Neo" pitchFamily="34" charset="0"/>
                <a:ea typeface="Spoqa Han Sans Neo" pitchFamily="34" charset="-122"/>
                <a:cs typeface="Spoqa Han Sans Neo" pitchFamily="34" charset="-120"/>
              </a:rPr>
              <a:t>분납: 납부세액 1,000만원 초과 시 2개월 내 분납</a:t>
            </a:r>
            <a:endParaRPr lang="en-US" sz="1020" dirty="0"/>
          </a:p>
          <a:p>
            <a:pPr marL="342900" indent="-342900">
              <a:lnSpc>
                <a:spcPct val="120000"/>
              </a:lnSpc>
              <a:spcAft>
                <a:spcPts val="400"/>
              </a:spcAft>
              <a:buSzPct val="100000"/>
              <a:buChar char="•"/>
            </a:pPr>
            <a:r>
              <a:rPr lang="en-US" sz="1020" dirty="0">
                <a:solidFill>
                  <a:srgbClr val="3D3D3D"/>
                </a:solidFill>
                <a:latin typeface="Spoqa Han Sans Neo" pitchFamily="34" charset="0"/>
                <a:ea typeface="Spoqa Han Sans Neo" pitchFamily="34" charset="-122"/>
                <a:cs typeface="Spoqa Han Sans Neo" pitchFamily="34" charset="-120"/>
              </a:rPr>
              <a:t>연부연납: 상속세 최대 10년(가업상속 20년) · 증여세 최대 5년</a:t>
            </a:r>
            <a:endParaRPr lang="en-US" sz="1020" dirty="0"/>
          </a:p>
          <a:p>
            <a:pPr marL="342900" indent="-342900">
              <a:lnSpc>
                <a:spcPct val="120000"/>
              </a:lnSpc>
              <a:spcAft>
                <a:spcPts val="400"/>
              </a:spcAft>
              <a:buSzPct val="100000"/>
              <a:buChar char="•"/>
            </a:pPr>
            <a:r>
              <a:rPr lang="en-US" sz="1020" dirty="0">
                <a:solidFill>
                  <a:srgbClr val="3D3D3D"/>
                </a:solidFill>
                <a:latin typeface="Spoqa Han Sans Neo" pitchFamily="34" charset="0"/>
                <a:ea typeface="Spoqa Han Sans Neo" pitchFamily="34" charset="-122"/>
                <a:cs typeface="Spoqa Han Sans Neo" pitchFamily="34" charset="-120"/>
              </a:rPr>
              <a:t>납세담보 제공 시 연부연납 활용 · 물납은 상속세만 가능(증여세 물납 2016년 폐지)</a:t>
            </a:r>
            <a:endParaRPr lang="en-US" sz="1020" dirty="0"/>
          </a:p>
          <a:p>
            <a:pPr marL="342900" indent="-342900">
              <a:lnSpc>
                <a:spcPct val="120000"/>
              </a:lnSpc>
              <a:spcAft>
                <a:spcPts val="400"/>
              </a:spcAft>
              <a:buSzPct val="100000"/>
              <a:buChar char="•"/>
            </a:pPr>
            <a:r>
              <a:rPr lang="en-US" sz="1020" dirty="0">
                <a:solidFill>
                  <a:srgbClr val="3D3D3D"/>
                </a:solidFill>
                <a:latin typeface="Spoqa Han Sans Neo" pitchFamily="34" charset="0"/>
                <a:ea typeface="Spoqa Han Sans Neo" pitchFamily="34" charset="-122"/>
                <a:cs typeface="Spoqa Han Sans Neo" pitchFamily="34" charset="-120"/>
              </a:rPr>
              <a:t>기한 후 신고 · 수정신고 시 가산세 감면(시점별 차등)</a:t>
            </a:r>
            <a:endParaRPr lang="en-US" sz="1020" dirty="0"/>
          </a:p>
        </p:txBody>
      </p:sp>
      <p:sp>
        <p:nvSpPr>
          <p:cNvPr id="22" name="Text 19"/>
          <p:cNvSpPr/>
          <p:nvPr/>
        </p:nvSpPr>
        <p:spPr>
          <a:xfrm>
            <a:off x="566928" y="5989320"/>
            <a:ext cx="11057839"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부가가치세 예정신고(4월 25일 · 10월 25일)는 법인 및 예정고지 대상 개인사업자에 별도 적용된다.</a:t>
            </a:r>
            <a:endParaRPr lang="en-US" sz="900" dirty="0"/>
          </a:p>
        </p:txBody>
      </p:sp>
      <p:sp>
        <p:nvSpPr>
          <p:cNvPr id="23" name="Text 20"/>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4" name="Text 21"/>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  종합소득세</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금융소득 2,000만원, 하나의 문턱</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초과분만 합산되지만 실효세율은 빠르게 올라간다</a:t>
            </a:r>
            <a:endParaRPr lang="en-US" sz="1250" dirty="0"/>
          </a:p>
        </p:txBody>
      </p:sp>
      <p:graphicFrame>
        <p:nvGraphicFramePr>
          <p:cNvPr id="6" name="Chart 0" descr=""/>
          <p:cNvGraphicFramePr/>
          <p:nvPr/>
        </p:nvGraphicFramePr>
        <p:xfrm>
          <a:off x="566928" y="1645920"/>
          <a:ext cx="598932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6928" y="4901184"/>
            <a:ext cx="598932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가정: 금융소득 외 종합소득 과세표준 8,800만원 초과(한계세율 35%), 지방소득세 포함, 배당세액공제 미반영</a:t>
            </a:r>
            <a:endParaRPr lang="en-US" sz="900" dirty="0"/>
          </a:p>
        </p:txBody>
      </p:sp>
      <p:sp>
        <p:nvSpPr>
          <p:cNvPr id="8" name="Text 5"/>
          <p:cNvSpPr/>
          <p:nvPr/>
        </p:nvSpPr>
        <p:spPr>
          <a:xfrm>
            <a:off x="6784848" y="1645920"/>
            <a:ext cx="4839919" cy="256032"/>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구조 이해</a:t>
            </a:r>
            <a:endParaRPr lang="en-US" sz="1300" dirty="0"/>
          </a:p>
        </p:txBody>
      </p:sp>
      <p:sp>
        <p:nvSpPr>
          <p:cNvPr id="9" name="Text 6"/>
          <p:cNvSpPr/>
          <p:nvPr/>
        </p:nvSpPr>
        <p:spPr>
          <a:xfrm>
            <a:off x="6784848" y="2011680"/>
            <a:ext cx="4839919" cy="137160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이자 + 배당 합계가 연 2,000만원 이하면 15.4% 원천징수로 종결</a:t>
            </a:r>
            <a:endParaRPr lang="en-US" sz="1060" dirty="0"/>
          </a:p>
          <a:p>
            <a:pPr marL="342900" indent="-342900">
              <a:lnSpc>
                <a:spcPct val="120000"/>
              </a:lnSpc>
              <a:spcAft>
                <a:spcPts val="5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초과분만 다른 소득과 합산되며, 원천징수세액은 기납부세액으로 차감</a:t>
            </a:r>
            <a:endParaRPr lang="en-US" sz="1060" dirty="0"/>
          </a:p>
          <a:p>
            <a:pPr marL="342900" indent="-342900">
              <a:lnSpc>
                <a:spcPct val="120000"/>
              </a:lnSpc>
              <a:spcAft>
                <a:spcPts val="5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합산 결과가 원천징수보다 적으면 종전 세액으로 과세(비교과세)</a:t>
            </a:r>
            <a:endParaRPr lang="en-US" sz="1060" dirty="0"/>
          </a:p>
          <a:p>
            <a:pPr marL="342900" indent="-342900">
              <a:lnSpc>
                <a:spcPct val="120000"/>
              </a:lnSpc>
              <a:spcAft>
                <a:spcPts val="5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건강보험료 피부양자 · 지역가입자 판정에도 영향</a:t>
            </a:r>
            <a:endParaRPr lang="en-US" sz="1060" dirty="0"/>
          </a:p>
        </p:txBody>
      </p:sp>
      <p:sp>
        <p:nvSpPr>
          <p:cNvPr id="10" name="Shape 7"/>
          <p:cNvSpPr/>
          <p:nvPr/>
        </p:nvSpPr>
        <p:spPr>
          <a:xfrm>
            <a:off x="6784848" y="3456432"/>
            <a:ext cx="4839919" cy="2194560"/>
          </a:xfrm>
          <a:prstGeom prst="rect">
            <a:avLst/>
          </a:prstGeom>
          <a:solidFill>
            <a:srgbClr val="FFFFFF"/>
          </a:solidFill>
          <a:ln w="9525">
            <a:solidFill>
              <a:srgbClr val="CDCECB"/>
            </a:solidFill>
            <a:prstDash val="solid"/>
          </a:ln>
        </p:spPr>
      </p:sp>
      <p:sp>
        <p:nvSpPr>
          <p:cNvPr id="11" name="Text 8"/>
          <p:cNvSpPr/>
          <p:nvPr/>
        </p:nvSpPr>
        <p:spPr>
          <a:xfrm>
            <a:off x="6967728" y="3584448"/>
            <a:ext cx="4474159" cy="256032"/>
          </a:xfrm>
          <a:prstGeom prst="rect">
            <a:avLst/>
          </a:prstGeom>
          <a:noFill/>
          <a:ln/>
        </p:spPr>
        <p:txBody>
          <a:bodyPr wrap="square" lIns="0" tIns="0" rIns="0" bIns="0" rtlCol="0" anchor="t"/>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임계 관리 5가지 수단</a:t>
            </a:r>
            <a:endParaRPr lang="en-US" sz="1250" dirty="0"/>
          </a:p>
        </p:txBody>
      </p:sp>
      <p:sp>
        <p:nvSpPr>
          <p:cNvPr id="12" name="Text 9"/>
          <p:cNvSpPr/>
          <p:nvPr/>
        </p:nvSpPr>
        <p:spPr>
          <a:xfrm>
            <a:off x="6967728" y="3931920"/>
            <a:ext cx="4474159" cy="164592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만기 · 배당 수령 시기를 연도별로 분산</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배우자 · 자녀 명의로 증여 후 분산 운용(증여재산공제 범위)</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ISA · 비과세종합저축 등 비과세 · 분리과세 계좌 우선 배치</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국내주식형 ETF(매매차익 비과세) 비중 조정</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2026년 신설된 고배당 배당소득 분리과세 선택 검토</a:t>
            </a:r>
            <a:endParaRPr lang="en-US" sz="1040" dirty="0"/>
          </a:p>
        </p:txBody>
      </p:sp>
      <p:sp>
        <p:nvSpPr>
          <p:cNvPr id="13" name="Text 10"/>
          <p:cNvSpPr/>
          <p:nvPr/>
        </p:nvSpPr>
        <p:spPr>
          <a:xfrm>
            <a:off x="566928" y="5989320"/>
            <a:ext cx="11057839"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2026년 개정: 비과세종합저축 가입 대상이 강화되어 65세 이상 거주자 중 기초연금 수급자 요건이 추가되었다(2026.1.1 이후 가입분).</a:t>
            </a:r>
            <a:endParaRPr lang="en-US" sz="900" dirty="0"/>
          </a:p>
        </p:txBody>
      </p:sp>
      <p:sp>
        <p:nvSpPr>
          <p:cNvPr id="14" name="Text 11"/>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5" name="Text 12"/>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  종합소득세</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2026년 신설 — 고배당 배당소득 분리과세</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2026~2028년 지급분에 3년 한시 적용되는 선택형 제도</a:t>
            </a:r>
            <a:endParaRPr lang="en-US" sz="1250" dirty="0"/>
          </a:p>
        </p:txBody>
      </p:sp>
      <p:sp>
        <p:nvSpPr>
          <p:cNvPr id="6" name="Shape 4"/>
          <p:cNvSpPr/>
          <p:nvPr/>
        </p:nvSpPr>
        <p:spPr>
          <a:xfrm>
            <a:off x="566928" y="1600200"/>
            <a:ext cx="5943600" cy="1024128"/>
          </a:xfrm>
          <a:prstGeom prst="rect">
            <a:avLst/>
          </a:prstGeom>
          <a:solidFill>
            <a:srgbClr val="FFFFFF"/>
          </a:solidFill>
          <a:ln w="9525">
            <a:solidFill>
              <a:srgbClr val="CDCECB"/>
            </a:solidFill>
            <a:prstDash val="solid"/>
          </a:ln>
        </p:spPr>
      </p:sp>
      <p:sp>
        <p:nvSpPr>
          <p:cNvPr id="7" name="Shape 5"/>
          <p:cNvSpPr/>
          <p:nvPr/>
        </p:nvSpPr>
        <p:spPr>
          <a:xfrm>
            <a:off x="749808" y="1764792"/>
            <a:ext cx="384048" cy="384048"/>
          </a:xfrm>
          <a:prstGeom prst="ellipse">
            <a:avLst/>
          </a:prstGeom>
          <a:solidFill>
            <a:srgbClr val="F58220"/>
          </a:solidFill>
          <a:ln/>
        </p:spPr>
      </p:sp>
      <p:sp>
        <p:nvSpPr>
          <p:cNvPr id="8" name="Text 6"/>
          <p:cNvSpPr/>
          <p:nvPr/>
        </p:nvSpPr>
        <p:spPr>
          <a:xfrm>
            <a:off x="749808" y="176479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1</a:t>
            </a:r>
            <a:endParaRPr lang="en-US" sz="1250" dirty="0"/>
          </a:p>
        </p:txBody>
      </p:sp>
      <p:sp>
        <p:nvSpPr>
          <p:cNvPr id="9" name="Text 7"/>
          <p:cNvSpPr/>
          <p:nvPr/>
        </p:nvSpPr>
        <p:spPr>
          <a:xfrm>
            <a:off x="1280160" y="1746504"/>
            <a:ext cx="5047488"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고배당 기업 요건</a:t>
            </a:r>
            <a:endParaRPr lang="en-US" sz="1250" dirty="0"/>
          </a:p>
        </p:txBody>
      </p:sp>
      <p:sp>
        <p:nvSpPr>
          <p:cNvPr id="10" name="Text 8"/>
          <p:cNvSpPr/>
          <p:nvPr/>
        </p:nvSpPr>
        <p:spPr>
          <a:xfrm>
            <a:off x="1280160" y="2002536"/>
            <a:ext cx="5047488" cy="566928"/>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배당성향 40% 이상, 또는 배당성향 25% 이상이면서 전년 대비 배당총액 10% 이상 증가한 코스피 · 코스닥 상장 내국법인</a:t>
            </a:r>
            <a:endParaRPr lang="en-US" sz="1040" dirty="0"/>
          </a:p>
        </p:txBody>
      </p:sp>
      <p:sp>
        <p:nvSpPr>
          <p:cNvPr id="11" name="Shape 9"/>
          <p:cNvSpPr/>
          <p:nvPr/>
        </p:nvSpPr>
        <p:spPr>
          <a:xfrm>
            <a:off x="566928" y="2734056"/>
            <a:ext cx="5943600" cy="1024128"/>
          </a:xfrm>
          <a:prstGeom prst="rect">
            <a:avLst/>
          </a:prstGeom>
          <a:solidFill>
            <a:srgbClr val="FFFFFF"/>
          </a:solidFill>
          <a:ln w="9525">
            <a:solidFill>
              <a:srgbClr val="CDCECB"/>
            </a:solidFill>
            <a:prstDash val="solid"/>
          </a:ln>
        </p:spPr>
      </p:sp>
      <p:sp>
        <p:nvSpPr>
          <p:cNvPr id="12" name="Shape 10"/>
          <p:cNvSpPr/>
          <p:nvPr/>
        </p:nvSpPr>
        <p:spPr>
          <a:xfrm>
            <a:off x="749808" y="2898648"/>
            <a:ext cx="384048" cy="384048"/>
          </a:xfrm>
          <a:prstGeom prst="ellipse">
            <a:avLst/>
          </a:prstGeom>
          <a:solidFill>
            <a:srgbClr val="F58220"/>
          </a:solidFill>
          <a:ln/>
        </p:spPr>
      </p:sp>
      <p:sp>
        <p:nvSpPr>
          <p:cNvPr id="13" name="Text 11"/>
          <p:cNvSpPr/>
          <p:nvPr/>
        </p:nvSpPr>
        <p:spPr>
          <a:xfrm>
            <a:off x="749808" y="28986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2</a:t>
            </a:r>
            <a:endParaRPr lang="en-US" sz="1250" dirty="0"/>
          </a:p>
        </p:txBody>
      </p:sp>
      <p:sp>
        <p:nvSpPr>
          <p:cNvPr id="14" name="Text 12"/>
          <p:cNvSpPr/>
          <p:nvPr/>
        </p:nvSpPr>
        <p:spPr>
          <a:xfrm>
            <a:off x="1280160" y="2880360"/>
            <a:ext cx="5047488"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대상 배당 요건</a:t>
            </a:r>
            <a:endParaRPr lang="en-US" sz="1250" dirty="0"/>
          </a:p>
        </p:txBody>
      </p:sp>
      <p:sp>
        <p:nvSpPr>
          <p:cNvPr id="15" name="Text 13"/>
          <p:cNvSpPr/>
          <p:nvPr/>
        </p:nvSpPr>
        <p:spPr>
          <a:xfrm>
            <a:off x="1280160" y="3136392"/>
            <a:ext cx="5047488" cy="566928"/>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현금배당만 해당. 주식배당 · 현물배당 제외. 상장주식 직접 투자분만 인정되며 ETF · 펀드 · 리츠 등 간접투자와 해외주식 배당은 제외</a:t>
            </a:r>
            <a:endParaRPr lang="en-US" sz="1040" dirty="0"/>
          </a:p>
        </p:txBody>
      </p:sp>
      <p:sp>
        <p:nvSpPr>
          <p:cNvPr id="16" name="Shape 14"/>
          <p:cNvSpPr/>
          <p:nvPr/>
        </p:nvSpPr>
        <p:spPr>
          <a:xfrm>
            <a:off x="566928" y="3867912"/>
            <a:ext cx="5943600" cy="1024128"/>
          </a:xfrm>
          <a:prstGeom prst="rect">
            <a:avLst/>
          </a:prstGeom>
          <a:solidFill>
            <a:srgbClr val="FFFFFF"/>
          </a:solidFill>
          <a:ln w="9525">
            <a:solidFill>
              <a:srgbClr val="CDCECB"/>
            </a:solidFill>
            <a:prstDash val="solid"/>
          </a:ln>
        </p:spPr>
      </p:sp>
      <p:sp>
        <p:nvSpPr>
          <p:cNvPr id="17" name="Shape 15"/>
          <p:cNvSpPr/>
          <p:nvPr/>
        </p:nvSpPr>
        <p:spPr>
          <a:xfrm>
            <a:off x="749808" y="4032504"/>
            <a:ext cx="384048" cy="384048"/>
          </a:xfrm>
          <a:prstGeom prst="ellipse">
            <a:avLst/>
          </a:prstGeom>
          <a:solidFill>
            <a:srgbClr val="F58220"/>
          </a:solidFill>
          <a:ln/>
        </p:spPr>
      </p:sp>
      <p:sp>
        <p:nvSpPr>
          <p:cNvPr id="18" name="Text 16"/>
          <p:cNvSpPr/>
          <p:nvPr/>
        </p:nvSpPr>
        <p:spPr>
          <a:xfrm>
            <a:off x="749808" y="403250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3</a:t>
            </a:r>
            <a:endParaRPr lang="en-US" sz="1250" dirty="0"/>
          </a:p>
        </p:txBody>
      </p:sp>
      <p:sp>
        <p:nvSpPr>
          <p:cNvPr id="19" name="Text 17"/>
          <p:cNvSpPr/>
          <p:nvPr/>
        </p:nvSpPr>
        <p:spPr>
          <a:xfrm>
            <a:off x="1280160" y="4014216"/>
            <a:ext cx="5047488"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신청 방식</a:t>
            </a:r>
            <a:endParaRPr lang="en-US" sz="1250" dirty="0"/>
          </a:p>
        </p:txBody>
      </p:sp>
      <p:sp>
        <p:nvSpPr>
          <p:cNvPr id="20" name="Text 18"/>
          <p:cNvSpPr/>
          <p:nvPr/>
        </p:nvSpPr>
        <p:spPr>
          <a:xfrm>
            <a:off x="1280160" y="4270248"/>
            <a:ext cx="5047488" cy="566928"/>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거주자 주주가 확정신고 시 종합과세와 분리과세 중 유리한 쪽을 선택. 분리과세 선택분은 배당세액공제(Gross-up) 배제</a:t>
            </a:r>
            <a:endParaRPr lang="en-US" sz="1040" dirty="0"/>
          </a:p>
        </p:txBody>
      </p:sp>
      <p:sp>
        <p:nvSpPr>
          <p:cNvPr id="21" name="Text 19"/>
          <p:cNvSpPr/>
          <p:nvPr/>
        </p:nvSpPr>
        <p:spPr>
          <a:xfrm>
            <a:off x="6812280" y="1600200"/>
            <a:ext cx="4812487" cy="256032"/>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분리과세 세율(누진 적용)</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12280" y="1938528"/>
          <a:ext cx="9144000" cy="914400"/>
        </p:xfrm>
        <a:graphic>
          <a:graphicData uri="http://schemas.openxmlformats.org/drawingml/2006/table">
            <a:tbl>
              <a:tblPr/>
              <a:tblGrid>
                <a:gridCol w="2286000"/>
                <a:gridCol w="1051560"/>
                <a:gridCol w="1371600"/>
              </a:tblGrid>
              <a:tr h="301752">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배당소득 과세표준</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세율</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지방세 포함</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01752">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2,000만원 이하</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40" dirty="0">
                          <a:solidFill>
                            <a:srgbClr val="3D3D3D"/>
                          </a:solidFill>
                          <a:latin typeface="Spoqa Han Sans Neo" pitchFamily="34" charset="0"/>
                          <a:ea typeface="Spoqa Han Sans Neo" pitchFamily="34" charset="-122"/>
                          <a:cs typeface="Spoqa Han Sans Neo" pitchFamily="34" charset="-120"/>
                        </a:rPr>
                        <a:t>14%</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40" dirty="0">
                          <a:solidFill>
                            <a:srgbClr val="3D3D3D"/>
                          </a:solidFill>
                          <a:latin typeface="Spoqa Han Sans Neo" pitchFamily="34" charset="0"/>
                          <a:ea typeface="Spoqa Han Sans Neo" pitchFamily="34" charset="-122"/>
                          <a:cs typeface="Spoqa Han Sans Neo" pitchFamily="34" charset="-120"/>
                        </a:rPr>
                        <a:t>15.4%</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01752">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2,000만원 ~ 3억원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40" dirty="0">
                          <a:solidFill>
                            <a:srgbClr val="3D3D3D"/>
                          </a:solidFill>
                          <a:latin typeface="Spoqa Han Sans Neo" pitchFamily="34" charset="0"/>
                          <a:ea typeface="Spoqa Han Sans Neo" pitchFamily="34" charset="-122"/>
                          <a:cs typeface="Spoqa Han Sans Neo" pitchFamily="34" charset="-120"/>
                        </a:rPr>
                        <a:t>20%</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40" dirty="0">
                          <a:solidFill>
                            <a:srgbClr val="3D3D3D"/>
                          </a:solidFill>
                          <a:latin typeface="Spoqa Han Sans Neo" pitchFamily="34" charset="0"/>
                          <a:ea typeface="Spoqa Han Sans Neo" pitchFamily="34" charset="-122"/>
                          <a:cs typeface="Spoqa Han Sans Neo" pitchFamily="34" charset="-120"/>
                        </a:rPr>
                        <a:t>22.0%</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01752">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3억원 ~ 50억원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40" dirty="0">
                          <a:solidFill>
                            <a:srgbClr val="3D3D3D"/>
                          </a:solidFill>
                          <a:latin typeface="Spoqa Han Sans Neo" pitchFamily="34" charset="0"/>
                          <a:ea typeface="Spoqa Han Sans Neo" pitchFamily="34" charset="-122"/>
                          <a:cs typeface="Spoqa Han Sans Neo" pitchFamily="34" charset="-120"/>
                        </a:rPr>
                        <a:t>25%</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40" dirty="0">
                          <a:solidFill>
                            <a:srgbClr val="3D3D3D"/>
                          </a:solidFill>
                          <a:latin typeface="Spoqa Han Sans Neo" pitchFamily="34" charset="0"/>
                          <a:ea typeface="Spoqa Han Sans Neo" pitchFamily="34" charset="-122"/>
                          <a:cs typeface="Spoqa Han Sans Neo" pitchFamily="34" charset="-120"/>
                        </a:rPr>
                        <a:t>27.5%</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01752">
                <a:tc>
                  <a:txBody>
                    <a:bodyPr/>
                    <a:lstStyle/>
                    <a:p>
                      <a:pPr algn="l" indent="0" marL="0">
                        <a:buNone/>
                      </a:pPr>
                      <a:r>
                        <a:rPr lang="en-US" sz="1040" b="1" dirty="0">
                          <a:solidFill>
                            <a:srgbClr val="3D3D3D"/>
                          </a:solidFill>
                          <a:latin typeface="Spoqa Han Sans Neo" pitchFamily="34" charset="0"/>
                          <a:ea typeface="Spoqa Han Sans Neo" pitchFamily="34" charset="-122"/>
                          <a:cs typeface="Spoqa Han Sans Neo" pitchFamily="34" charset="-120"/>
                        </a:rPr>
                        <a:t>50억원 초과</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40" b="1" dirty="0">
                          <a:solidFill>
                            <a:srgbClr val="3D3D3D"/>
                          </a:solidFill>
                          <a:latin typeface="Spoqa Han Sans Neo" pitchFamily="34" charset="0"/>
                          <a:ea typeface="Spoqa Han Sans Neo" pitchFamily="34" charset="-122"/>
                          <a:cs typeface="Spoqa Han Sans Neo" pitchFamily="34" charset="-120"/>
                        </a:rPr>
                        <a:t>30%</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40" b="1" dirty="0">
                          <a:solidFill>
                            <a:srgbClr val="3D3D3D"/>
                          </a:solidFill>
                          <a:latin typeface="Spoqa Han Sans Neo" pitchFamily="34" charset="0"/>
                          <a:ea typeface="Spoqa Han Sans Neo" pitchFamily="34" charset="-122"/>
                          <a:cs typeface="Spoqa Han Sans Neo" pitchFamily="34" charset="-120"/>
                        </a:rPr>
                        <a:t>33.0%</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23" name="Shape 20"/>
          <p:cNvSpPr/>
          <p:nvPr/>
        </p:nvSpPr>
        <p:spPr>
          <a:xfrm>
            <a:off x="6812280" y="3611880"/>
            <a:ext cx="4812487" cy="1097280"/>
          </a:xfrm>
          <a:prstGeom prst="rect">
            <a:avLst/>
          </a:prstGeom>
          <a:solidFill>
            <a:srgbClr val="FFFFFF"/>
          </a:solidFill>
          <a:ln w="9525">
            <a:solidFill>
              <a:srgbClr val="CDCECB"/>
            </a:solidFill>
            <a:prstDash val="solid"/>
          </a:ln>
        </p:spPr>
      </p:sp>
      <p:sp>
        <p:nvSpPr>
          <p:cNvPr id="24" name="Text 21"/>
          <p:cNvSpPr/>
          <p:nvPr/>
        </p:nvSpPr>
        <p:spPr>
          <a:xfrm>
            <a:off x="6976872" y="3739896"/>
            <a:ext cx="448330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적용 기간</a:t>
            </a:r>
            <a:endParaRPr lang="en-US" sz="1000" dirty="0"/>
          </a:p>
        </p:txBody>
      </p:sp>
      <p:sp>
        <p:nvSpPr>
          <p:cNvPr id="25" name="Text 22"/>
          <p:cNvSpPr/>
          <p:nvPr/>
        </p:nvSpPr>
        <p:spPr>
          <a:xfrm>
            <a:off x="6976872" y="3941064"/>
            <a:ext cx="4483303" cy="402336"/>
          </a:xfrm>
          <a:prstGeom prst="rect">
            <a:avLst/>
          </a:prstGeom>
          <a:noFill/>
          <a:ln/>
        </p:spPr>
        <p:txBody>
          <a:bodyPr wrap="square" lIns="0" tIns="0" rIns="0" bIns="0" rtlCol="0" anchor="ctr"/>
          <a:lstStyle/>
          <a:p>
            <a:pPr indent="0" marL="0">
              <a:buNone/>
            </a:pPr>
            <a:r>
              <a:rPr lang="en-US" sz="2200" b="1" spc="-60" kern="0" dirty="0">
                <a:solidFill>
                  <a:srgbClr val="F58220"/>
                </a:solidFill>
                <a:latin typeface="Spoqa Han Sans Neo" pitchFamily="34" charset="0"/>
                <a:ea typeface="Spoqa Han Sans Neo" pitchFamily="34" charset="-122"/>
                <a:cs typeface="Spoqa Han Sans Neo" pitchFamily="34" charset="-120"/>
              </a:rPr>
              <a:t>2026 – 2028</a:t>
            </a:r>
            <a:endParaRPr lang="en-US" sz="2200" dirty="0"/>
          </a:p>
        </p:txBody>
      </p:sp>
      <p:sp>
        <p:nvSpPr>
          <p:cNvPr id="26" name="Text 23"/>
          <p:cNvSpPr/>
          <p:nvPr/>
        </p:nvSpPr>
        <p:spPr>
          <a:xfrm>
            <a:off x="6976872" y="4361688"/>
            <a:ext cx="4483303" cy="365760"/>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3년 한시. 2026년 초 지급되는 결산배당부터 실질 적용</a:t>
            </a:r>
            <a:endParaRPr lang="en-US" sz="1000" dirty="0"/>
          </a:p>
        </p:txBody>
      </p:sp>
      <p:sp>
        <p:nvSpPr>
          <p:cNvPr id="27" name="Shape 24"/>
          <p:cNvSpPr/>
          <p:nvPr/>
        </p:nvSpPr>
        <p:spPr>
          <a:xfrm>
            <a:off x="566928" y="4956048"/>
            <a:ext cx="11057839" cy="1133856"/>
          </a:xfrm>
          <a:prstGeom prst="rect">
            <a:avLst/>
          </a:prstGeom>
          <a:solidFill>
            <a:srgbClr val="ECEFF4"/>
          </a:solidFill>
          <a:ln/>
        </p:spPr>
      </p:sp>
      <p:sp>
        <p:nvSpPr>
          <p:cNvPr id="28" name="Text 25"/>
          <p:cNvSpPr/>
          <p:nvPr/>
        </p:nvSpPr>
        <p:spPr>
          <a:xfrm>
            <a:off x="749808" y="5047488"/>
            <a:ext cx="10692079" cy="237744"/>
          </a:xfrm>
          <a:prstGeom prst="rect">
            <a:avLst/>
          </a:prstGeom>
          <a:noFill/>
          <a:ln/>
        </p:spPr>
        <p:txBody>
          <a:bodyPr wrap="square" lIns="0" tIns="0" rIns="0" bIns="0" rtlCol="0" anchor="ctr"/>
          <a:lstStyle/>
          <a:p>
            <a:pPr indent="0" marL="0">
              <a:buNone/>
            </a:pPr>
            <a:r>
              <a:rPr lang="en-US" sz="1100" b="1" dirty="0">
                <a:solidFill>
                  <a:srgbClr val="C62828"/>
                </a:solidFill>
                <a:latin typeface="Spoqa Han Sans Neo" pitchFamily="34" charset="0"/>
                <a:ea typeface="Spoqa Han Sans Neo" pitchFamily="34" charset="-122"/>
                <a:cs typeface="Spoqa Han Sans Neo" pitchFamily="34" charset="-120"/>
              </a:rPr>
              <a:t>확인 필수</a:t>
            </a:r>
            <a:endParaRPr lang="en-US" sz="1100" dirty="0"/>
          </a:p>
        </p:txBody>
      </p:sp>
      <p:sp>
        <p:nvSpPr>
          <p:cNvPr id="29" name="Text 26"/>
          <p:cNvSpPr/>
          <p:nvPr/>
        </p:nvSpPr>
        <p:spPr>
          <a:xfrm>
            <a:off x="749808" y="5285232"/>
            <a:ext cx="10692079" cy="713232"/>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분리과세는 자동 적용이 아니라 '선택'이다. 배당세액공제가 배제되므로 다른 소득이 적은 고객은 종합과세가 유리할 수 있다. 또한 요건이 까다로워 실제 대상 종목은 제한적이며(금융지주 등 고배당성향 기업 중심), 배당성향은 결산 확정 후에야 판정된다. 반드시 사후 비교계산 후 안내한다.</a:t>
            </a:r>
            <a:endParaRPr lang="en-US" sz="1060" dirty="0"/>
          </a:p>
        </p:txBody>
      </p:sp>
      <p:sp>
        <p:nvSpPr>
          <p:cNvPr id="30" name="Text 27"/>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1" name="Text 28"/>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  종합소득세</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종합과세 vs 분리과세, 얼마나 차이 나는가</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타소득 한계세율 38% 고객의 배당 규모별 세부담 비교</a:t>
            </a:r>
            <a:endParaRPr lang="en-US" sz="1250" dirty="0"/>
          </a:p>
        </p:txBody>
      </p:sp>
      <p:graphicFrame>
        <p:nvGraphicFramePr>
          <p:cNvPr id="6" name="Chart 0" descr=""/>
          <p:cNvGraphicFramePr/>
          <p:nvPr/>
        </p:nvGraphicFramePr>
        <p:xfrm>
          <a:off x="566928" y="1664208"/>
          <a:ext cx="6537960" cy="35661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360920" y="1664208"/>
            <a:ext cx="4263847" cy="256032"/>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절감 효과</a:t>
            </a:r>
            <a:endParaRPr lang="en-US" sz="1300" dirty="0"/>
          </a:p>
        </p:txBody>
      </p:sp>
      <p:sp>
        <p:nvSpPr>
          <p:cNvPr id="8" name="Shape 5"/>
          <p:cNvSpPr/>
          <p:nvPr/>
        </p:nvSpPr>
        <p:spPr>
          <a:xfrm>
            <a:off x="7360920" y="2048256"/>
            <a:ext cx="4263847" cy="841248"/>
          </a:xfrm>
          <a:prstGeom prst="rect">
            <a:avLst/>
          </a:prstGeom>
          <a:solidFill>
            <a:srgbClr val="FFFFFF"/>
          </a:solidFill>
          <a:ln w="9525">
            <a:solidFill>
              <a:srgbClr val="CDCECB"/>
            </a:solidFill>
            <a:prstDash val="solid"/>
          </a:ln>
        </p:spPr>
      </p:sp>
      <p:sp>
        <p:nvSpPr>
          <p:cNvPr id="9" name="Text 6"/>
          <p:cNvSpPr/>
          <p:nvPr/>
        </p:nvSpPr>
        <p:spPr>
          <a:xfrm>
            <a:off x="7525512" y="2176272"/>
            <a:ext cx="393466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배당 5,000만원</a:t>
            </a:r>
            <a:endParaRPr lang="en-US" sz="1000" dirty="0"/>
          </a:p>
        </p:txBody>
      </p:sp>
      <p:sp>
        <p:nvSpPr>
          <p:cNvPr id="10" name="Text 7"/>
          <p:cNvSpPr/>
          <p:nvPr/>
        </p:nvSpPr>
        <p:spPr>
          <a:xfrm>
            <a:off x="7525512" y="2377440"/>
            <a:ext cx="3934663" cy="365760"/>
          </a:xfrm>
          <a:prstGeom prst="rect">
            <a:avLst/>
          </a:prstGeom>
          <a:noFill/>
          <a:ln/>
        </p:spPr>
        <p:txBody>
          <a:bodyPr wrap="square" lIns="0" tIns="0" rIns="0" bIns="0" rtlCol="0" anchor="ctr"/>
          <a:lstStyle/>
          <a:p>
            <a:pPr indent="0" marL="0">
              <a:buNone/>
            </a:pPr>
            <a:r>
              <a:rPr lang="en-US" sz="2200" b="1" spc="-60" kern="0" dirty="0">
                <a:solidFill>
                  <a:srgbClr val="043B72"/>
                </a:solidFill>
                <a:latin typeface="Spoqa Han Sans Neo" pitchFamily="34" charset="0"/>
                <a:ea typeface="Spoqa Han Sans Neo" pitchFamily="34" charset="-122"/>
                <a:cs typeface="Spoqa Han Sans Neo" pitchFamily="34" charset="-120"/>
              </a:rPr>
              <a:t>540만원</a:t>
            </a:r>
            <a:endParaRPr lang="en-US" sz="2200" dirty="0"/>
          </a:p>
        </p:txBody>
      </p:sp>
      <p:sp>
        <p:nvSpPr>
          <p:cNvPr id="11" name="Text 8"/>
          <p:cNvSpPr/>
          <p:nvPr/>
        </p:nvSpPr>
        <p:spPr>
          <a:xfrm>
            <a:off x="7525512" y="2761488"/>
            <a:ext cx="3934663" cy="219456"/>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1,420만원 → 880만원</a:t>
            </a:r>
            <a:endParaRPr lang="en-US" sz="1000" dirty="0"/>
          </a:p>
        </p:txBody>
      </p:sp>
      <p:sp>
        <p:nvSpPr>
          <p:cNvPr id="12" name="Shape 9"/>
          <p:cNvSpPr/>
          <p:nvPr/>
        </p:nvSpPr>
        <p:spPr>
          <a:xfrm>
            <a:off x="7360920" y="2980944"/>
            <a:ext cx="4263847" cy="841248"/>
          </a:xfrm>
          <a:prstGeom prst="rect">
            <a:avLst/>
          </a:prstGeom>
          <a:solidFill>
            <a:srgbClr val="FFFFFF"/>
          </a:solidFill>
          <a:ln w="9525">
            <a:solidFill>
              <a:srgbClr val="CDCECB"/>
            </a:solidFill>
            <a:prstDash val="solid"/>
          </a:ln>
        </p:spPr>
      </p:sp>
      <p:sp>
        <p:nvSpPr>
          <p:cNvPr id="13" name="Text 10"/>
          <p:cNvSpPr/>
          <p:nvPr/>
        </p:nvSpPr>
        <p:spPr>
          <a:xfrm>
            <a:off x="7525512" y="3108960"/>
            <a:ext cx="393466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배당 1억원</a:t>
            </a:r>
            <a:endParaRPr lang="en-US" sz="1000" dirty="0"/>
          </a:p>
        </p:txBody>
      </p:sp>
      <p:sp>
        <p:nvSpPr>
          <p:cNvPr id="14" name="Text 11"/>
          <p:cNvSpPr/>
          <p:nvPr/>
        </p:nvSpPr>
        <p:spPr>
          <a:xfrm>
            <a:off x="7525512" y="3310128"/>
            <a:ext cx="3934663" cy="365760"/>
          </a:xfrm>
          <a:prstGeom prst="rect">
            <a:avLst/>
          </a:prstGeom>
          <a:noFill/>
          <a:ln/>
        </p:spPr>
        <p:txBody>
          <a:bodyPr wrap="square" lIns="0" tIns="0" rIns="0" bIns="0" rtlCol="0" anchor="ctr"/>
          <a:lstStyle/>
          <a:p>
            <a:pPr indent="0" marL="0">
              <a:buNone/>
            </a:pPr>
            <a:r>
              <a:rPr lang="en-US" sz="2200" b="1" spc="-60" kern="0" dirty="0">
                <a:solidFill>
                  <a:srgbClr val="043B72"/>
                </a:solidFill>
                <a:latin typeface="Spoqa Han Sans Neo" pitchFamily="34" charset="0"/>
                <a:ea typeface="Spoqa Han Sans Neo" pitchFamily="34" charset="-122"/>
                <a:cs typeface="Spoqa Han Sans Neo" pitchFamily="34" charset="-120"/>
              </a:rPr>
              <a:t>1,440만원</a:t>
            </a:r>
            <a:endParaRPr lang="en-US" sz="2200" dirty="0"/>
          </a:p>
        </p:txBody>
      </p:sp>
      <p:sp>
        <p:nvSpPr>
          <p:cNvPr id="15" name="Text 12"/>
          <p:cNvSpPr/>
          <p:nvPr/>
        </p:nvSpPr>
        <p:spPr>
          <a:xfrm>
            <a:off x="7525512" y="3694176"/>
            <a:ext cx="3934663" cy="219456"/>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3,320만원 → 1,880만원</a:t>
            </a:r>
            <a:endParaRPr lang="en-US" sz="1000" dirty="0"/>
          </a:p>
        </p:txBody>
      </p:sp>
      <p:sp>
        <p:nvSpPr>
          <p:cNvPr id="16" name="Shape 13"/>
          <p:cNvSpPr/>
          <p:nvPr/>
        </p:nvSpPr>
        <p:spPr>
          <a:xfrm>
            <a:off x="7360920" y="3913632"/>
            <a:ext cx="4263847" cy="841248"/>
          </a:xfrm>
          <a:prstGeom prst="rect">
            <a:avLst/>
          </a:prstGeom>
          <a:solidFill>
            <a:srgbClr val="FFFFFF"/>
          </a:solidFill>
          <a:ln w="9525">
            <a:solidFill>
              <a:srgbClr val="CDCECB"/>
            </a:solidFill>
            <a:prstDash val="solid"/>
          </a:ln>
        </p:spPr>
      </p:sp>
      <p:sp>
        <p:nvSpPr>
          <p:cNvPr id="17" name="Text 14"/>
          <p:cNvSpPr/>
          <p:nvPr/>
        </p:nvSpPr>
        <p:spPr>
          <a:xfrm>
            <a:off x="7525512" y="4041648"/>
            <a:ext cx="393466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배당 3억원</a:t>
            </a:r>
            <a:endParaRPr lang="en-US" sz="1000" dirty="0"/>
          </a:p>
        </p:txBody>
      </p:sp>
      <p:sp>
        <p:nvSpPr>
          <p:cNvPr id="18" name="Text 15"/>
          <p:cNvSpPr/>
          <p:nvPr/>
        </p:nvSpPr>
        <p:spPr>
          <a:xfrm>
            <a:off x="7525512" y="4242816"/>
            <a:ext cx="3934663" cy="365760"/>
          </a:xfrm>
          <a:prstGeom prst="rect">
            <a:avLst/>
          </a:prstGeom>
          <a:noFill/>
          <a:ln/>
        </p:spPr>
        <p:txBody>
          <a:bodyPr wrap="square" lIns="0" tIns="0" rIns="0" bIns="0" rtlCol="0" anchor="ctr"/>
          <a:lstStyle/>
          <a:p>
            <a:pPr indent="0" marL="0">
              <a:buNone/>
            </a:pPr>
            <a:r>
              <a:rPr lang="en-US" sz="2200" b="1" spc="-60" kern="0" dirty="0">
                <a:solidFill>
                  <a:srgbClr val="043B72"/>
                </a:solidFill>
                <a:latin typeface="Spoqa Han Sans Neo" pitchFamily="34" charset="0"/>
                <a:ea typeface="Spoqa Han Sans Neo" pitchFamily="34" charset="-122"/>
                <a:cs typeface="Spoqa Han Sans Neo" pitchFamily="34" charset="-120"/>
              </a:rPr>
              <a:t>5,040만원</a:t>
            </a:r>
            <a:endParaRPr lang="en-US" sz="2200" dirty="0"/>
          </a:p>
        </p:txBody>
      </p:sp>
      <p:sp>
        <p:nvSpPr>
          <p:cNvPr id="19" name="Text 16"/>
          <p:cNvSpPr/>
          <p:nvPr/>
        </p:nvSpPr>
        <p:spPr>
          <a:xfrm>
            <a:off x="7525512" y="4626864"/>
            <a:ext cx="3934663" cy="219456"/>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1억 920만원 → 5,880만원</a:t>
            </a:r>
            <a:endParaRPr lang="en-US" sz="1000" dirty="0"/>
          </a:p>
        </p:txBody>
      </p:sp>
      <p:sp>
        <p:nvSpPr>
          <p:cNvPr id="20" name="Text 17"/>
          <p:cNvSpPr/>
          <p:nvPr/>
        </p:nvSpPr>
        <p:spPr>
          <a:xfrm>
            <a:off x="7360920" y="4892040"/>
            <a:ext cx="4263847"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가정: 배당 외 소득의 과세표준이 1.5억원 초과(한계세율 38%)이며 지방소득세 · 배당세액공제 미반영. 배당소득 규모가 커질수록 분리과세 유인이 커진다.</a:t>
            </a:r>
            <a:endParaRPr lang="en-US" sz="900" dirty="0"/>
          </a:p>
        </p:txBody>
      </p:sp>
      <p:sp>
        <p:nvSpPr>
          <p:cNvPr id="21" name="Shape 18"/>
          <p:cNvSpPr/>
          <p:nvPr/>
        </p:nvSpPr>
        <p:spPr>
          <a:xfrm>
            <a:off x="566928" y="5440680"/>
            <a:ext cx="11057839" cy="658368"/>
          </a:xfrm>
          <a:prstGeom prst="rect">
            <a:avLst/>
          </a:prstGeom>
          <a:solidFill>
            <a:srgbClr val="F58220"/>
          </a:solidFill>
          <a:ln/>
        </p:spPr>
      </p:sp>
      <p:sp>
        <p:nvSpPr>
          <p:cNvPr id="22" name="Text 19"/>
          <p:cNvSpPr/>
          <p:nvPr/>
        </p:nvSpPr>
        <p:spPr>
          <a:xfrm>
            <a:off x="786384" y="5550408"/>
            <a:ext cx="10618927" cy="256032"/>
          </a:xfrm>
          <a:prstGeom prst="rect">
            <a:avLst/>
          </a:prstGeom>
          <a:noFill/>
          <a:ln/>
        </p:spPr>
        <p:txBody>
          <a:bodyPr wrap="square" lIns="0" tIns="0" rIns="0" bIns="0" rtlCol="0" anchor="ctr"/>
          <a:lstStyle/>
          <a:p>
            <a:pP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판단 기준 — 타소득 한계세율이 분리과세 세율보다 높을 때만 유리하다</a:t>
            </a:r>
            <a:endParaRPr lang="en-US" sz="1200" dirty="0"/>
          </a:p>
        </p:txBody>
      </p:sp>
      <p:sp>
        <p:nvSpPr>
          <p:cNvPr id="23" name="Text 20"/>
          <p:cNvSpPr/>
          <p:nvPr/>
        </p:nvSpPr>
        <p:spPr>
          <a:xfrm>
            <a:off x="786384" y="5806440"/>
            <a:ext cx="10618927" cy="201168"/>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Spoqa Han Sans Neo" pitchFamily="34" charset="0"/>
                <a:ea typeface="Spoqa Han Sans Neo" pitchFamily="34" charset="-122"/>
                <a:cs typeface="Spoqa Han Sans Neo" pitchFamily="34" charset="-120"/>
              </a:rPr>
              <a:t>타소득 과세표준이 8,800만원 이하(한계세율 24% 이하)인 고객은 배당세액공제를 포기하는 분리과세가 오히려 불리할 수 있다.</a:t>
            </a:r>
            <a:endParaRPr lang="en-US" sz="1050" dirty="0"/>
          </a:p>
        </p:txBody>
      </p:sp>
      <p:sp>
        <p:nvSpPr>
          <p:cNvPr id="24" name="Text 21"/>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5" name="Text 22"/>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  종합소득세</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금융상품별 세제 지도 — 개인 기준</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같은 지수에 투자해도 담는 그릇에 따라 세금이 달라진다</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743200"/>
                <a:gridCol w="2514600"/>
                <a:gridCol w="2331720"/>
                <a:gridCol w="3465576"/>
              </a:tblGrid>
              <a:tr h="320040">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상품</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40" b="1" dirty="0">
                          <a:solidFill>
                            <a:srgbClr val="1A1A1A"/>
                          </a:solidFill>
                          <a:latin typeface="Spoqa Han Sans Neo" pitchFamily="34" charset="0"/>
                          <a:ea typeface="Spoqa Han Sans Neo" pitchFamily="34" charset="-122"/>
                          <a:cs typeface="Spoqa Han Sans Neo" pitchFamily="34" charset="-120"/>
                        </a:rPr>
                        <a:t>매매차익</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이자 · 배당</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핵심 체크</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2004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국내 상장주식(소액주주)</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비과세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배당 15.4%</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증권거래세 0.20%</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0040">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국내 상장주식(대주주)</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b="1" dirty="0">
                          <a:solidFill>
                            <a:srgbClr val="3D3D3D"/>
                          </a:solidFill>
                          <a:latin typeface="Spoqa Han Sans Neo" pitchFamily="34" charset="0"/>
                          <a:ea typeface="Spoqa Han Sans Neo" pitchFamily="34" charset="-122"/>
                          <a:cs typeface="Spoqa Han Sans Neo" pitchFamily="34" charset="-120"/>
                        </a:rPr>
                        <a:t>20% / 25%(과표 3억 초과)</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b="1" dirty="0">
                          <a:solidFill>
                            <a:srgbClr val="3D3D3D"/>
                          </a:solidFill>
                          <a:latin typeface="Spoqa Han Sans Neo" pitchFamily="34" charset="0"/>
                          <a:ea typeface="Spoqa Han Sans Neo" pitchFamily="34" charset="-122"/>
                          <a:cs typeface="Spoqa Han Sans Neo" pitchFamily="34" charset="-120"/>
                        </a:rPr>
                        <a:t>배당 15.4% · 종합과세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종목당 50억 또는 지분 1%(코스닥 2%)</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004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해외 상장주식</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22% 분류과세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배당 15.4%</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연 250만원 기본공제 · 5월 신고</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004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국내주식형 ETF</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비과세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분배금 15.4%</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금융소득 합산 대상</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004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해외 · 채권 · 파생형 ETF</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15.4%(배당소득)</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분배금 15.4%</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금융소득 합산 대상</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004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채권 직접투자</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비과세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이자 15.4%</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표면금리 낮은 저쿠폰 채권 유리</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004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공모 리츠 · 부동산펀드</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15.4%</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20" dirty="0">
                          <a:solidFill>
                            <a:srgbClr val="3D3D3D"/>
                          </a:solidFill>
                          <a:latin typeface="Spoqa Han Sans Neo" pitchFamily="34" charset="0"/>
                          <a:ea typeface="Spoqa Han Sans Neo" pitchFamily="34" charset="-122"/>
                          <a:cs typeface="Spoqa Han Sans Neo" pitchFamily="34" charset="-120"/>
                        </a:rPr>
                        <a:t>분배금 15.4%</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분리과세 특례 요건 별도 확인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0040">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ISA 계좌</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20" b="1" dirty="0">
                          <a:solidFill>
                            <a:srgbClr val="3D3D3D"/>
                          </a:solidFill>
                          <a:latin typeface="Spoqa Han Sans Neo" pitchFamily="34" charset="0"/>
                          <a:ea typeface="Spoqa Han Sans Neo" pitchFamily="34" charset="-122"/>
                          <a:cs typeface="Spoqa Han Sans Neo" pitchFamily="34" charset="-120"/>
                        </a:rPr>
                        <a:t>손익통산 후 비과세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20" b="1" dirty="0">
                          <a:solidFill>
                            <a:srgbClr val="3D3D3D"/>
                          </a:solidFill>
                          <a:latin typeface="Spoqa Han Sans Neo" pitchFamily="34" charset="0"/>
                          <a:ea typeface="Spoqa Han Sans Neo" pitchFamily="34" charset="-122"/>
                          <a:cs typeface="Spoqa Han Sans Neo" pitchFamily="34" charset="-120"/>
                        </a:rPr>
                        <a:t>초과분 9.9% 분리과세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3년 의무보유 · 납입한도 이월</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7" name="Shape 4"/>
          <p:cNvSpPr/>
          <p:nvPr/>
        </p:nvSpPr>
        <p:spPr>
          <a:xfrm>
            <a:off x="566928" y="4709160"/>
            <a:ext cx="5349240" cy="1188720"/>
          </a:xfrm>
          <a:prstGeom prst="rect">
            <a:avLst/>
          </a:prstGeom>
          <a:solidFill>
            <a:srgbClr val="FFFFFF"/>
          </a:solidFill>
          <a:ln w="9525">
            <a:solidFill>
              <a:srgbClr val="CDCECB"/>
            </a:solidFill>
            <a:prstDash val="solid"/>
          </a:ln>
        </p:spPr>
      </p:sp>
      <p:sp>
        <p:nvSpPr>
          <p:cNvPr id="8" name="Text 5"/>
          <p:cNvSpPr/>
          <p:nvPr/>
        </p:nvSpPr>
        <p:spPr>
          <a:xfrm>
            <a:off x="749808" y="4837176"/>
            <a:ext cx="4983480" cy="256032"/>
          </a:xfrm>
          <a:prstGeom prst="rect">
            <a:avLst/>
          </a:prstGeom>
          <a:noFill/>
          <a:ln/>
        </p:spPr>
        <p:txBody>
          <a:bodyPr wrap="square" lIns="0" tIns="0" rIns="0" bIns="0" rtlCol="0" anchor="t"/>
          <a:lstStyle/>
          <a:p>
            <a:pPr algn="l" indent="0" marL="0">
              <a:lnSpc>
                <a:spcPct val="124000"/>
              </a:lnSpc>
              <a:buNone/>
            </a:pPr>
            <a:r>
              <a:rPr lang="en-US" sz="1200" b="1" dirty="0">
                <a:solidFill>
                  <a:srgbClr val="F58220"/>
                </a:solidFill>
                <a:latin typeface="Spoqa Han Sans Neo" pitchFamily="34" charset="0"/>
                <a:ea typeface="Spoqa Han Sans Neo" pitchFamily="34" charset="-122"/>
                <a:cs typeface="Spoqa Han Sans Neo" pitchFamily="34" charset="-120"/>
              </a:rPr>
              <a:t>2026년 달라진 점</a:t>
            </a:r>
            <a:endParaRPr lang="en-US" sz="1200" dirty="0"/>
          </a:p>
        </p:txBody>
      </p:sp>
      <p:sp>
        <p:nvSpPr>
          <p:cNvPr id="9" name="Text 6"/>
          <p:cNvSpPr/>
          <p:nvPr/>
        </p:nvSpPr>
        <p:spPr>
          <a:xfrm>
            <a:off x="749808" y="5138928"/>
            <a:ext cx="4983480" cy="658368"/>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증권거래세 환원: 코스피 0.05%+농특세 0.15%, 코스닥 0.20%</a:t>
            </a:r>
            <a:endParaRPr lang="en-US" sz="1030" dirty="0"/>
          </a:p>
          <a:p>
            <a:pPr marL="342900" indent="-342900">
              <a:lnSpc>
                <a:spcPct val="120000"/>
              </a:lnSpc>
              <a:spcAft>
                <a:spcPts val="4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대주주 기준은 종목당 50억원 유지(10억원 환원안 미채택)</a:t>
            </a:r>
            <a:endParaRPr lang="en-US" sz="1030" dirty="0"/>
          </a:p>
        </p:txBody>
      </p:sp>
      <p:sp>
        <p:nvSpPr>
          <p:cNvPr id="10" name="Shape 7"/>
          <p:cNvSpPr/>
          <p:nvPr/>
        </p:nvSpPr>
        <p:spPr>
          <a:xfrm>
            <a:off x="6236208" y="4709160"/>
            <a:ext cx="5388559" cy="1188720"/>
          </a:xfrm>
          <a:prstGeom prst="rect">
            <a:avLst/>
          </a:prstGeom>
          <a:solidFill>
            <a:srgbClr val="FFFFFF"/>
          </a:solidFill>
          <a:ln w="9525">
            <a:solidFill>
              <a:srgbClr val="CDCECB"/>
            </a:solidFill>
            <a:prstDash val="solid"/>
          </a:ln>
        </p:spPr>
      </p:sp>
      <p:sp>
        <p:nvSpPr>
          <p:cNvPr id="11" name="Text 8"/>
          <p:cNvSpPr/>
          <p:nvPr/>
        </p:nvSpPr>
        <p:spPr>
          <a:xfrm>
            <a:off x="6419088" y="4837176"/>
            <a:ext cx="5022799" cy="256032"/>
          </a:xfrm>
          <a:prstGeom prst="rect">
            <a:avLst/>
          </a:prstGeom>
          <a:noFill/>
          <a:ln/>
        </p:spPr>
        <p:txBody>
          <a:bodyPr wrap="square" lIns="0" tIns="0" rIns="0" bIns="0" rtlCol="0" anchor="t"/>
          <a:lstStyle/>
          <a:p>
            <a:pPr algn="l" indent="0" marL="0">
              <a:lnSpc>
                <a:spcPct val="124000"/>
              </a:lnSpc>
              <a:buNone/>
            </a:pPr>
            <a:r>
              <a:rPr lang="en-US" sz="1200" b="1" dirty="0">
                <a:solidFill>
                  <a:srgbClr val="043B72"/>
                </a:solidFill>
                <a:latin typeface="Spoqa Han Sans Neo" pitchFamily="34" charset="0"/>
                <a:ea typeface="Spoqa Han Sans Neo" pitchFamily="34" charset="-122"/>
                <a:cs typeface="Spoqa Han Sans Neo" pitchFamily="34" charset="-120"/>
              </a:rPr>
              <a:t>그릇 선택의 원칙</a:t>
            </a:r>
            <a:endParaRPr lang="en-US" sz="1200" dirty="0"/>
          </a:p>
        </p:txBody>
      </p:sp>
      <p:sp>
        <p:nvSpPr>
          <p:cNvPr id="12" name="Text 9"/>
          <p:cNvSpPr/>
          <p:nvPr/>
        </p:nvSpPr>
        <p:spPr>
          <a:xfrm>
            <a:off x="6419088" y="5138928"/>
            <a:ext cx="5022799" cy="658368"/>
          </a:xfrm>
          <a:prstGeom prst="rect">
            <a:avLst/>
          </a:prstGeom>
          <a:noFill/>
          <a:ln/>
        </p:spPr>
        <p:txBody>
          <a:bodyPr wrap="square" lIns="0" tIns="0" rIns="0" bIns="0" rtlCol="0" anchor="t"/>
          <a:lstStyle/>
          <a:p>
            <a:pPr marL="342900" indent="-342900">
              <a:lnSpc>
                <a:spcPct val="120000"/>
              </a:lnSpc>
              <a:spcAft>
                <a:spcPts val="4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국내주식 · 국내주식형 ETF → 일반 계좌(어차피 비과세)</a:t>
            </a:r>
            <a:endParaRPr lang="en-US" sz="1030" dirty="0"/>
          </a:p>
          <a:p>
            <a:pPr marL="342900" indent="-342900">
              <a:lnSpc>
                <a:spcPct val="120000"/>
              </a:lnSpc>
              <a:spcAft>
                <a:spcPts val="4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해외형 ETF · 배당형 · 채권형 → ISA · 연금계좌에 우선 편입</a:t>
            </a:r>
            <a:endParaRPr lang="en-US" sz="1030" dirty="0"/>
          </a:p>
        </p:txBody>
      </p:sp>
      <p:sp>
        <p:nvSpPr>
          <p:cNvPr id="13" name="Text 10"/>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4" name="Text 11"/>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  근로 · 사업소득</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근로소득자 — 공제 지도 한 장</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소득공제는 과세표준을, 세액공제는 세액을 직접 줄인다</a:t>
            </a:r>
            <a:endParaRPr lang="en-US" sz="1250" dirty="0"/>
          </a:p>
        </p:txBody>
      </p:sp>
      <p:sp>
        <p:nvSpPr>
          <p:cNvPr id="6" name="Shape 4"/>
          <p:cNvSpPr/>
          <p:nvPr/>
        </p:nvSpPr>
        <p:spPr>
          <a:xfrm>
            <a:off x="566928" y="1600200"/>
            <a:ext cx="5349240" cy="3246120"/>
          </a:xfrm>
          <a:prstGeom prst="rect">
            <a:avLst/>
          </a:prstGeom>
          <a:solidFill>
            <a:srgbClr val="FFFFFF"/>
          </a:solidFill>
          <a:ln w="9525">
            <a:solidFill>
              <a:srgbClr val="CDCECB"/>
            </a:solidFill>
            <a:prstDash val="solid"/>
          </a:ln>
        </p:spPr>
      </p:sp>
      <p:sp>
        <p:nvSpPr>
          <p:cNvPr id="7" name="Shape 5"/>
          <p:cNvSpPr/>
          <p:nvPr/>
        </p:nvSpPr>
        <p:spPr>
          <a:xfrm>
            <a:off x="566928" y="1600200"/>
            <a:ext cx="5349240" cy="384048"/>
          </a:xfrm>
          <a:prstGeom prst="rect">
            <a:avLst/>
          </a:prstGeom>
          <a:solidFill>
            <a:srgbClr val="ECEFF4"/>
          </a:solidFill>
          <a:ln/>
        </p:spPr>
      </p:sp>
      <p:sp>
        <p:nvSpPr>
          <p:cNvPr id="8" name="Text 6"/>
          <p:cNvSpPr/>
          <p:nvPr/>
        </p:nvSpPr>
        <p:spPr>
          <a:xfrm>
            <a:off x="749808" y="1600200"/>
            <a:ext cx="4983480" cy="384048"/>
          </a:xfrm>
          <a:prstGeom prst="rect">
            <a:avLst/>
          </a:prstGeom>
          <a:noFill/>
          <a:ln/>
        </p:spPr>
        <p:txBody>
          <a:bodyPr wrap="square" lIns="0" tIns="0" rIns="0" bIns="0" rtlCol="0" anchor="ctr"/>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소득공제 — 과세표준 축소</a:t>
            </a:r>
            <a:endParaRPr lang="en-US" sz="1250" dirty="0"/>
          </a:p>
        </p:txBody>
      </p:sp>
      <p:sp>
        <p:nvSpPr>
          <p:cNvPr id="9" name="Text 7"/>
          <p:cNvSpPr/>
          <p:nvPr/>
        </p:nvSpPr>
        <p:spPr>
          <a:xfrm>
            <a:off x="749808" y="2103120"/>
            <a:ext cx="128016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인적공제</a:t>
            </a:r>
            <a:endParaRPr lang="en-US" sz="1080" dirty="0"/>
          </a:p>
        </p:txBody>
      </p:sp>
      <p:sp>
        <p:nvSpPr>
          <p:cNvPr id="10" name="Text 8"/>
          <p:cNvSpPr/>
          <p:nvPr/>
        </p:nvSpPr>
        <p:spPr>
          <a:xfrm>
            <a:off x="2084832" y="2103120"/>
            <a:ext cx="3648456"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본인 · 배우자 · 부양가족 1인당 150만원, 경로 · 장애인 추가공제</a:t>
            </a:r>
            <a:endParaRPr lang="en-US" sz="1020" dirty="0"/>
          </a:p>
        </p:txBody>
      </p:sp>
      <p:sp>
        <p:nvSpPr>
          <p:cNvPr id="11" name="Text 9"/>
          <p:cNvSpPr/>
          <p:nvPr/>
        </p:nvSpPr>
        <p:spPr>
          <a:xfrm>
            <a:off x="749808" y="2633472"/>
            <a:ext cx="128016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연금보험료</a:t>
            </a:r>
            <a:endParaRPr lang="en-US" sz="1080" dirty="0"/>
          </a:p>
        </p:txBody>
      </p:sp>
      <p:sp>
        <p:nvSpPr>
          <p:cNvPr id="12" name="Text 10"/>
          <p:cNvSpPr/>
          <p:nvPr/>
        </p:nvSpPr>
        <p:spPr>
          <a:xfrm>
            <a:off x="2084832" y="2633472"/>
            <a:ext cx="3648456"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국민연금 등 공적연금 본인부담분 전액</a:t>
            </a:r>
            <a:endParaRPr lang="en-US" sz="1020" dirty="0"/>
          </a:p>
        </p:txBody>
      </p:sp>
      <p:sp>
        <p:nvSpPr>
          <p:cNvPr id="13" name="Text 11"/>
          <p:cNvSpPr/>
          <p:nvPr/>
        </p:nvSpPr>
        <p:spPr>
          <a:xfrm>
            <a:off x="749808" y="3163824"/>
            <a:ext cx="128016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특별소득공제</a:t>
            </a:r>
            <a:endParaRPr lang="en-US" sz="1080" dirty="0"/>
          </a:p>
        </p:txBody>
      </p:sp>
      <p:sp>
        <p:nvSpPr>
          <p:cNvPr id="14" name="Text 12"/>
          <p:cNvSpPr/>
          <p:nvPr/>
        </p:nvSpPr>
        <p:spPr>
          <a:xfrm>
            <a:off x="2084832" y="3163824"/>
            <a:ext cx="3648456"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건강 · 고용보험료 전액, 주택임차차입금 원리금 40%, 장기주택저당차입금 이자</a:t>
            </a:r>
            <a:endParaRPr lang="en-US" sz="1020" dirty="0"/>
          </a:p>
        </p:txBody>
      </p:sp>
      <p:sp>
        <p:nvSpPr>
          <p:cNvPr id="15" name="Text 13"/>
          <p:cNvSpPr/>
          <p:nvPr/>
        </p:nvSpPr>
        <p:spPr>
          <a:xfrm>
            <a:off x="749808" y="3694176"/>
            <a:ext cx="128016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신용카드 등</a:t>
            </a:r>
            <a:endParaRPr lang="en-US" sz="1080" dirty="0"/>
          </a:p>
        </p:txBody>
      </p:sp>
      <p:sp>
        <p:nvSpPr>
          <p:cNvPr id="16" name="Text 14"/>
          <p:cNvSpPr/>
          <p:nvPr/>
        </p:nvSpPr>
        <p:spPr>
          <a:xfrm>
            <a:off x="2084832" y="3694176"/>
            <a:ext cx="3648456"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총급여 25% 초과 사용액. 한도 300만원(총급여 7,000만원 초과 250만원)</a:t>
            </a:r>
            <a:endParaRPr lang="en-US" sz="1020" dirty="0"/>
          </a:p>
        </p:txBody>
      </p:sp>
      <p:sp>
        <p:nvSpPr>
          <p:cNvPr id="17" name="Text 15"/>
          <p:cNvSpPr/>
          <p:nvPr/>
        </p:nvSpPr>
        <p:spPr>
          <a:xfrm>
            <a:off x="749808" y="4224528"/>
            <a:ext cx="128016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기타</a:t>
            </a:r>
            <a:endParaRPr lang="en-US" sz="1080" dirty="0"/>
          </a:p>
        </p:txBody>
      </p:sp>
      <p:sp>
        <p:nvSpPr>
          <p:cNvPr id="18" name="Text 16"/>
          <p:cNvSpPr/>
          <p:nvPr/>
        </p:nvSpPr>
        <p:spPr>
          <a:xfrm>
            <a:off x="2084832" y="4224528"/>
            <a:ext cx="3648456"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주택마련저축, 투자조합출자, 우리사주 출연금</a:t>
            </a:r>
            <a:endParaRPr lang="en-US" sz="1020" dirty="0"/>
          </a:p>
        </p:txBody>
      </p:sp>
      <p:sp>
        <p:nvSpPr>
          <p:cNvPr id="19" name="Shape 17"/>
          <p:cNvSpPr/>
          <p:nvPr/>
        </p:nvSpPr>
        <p:spPr>
          <a:xfrm>
            <a:off x="6236208" y="1600200"/>
            <a:ext cx="5388559" cy="3246120"/>
          </a:xfrm>
          <a:prstGeom prst="rect">
            <a:avLst/>
          </a:prstGeom>
          <a:solidFill>
            <a:srgbClr val="FFFFFF"/>
          </a:solidFill>
          <a:ln w="9525">
            <a:solidFill>
              <a:srgbClr val="CDCECB"/>
            </a:solidFill>
            <a:prstDash val="solid"/>
          </a:ln>
        </p:spPr>
      </p:sp>
      <p:sp>
        <p:nvSpPr>
          <p:cNvPr id="20" name="Shape 18"/>
          <p:cNvSpPr/>
          <p:nvPr/>
        </p:nvSpPr>
        <p:spPr>
          <a:xfrm>
            <a:off x="6236208" y="1600200"/>
            <a:ext cx="5388559" cy="384048"/>
          </a:xfrm>
          <a:prstGeom prst="rect">
            <a:avLst/>
          </a:prstGeom>
          <a:solidFill>
            <a:srgbClr val="ECEFF4"/>
          </a:solidFill>
          <a:ln/>
        </p:spPr>
      </p:sp>
      <p:sp>
        <p:nvSpPr>
          <p:cNvPr id="21" name="Text 19"/>
          <p:cNvSpPr/>
          <p:nvPr/>
        </p:nvSpPr>
        <p:spPr>
          <a:xfrm>
            <a:off x="6419088" y="1600200"/>
            <a:ext cx="5022799" cy="384048"/>
          </a:xfrm>
          <a:prstGeom prst="rect">
            <a:avLst/>
          </a:prstGeom>
          <a:noFill/>
          <a:ln/>
        </p:spPr>
        <p:txBody>
          <a:bodyPr wrap="square" lIns="0" tIns="0" rIns="0" bIns="0" rtlCol="0" anchor="ctr"/>
          <a:lstStyle/>
          <a:p>
            <a:pPr algn="l" indent="0" marL="0">
              <a:lnSpc>
                <a:spcPct val="124000"/>
              </a:lnSpc>
              <a:buNone/>
            </a:pPr>
            <a:r>
              <a:rPr lang="en-US" sz="1250" b="1" dirty="0">
                <a:solidFill>
                  <a:srgbClr val="F58220"/>
                </a:solidFill>
                <a:latin typeface="Spoqa Han Sans Neo" pitchFamily="34" charset="0"/>
                <a:ea typeface="Spoqa Han Sans Neo" pitchFamily="34" charset="-122"/>
                <a:cs typeface="Spoqa Han Sans Neo" pitchFamily="34" charset="-120"/>
              </a:rPr>
              <a:t>세액공제 — 세액 직접 차감</a:t>
            </a:r>
            <a:endParaRPr lang="en-US" sz="1250" dirty="0"/>
          </a:p>
        </p:txBody>
      </p:sp>
      <p:sp>
        <p:nvSpPr>
          <p:cNvPr id="22" name="Text 20"/>
          <p:cNvSpPr/>
          <p:nvPr/>
        </p:nvSpPr>
        <p:spPr>
          <a:xfrm>
            <a:off x="6419088" y="2103120"/>
            <a:ext cx="141732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근로소득세액공제</a:t>
            </a:r>
            <a:endParaRPr lang="en-US" sz="1080" dirty="0"/>
          </a:p>
        </p:txBody>
      </p:sp>
      <p:sp>
        <p:nvSpPr>
          <p:cNvPr id="23" name="Text 21"/>
          <p:cNvSpPr/>
          <p:nvPr/>
        </p:nvSpPr>
        <p:spPr>
          <a:xfrm>
            <a:off x="7891272" y="2103120"/>
            <a:ext cx="3550615"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산출세액 55% / 30%, 급여수준별 한도 20만~74만원</a:t>
            </a:r>
            <a:endParaRPr lang="en-US" sz="1020" dirty="0"/>
          </a:p>
        </p:txBody>
      </p:sp>
      <p:sp>
        <p:nvSpPr>
          <p:cNvPr id="24" name="Text 22"/>
          <p:cNvSpPr/>
          <p:nvPr/>
        </p:nvSpPr>
        <p:spPr>
          <a:xfrm>
            <a:off x="6419088" y="2633472"/>
            <a:ext cx="141732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자녀세액공제</a:t>
            </a:r>
            <a:endParaRPr lang="en-US" sz="1080" dirty="0"/>
          </a:p>
        </p:txBody>
      </p:sp>
      <p:sp>
        <p:nvSpPr>
          <p:cNvPr id="25" name="Text 23"/>
          <p:cNvSpPr/>
          <p:nvPr/>
        </p:nvSpPr>
        <p:spPr>
          <a:xfrm>
            <a:off x="7891272" y="2633472"/>
            <a:ext cx="3550615"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첫째 25만원 · 둘째 30만원 · 셋째 이후 1인당 40만원</a:t>
            </a:r>
            <a:endParaRPr lang="en-US" sz="1020" dirty="0"/>
          </a:p>
        </p:txBody>
      </p:sp>
      <p:sp>
        <p:nvSpPr>
          <p:cNvPr id="26" name="Text 24"/>
          <p:cNvSpPr/>
          <p:nvPr/>
        </p:nvSpPr>
        <p:spPr>
          <a:xfrm>
            <a:off x="6419088" y="3163824"/>
            <a:ext cx="141732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연금계좌</a:t>
            </a:r>
            <a:endParaRPr lang="en-US" sz="1080" dirty="0"/>
          </a:p>
        </p:txBody>
      </p:sp>
      <p:sp>
        <p:nvSpPr>
          <p:cNvPr id="27" name="Text 25"/>
          <p:cNvSpPr/>
          <p:nvPr/>
        </p:nvSpPr>
        <p:spPr>
          <a:xfrm>
            <a:off x="7891272" y="3163824"/>
            <a:ext cx="3550615"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연금저축 600만원 + IRP 합산 900만원 × 13.2% 또는 16.5%</a:t>
            </a:r>
            <a:endParaRPr lang="en-US" sz="1020" dirty="0"/>
          </a:p>
        </p:txBody>
      </p:sp>
      <p:sp>
        <p:nvSpPr>
          <p:cNvPr id="28" name="Text 26"/>
          <p:cNvSpPr/>
          <p:nvPr/>
        </p:nvSpPr>
        <p:spPr>
          <a:xfrm>
            <a:off x="6419088" y="3694176"/>
            <a:ext cx="141732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의료비 · 교육비</a:t>
            </a:r>
            <a:endParaRPr lang="en-US" sz="1080" dirty="0"/>
          </a:p>
        </p:txBody>
      </p:sp>
      <p:sp>
        <p:nvSpPr>
          <p:cNvPr id="29" name="Text 27"/>
          <p:cNvSpPr/>
          <p:nvPr/>
        </p:nvSpPr>
        <p:spPr>
          <a:xfrm>
            <a:off x="7891272" y="3694176"/>
            <a:ext cx="3550615"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의료비 총급여 3% 초과분 15%(난임 30%), 교육비 15%</a:t>
            </a:r>
            <a:endParaRPr lang="en-US" sz="1020" dirty="0"/>
          </a:p>
        </p:txBody>
      </p:sp>
      <p:sp>
        <p:nvSpPr>
          <p:cNvPr id="30" name="Text 28"/>
          <p:cNvSpPr/>
          <p:nvPr/>
        </p:nvSpPr>
        <p:spPr>
          <a:xfrm>
            <a:off x="6419088" y="4224528"/>
            <a:ext cx="1417320" cy="457200"/>
          </a:xfrm>
          <a:prstGeom prst="rect">
            <a:avLst/>
          </a:prstGeom>
          <a:noFill/>
          <a:ln/>
        </p:spPr>
        <p:txBody>
          <a:bodyPr wrap="square" lIns="0" tIns="0" rIns="0" bIns="0" rtlCol="0" anchor="t"/>
          <a:lstStyle/>
          <a:p>
            <a:pPr algn="l" indent="0" marL="0">
              <a:lnSpc>
                <a:spcPct val="124000"/>
              </a:lnSpc>
              <a:buNone/>
            </a:pPr>
            <a:r>
              <a:rPr lang="en-US" sz="1080" b="1" dirty="0">
                <a:solidFill>
                  <a:srgbClr val="1A1A1A"/>
                </a:solidFill>
                <a:latin typeface="Spoqa Han Sans Neo" pitchFamily="34" charset="0"/>
                <a:ea typeface="Spoqa Han Sans Neo" pitchFamily="34" charset="-122"/>
                <a:cs typeface="Spoqa Han Sans Neo" pitchFamily="34" charset="-120"/>
              </a:rPr>
              <a:t>월세 · 기부금</a:t>
            </a:r>
            <a:endParaRPr lang="en-US" sz="1080" dirty="0"/>
          </a:p>
        </p:txBody>
      </p:sp>
      <p:sp>
        <p:nvSpPr>
          <p:cNvPr id="31" name="Text 29"/>
          <p:cNvSpPr/>
          <p:nvPr/>
        </p:nvSpPr>
        <p:spPr>
          <a:xfrm>
            <a:off x="7891272" y="4224528"/>
            <a:ext cx="3550615" cy="475488"/>
          </a:xfrm>
          <a:prstGeom prst="rect">
            <a:avLst/>
          </a:prstGeom>
          <a:noFill/>
          <a:ln/>
        </p:spPr>
        <p:txBody>
          <a:bodyPr wrap="square" lIns="0" tIns="0" rIns="0" bIns="0" rtlCol="0" anchor="t"/>
          <a:lstStyle/>
          <a:p>
            <a:pPr algn="l" indent="0" marL="0">
              <a:lnSpc>
                <a:spcPct val="124000"/>
              </a:lnSpc>
              <a:buNone/>
            </a:pPr>
            <a:r>
              <a:rPr lang="en-US" sz="1020" dirty="0">
                <a:solidFill>
                  <a:srgbClr val="3D3D3D"/>
                </a:solidFill>
                <a:latin typeface="Spoqa Han Sans Neo" pitchFamily="34" charset="0"/>
                <a:ea typeface="Spoqa Han Sans Neo" pitchFamily="34" charset="-122"/>
                <a:cs typeface="Spoqa Han Sans Neo" pitchFamily="34" charset="-120"/>
              </a:rPr>
              <a:t>월세 15%(총급여 5,500만원 이하 17%, 한도 1,000만원), 기부금 15~40%</a:t>
            </a:r>
            <a:endParaRPr lang="en-US" sz="1020" dirty="0"/>
          </a:p>
        </p:txBody>
      </p:sp>
      <p:sp>
        <p:nvSpPr>
          <p:cNvPr id="32" name="Shape 30"/>
          <p:cNvSpPr/>
          <p:nvPr/>
        </p:nvSpPr>
        <p:spPr>
          <a:xfrm>
            <a:off x="566928" y="5029200"/>
            <a:ext cx="11057839" cy="914400"/>
          </a:xfrm>
          <a:prstGeom prst="rect">
            <a:avLst/>
          </a:prstGeom>
          <a:solidFill>
            <a:srgbClr val="ECEFF4"/>
          </a:solidFill>
          <a:ln/>
        </p:spPr>
      </p:sp>
      <p:sp>
        <p:nvSpPr>
          <p:cNvPr id="33" name="Text 31"/>
          <p:cNvSpPr/>
          <p:nvPr/>
        </p:nvSpPr>
        <p:spPr>
          <a:xfrm>
            <a:off x="749808" y="5120640"/>
            <a:ext cx="10692079" cy="237744"/>
          </a:xfrm>
          <a:prstGeom prst="rect">
            <a:avLst/>
          </a:prstGeom>
          <a:noFill/>
          <a:ln/>
        </p:spPr>
        <p:txBody>
          <a:bodyPr wrap="square" lIns="0" tIns="0" rIns="0" bIns="0" rtlCol="0" anchor="ctr"/>
          <a:lstStyle/>
          <a:p>
            <a:pPr indent="0" marL="0">
              <a:buNone/>
            </a:pPr>
            <a:r>
              <a:rPr lang="en-US" sz="1100" b="1" dirty="0">
                <a:solidFill>
                  <a:srgbClr val="F58220"/>
                </a:solidFill>
                <a:latin typeface="Spoqa Han Sans Neo" pitchFamily="34" charset="0"/>
                <a:ea typeface="Spoqa Han Sans Neo" pitchFamily="34" charset="-122"/>
                <a:cs typeface="Spoqa Han Sans Neo" pitchFamily="34" charset="-120"/>
              </a:rPr>
              <a:t>2026년 근로자 관련 개정</a:t>
            </a:r>
            <a:endParaRPr lang="en-US" sz="1100" dirty="0"/>
          </a:p>
        </p:txBody>
      </p:sp>
      <p:sp>
        <p:nvSpPr>
          <p:cNvPr id="34" name="Text 32"/>
          <p:cNvSpPr/>
          <p:nvPr/>
        </p:nvSpPr>
        <p:spPr>
          <a:xfrm>
            <a:off x="749808" y="5358384"/>
            <a:ext cx="10692079" cy="493776"/>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6세 이하 자녀 보육수당 비과세 한도가 상향되었고(2026.1.1 이후 발생 소득분), 통합고용세액공제의 사후관리(상시근로자 감소 시 추징)가 폐지되었다. 급여 설계 시 비과세 항목 한도를 다시 점검할 시점이다. 구체 한도는 개정 시행령을 확인한다.</a:t>
            </a:r>
            <a:endParaRPr lang="en-US" sz="1060" dirty="0"/>
          </a:p>
        </p:txBody>
      </p:sp>
      <p:sp>
        <p:nvSpPr>
          <p:cNvPr id="35" name="Text 33"/>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6" name="Text 34"/>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  근로 · 사업소득</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연금계좌 — 가장 확실한 세액공제</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납입 단계 공제 + 운용 단계 과세이연 + 수령 단계 저율 분리과세</a:t>
            </a:r>
            <a:endParaRPr lang="en-US" sz="1250" dirty="0"/>
          </a:p>
        </p:txBody>
      </p:sp>
      <p:graphicFrame>
        <p:nvGraphicFramePr>
          <p:cNvPr id="6" name="Chart 0" descr=""/>
          <p:cNvGraphicFramePr/>
          <p:nvPr/>
        </p:nvGraphicFramePr>
        <p:xfrm>
          <a:off x="566928" y="1691640"/>
          <a:ext cx="6035040" cy="3108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6928" y="4864608"/>
            <a:ext cx="603504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16.5%는 총급여 5,500만원(종합소득금액 4,500만원) 이하, 13.2%는 그 초과 구간. ISA 만기자금을 연금계좌로 이전하면 전환금액의 10%(최대 300만원)가 추가 공제된다.</a:t>
            </a:r>
            <a:endParaRPr lang="en-US" sz="900" dirty="0"/>
          </a:p>
        </p:txBody>
      </p:sp>
      <p:sp>
        <p:nvSpPr>
          <p:cNvPr id="8" name="Shape 5"/>
          <p:cNvSpPr/>
          <p:nvPr/>
        </p:nvSpPr>
        <p:spPr>
          <a:xfrm>
            <a:off x="6812280" y="1691640"/>
            <a:ext cx="4812487" cy="914400"/>
          </a:xfrm>
          <a:prstGeom prst="rect">
            <a:avLst/>
          </a:prstGeom>
          <a:solidFill>
            <a:srgbClr val="FFFFFF"/>
          </a:solidFill>
          <a:ln w="9525">
            <a:solidFill>
              <a:srgbClr val="CDCECB"/>
            </a:solidFill>
            <a:prstDash val="solid"/>
          </a:ln>
        </p:spPr>
      </p:sp>
      <p:sp>
        <p:nvSpPr>
          <p:cNvPr id="9" name="Shape 6"/>
          <p:cNvSpPr/>
          <p:nvPr/>
        </p:nvSpPr>
        <p:spPr>
          <a:xfrm>
            <a:off x="6995160" y="1837944"/>
            <a:ext cx="384048" cy="384048"/>
          </a:xfrm>
          <a:prstGeom prst="ellipse">
            <a:avLst/>
          </a:prstGeom>
          <a:solidFill>
            <a:srgbClr val="F58220"/>
          </a:solidFill>
          <a:ln/>
        </p:spPr>
      </p:sp>
      <p:sp>
        <p:nvSpPr>
          <p:cNvPr id="10" name="Text 7"/>
          <p:cNvSpPr/>
          <p:nvPr/>
        </p:nvSpPr>
        <p:spPr>
          <a:xfrm>
            <a:off x="6995160" y="183794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1</a:t>
            </a:r>
            <a:endParaRPr lang="en-US" sz="1250" dirty="0"/>
          </a:p>
        </p:txBody>
      </p:sp>
      <p:sp>
        <p:nvSpPr>
          <p:cNvPr id="11" name="Text 8"/>
          <p:cNvSpPr/>
          <p:nvPr/>
        </p:nvSpPr>
        <p:spPr>
          <a:xfrm>
            <a:off x="7525512" y="1819656"/>
            <a:ext cx="3916375"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납입 단계</a:t>
            </a:r>
            <a:endParaRPr lang="en-US" sz="1200" dirty="0"/>
          </a:p>
        </p:txBody>
      </p:sp>
      <p:sp>
        <p:nvSpPr>
          <p:cNvPr id="12" name="Text 9"/>
          <p:cNvSpPr/>
          <p:nvPr/>
        </p:nvSpPr>
        <p:spPr>
          <a:xfrm>
            <a:off x="7525512" y="2075688"/>
            <a:ext cx="3916375" cy="475488"/>
          </a:xfrm>
          <a:prstGeom prst="rect">
            <a:avLst/>
          </a:prstGeom>
          <a:noFill/>
          <a:ln/>
        </p:spPr>
        <p:txBody>
          <a:bodyPr wrap="square" lIns="0" tIns="0" rIns="0" bIns="0" rtlCol="0" anchor="t"/>
          <a:lstStyle/>
          <a:p>
            <a:pPr indent="0" marL="0">
              <a:lnSpc>
                <a:spcPct val="120000"/>
              </a:lnSpc>
              <a:buNone/>
            </a:pPr>
            <a:r>
              <a:rPr lang="en-US" sz="1030" dirty="0">
                <a:solidFill>
                  <a:srgbClr val="3D3D3D"/>
                </a:solidFill>
                <a:latin typeface="Spoqa Han Sans Neo" pitchFamily="34" charset="0"/>
                <a:ea typeface="Spoqa Han Sans Neo" pitchFamily="34" charset="-122"/>
                <a:cs typeface="Spoqa Han Sans Neo" pitchFamily="34" charset="-120"/>
              </a:rPr>
              <a:t>연금저축 600만원 + IRP 포함 연 900만원 한도. 세액공제율 13.2% 또는 16.5%(지방세 포함)</a:t>
            </a:r>
            <a:endParaRPr lang="en-US" sz="1030" dirty="0"/>
          </a:p>
        </p:txBody>
      </p:sp>
      <p:sp>
        <p:nvSpPr>
          <p:cNvPr id="13" name="Shape 10"/>
          <p:cNvSpPr/>
          <p:nvPr/>
        </p:nvSpPr>
        <p:spPr>
          <a:xfrm>
            <a:off x="6812280" y="2715768"/>
            <a:ext cx="4812487" cy="914400"/>
          </a:xfrm>
          <a:prstGeom prst="rect">
            <a:avLst/>
          </a:prstGeom>
          <a:solidFill>
            <a:srgbClr val="FFFFFF"/>
          </a:solidFill>
          <a:ln w="9525">
            <a:solidFill>
              <a:srgbClr val="CDCECB"/>
            </a:solidFill>
            <a:prstDash val="solid"/>
          </a:ln>
        </p:spPr>
      </p:sp>
      <p:sp>
        <p:nvSpPr>
          <p:cNvPr id="14" name="Shape 11"/>
          <p:cNvSpPr/>
          <p:nvPr/>
        </p:nvSpPr>
        <p:spPr>
          <a:xfrm>
            <a:off x="6995160" y="2862072"/>
            <a:ext cx="384048" cy="384048"/>
          </a:xfrm>
          <a:prstGeom prst="ellipse">
            <a:avLst/>
          </a:prstGeom>
          <a:solidFill>
            <a:srgbClr val="F58220"/>
          </a:solidFill>
          <a:ln/>
        </p:spPr>
      </p:sp>
      <p:sp>
        <p:nvSpPr>
          <p:cNvPr id="15" name="Text 12"/>
          <p:cNvSpPr/>
          <p:nvPr/>
        </p:nvSpPr>
        <p:spPr>
          <a:xfrm>
            <a:off x="6995160" y="286207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2</a:t>
            </a:r>
            <a:endParaRPr lang="en-US" sz="1250" dirty="0"/>
          </a:p>
        </p:txBody>
      </p:sp>
      <p:sp>
        <p:nvSpPr>
          <p:cNvPr id="16" name="Text 13"/>
          <p:cNvSpPr/>
          <p:nvPr/>
        </p:nvSpPr>
        <p:spPr>
          <a:xfrm>
            <a:off x="7525512" y="2843784"/>
            <a:ext cx="3916375"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운용 단계</a:t>
            </a:r>
            <a:endParaRPr lang="en-US" sz="1200" dirty="0"/>
          </a:p>
        </p:txBody>
      </p:sp>
      <p:sp>
        <p:nvSpPr>
          <p:cNvPr id="17" name="Text 14"/>
          <p:cNvSpPr/>
          <p:nvPr/>
        </p:nvSpPr>
        <p:spPr>
          <a:xfrm>
            <a:off x="7525512" y="3099816"/>
            <a:ext cx="3916375" cy="475488"/>
          </a:xfrm>
          <a:prstGeom prst="rect">
            <a:avLst/>
          </a:prstGeom>
          <a:noFill/>
          <a:ln/>
        </p:spPr>
        <p:txBody>
          <a:bodyPr wrap="square" lIns="0" tIns="0" rIns="0" bIns="0" rtlCol="0" anchor="t"/>
          <a:lstStyle/>
          <a:p>
            <a:pPr indent="0" marL="0">
              <a:lnSpc>
                <a:spcPct val="120000"/>
              </a:lnSpc>
              <a:buNone/>
            </a:pPr>
            <a:r>
              <a:rPr lang="en-US" sz="1030" dirty="0">
                <a:solidFill>
                  <a:srgbClr val="3D3D3D"/>
                </a:solidFill>
                <a:latin typeface="Spoqa Han Sans Neo" pitchFamily="34" charset="0"/>
                <a:ea typeface="Spoqa Han Sans Neo" pitchFamily="34" charset="-122"/>
                <a:cs typeface="Spoqa Han Sans Neo" pitchFamily="34" charset="-120"/>
              </a:rPr>
              <a:t>계좌 내 이자 · 배당 · 매매차익에 과세하지 않고 인출 시점까지 이연 → 복리 효과 확대</a:t>
            </a:r>
            <a:endParaRPr lang="en-US" sz="1030" dirty="0"/>
          </a:p>
        </p:txBody>
      </p:sp>
      <p:sp>
        <p:nvSpPr>
          <p:cNvPr id="18" name="Shape 15"/>
          <p:cNvSpPr/>
          <p:nvPr/>
        </p:nvSpPr>
        <p:spPr>
          <a:xfrm>
            <a:off x="6812280" y="3739896"/>
            <a:ext cx="4812487" cy="914400"/>
          </a:xfrm>
          <a:prstGeom prst="rect">
            <a:avLst/>
          </a:prstGeom>
          <a:solidFill>
            <a:srgbClr val="FFFFFF"/>
          </a:solidFill>
          <a:ln w="9525">
            <a:solidFill>
              <a:srgbClr val="CDCECB"/>
            </a:solidFill>
            <a:prstDash val="solid"/>
          </a:ln>
        </p:spPr>
      </p:sp>
      <p:sp>
        <p:nvSpPr>
          <p:cNvPr id="19" name="Shape 16"/>
          <p:cNvSpPr/>
          <p:nvPr/>
        </p:nvSpPr>
        <p:spPr>
          <a:xfrm>
            <a:off x="6995160" y="3886200"/>
            <a:ext cx="384048" cy="384048"/>
          </a:xfrm>
          <a:prstGeom prst="ellipse">
            <a:avLst/>
          </a:prstGeom>
          <a:solidFill>
            <a:srgbClr val="F58220"/>
          </a:solidFill>
          <a:ln/>
        </p:spPr>
      </p:sp>
      <p:sp>
        <p:nvSpPr>
          <p:cNvPr id="20" name="Text 17"/>
          <p:cNvSpPr/>
          <p:nvPr/>
        </p:nvSpPr>
        <p:spPr>
          <a:xfrm>
            <a:off x="6995160" y="388620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3</a:t>
            </a:r>
            <a:endParaRPr lang="en-US" sz="1250" dirty="0"/>
          </a:p>
        </p:txBody>
      </p:sp>
      <p:sp>
        <p:nvSpPr>
          <p:cNvPr id="21" name="Text 18"/>
          <p:cNvSpPr/>
          <p:nvPr/>
        </p:nvSpPr>
        <p:spPr>
          <a:xfrm>
            <a:off x="7525512" y="3867912"/>
            <a:ext cx="3916375"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수령 단계</a:t>
            </a:r>
            <a:endParaRPr lang="en-US" sz="1200" dirty="0"/>
          </a:p>
        </p:txBody>
      </p:sp>
      <p:sp>
        <p:nvSpPr>
          <p:cNvPr id="22" name="Text 19"/>
          <p:cNvSpPr/>
          <p:nvPr/>
        </p:nvSpPr>
        <p:spPr>
          <a:xfrm>
            <a:off x="7525512" y="4123944"/>
            <a:ext cx="3916375" cy="475488"/>
          </a:xfrm>
          <a:prstGeom prst="rect">
            <a:avLst/>
          </a:prstGeom>
          <a:noFill/>
          <a:ln/>
        </p:spPr>
        <p:txBody>
          <a:bodyPr wrap="square" lIns="0" tIns="0" rIns="0" bIns="0" rtlCol="0" anchor="t"/>
          <a:lstStyle/>
          <a:p>
            <a:pPr indent="0" marL="0">
              <a:lnSpc>
                <a:spcPct val="120000"/>
              </a:lnSpc>
              <a:buNone/>
            </a:pPr>
            <a:r>
              <a:rPr lang="en-US" sz="1030" dirty="0">
                <a:solidFill>
                  <a:srgbClr val="3D3D3D"/>
                </a:solidFill>
                <a:latin typeface="Spoqa Han Sans Neo" pitchFamily="34" charset="0"/>
                <a:ea typeface="Spoqa Han Sans Neo" pitchFamily="34" charset="-122"/>
                <a:cs typeface="Spoqa Han Sans Neo" pitchFamily="34" charset="-120"/>
              </a:rPr>
              <a:t>55세 이후 10년 이상 연금 수령 시 연금소득세 3.3~5.5%. 사적연금 연 1,500만원 초과 시 종합과세 또는 16.5% 분리과세 선택</a:t>
            </a:r>
            <a:endParaRPr lang="en-US" sz="1030" dirty="0"/>
          </a:p>
        </p:txBody>
      </p:sp>
      <p:sp>
        <p:nvSpPr>
          <p:cNvPr id="23" name="Shape 20"/>
          <p:cNvSpPr/>
          <p:nvPr/>
        </p:nvSpPr>
        <p:spPr>
          <a:xfrm>
            <a:off x="6812280" y="4800600"/>
            <a:ext cx="4812487" cy="1097280"/>
          </a:xfrm>
          <a:prstGeom prst="rect">
            <a:avLst/>
          </a:prstGeom>
          <a:solidFill>
            <a:srgbClr val="ECEFF4"/>
          </a:solidFill>
          <a:ln/>
        </p:spPr>
      </p:sp>
      <p:sp>
        <p:nvSpPr>
          <p:cNvPr id="24" name="Text 21"/>
          <p:cNvSpPr/>
          <p:nvPr/>
        </p:nvSpPr>
        <p:spPr>
          <a:xfrm>
            <a:off x="6995160" y="4892040"/>
            <a:ext cx="4446727" cy="237744"/>
          </a:xfrm>
          <a:prstGeom prst="rect">
            <a:avLst/>
          </a:prstGeom>
          <a:noFill/>
          <a:ln/>
        </p:spPr>
        <p:txBody>
          <a:bodyPr wrap="square" lIns="0" tIns="0" rIns="0" bIns="0" rtlCol="0" anchor="ctr"/>
          <a:lstStyle/>
          <a:p>
            <a:pPr indent="0" marL="0">
              <a:buNone/>
            </a:pPr>
            <a:r>
              <a:rPr lang="en-US" sz="1100" b="1" dirty="0">
                <a:solidFill>
                  <a:srgbClr val="C62828"/>
                </a:solidFill>
                <a:latin typeface="Spoqa Han Sans Neo" pitchFamily="34" charset="0"/>
                <a:ea typeface="Spoqa Han Sans Neo" pitchFamily="34" charset="-122"/>
                <a:cs typeface="Spoqa Han Sans Neo" pitchFamily="34" charset="-120"/>
              </a:rPr>
              <a:t>주의</a:t>
            </a:r>
            <a:endParaRPr lang="en-US" sz="1100" dirty="0"/>
          </a:p>
        </p:txBody>
      </p:sp>
      <p:sp>
        <p:nvSpPr>
          <p:cNvPr id="25" name="Text 22"/>
          <p:cNvSpPr/>
          <p:nvPr/>
        </p:nvSpPr>
        <p:spPr>
          <a:xfrm>
            <a:off x="6995160" y="5129784"/>
            <a:ext cx="4446727" cy="676656"/>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중도해지 · 연금 외 수령 시에는 세액공제 받은 원금과 운용수익에 16.5% 기타소득세가 부과되어 절세 효과가 사라진다. 연금계좌는 '해지하지 않을 자금'만 넣는다는 원칙을 상담 초기에 합의해야 한다.</a:t>
            </a:r>
            <a:endParaRPr lang="en-US" sz="1060" dirty="0"/>
          </a:p>
        </p:txBody>
      </p:sp>
      <p:sp>
        <p:nvSpPr>
          <p:cNvPr id="26" name="Text 23"/>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7" name="Text 24"/>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  근로 · 사업소득</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ISA — 확정된 현행 기준과 확대 추진안</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언론에 보도된 '비과세 500만원'은 2026년 10월 기준 아직 시행 전</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377440"/>
                <a:gridCol w="4297680"/>
                <a:gridCol w="4379976"/>
              </a:tblGrid>
              <a:tr h="329184">
                <a:tc>
                  <a:txBody>
                    <a:bodyPr/>
                    <a:lstStyle/>
                    <a:p>
                      <a:pPr algn="l" indent="0" marL="0">
                        <a:buNone/>
                      </a:pPr>
                      <a:r>
                        <a:rPr lang="en-US" sz="1050" b="1" dirty="0">
                          <a:solidFill>
                            <a:srgbClr val="1A1A1A"/>
                          </a:solidFill>
                          <a:latin typeface="Spoqa Han Sans Neo" pitchFamily="34" charset="0"/>
                          <a:ea typeface="Spoqa Han Sans Neo" pitchFamily="34" charset="-122"/>
                          <a:cs typeface="Spoqa Han Sans Neo" pitchFamily="34" charset="-120"/>
                        </a:rPr>
                        <a:t>항목</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50" b="1" dirty="0">
                          <a:solidFill>
                            <a:srgbClr val="1A1A1A"/>
                          </a:solidFill>
                          <a:latin typeface="Spoqa Han Sans Neo" pitchFamily="34" charset="0"/>
                          <a:ea typeface="Spoqa Han Sans Neo" pitchFamily="34" charset="-122"/>
                          <a:cs typeface="Spoqa Han Sans Neo" pitchFamily="34" charset="-120"/>
                        </a:rPr>
                        <a:t>현행 (확정 · 적용 중)</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50" b="1" dirty="0">
                          <a:solidFill>
                            <a:srgbClr val="1A1A1A"/>
                          </a:solidFill>
                          <a:latin typeface="Spoqa Han Sans Neo" pitchFamily="34" charset="0"/>
                          <a:ea typeface="Spoqa Han Sans Neo" pitchFamily="34" charset="-122"/>
                          <a:cs typeface="Spoqa Han Sans Neo" pitchFamily="34" charset="-120"/>
                        </a:rPr>
                        <a:t>확대 추진안 (미확정)</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연간 납입한도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2,000만원 (총 1억원)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4,000만원 (총 2억원)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비과세 한도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일반형 200만원 / 서민형 400만원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일반형 500만원 / 서민형 1,000만원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초과 수익 과세</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9.9% 분리과세</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동일</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금융소득종합과세자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가입 불가</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국내투자형 가입 허용(14% 분리과세)</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b="1" dirty="0">
                          <a:solidFill>
                            <a:srgbClr val="3D3D3D"/>
                          </a:solidFill>
                          <a:latin typeface="Spoqa Han Sans Neo" pitchFamily="34" charset="0"/>
                          <a:ea typeface="Spoqa Han Sans Neo" pitchFamily="34" charset="-122"/>
                          <a:cs typeface="Spoqa Han Sans Neo" pitchFamily="34" charset="-120"/>
                        </a:rPr>
                        <a:t>의무 보유기간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b="1" dirty="0">
                          <a:solidFill>
                            <a:srgbClr val="3D3D3D"/>
                          </a:solidFill>
                          <a:latin typeface="Spoqa Han Sans Neo" pitchFamily="34" charset="0"/>
                          <a:ea typeface="Spoqa Han Sans Neo" pitchFamily="34" charset="-122"/>
                          <a:cs typeface="Spoqa Han Sans Neo" pitchFamily="34" charset="-120"/>
                        </a:rPr>
                        <a:t>3년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b="1" dirty="0">
                          <a:solidFill>
                            <a:srgbClr val="3D3D3D"/>
                          </a:solidFill>
                          <a:latin typeface="Spoqa Han Sans Neo" pitchFamily="34" charset="0"/>
                          <a:ea typeface="Spoqa Han Sans Neo" pitchFamily="34" charset="-122"/>
                          <a:cs typeface="Spoqa Han Sans Neo" pitchFamily="34" charset="-120"/>
                        </a:rPr>
                        <a:t>동일</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손익통산</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계좌 내 상품 간 통산 후 순이익 과세</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동일</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041648"/>
            <a:ext cx="11057839" cy="1170432"/>
          </a:xfrm>
          <a:prstGeom prst="rect">
            <a:avLst/>
          </a:prstGeom>
          <a:solidFill>
            <a:srgbClr val="ECEFF4"/>
          </a:solidFill>
          <a:ln/>
        </p:spPr>
      </p:sp>
      <p:sp>
        <p:nvSpPr>
          <p:cNvPr id="8" name="Text 5"/>
          <p:cNvSpPr/>
          <p:nvPr/>
        </p:nvSpPr>
        <p:spPr>
          <a:xfrm>
            <a:off x="749808" y="4133088"/>
            <a:ext cx="10692079" cy="237744"/>
          </a:xfrm>
          <a:prstGeom prst="rect">
            <a:avLst/>
          </a:prstGeom>
          <a:noFill/>
          <a:ln/>
        </p:spPr>
        <p:txBody>
          <a:bodyPr wrap="square" lIns="0" tIns="0" rIns="0" bIns="0" rtlCol="0" anchor="ctr"/>
          <a:lstStyle/>
          <a:p>
            <a:pPr indent="0" marL="0">
              <a:buNone/>
            </a:pPr>
            <a:r>
              <a:rPr lang="en-US" sz="1100" b="1" dirty="0">
                <a:solidFill>
                  <a:srgbClr val="C62828"/>
                </a:solidFill>
                <a:latin typeface="Spoqa Han Sans Neo" pitchFamily="34" charset="0"/>
                <a:ea typeface="Spoqa Han Sans Neo" pitchFamily="34" charset="-122"/>
                <a:cs typeface="Spoqa Han Sans Neo" pitchFamily="34" charset="-120"/>
              </a:rPr>
              <a:t>고객 안내 시 주의</a:t>
            </a:r>
            <a:endParaRPr lang="en-US" sz="1100" dirty="0"/>
          </a:p>
        </p:txBody>
      </p:sp>
      <p:sp>
        <p:nvSpPr>
          <p:cNvPr id="9" name="Text 6"/>
          <p:cNvSpPr/>
          <p:nvPr/>
        </p:nvSpPr>
        <p:spPr>
          <a:xfrm>
            <a:off x="749808" y="4370832"/>
            <a:ext cx="10692079" cy="749808"/>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납입한도 4,000만원 · 비과세 500만원 확대안은 2026년 10월 기준 국회를 통과하지 않았다. 2026년 8월 3일 세제개편안은 이 확대안 대신 '생산적 금융 ISA' 신설(국내 주식·펀드 등 이자·배당 전액 비과세, 연 2,000만원·총 2억원)과 일반 ISA 의무보유 5년·한도이월 폐지를 담았다. 모두 국회 심의 중이므로 상담은 현행 기준으로 하고 개편안은 '추진 중'으로 구분해 전달한다.</a:t>
            </a:r>
            <a:endParaRPr lang="en-US" sz="1060" dirty="0"/>
          </a:p>
        </p:txBody>
      </p:sp>
      <p:sp>
        <p:nvSpPr>
          <p:cNvPr id="10" name="Shape 7"/>
          <p:cNvSpPr/>
          <p:nvPr/>
        </p:nvSpPr>
        <p:spPr>
          <a:xfrm>
            <a:off x="566928" y="5321808"/>
            <a:ext cx="3502152" cy="859536"/>
          </a:xfrm>
          <a:prstGeom prst="rect">
            <a:avLst/>
          </a:prstGeom>
          <a:solidFill>
            <a:srgbClr val="FFFFFF"/>
          </a:solidFill>
          <a:ln w="9525">
            <a:solidFill>
              <a:srgbClr val="CDCECB"/>
            </a:solidFill>
            <a:prstDash val="solid"/>
          </a:ln>
        </p:spPr>
      </p:sp>
      <p:sp>
        <p:nvSpPr>
          <p:cNvPr id="11" name="Text 8"/>
          <p:cNvSpPr/>
          <p:nvPr/>
        </p:nvSpPr>
        <p:spPr>
          <a:xfrm>
            <a:off x="731520" y="5422392"/>
            <a:ext cx="3172968" cy="237744"/>
          </a:xfrm>
          <a:prstGeom prst="rect">
            <a:avLst/>
          </a:prstGeom>
          <a:noFill/>
          <a:ln/>
        </p:spPr>
        <p:txBody>
          <a:bodyPr wrap="square" lIns="0" tIns="0" rIns="0" bIns="0" rtlCol="0" anchor="t"/>
          <a:lstStyle/>
          <a:p>
            <a:pPr algn="l" indent="0" marL="0">
              <a:lnSpc>
                <a:spcPct val="124000"/>
              </a:lnSpc>
              <a:buNone/>
            </a:pPr>
            <a:r>
              <a:rPr lang="en-US" sz="1150" b="1" dirty="0">
                <a:solidFill>
                  <a:srgbClr val="043B72"/>
                </a:solidFill>
                <a:latin typeface="Spoqa Han Sans Neo" pitchFamily="34" charset="0"/>
                <a:ea typeface="Spoqa Han Sans Neo" pitchFamily="34" charset="-122"/>
                <a:cs typeface="Spoqa Han Sans Neo" pitchFamily="34" charset="-120"/>
              </a:rPr>
              <a:t>먼저 개설하는 것이 이득</a:t>
            </a:r>
            <a:endParaRPr lang="en-US" sz="1150" dirty="0"/>
          </a:p>
        </p:txBody>
      </p:sp>
      <p:sp>
        <p:nvSpPr>
          <p:cNvPr id="12" name="Text 9"/>
          <p:cNvSpPr/>
          <p:nvPr/>
        </p:nvSpPr>
        <p:spPr>
          <a:xfrm>
            <a:off x="731520" y="5669280"/>
            <a:ext cx="3172968" cy="457200"/>
          </a:xfrm>
          <a:prstGeom prst="rect">
            <a:avLst/>
          </a:prstGeom>
          <a:noFill/>
          <a:ln/>
        </p:spPr>
        <p:txBody>
          <a:bodyPr wrap="square" lIns="0" tIns="0" rIns="0" bIns="0" rtlCol="0" anchor="t"/>
          <a:lstStyle/>
          <a:p>
            <a:pPr algn="l" indent="0" marL="0">
              <a:lnSpc>
                <a:spcPct val="116000"/>
              </a:lnSpc>
              <a:buNone/>
            </a:pPr>
            <a:r>
              <a:rPr lang="en-US" sz="990" dirty="0">
                <a:solidFill>
                  <a:srgbClr val="3D3D3D"/>
                </a:solidFill>
                <a:latin typeface="Spoqa Han Sans Neo" pitchFamily="34" charset="0"/>
                <a:ea typeface="Spoqa Han Sans Neo" pitchFamily="34" charset="-122"/>
                <a:cs typeface="Spoqa Han Sans Neo" pitchFamily="34" charset="-120"/>
              </a:rPr>
              <a:t>미납입 한도는 다음 해로 이월되고, 3년 의무보유 기간은 개설일부터 시작된다. 자금이 없어도 계좌만 열어두면 시간 손실이 없다.</a:t>
            </a:r>
            <a:endParaRPr lang="en-US" sz="990" dirty="0"/>
          </a:p>
        </p:txBody>
      </p:sp>
      <p:sp>
        <p:nvSpPr>
          <p:cNvPr id="13" name="Shape 10"/>
          <p:cNvSpPr/>
          <p:nvPr/>
        </p:nvSpPr>
        <p:spPr>
          <a:xfrm>
            <a:off x="4361688" y="5321808"/>
            <a:ext cx="3502152" cy="859536"/>
          </a:xfrm>
          <a:prstGeom prst="rect">
            <a:avLst/>
          </a:prstGeom>
          <a:solidFill>
            <a:srgbClr val="FFFFFF"/>
          </a:solidFill>
          <a:ln w="9525">
            <a:solidFill>
              <a:srgbClr val="CDCECB"/>
            </a:solidFill>
            <a:prstDash val="solid"/>
          </a:ln>
        </p:spPr>
      </p:sp>
      <p:sp>
        <p:nvSpPr>
          <p:cNvPr id="14" name="Text 11"/>
          <p:cNvSpPr/>
          <p:nvPr/>
        </p:nvSpPr>
        <p:spPr>
          <a:xfrm>
            <a:off x="4526280" y="5422392"/>
            <a:ext cx="3172968" cy="237744"/>
          </a:xfrm>
          <a:prstGeom prst="rect">
            <a:avLst/>
          </a:prstGeom>
          <a:noFill/>
          <a:ln/>
        </p:spPr>
        <p:txBody>
          <a:bodyPr wrap="square" lIns="0" tIns="0" rIns="0" bIns="0" rtlCol="0" anchor="t"/>
          <a:lstStyle/>
          <a:p>
            <a:pPr algn="l" indent="0" marL="0">
              <a:lnSpc>
                <a:spcPct val="124000"/>
              </a:lnSpc>
              <a:buNone/>
            </a:pPr>
            <a:r>
              <a:rPr lang="en-US" sz="1150" b="1" dirty="0">
                <a:solidFill>
                  <a:srgbClr val="043B72"/>
                </a:solidFill>
                <a:latin typeface="Spoqa Han Sans Neo" pitchFamily="34" charset="0"/>
                <a:ea typeface="Spoqa Han Sans Neo" pitchFamily="34" charset="-122"/>
                <a:cs typeface="Spoqa Han Sans Neo" pitchFamily="34" charset="-120"/>
              </a:rPr>
              <a:t>담을 자산의 우선순위</a:t>
            </a:r>
            <a:endParaRPr lang="en-US" sz="1150" dirty="0"/>
          </a:p>
        </p:txBody>
      </p:sp>
      <p:sp>
        <p:nvSpPr>
          <p:cNvPr id="15" name="Text 12"/>
          <p:cNvSpPr/>
          <p:nvPr/>
        </p:nvSpPr>
        <p:spPr>
          <a:xfrm>
            <a:off x="4526280" y="5669280"/>
            <a:ext cx="3172968" cy="457200"/>
          </a:xfrm>
          <a:prstGeom prst="rect">
            <a:avLst/>
          </a:prstGeom>
          <a:noFill/>
          <a:ln/>
        </p:spPr>
        <p:txBody>
          <a:bodyPr wrap="square" lIns="0" tIns="0" rIns="0" bIns="0" rtlCol="0" anchor="t"/>
          <a:lstStyle/>
          <a:p>
            <a:pPr algn="l" indent="0" marL="0">
              <a:lnSpc>
                <a:spcPct val="116000"/>
              </a:lnSpc>
              <a:buNone/>
            </a:pPr>
            <a:r>
              <a:rPr lang="en-US" sz="990" dirty="0">
                <a:solidFill>
                  <a:srgbClr val="3D3D3D"/>
                </a:solidFill>
                <a:latin typeface="Spoqa Han Sans Neo" pitchFamily="34" charset="0"/>
                <a:ea typeface="Spoqa Han Sans Neo" pitchFamily="34" charset="-122"/>
                <a:cs typeface="Spoqa Han Sans Neo" pitchFamily="34" charset="-120"/>
              </a:rPr>
              <a:t>국내주식은 어차피 비과세이므로, 해외형 ETF · 배당형 · 채권형처럼 15.4% 과세되는 자산을 우선 편입한다.</a:t>
            </a:r>
            <a:endParaRPr lang="en-US" sz="990" dirty="0"/>
          </a:p>
        </p:txBody>
      </p:sp>
      <p:sp>
        <p:nvSpPr>
          <p:cNvPr id="16" name="Shape 13"/>
          <p:cNvSpPr/>
          <p:nvPr/>
        </p:nvSpPr>
        <p:spPr>
          <a:xfrm>
            <a:off x="8156448" y="5321808"/>
            <a:ext cx="3502152" cy="859536"/>
          </a:xfrm>
          <a:prstGeom prst="rect">
            <a:avLst/>
          </a:prstGeom>
          <a:solidFill>
            <a:srgbClr val="FFFFFF"/>
          </a:solidFill>
          <a:ln w="9525">
            <a:solidFill>
              <a:srgbClr val="CDCECB"/>
            </a:solidFill>
            <a:prstDash val="solid"/>
          </a:ln>
        </p:spPr>
      </p:sp>
      <p:sp>
        <p:nvSpPr>
          <p:cNvPr id="17" name="Text 14"/>
          <p:cNvSpPr/>
          <p:nvPr/>
        </p:nvSpPr>
        <p:spPr>
          <a:xfrm>
            <a:off x="8321040" y="5422392"/>
            <a:ext cx="3172968" cy="237744"/>
          </a:xfrm>
          <a:prstGeom prst="rect">
            <a:avLst/>
          </a:prstGeom>
          <a:noFill/>
          <a:ln/>
        </p:spPr>
        <p:txBody>
          <a:bodyPr wrap="square" lIns="0" tIns="0" rIns="0" bIns="0" rtlCol="0" anchor="t"/>
          <a:lstStyle/>
          <a:p>
            <a:pPr algn="l" indent="0" marL="0">
              <a:lnSpc>
                <a:spcPct val="124000"/>
              </a:lnSpc>
              <a:buNone/>
            </a:pPr>
            <a:r>
              <a:rPr lang="en-US" sz="1150" b="1" dirty="0">
                <a:solidFill>
                  <a:srgbClr val="043B72"/>
                </a:solidFill>
                <a:latin typeface="Spoqa Han Sans Neo" pitchFamily="34" charset="0"/>
                <a:ea typeface="Spoqa Han Sans Neo" pitchFamily="34" charset="-122"/>
                <a:cs typeface="Spoqa Han Sans Neo" pitchFamily="34" charset="-120"/>
              </a:rPr>
              <a:t>만기 자금은 연금으로</a:t>
            </a:r>
            <a:endParaRPr lang="en-US" sz="1150" dirty="0"/>
          </a:p>
        </p:txBody>
      </p:sp>
      <p:sp>
        <p:nvSpPr>
          <p:cNvPr id="18" name="Text 15"/>
          <p:cNvSpPr/>
          <p:nvPr/>
        </p:nvSpPr>
        <p:spPr>
          <a:xfrm>
            <a:off x="8321040" y="5669280"/>
            <a:ext cx="3172968" cy="457200"/>
          </a:xfrm>
          <a:prstGeom prst="rect">
            <a:avLst/>
          </a:prstGeom>
          <a:noFill/>
          <a:ln/>
        </p:spPr>
        <p:txBody>
          <a:bodyPr wrap="square" lIns="0" tIns="0" rIns="0" bIns="0" rtlCol="0" anchor="t"/>
          <a:lstStyle/>
          <a:p>
            <a:pPr algn="l" indent="0" marL="0">
              <a:lnSpc>
                <a:spcPct val="116000"/>
              </a:lnSpc>
              <a:buNone/>
            </a:pPr>
            <a:r>
              <a:rPr lang="en-US" sz="990" dirty="0">
                <a:solidFill>
                  <a:srgbClr val="3D3D3D"/>
                </a:solidFill>
                <a:latin typeface="Spoqa Han Sans Neo" pitchFamily="34" charset="0"/>
                <a:ea typeface="Spoqa Han Sans Neo" pitchFamily="34" charset="-122"/>
                <a:cs typeface="Spoqa Han Sans Neo" pitchFamily="34" charset="-120"/>
              </a:rPr>
              <a:t>만기 후 연금저축 · IRP로 이전하면 전환금액의 10%(최대 300만원)를 추가 세액공제받는다.</a:t>
            </a:r>
            <a:endParaRPr lang="en-US" sz="990" dirty="0"/>
          </a:p>
        </p:txBody>
      </p:sp>
      <p:sp>
        <p:nvSpPr>
          <p:cNvPr id="19" name="Text 16"/>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0" name="Text 17"/>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  근로 · 사업소득</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사업소득 — 장부가 세금을 결정한다</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직전연도 수입금액에 따라 장부 의무와 신고 방식이 갈린다</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3931920"/>
                <a:gridCol w="2377440"/>
                <a:gridCol w="2377440"/>
                <a:gridCol w="2368296"/>
              </a:tblGrid>
              <a:tr h="365760">
                <a:tc>
                  <a:txBody>
                    <a:bodyPr/>
                    <a:lstStyle/>
                    <a:p>
                      <a:pPr algn="l"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업종</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간편장부 대상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복식부기 의무</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성실신고확인 대상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65760">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농 · 임 · 어업, 도소매업</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3억원 미만</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3억원 이상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15억원 이상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제조 · 숙박 · 음식 · 건설 · 운수업</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1.5억원 미만</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1.5억원 이상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7.5억원 이상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3D3D3D"/>
                          </a:solidFill>
                          <a:latin typeface="Spoqa Han Sans Neo" pitchFamily="34" charset="0"/>
                          <a:ea typeface="Spoqa Han Sans Neo" pitchFamily="34" charset="-122"/>
                          <a:cs typeface="Spoqa Han Sans Neo" pitchFamily="34" charset="-120"/>
                        </a:rPr>
                        <a:t>부동산임대 · 서비스 · 전문직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D3D3D"/>
                          </a:solidFill>
                          <a:latin typeface="Spoqa Han Sans Neo" pitchFamily="34" charset="0"/>
                          <a:ea typeface="Spoqa Han Sans Neo" pitchFamily="34" charset="-122"/>
                          <a:cs typeface="Spoqa Han Sans Neo" pitchFamily="34" charset="-120"/>
                        </a:rPr>
                        <a:t>7,500만원 미만</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D3D3D"/>
                          </a:solidFill>
                          <a:latin typeface="Spoqa Han Sans Neo" pitchFamily="34" charset="0"/>
                          <a:ea typeface="Spoqa Han Sans Neo" pitchFamily="34" charset="-122"/>
                          <a:cs typeface="Spoqa Han Sans Neo" pitchFamily="34" charset="-120"/>
                        </a:rPr>
                        <a:t>7,500만원 이상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D3D3D"/>
                          </a:solidFill>
                          <a:latin typeface="Spoqa Han Sans Neo" pitchFamily="34" charset="0"/>
                          <a:ea typeface="Spoqa Han Sans Neo" pitchFamily="34" charset="-122"/>
                          <a:cs typeface="Spoqa Han Sans Neo" pitchFamily="34" charset="-120"/>
                        </a:rPr>
                        <a:t>5억원 이상</a:t>
                      </a:r>
                      <a:endParaRPr lang="en-US" sz="105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3127248"/>
            <a:ext cx="11057839"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직전 과세기간 수입금액 기준. 전문직 사업자는 수입금액과 무관하게 복식부기 의무자이다.</a:t>
            </a:r>
            <a:endParaRPr lang="en-US" sz="900" dirty="0"/>
          </a:p>
        </p:txBody>
      </p:sp>
      <p:sp>
        <p:nvSpPr>
          <p:cNvPr id="8" name="Shape 5"/>
          <p:cNvSpPr/>
          <p:nvPr/>
        </p:nvSpPr>
        <p:spPr>
          <a:xfrm>
            <a:off x="566928" y="3520440"/>
            <a:ext cx="5349240" cy="2240280"/>
          </a:xfrm>
          <a:prstGeom prst="rect">
            <a:avLst/>
          </a:prstGeom>
          <a:solidFill>
            <a:srgbClr val="FFFFFF"/>
          </a:solidFill>
          <a:ln w="9525">
            <a:solidFill>
              <a:srgbClr val="CDCECB"/>
            </a:solidFill>
            <a:prstDash val="solid"/>
          </a:ln>
        </p:spPr>
      </p:sp>
      <p:sp>
        <p:nvSpPr>
          <p:cNvPr id="9" name="Text 6"/>
          <p:cNvSpPr/>
          <p:nvPr/>
        </p:nvSpPr>
        <p:spPr>
          <a:xfrm>
            <a:off x="749808" y="3648456"/>
            <a:ext cx="4983480" cy="256032"/>
          </a:xfrm>
          <a:prstGeom prst="rect">
            <a:avLst/>
          </a:prstGeom>
          <a:noFill/>
          <a:ln/>
        </p:spPr>
        <p:txBody>
          <a:bodyPr wrap="square" lIns="0" tIns="0" rIns="0" bIns="0" rtlCol="0" anchor="t"/>
          <a:lstStyle/>
          <a:p>
            <a:pPr algn="l" indent="0" marL="0">
              <a:lnSpc>
                <a:spcPct val="124000"/>
              </a:lnSpc>
              <a:buNone/>
            </a:pPr>
            <a:r>
              <a:rPr lang="en-US" sz="1250" b="1" dirty="0">
                <a:solidFill>
                  <a:srgbClr val="C62828"/>
                </a:solidFill>
                <a:latin typeface="Spoqa Han Sans Neo" pitchFamily="34" charset="0"/>
                <a:ea typeface="Spoqa Han Sans Neo" pitchFamily="34" charset="-122"/>
                <a:cs typeface="Spoqa Han Sans Neo" pitchFamily="34" charset="-120"/>
              </a:rPr>
              <a:t>추계신고의 실제 비용</a:t>
            </a:r>
            <a:endParaRPr lang="en-US" sz="1250" dirty="0"/>
          </a:p>
        </p:txBody>
      </p:sp>
      <p:sp>
        <p:nvSpPr>
          <p:cNvPr id="10" name="Text 7"/>
          <p:cNvSpPr/>
          <p:nvPr/>
        </p:nvSpPr>
        <p:spPr>
          <a:xfrm>
            <a:off x="749808" y="3977640"/>
            <a:ext cx="4983480" cy="169164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무기장가산세: 산출세액의 20%(복식부기 의무자)</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기준경비율 적용 시 인정 경비가 급감해 소득금액이 과대 계상</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결손금 이월공제(15년) 불가 — 손실을 미래 세금과 상계할 수 없음</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금융기관 신용평가 · 정책자금 심사에서 불리</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성실신고확인 대상자 미확인 시 산출세액의 5% 가산세</a:t>
            </a:r>
            <a:endParaRPr lang="en-US" sz="1040" dirty="0"/>
          </a:p>
        </p:txBody>
      </p:sp>
      <p:sp>
        <p:nvSpPr>
          <p:cNvPr id="11" name="Shape 8"/>
          <p:cNvSpPr/>
          <p:nvPr/>
        </p:nvSpPr>
        <p:spPr>
          <a:xfrm>
            <a:off x="6236208" y="3520440"/>
            <a:ext cx="5388559" cy="2240280"/>
          </a:xfrm>
          <a:prstGeom prst="rect">
            <a:avLst/>
          </a:prstGeom>
          <a:solidFill>
            <a:srgbClr val="FFFFFF"/>
          </a:solidFill>
          <a:ln w="9525">
            <a:solidFill>
              <a:srgbClr val="CDCECB"/>
            </a:solidFill>
            <a:prstDash val="solid"/>
          </a:ln>
        </p:spPr>
      </p:sp>
      <p:sp>
        <p:nvSpPr>
          <p:cNvPr id="12" name="Text 9"/>
          <p:cNvSpPr/>
          <p:nvPr/>
        </p:nvSpPr>
        <p:spPr>
          <a:xfrm>
            <a:off x="6419088" y="3648456"/>
            <a:ext cx="5022799" cy="256032"/>
          </a:xfrm>
          <a:prstGeom prst="rect">
            <a:avLst/>
          </a:prstGeom>
          <a:noFill/>
          <a:ln/>
        </p:spPr>
        <p:txBody>
          <a:bodyPr wrap="square" lIns="0" tIns="0" rIns="0" bIns="0" rtlCol="0" anchor="t"/>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경비 인정을 지키는 증빙 관리</a:t>
            </a:r>
            <a:endParaRPr lang="en-US" sz="1250" dirty="0"/>
          </a:p>
        </p:txBody>
      </p:sp>
      <p:sp>
        <p:nvSpPr>
          <p:cNvPr id="13" name="Text 10"/>
          <p:cNvSpPr/>
          <p:nvPr/>
        </p:nvSpPr>
        <p:spPr>
          <a:xfrm>
            <a:off x="6419088" y="3977640"/>
            <a:ext cx="5022799" cy="169164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적격증빙(세금계산서 · 계산서 · 신용카드 · 현금영수증) 원칙</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3만원 초과 지출 적격증빙 미수취 시 금액의 2% 가산세</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접대비 · 차량유지비 · 통신비는 업무 관련성 소명자료 병행</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업무용승용차: 운행기록 미작성 시 연 1,500만원까지만 인정</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성실신고확인비용은 60% 세액공제(연 120만원 한도)</a:t>
            </a:r>
            <a:endParaRPr lang="en-US" sz="1040" dirty="0"/>
          </a:p>
        </p:txBody>
      </p:sp>
      <p:sp>
        <p:nvSpPr>
          <p:cNvPr id="14" name="Text 11"/>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5" name="Text 12"/>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  근로 · 사업소득</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사업자가 먼저 확인할 절세 카드 4장</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공제 · 감면은 신청주의 — 몰라서 놓치면 돌려받지 못한다</a:t>
            </a:r>
            <a:endParaRPr lang="en-US" sz="1250" dirty="0"/>
          </a:p>
        </p:txBody>
      </p:sp>
      <p:sp>
        <p:nvSpPr>
          <p:cNvPr id="6" name="Shape 4"/>
          <p:cNvSpPr/>
          <p:nvPr/>
        </p:nvSpPr>
        <p:spPr>
          <a:xfrm>
            <a:off x="566928" y="1600200"/>
            <a:ext cx="5358384" cy="1572768"/>
          </a:xfrm>
          <a:prstGeom prst="rect">
            <a:avLst/>
          </a:prstGeom>
          <a:solidFill>
            <a:srgbClr val="FFFFFF"/>
          </a:solidFill>
          <a:ln w="9525">
            <a:solidFill>
              <a:srgbClr val="CDCECB"/>
            </a:solidFill>
            <a:prstDash val="solid"/>
          </a:ln>
        </p:spPr>
      </p:sp>
      <p:sp>
        <p:nvSpPr>
          <p:cNvPr id="7" name="Shape 5"/>
          <p:cNvSpPr/>
          <p:nvPr/>
        </p:nvSpPr>
        <p:spPr>
          <a:xfrm>
            <a:off x="749808" y="1783080"/>
            <a:ext cx="384048" cy="384048"/>
          </a:xfrm>
          <a:prstGeom prst="ellipse">
            <a:avLst/>
          </a:prstGeom>
          <a:solidFill>
            <a:srgbClr val="F58220"/>
          </a:solidFill>
          <a:ln/>
        </p:spPr>
      </p:sp>
      <p:sp>
        <p:nvSpPr>
          <p:cNvPr id="8" name="Text 6"/>
          <p:cNvSpPr/>
          <p:nvPr/>
        </p:nvSpPr>
        <p:spPr>
          <a:xfrm>
            <a:off x="749808" y="17830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1</a:t>
            </a:r>
            <a:endParaRPr lang="en-US" sz="1250" dirty="0"/>
          </a:p>
        </p:txBody>
      </p:sp>
      <p:sp>
        <p:nvSpPr>
          <p:cNvPr id="9" name="Text 7"/>
          <p:cNvSpPr/>
          <p:nvPr/>
        </p:nvSpPr>
        <p:spPr>
          <a:xfrm>
            <a:off x="1280160" y="1764792"/>
            <a:ext cx="4462272" cy="256032"/>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노란우산공제</a:t>
            </a:r>
            <a:endParaRPr lang="en-US" sz="1300" dirty="0"/>
          </a:p>
        </p:txBody>
      </p:sp>
      <p:sp>
        <p:nvSpPr>
          <p:cNvPr id="10" name="Text 8"/>
          <p:cNvSpPr/>
          <p:nvPr/>
        </p:nvSpPr>
        <p:spPr>
          <a:xfrm>
            <a:off x="1280160" y="2020824"/>
            <a:ext cx="4462272" cy="1005840"/>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소기업 · 소상공인 공제부금은 사업소득금액 구간별로 소득공제된다. 4,000만원 이하 500만원, 4,000만원~1억원 300만원, 1억원 초과 200만원. 폐업 시 공제금은 압류가 제한되어 사업 실패에 대한 안전망 기능도 한다.</a:t>
            </a:r>
            <a:endParaRPr lang="en-US" sz="1040" dirty="0"/>
          </a:p>
        </p:txBody>
      </p:sp>
      <p:sp>
        <p:nvSpPr>
          <p:cNvPr id="11" name="Shape 9"/>
          <p:cNvSpPr/>
          <p:nvPr/>
        </p:nvSpPr>
        <p:spPr>
          <a:xfrm>
            <a:off x="6254496" y="1600200"/>
            <a:ext cx="5358384" cy="1572768"/>
          </a:xfrm>
          <a:prstGeom prst="rect">
            <a:avLst/>
          </a:prstGeom>
          <a:solidFill>
            <a:srgbClr val="FFFFFF"/>
          </a:solidFill>
          <a:ln w="9525">
            <a:solidFill>
              <a:srgbClr val="CDCECB"/>
            </a:solidFill>
            <a:prstDash val="solid"/>
          </a:ln>
        </p:spPr>
      </p:sp>
      <p:sp>
        <p:nvSpPr>
          <p:cNvPr id="12" name="Shape 10"/>
          <p:cNvSpPr/>
          <p:nvPr/>
        </p:nvSpPr>
        <p:spPr>
          <a:xfrm>
            <a:off x="6437376" y="1783080"/>
            <a:ext cx="384048" cy="384048"/>
          </a:xfrm>
          <a:prstGeom prst="ellipse">
            <a:avLst/>
          </a:prstGeom>
          <a:solidFill>
            <a:srgbClr val="F58220"/>
          </a:solidFill>
          <a:ln/>
        </p:spPr>
      </p:sp>
      <p:sp>
        <p:nvSpPr>
          <p:cNvPr id="13" name="Text 11"/>
          <p:cNvSpPr/>
          <p:nvPr/>
        </p:nvSpPr>
        <p:spPr>
          <a:xfrm>
            <a:off x="6437376" y="17830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2</a:t>
            </a:r>
            <a:endParaRPr lang="en-US" sz="1250" dirty="0"/>
          </a:p>
        </p:txBody>
      </p:sp>
      <p:sp>
        <p:nvSpPr>
          <p:cNvPr id="14" name="Text 12"/>
          <p:cNvSpPr/>
          <p:nvPr/>
        </p:nvSpPr>
        <p:spPr>
          <a:xfrm>
            <a:off x="6967728" y="1764792"/>
            <a:ext cx="4462272" cy="256032"/>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연금계좌 900만원</a:t>
            </a:r>
            <a:endParaRPr lang="en-US" sz="1300" dirty="0"/>
          </a:p>
        </p:txBody>
      </p:sp>
      <p:sp>
        <p:nvSpPr>
          <p:cNvPr id="15" name="Text 13"/>
          <p:cNvSpPr/>
          <p:nvPr/>
        </p:nvSpPr>
        <p:spPr>
          <a:xfrm>
            <a:off x="6967728" y="2020824"/>
            <a:ext cx="4462272" cy="1005840"/>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사업자도 연금저축 600만원 + IRP 포함 900만원까지 세액공제를 받는다. 종합소득금액 4,500만원 이하는 16.5%, 초과는 13.2%. 노란우산공제와 중복 적용이 가능해 두 카드를 함께 쓰는 것이 기본이다.</a:t>
            </a:r>
            <a:endParaRPr lang="en-US" sz="1040" dirty="0"/>
          </a:p>
        </p:txBody>
      </p:sp>
      <p:sp>
        <p:nvSpPr>
          <p:cNvPr id="16" name="Shape 14"/>
          <p:cNvSpPr/>
          <p:nvPr/>
        </p:nvSpPr>
        <p:spPr>
          <a:xfrm>
            <a:off x="566928" y="3392424"/>
            <a:ext cx="5358384" cy="1572768"/>
          </a:xfrm>
          <a:prstGeom prst="rect">
            <a:avLst/>
          </a:prstGeom>
          <a:solidFill>
            <a:srgbClr val="FFFFFF"/>
          </a:solidFill>
          <a:ln w="9525">
            <a:solidFill>
              <a:srgbClr val="CDCECB"/>
            </a:solidFill>
            <a:prstDash val="solid"/>
          </a:ln>
        </p:spPr>
      </p:sp>
      <p:sp>
        <p:nvSpPr>
          <p:cNvPr id="17" name="Shape 15"/>
          <p:cNvSpPr/>
          <p:nvPr/>
        </p:nvSpPr>
        <p:spPr>
          <a:xfrm>
            <a:off x="749808" y="3575304"/>
            <a:ext cx="384048" cy="384048"/>
          </a:xfrm>
          <a:prstGeom prst="ellipse">
            <a:avLst/>
          </a:prstGeom>
          <a:solidFill>
            <a:srgbClr val="F58220"/>
          </a:solidFill>
          <a:ln/>
        </p:spPr>
      </p:sp>
      <p:sp>
        <p:nvSpPr>
          <p:cNvPr id="18" name="Text 16"/>
          <p:cNvSpPr/>
          <p:nvPr/>
        </p:nvSpPr>
        <p:spPr>
          <a:xfrm>
            <a:off x="749808" y="357530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3</a:t>
            </a:r>
            <a:endParaRPr lang="en-US" sz="1250" dirty="0"/>
          </a:p>
        </p:txBody>
      </p:sp>
      <p:sp>
        <p:nvSpPr>
          <p:cNvPr id="19" name="Text 17"/>
          <p:cNvSpPr/>
          <p:nvPr/>
        </p:nvSpPr>
        <p:spPr>
          <a:xfrm>
            <a:off x="1280160" y="3557016"/>
            <a:ext cx="4462272" cy="256032"/>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창업중소기업 세액감면</a:t>
            </a:r>
            <a:endParaRPr lang="en-US" sz="1300" dirty="0"/>
          </a:p>
        </p:txBody>
      </p:sp>
      <p:sp>
        <p:nvSpPr>
          <p:cNvPr id="20" name="Text 18"/>
          <p:cNvSpPr/>
          <p:nvPr/>
        </p:nvSpPr>
        <p:spPr>
          <a:xfrm>
            <a:off x="1280160" y="3813048"/>
            <a:ext cx="4462272" cy="1005840"/>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창업 후 최초 소득 발생 연도부터 5년간 소득세 · 법인세를 50% 감면하며, 청년창업 또는 수도권 과밀억제권역 외 창업은 100% 감면된다. 2026년 개정으로 비청년 창업기업의 감면 적용 범위가 확대되었다.</a:t>
            </a:r>
            <a:endParaRPr lang="en-US" sz="1040" dirty="0"/>
          </a:p>
        </p:txBody>
      </p:sp>
      <p:sp>
        <p:nvSpPr>
          <p:cNvPr id="21" name="Shape 19"/>
          <p:cNvSpPr/>
          <p:nvPr/>
        </p:nvSpPr>
        <p:spPr>
          <a:xfrm>
            <a:off x="6254496" y="3392424"/>
            <a:ext cx="5358384" cy="1572768"/>
          </a:xfrm>
          <a:prstGeom prst="rect">
            <a:avLst/>
          </a:prstGeom>
          <a:solidFill>
            <a:srgbClr val="FFFFFF"/>
          </a:solidFill>
          <a:ln w="9525">
            <a:solidFill>
              <a:srgbClr val="CDCECB"/>
            </a:solidFill>
            <a:prstDash val="solid"/>
          </a:ln>
        </p:spPr>
      </p:sp>
      <p:sp>
        <p:nvSpPr>
          <p:cNvPr id="22" name="Shape 20"/>
          <p:cNvSpPr/>
          <p:nvPr/>
        </p:nvSpPr>
        <p:spPr>
          <a:xfrm>
            <a:off x="6437376" y="3575304"/>
            <a:ext cx="384048" cy="384048"/>
          </a:xfrm>
          <a:prstGeom prst="ellipse">
            <a:avLst/>
          </a:prstGeom>
          <a:solidFill>
            <a:srgbClr val="F58220"/>
          </a:solidFill>
          <a:ln/>
        </p:spPr>
      </p:sp>
      <p:sp>
        <p:nvSpPr>
          <p:cNvPr id="23" name="Text 21"/>
          <p:cNvSpPr/>
          <p:nvPr/>
        </p:nvSpPr>
        <p:spPr>
          <a:xfrm>
            <a:off x="6437376" y="357530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4</a:t>
            </a:r>
            <a:endParaRPr lang="en-US" sz="1250" dirty="0"/>
          </a:p>
        </p:txBody>
      </p:sp>
      <p:sp>
        <p:nvSpPr>
          <p:cNvPr id="24" name="Text 22"/>
          <p:cNvSpPr/>
          <p:nvPr/>
        </p:nvSpPr>
        <p:spPr>
          <a:xfrm>
            <a:off x="6967728" y="3557016"/>
            <a:ext cx="4462272" cy="256032"/>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고용 · 투자 세액공제</a:t>
            </a:r>
            <a:endParaRPr lang="en-US" sz="1300" dirty="0"/>
          </a:p>
        </p:txBody>
      </p:sp>
      <p:sp>
        <p:nvSpPr>
          <p:cNvPr id="25" name="Text 23"/>
          <p:cNvSpPr/>
          <p:nvPr/>
        </p:nvSpPr>
        <p:spPr>
          <a:xfrm>
            <a:off x="6967728" y="3813048"/>
            <a:ext cx="4462272" cy="1005840"/>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통합고용세액공제는 2026년부터 사후관리(상시근로자 감소 시 추징)가 폐지되어 활용 부담이 줄었다. 중소기업 특별세액감면 · 통합투자세액공제 · R&amp;D 세액공제도 업종과 규모에 따라 병행 검토한다.</a:t>
            </a:r>
            <a:endParaRPr lang="en-US" sz="1040" dirty="0"/>
          </a:p>
        </p:txBody>
      </p:sp>
      <p:sp>
        <p:nvSpPr>
          <p:cNvPr id="26" name="Shape 24"/>
          <p:cNvSpPr/>
          <p:nvPr/>
        </p:nvSpPr>
        <p:spPr>
          <a:xfrm>
            <a:off x="566928" y="5120640"/>
            <a:ext cx="11057839" cy="868680"/>
          </a:xfrm>
          <a:prstGeom prst="rect">
            <a:avLst/>
          </a:prstGeom>
          <a:solidFill>
            <a:srgbClr val="F58220"/>
          </a:solidFill>
          <a:ln/>
        </p:spPr>
      </p:sp>
      <p:sp>
        <p:nvSpPr>
          <p:cNvPr id="27" name="Text 25"/>
          <p:cNvSpPr/>
          <p:nvPr/>
        </p:nvSpPr>
        <p:spPr>
          <a:xfrm>
            <a:off x="786384" y="5230368"/>
            <a:ext cx="10618927" cy="256032"/>
          </a:xfrm>
          <a:prstGeom prst="rect">
            <a:avLst/>
          </a:prstGeom>
          <a:noFill/>
          <a:ln/>
        </p:spPr>
        <p:txBody>
          <a:bodyPr wrap="square" lIns="0" tIns="0" rIns="0" bIns="0" rtlCol="0" anchor="ctr"/>
          <a:lstStyle/>
          <a:p>
            <a:pP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중복 적용 제한과 최저한세를 반드시 함께 확인한다</a:t>
            </a:r>
            <a:endParaRPr lang="en-US" sz="1250" dirty="0"/>
          </a:p>
        </p:txBody>
      </p:sp>
      <p:sp>
        <p:nvSpPr>
          <p:cNvPr id="28" name="Text 26"/>
          <p:cNvSpPr/>
          <p:nvPr/>
        </p:nvSpPr>
        <p:spPr>
          <a:xfrm>
            <a:off x="786384" y="5486400"/>
            <a:ext cx="10618927" cy="411480"/>
          </a:xfrm>
          <a:prstGeom prst="rect">
            <a:avLst/>
          </a:prstGeom>
          <a:noFill/>
          <a:ln/>
        </p:spPr>
        <p:txBody>
          <a:bodyPr wrap="square" lIns="0" tIns="0" rIns="0" bIns="0" rtlCol="0" anchor="t"/>
          <a:lstStyle/>
          <a:p>
            <a:pPr indent="0" marL="0">
              <a:lnSpc>
                <a:spcPct val="120000"/>
              </a:lnSpc>
              <a:buNone/>
            </a:pPr>
            <a:r>
              <a:rPr lang="en-US" sz="1080" dirty="0">
                <a:solidFill>
                  <a:srgbClr val="FFFFFF"/>
                </a:solidFill>
                <a:latin typeface="Spoqa Han Sans Neo" pitchFamily="34" charset="0"/>
                <a:ea typeface="Spoqa Han Sans Neo" pitchFamily="34" charset="-122"/>
                <a:cs typeface="Spoqa Han Sans Neo" pitchFamily="34" charset="-120"/>
              </a:rPr>
              <a:t>세액감면과 세액공제는 동일 사업연도에 중복 적용이 배제되는 조합이 있고, 감면 후 세액이 최저한세(개인 사업소득 35% 수준, 중소기업 7%)에 미달하면 그만큼 감면이 되돌려진다. 감면액이 큰 사업자일수록 사전 시뮬레이션이 필요하다.</a:t>
            </a:r>
            <a:endParaRPr lang="en-US" sz="1080" dirty="0"/>
          </a:p>
        </p:txBody>
      </p:sp>
      <p:sp>
        <p:nvSpPr>
          <p:cNvPr id="29" name="Text 27"/>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0" name="Text 28"/>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  근로 · 사업소득</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개인사업자 vs 법인 — 세율만 보면 오판한다</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지방소득세 포함 실효세율 비교 (2026년 기준)</a:t>
            </a:r>
            <a:endParaRPr lang="en-US" sz="1250" dirty="0"/>
          </a:p>
        </p:txBody>
      </p:sp>
      <p:graphicFrame>
        <p:nvGraphicFramePr>
          <p:cNvPr id="6" name="Chart 0" descr=""/>
          <p:cNvGraphicFramePr/>
          <p:nvPr/>
        </p:nvGraphicFramePr>
        <p:xfrm>
          <a:off x="566928" y="1664208"/>
          <a:ext cx="612648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6928" y="4919472"/>
            <a:ext cx="612648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지방소득세 10% 포함. 개인은 8단계 누진, 법인은 4단계 누진이므로 과세표준이 커질수록 격차가 벌어진다.</a:t>
            </a:r>
            <a:endParaRPr lang="en-US" sz="900" dirty="0"/>
          </a:p>
        </p:txBody>
      </p:sp>
      <p:sp>
        <p:nvSpPr>
          <p:cNvPr id="8" name="Text 5"/>
          <p:cNvSpPr/>
          <p:nvPr/>
        </p:nvSpPr>
        <p:spPr>
          <a:xfrm>
            <a:off x="6949440" y="1664208"/>
            <a:ext cx="4675327" cy="274320"/>
          </a:xfrm>
          <a:prstGeom prst="rect">
            <a:avLst/>
          </a:prstGeom>
          <a:noFill/>
          <a:ln/>
        </p:spPr>
        <p:txBody>
          <a:bodyPr wrap="square" lIns="0" tIns="0" rIns="0" bIns="0" rtlCol="0" anchor="t"/>
          <a:lstStyle/>
          <a:p>
            <a:pPr algn="l" indent="0" marL="0">
              <a:lnSpc>
                <a:spcPct val="124000"/>
              </a:lnSpc>
              <a:buNone/>
            </a:pPr>
            <a:r>
              <a:rPr lang="en-US" sz="1250" b="1" dirty="0">
                <a:solidFill>
                  <a:srgbClr val="C62828"/>
                </a:solidFill>
                <a:latin typeface="Spoqa Han Sans Neo" pitchFamily="34" charset="0"/>
                <a:ea typeface="Spoqa Han Sans Neo" pitchFamily="34" charset="-122"/>
                <a:cs typeface="Spoqa Han Sans Neo" pitchFamily="34" charset="-120"/>
              </a:rPr>
              <a:t>그런데도 법인이 항상 유리하지 않은 이유</a:t>
            </a:r>
            <a:endParaRPr lang="en-US" sz="1250" dirty="0"/>
          </a:p>
        </p:txBody>
      </p:sp>
      <p:sp>
        <p:nvSpPr>
          <p:cNvPr id="9" name="Text 6"/>
          <p:cNvSpPr/>
          <p:nvPr/>
        </p:nvSpPr>
        <p:spPr>
          <a:xfrm>
            <a:off x="6949440" y="2048256"/>
            <a:ext cx="4675327" cy="182880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2차 과세: 법인 이익을 개인이 쓰려면 급여(종합과세) 또는 배당(15.4%~)을 거쳐야 한다</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급여에는 4대보험 사업자·근로자 부담이 추가된다</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부동산임대 등 소규모법인은 특례세율이 배제되어 2억원 이하도 20%</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법인 부동산 취득 시 취득세 중과 및 종부세 부담 구조가 다르다</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설립 · 기장 · 결산 · 청산에 따르는 고정 비용과 절차 부담</a:t>
            </a:r>
            <a:endParaRPr lang="en-US" sz="1050" dirty="0"/>
          </a:p>
        </p:txBody>
      </p:sp>
      <p:sp>
        <p:nvSpPr>
          <p:cNvPr id="10" name="Shape 7"/>
          <p:cNvSpPr/>
          <p:nvPr/>
        </p:nvSpPr>
        <p:spPr>
          <a:xfrm>
            <a:off x="6949440" y="3968496"/>
            <a:ext cx="4675327" cy="1783080"/>
          </a:xfrm>
          <a:prstGeom prst="rect">
            <a:avLst/>
          </a:prstGeom>
          <a:solidFill>
            <a:srgbClr val="FFFFFF"/>
          </a:solidFill>
          <a:ln w="9525">
            <a:solidFill>
              <a:srgbClr val="CDCECB"/>
            </a:solidFill>
            <a:prstDash val="solid"/>
          </a:ln>
        </p:spPr>
      </p:sp>
      <p:sp>
        <p:nvSpPr>
          <p:cNvPr id="11" name="Text 8"/>
          <p:cNvSpPr/>
          <p:nvPr/>
        </p:nvSpPr>
        <p:spPr>
          <a:xfrm>
            <a:off x="7132320" y="4096512"/>
            <a:ext cx="4309567" cy="256032"/>
          </a:xfrm>
          <a:prstGeom prst="rect">
            <a:avLst/>
          </a:prstGeom>
          <a:noFill/>
          <a:ln/>
        </p:spPr>
        <p:txBody>
          <a:bodyPr wrap="square" lIns="0" tIns="0" rIns="0" bIns="0" rtlCol="0" anchor="t"/>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전환을 검토할 신호</a:t>
            </a:r>
            <a:endParaRPr lang="en-US" sz="1250" dirty="0"/>
          </a:p>
        </p:txBody>
      </p:sp>
      <p:sp>
        <p:nvSpPr>
          <p:cNvPr id="12" name="Text 9"/>
          <p:cNvSpPr/>
          <p:nvPr/>
        </p:nvSpPr>
        <p:spPr>
          <a:xfrm>
            <a:off x="7132320" y="4425696"/>
            <a:ext cx="4309567" cy="123444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과세표준이 지속적으로 1.5억원(한계세율 35%)을 넘는다</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이익 중 상당 부분을 재투자하고 생활비로 인출하지 않는다</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가족 등 소득을 분산할 임원 · 주주 구조를 설계할 수 있다</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거래처가 법인 사업자를 요구하거나 대외 신용이 필요하다</a:t>
            </a:r>
            <a:endParaRPr lang="en-US" sz="1040" dirty="0"/>
          </a:p>
        </p:txBody>
      </p:sp>
      <p:sp>
        <p:nvSpPr>
          <p:cNvPr id="13" name="Text 10"/>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4" name="Text 11"/>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III  상속 · 증여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상속세와 증여세, 같은 세율 다른 계산</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세율표는 하나지만 과세 단위와 신고 기한이 다르다</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468880"/>
                <a:gridCol w="1005840"/>
                <a:gridCol w="1737360"/>
              </a:tblGrid>
              <a:tr h="347472">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과세표준</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세율</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누진공제</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47472">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1억원 이하</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47472">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1억원 ~ 5억원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1,000만원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47472">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5억원 ~ 10억원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30%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6,000만원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47472">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10억원 ~ 30억원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40%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80" dirty="0">
                          <a:solidFill>
                            <a:srgbClr val="3D3D3D"/>
                          </a:solidFill>
                          <a:latin typeface="Spoqa Han Sans Neo" pitchFamily="34" charset="0"/>
                          <a:ea typeface="Spoqa Han Sans Neo" pitchFamily="34" charset="-122"/>
                          <a:cs typeface="Spoqa Han Sans Neo" pitchFamily="34" charset="-120"/>
                        </a:rPr>
                        <a:t>1억 6,000만원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47472">
                <a:tc>
                  <a:txBody>
                    <a:bodyPr/>
                    <a:lstStyle/>
                    <a:p>
                      <a:pPr algn="l" indent="0" marL="0">
                        <a:buNone/>
                      </a:pPr>
                      <a:r>
                        <a:rPr lang="en-US" sz="1080" b="1" dirty="0">
                          <a:solidFill>
                            <a:srgbClr val="3D3D3D"/>
                          </a:solidFill>
                          <a:latin typeface="Spoqa Han Sans Neo" pitchFamily="34" charset="0"/>
                          <a:ea typeface="Spoqa Han Sans Neo" pitchFamily="34" charset="-122"/>
                          <a:cs typeface="Spoqa Han Sans Neo" pitchFamily="34" charset="-120"/>
                        </a:rPr>
                        <a:t>30억원 초과</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50%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4억 6,000만원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7" name="Text 4"/>
          <p:cNvSpPr/>
          <p:nvPr/>
        </p:nvSpPr>
        <p:spPr>
          <a:xfrm>
            <a:off x="566928" y="3803904"/>
            <a:ext cx="530352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세대를 건너뛴 상속 · 증여는 산출세액의 30% 할증(미성년자가 20억원 초과 취득 시 40%).</a:t>
            </a:r>
            <a:endParaRPr lang="en-US" sz="900" dirty="0"/>
          </a:p>
        </p:txBody>
      </p:sp>
      <p:sp>
        <p:nvSpPr>
          <p:cNvPr id="8" name="Shape 5"/>
          <p:cNvSpPr/>
          <p:nvPr/>
        </p:nvSpPr>
        <p:spPr>
          <a:xfrm>
            <a:off x="5806440" y="1645920"/>
            <a:ext cx="5818327" cy="1965960"/>
          </a:xfrm>
          <a:prstGeom prst="rect">
            <a:avLst/>
          </a:prstGeom>
          <a:solidFill>
            <a:srgbClr val="FFFFFF"/>
          </a:solidFill>
          <a:ln w="9525">
            <a:solidFill>
              <a:srgbClr val="CDCECB"/>
            </a:solidFill>
            <a:prstDash val="solid"/>
          </a:ln>
        </p:spPr>
      </p:sp>
      <p:sp>
        <p:nvSpPr>
          <p:cNvPr id="9" name="Shape 6"/>
          <p:cNvSpPr/>
          <p:nvPr/>
        </p:nvSpPr>
        <p:spPr>
          <a:xfrm>
            <a:off x="5806440" y="1645920"/>
            <a:ext cx="50292" cy="1965960"/>
          </a:xfrm>
          <a:prstGeom prst="rect">
            <a:avLst/>
          </a:prstGeom>
          <a:solidFill>
            <a:srgbClr val="F58220"/>
          </a:solidFill>
          <a:ln/>
        </p:spPr>
      </p:sp>
      <p:sp>
        <p:nvSpPr>
          <p:cNvPr id="10" name="Text 7"/>
          <p:cNvSpPr/>
          <p:nvPr/>
        </p:nvSpPr>
        <p:spPr>
          <a:xfrm>
            <a:off x="6025896" y="1773936"/>
            <a:ext cx="5379415" cy="274320"/>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상속세 — 유산세 방식</a:t>
            </a:r>
            <a:endParaRPr lang="en-US" sz="1300" dirty="0"/>
          </a:p>
        </p:txBody>
      </p:sp>
      <p:sp>
        <p:nvSpPr>
          <p:cNvPr id="11" name="Text 8"/>
          <p:cNvSpPr/>
          <p:nvPr/>
        </p:nvSpPr>
        <p:spPr>
          <a:xfrm>
            <a:off x="6025896" y="2103120"/>
            <a:ext cx="5379415" cy="137160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피상속인이 남긴 재산 총액에 누진세율 적용</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상속인 수가 늘어도 세액은 줄지 않음</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신고기한: 상속개시일이 속하는 달의 말일부터 6개월(비거주자 9개월)</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상속인 간 연대납세의무</a:t>
            </a:r>
            <a:endParaRPr lang="en-US" sz="1050" dirty="0"/>
          </a:p>
        </p:txBody>
      </p:sp>
      <p:sp>
        <p:nvSpPr>
          <p:cNvPr id="12" name="Shape 9"/>
          <p:cNvSpPr/>
          <p:nvPr/>
        </p:nvSpPr>
        <p:spPr>
          <a:xfrm>
            <a:off x="5806440" y="3749040"/>
            <a:ext cx="5818327" cy="1965960"/>
          </a:xfrm>
          <a:prstGeom prst="rect">
            <a:avLst/>
          </a:prstGeom>
          <a:solidFill>
            <a:srgbClr val="FFFFFF"/>
          </a:solidFill>
          <a:ln w="9525">
            <a:solidFill>
              <a:srgbClr val="CDCECB"/>
            </a:solidFill>
            <a:prstDash val="solid"/>
          </a:ln>
        </p:spPr>
      </p:sp>
      <p:sp>
        <p:nvSpPr>
          <p:cNvPr id="13" name="Shape 10"/>
          <p:cNvSpPr/>
          <p:nvPr/>
        </p:nvSpPr>
        <p:spPr>
          <a:xfrm>
            <a:off x="5806440" y="3749040"/>
            <a:ext cx="50292" cy="1965960"/>
          </a:xfrm>
          <a:prstGeom prst="rect">
            <a:avLst/>
          </a:prstGeom>
          <a:solidFill>
            <a:srgbClr val="043B72"/>
          </a:solidFill>
          <a:ln/>
        </p:spPr>
      </p:sp>
      <p:sp>
        <p:nvSpPr>
          <p:cNvPr id="14" name="Text 11"/>
          <p:cNvSpPr/>
          <p:nvPr/>
        </p:nvSpPr>
        <p:spPr>
          <a:xfrm>
            <a:off x="6025896" y="3877056"/>
            <a:ext cx="5379415" cy="274320"/>
          </a:xfrm>
          <a:prstGeom prst="rect">
            <a:avLst/>
          </a:prstGeom>
          <a:noFill/>
          <a:ln/>
        </p:spPr>
        <p:txBody>
          <a:bodyPr wrap="square" lIns="0" tIns="0" rIns="0" bIns="0" rtlCol="0" anchor="t"/>
          <a:lstStyle/>
          <a:p>
            <a:pPr algn="l" indent="0" marL="0">
              <a:lnSpc>
                <a:spcPct val="124000"/>
              </a:lnSpc>
              <a:buNone/>
            </a:pPr>
            <a:r>
              <a:rPr lang="en-US" sz="1300" b="1" dirty="0">
                <a:solidFill>
                  <a:srgbClr val="1A1A1A"/>
                </a:solidFill>
                <a:latin typeface="Spoqa Han Sans Neo" pitchFamily="34" charset="0"/>
                <a:ea typeface="Spoqa Han Sans Neo" pitchFamily="34" charset="-122"/>
                <a:cs typeface="Spoqa Han Sans Neo" pitchFamily="34" charset="-120"/>
              </a:rPr>
              <a:t>증여세 — 수증자별 과세</a:t>
            </a:r>
            <a:endParaRPr lang="en-US" sz="1300" dirty="0"/>
          </a:p>
        </p:txBody>
      </p:sp>
      <p:sp>
        <p:nvSpPr>
          <p:cNvPr id="15" name="Text 12"/>
          <p:cNvSpPr/>
          <p:nvPr/>
        </p:nvSpPr>
        <p:spPr>
          <a:xfrm>
            <a:off x="6025896" y="4206240"/>
            <a:ext cx="5379415" cy="137160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증여를 받은 사람 기준으로 각각 계산</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동일인(배우자 포함)으로부터 10년 내 증여는 합산</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신고기한: 증여일이 속하는 달의 말일부터 3개월</a:t>
            </a:r>
            <a:endParaRPr lang="en-US" sz="1050" dirty="0"/>
          </a:p>
          <a:p>
            <a:pPr marL="342900" indent="-342900">
              <a:lnSpc>
                <a:spcPct val="120000"/>
              </a:lnSpc>
              <a:spcAft>
                <a:spcPts val="5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상속개시 전 10년(상속인) · 5년(그 외) 증여는 상속재산에 가산</a:t>
            </a:r>
            <a:endParaRPr lang="en-US" sz="1050" dirty="0"/>
          </a:p>
        </p:txBody>
      </p:sp>
      <p:sp>
        <p:nvSpPr>
          <p:cNvPr id="16" name="Shape 13"/>
          <p:cNvSpPr/>
          <p:nvPr/>
        </p:nvSpPr>
        <p:spPr>
          <a:xfrm>
            <a:off x="566928" y="4297680"/>
            <a:ext cx="5303520" cy="1463040"/>
          </a:xfrm>
          <a:prstGeom prst="rect">
            <a:avLst/>
          </a:prstGeom>
          <a:solidFill>
            <a:srgbClr val="ECEFF4"/>
          </a:solidFill>
          <a:ln/>
        </p:spPr>
      </p:sp>
      <p:sp>
        <p:nvSpPr>
          <p:cNvPr id="17" name="Text 14"/>
          <p:cNvSpPr/>
          <p:nvPr/>
        </p:nvSpPr>
        <p:spPr>
          <a:xfrm>
            <a:off x="749808" y="4389120"/>
            <a:ext cx="4937760" cy="23774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공통 사항</a:t>
            </a:r>
            <a:endParaRPr lang="en-US" sz="1100" dirty="0"/>
          </a:p>
        </p:txBody>
      </p:sp>
      <p:sp>
        <p:nvSpPr>
          <p:cNvPr id="18" name="Text 15"/>
          <p:cNvSpPr/>
          <p:nvPr/>
        </p:nvSpPr>
        <p:spPr>
          <a:xfrm>
            <a:off x="749808" y="4626864"/>
            <a:ext cx="4937760" cy="1042416"/>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신고기한 내 신고하면 산출세액의 3%를 신고세액공제로 차감한다. 세액이 2,000만원을 초과하면 연부연납을 신청할 수 있다(상속세 최대 10년·가업상속 20년, 증여세 최대 5년). 부동산 등의 물납은 상속세만 가능하며 증여세 물납은 2016년 폐지되었다. 무신고 시 가산세 20%와 함께 공제 혜택도 사라진다.</a:t>
            </a:r>
            <a:endParaRPr lang="en-US" sz="1060" dirty="0"/>
          </a:p>
        </p:txBody>
      </p:sp>
      <p:sp>
        <p:nvSpPr>
          <p:cNvPr id="19" name="Text 16"/>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0" name="Text 17"/>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III  상속 · 증여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상속공제 — 세금을 결정하는 실제 변수</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세율보다 공제 설계가 세액 차이를 만든다</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286000"/>
                <a:gridCol w="2011680"/>
                <a:gridCol w="6757416"/>
              </a:tblGrid>
              <a:tr h="329184">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공제 항목</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한도</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핵심 요건</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29184">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기초공제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90" dirty="0">
                          <a:solidFill>
                            <a:srgbClr val="3D3D3D"/>
                          </a:solidFill>
                          <a:latin typeface="Spoqa Han Sans Neo" pitchFamily="34" charset="0"/>
                          <a:ea typeface="Spoqa Han Sans Neo" pitchFamily="34" charset="-122"/>
                          <a:cs typeface="Spoqa Han Sans Neo" pitchFamily="34" charset="-120"/>
                        </a:rPr>
                        <a:t>2억원</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무조건 적용</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그 밖의 인적공제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90" dirty="0">
                          <a:solidFill>
                            <a:srgbClr val="3D3D3D"/>
                          </a:solidFill>
                          <a:latin typeface="Spoqa Han Sans Neo" pitchFamily="34" charset="0"/>
                          <a:ea typeface="Spoqa Han Sans Neo" pitchFamily="34" charset="-122"/>
                          <a:cs typeface="Spoqa Han Sans Neo" pitchFamily="34" charset="-120"/>
                        </a:rPr>
                        <a:t>자녀 1인 5,000만원 등</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미성년 1,000만원×19세까지 연수, 연로자 5,000만원, 장애인 1,000만원×기대여명</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990" b="1" dirty="0">
                          <a:solidFill>
                            <a:srgbClr val="3D3D3D"/>
                          </a:solidFill>
                          <a:latin typeface="Spoqa Han Sans Neo" pitchFamily="34" charset="0"/>
                          <a:ea typeface="Spoqa Han Sans Neo" pitchFamily="34" charset="-122"/>
                          <a:cs typeface="Spoqa Han Sans Neo" pitchFamily="34" charset="-120"/>
                        </a:rPr>
                        <a:t>일괄공제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990" b="1" dirty="0">
                          <a:solidFill>
                            <a:srgbClr val="3D3D3D"/>
                          </a:solidFill>
                          <a:latin typeface="Spoqa Han Sans Neo" pitchFamily="34" charset="0"/>
                          <a:ea typeface="Spoqa Han Sans Neo" pitchFamily="34" charset="-122"/>
                          <a:cs typeface="Spoqa Han Sans Neo" pitchFamily="34" charset="-120"/>
                        </a:rPr>
                        <a:t>5억원</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990" b="1" dirty="0">
                          <a:solidFill>
                            <a:srgbClr val="3D3D3D"/>
                          </a:solidFill>
                          <a:latin typeface="Spoqa Han Sans Neo" pitchFamily="34" charset="0"/>
                          <a:ea typeface="Spoqa Han Sans Neo" pitchFamily="34" charset="-122"/>
                          <a:cs typeface="Spoqa Han Sans Neo" pitchFamily="34" charset="-120"/>
                        </a:rPr>
                        <a:t>기초+인적공제 합계와 비교해 큰 금액 선택 (배우자 단독상속 시 적용 배제)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r h="329184">
                <a:tc>
                  <a:txBody>
                    <a:bodyPr/>
                    <a:lstStyle/>
                    <a:p>
                      <a:pPr algn="l" indent="0" marL="0">
                        <a:buNone/>
                      </a:pPr>
                      <a:r>
                        <a:rPr lang="en-US" sz="990" b="1" dirty="0">
                          <a:solidFill>
                            <a:srgbClr val="3D3D3D"/>
                          </a:solidFill>
                          <a:latin typeface="Spoqa Han Sans Neo" pitchFamily="34" charset="0"/>
                          <a:ea typeface="Spoqa Han Sans Neo" pitchFamily="34" charset="-122"/>
                          <a:cs typeface="Spoqa Han Sans Neo" pitchFamily="34" charset="-120"/>
                        </a:rPr>
                        <a:t>배우자 상속공제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990" b="1" dirty="0">
                          <a:solidFill>
                            <a:srgbClr val="3D3D3D"/>
                          </a:solidFill>
                          <a:latin typeface="Spoqa Han Sans Neo" pitchFamily="34" charset="0"/>
                          <a:ea typeface="Spoqa Han Sans Neo" pitchFamily="34" charset="-122"/>
                          <a:cs typeface="Spoqa Han Sans Neo" pitchFamily="34" charset="-120"/>
                        </a:rPr>
                        <a:t>5억 ~ 30억원</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990" b="1" dirty="0">
                          <a:solidFill>
                            <a:srgbClr val="3D3D3D"/>
                          </a:solidFill>
                          <a:latin typeface="Spoqa Han Sans Neo" pitchFamily="34" charset="0"/>
                          <a:ea typeface="Spoqa Han Sans Neo" pitchFamily="34" charset="-122"/>
                          <a:cs typeface="Spoqa Han Sans Neo" pitchFamily="34" charset="-120"/>
                        </a:rPr>
                        <a:t>실제 상속액 기준. 상속받지 않아도 최소 5억원. 법정상속지분이 한도</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r h="329184">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금융재산 상속공제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90" dirty="0">
                          <a:solidFill>
                            <a:srgbClr val="3D3D3D"/>
                          </a:solidFill>
                          <a:latin typeface="Spoqa Han Sans Neo" pitchFamily="34" charset="0"/>
                          <a:ea typeface="Spoqa Han Sans Neo" pitchFamily="34" charset="-122"/>
                          <a:cs typeface="Spoqa Han Sans Neo" pitchFamily="34" charset="-120"/>
                        </a:rPr>
                        <a:t>최대 2억원</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순금융재산(금융재산−금융채무)의 20%</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동거주택 상속공제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90" dirty="0">
                          <a:solidFill>
                            <a:srgbClr val="3D3D3D"/>
                          </a:solidFill>
                          <a:latin typeface="Spoqa Han Sans Neo" pitchFamily="34" charset="0"/>
                          <a:ea typeface="Spoqa Han Sans Neo" pitchFamily="34" charset="-122"/>
                          <a:cs typeface="Spoqa Han Sans Neo" pitchFamily="34" charset="-120"/>
                        </a:rPr>
                        <a:t>최대 6억원</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10년 이상 동거 · 1세대 1주택 · 무주택 상속인</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가업상속공제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90" dirty="0">
                          <a:solidFill>
                            <a:srgbClr val="3D3D3D"/>
                          </a:solidFill>
                          <a:latin typeface="Spoqa Han Sans Neo" pitchFamily="34" charset="0"/>
                          <a:ea typeface="Spoqa Han Sans Neo" pitchFamily="34" charset="-122"/>
                          <a:cs typeface="Spoqa Han Sans Neo" pitchFamily="34" charset="-120"/>
                        </a:rPr>
                        <a:t>최대 600억원</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경영기간 10년↑ 300억, 20년↑ 400억, 30년↑ 600억</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영농상속공제</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990" dirty="0">
                          <a:solidFill>
                            <a:srgbClr val="3D3D3D"/>
                          </a:solidFill>
                          <a:latin typeface="Spoqa Han Sans Neo" pitchFamily="34" charset="0"/>
                          <a:ea typeface="Spoqa Han Sans Neo" pitchFamily="34" charset="-122"/>
                          <a:cs typeface="Spoqa Han Sans Neo" pitchFamily="34" charset="-120"/>
                        </a:rPr>
                        <a:t>최대 30억원</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990" dirty="0">
                          <a:solidFill>
                            <a:srgbClr val="3D3D3D"/>
                          </a:solidFill>
                          <a:latin typeface="Spoqa Han Sans Neo" pitchFamily="34" charset="0"/>
                          <a:ea typeface="Spoqa Han Sans Neo" pitchFamily="34" charset="-122"/>
                          <a:cs typeface="Spoqa Han Sans Neo" pitchFamily="34" charset="-120"/>
                        </a:rPr>
                        <a:t>피상속인 · 상속인 모두 영농 종사 요건</a:t>
                      </a:r>
                      <a:endParaRPr lang="en-US" sz="99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956048"/>
            <a:ext cx="11057839" cy="1133856"/>
          </a:xfrm>
          <a:prstGeom prst="rect">
            <a:avLst/>
          </a:prstGeom>
          <a:solidFill>
            <a:srgbClr val="ECEFF4"/>
          </a:solidFill>
          <a:ln/>
        </p:spPr>
      </p:sp>
      <p:sp>
        <p:nvSpPr>
          <p:cNvPr id="8" name="Text 5"/>
          <p:cNvSpPr/>
          <p:nvPr/>
        </p:nvSpPr>
        <p:spPr>
          <a:xfrm>
            <a:off x="749808" y="5047488"/>
            <a:ext cx="10692079" cy="237744"/>
          </a:xfrm>
          <a:prstGeom prst="rect">
            <a:avLst/>
          </a:prstGeom>
          <a:noFill/>
          <a:ln/>
        </p:spPr>
        <p:txBody>
          <a:bodyPr wrap="square" lIns="0" tIns="0" rIns="0" bIns="0" rtlCol="0" anchor="ctr"/>
          <a:lstStyle/>
          <a:p>
            <a:pPr indent="0" marL="0">
              <a:buNone/>
            </a:pPr>
            <a:r>
              <a:rPr lang="en-US" sz="1100" b="1" dirty="0">
                <a:solidFill>
                  <a:srgbClr val="C62828"/>
                </a:solidFill>
                <a:latin typeface="Spoqa Han Sans Neo" pitchFamily="34" charset="0"/>
                <a:ea typeface="Spoqa Han Sans Neo" pitchFamily="34" charset="-122"/>
                <a:cs typeface="Spoqa Han Sans Neo" pitchFamily="34" charset="-120"/>
              </a:rPr>
              <a:t>놓치기 쉬운 두 가지</a:t>
            </a:r>
            <a:endParaRPr lang="en-US" sz="1100" dirty="0"/>
          </a:p>
        </p:txBody>
      </p:sp>
      <p:sp>
        <p:nvSpPr>
          <p:cNvPr id="9" name="Text 6"/>
          <p:cNvSpPr/>
          <p:nvPr/>
        </p:nvSpPr>
        <p:spPr>
          <a:xfrm>
            <a:off x="749808" y="5285232"/>
            <a:ext cx="10692079" cy="713232"/>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첫째, 공제에는 총액 한도가 있다(상속세및증여세법 제24조). 사전증여 재산이나 상속포기로 후순위 상속인이 받은 재산이 있으면 공제 가능액이 줄어 사전증여 효과가 상쇄될 수 있다.</a:t>
            </a:r>
            <a:endParaRPr lang="en-US" sz="1060" dirty="0"/>
          </a:p>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둘째, 배우자 상속공제는 상속세 신고기한 다음 날부터 9개월(배우자상속재산분할기한) 이내에 실제 재산 분할(등기 · 명의개서)을 완료해야 인정된다. 협의가 늦어져 공제를 놓치는 사례가 실무에서 가장 많다.</a:t>
            </a:r>
            <a:endParaRPr lang="en-US" sz="1060" dirty="0"/>
          </a:p>
        </p:txBody>
      </p:sp>
      <p:sp>
        <p:nvSpPr>
          <p:cNvPr id="10" name="Text 7"/>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1" name="Text 8"/>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III  상속 · 증여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사례 — 상속재산 30억원, 세금은 얼마인가</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배우자 + 자녀 2인 / 부동산 20억 · 금융자산 10억 가정</a:t>
            </a:r>
            <a:endParaRPr lang="en-US" sz="1250" dirty="0"/>
          </a:p>
        </p:txBody>
      </p:sp>
      <p:sp>
        <p:nvSpPr>
          <p:cNvPr id="6" name="Shape 4"/>
          <p:cNvSpPr/>
          <p:nvPr/>
        </p:nvSpPr>
        <p:spPr>
          <a:xfrm>
            <a:off x="566928" y="1627632"/>
            <a:ext cx="6492240" cy="438912"/>
          </a:xfrm>
          <a:prstGeom prst="rect">
            <a:avLst/>
          </a:prstGeom>
          <a:solidFill>
            <a:srgbClr val="FFFFFF"/>
          </a:solidFill>
          <a:ln w="9525">
            <a:solidFill>
              <a:srgbClr val="CDCECB"/>
            </a:solidFill>
            <a:prstDash val="solid"/>
          </a:ln>
        </p:spPr>
      </p:sp>
      <p:sp>
        <p:nvSpPr>
          <p:cNvPr id="7" name="Text 5"/>
          <p:cNvSpPr/>
          <p:nvPr/>
        </p:nvSpPr>
        <p:spPr>
          <a:xfrm>
            <a:off x="731520" y="1627632"/>
            <a:ext cx="3108960" cy="438912"/>
          </a:xfrm>
          <a:prstGeom prst="rect">
            <a:avLst/>
          </a:prstGeom>
          <a:noFill/>
          <a:ln/>
        </p:spPr>
        <p:txBody>
          <a:bodyPr wrap="square" lIns="0" tIns="0" rIns="0" bIns="0" rtlCol="0" anchor="ctr"/>
          <a:lstStyle/>
          <a:p>
            <a:pPr algn="l" indent="0" marL="0">
              <a:lnSpc>
                <a:spcPct val="124000"/>
              </a:lnSpc>
              <a:buNone/>
            </a:pPr>
            <a:r>
              <a:rPr lang="en-US" sz="1100" dirty="0">
                <a:solidFill>
                  <a:srgbClr val="1A1A1A"/>
                </a:solidFill>
                <a:latin typeface="Spoqa Han Sans Neo" pitchFamily="34" charset="0"/>
                <a:ea typeface="Spoqa Han Sans Neo" pitchFamily="34" charset="-122"/>
                <a:cs typeface="Spoqa Han Sans Neo" pitchFamily="34" charset="-120"/>
              </a:rPr>
              <a:t>상속재산 총액</a:t>
            </a:r>
            <a:endParaRPr lang="en-US" sz="1100" dirty="0"/>
          </a:p>
        </p:txBody>
      </p:sp>
      <p:sp>
        <p:nvSpPr>
          <p:cNvPr id="8" name="Text 6"/>
          <p:cNvSpPr/>
          <p:nvPr/>
        </p:nvSpPr>
        <p:spPr>
          <a:xfrm>
            <a:off x="3858768" y="1627632"/>
            <a:ext cx="1691640" cy="438912"/>
          </a:xfrm>
          <a:prstGeom prst="rect">
            <a:avLst/>
          </a:prstGeom>
          <a:noFill/>
          <a:ln/>
        </p:spPr>
        <p:txBody>
          <a:bodyPr wrap="square" lIns="0" tIns="0" rIns="0" bIns="0" rtlCol="0" anchor="ctr"/>
          <a:lstStyle/>
          <a:p>
            <a:pPr algn="r" indent="0" marL="0">
              <a:lnSpc>
                <a:spcPct val="124000"/>
              </a:lnSpc>
              <a:buNone/>
            </a:pPr>
            <a:r>
              <a:rPr lang="en-US" sz="1150" b="1" dirty="0">
                <a:solidFill>
                  <a:srgbClr val="F58220"/>
                </a:solidFill>
                <a:latin typeface="Spoqa Han Sans Neo" pitchFamily="34" charset="0"/>
                <a:ea typeface="Spoqa Han Sans Neo" pitchFamily="34" charset="-122"/>
                <a:cs typeface="Spoqa Han Sans Neo" pitchFamily="34" charset="-120"/>
              </a:rPr>
              <a:t>30억원</a:t>
            </a:r>
            <a:endParaRPr lang="en-US" sz="1150" dirty="0"/>
          </a:p>
        </p:txBody>
      </p:sp>
      <p:sp>
        <p:nvSpPr>
          <p:cNvPr id="9" name="Text 7"/>
          <p:cNvSpPr/>
          <p:nvPr/>
        </p:nvSpPr>
        <p:spPr>
          <a:xfrm>
            <a:off x="5687568" y="1627632"/>
            <a:ext cx="1207008" cy="438912"/>
          </a:xfrm>
          <a:prstGeom prst="rect">
            <a:avLst/>
          </a:prstGeom>
          <a:noFill/>
          <a:ln/>
        </p:spPr>
        <p:txBody>
          <a:bodyPr wrap="square" lIns="0" tIns="0" rIns="0" bIns="0" rtlCol="0" anchor="ctr"/>
          <a:lstStyle/>
          <a:p>
            <a:pPr algn="l" indent="0" marL="0">
              <a:lnSpc>
                <a:spcPct val="105000"/>
              </a:lnSpc>
              <a:buNone/>
            </a:pPr>
            <a:r>
              <a:rPr lang="en-US" sz="930" dirty="0">
                <a:solidFill>
                  <a:srgbClr val="6C6C6C"/>
                </a:solidFill>
                <a:latin typeface="Spoqa Han Sans Neo" pitchFamily="34" charset="0"/>
                <a:ea typeface="Spoqa Han Sans Neo" pitchFamily="34" charset="-122"/>
                <a:cs typeface="Spoqa Han Sans Neo" pitchFamily="34" charset="-120"/>
              </a:rPr>
              <a:t>부동산 20억 + 순금융재산 10억</a:t>
            </a:r>
            <a:endParaRPr lang="en-US" sz="930" dirty="0"/>
          </a:p>
        </p:txBody>
      </p:sp>
      <p:sp>
        <p:nvSpPr>
          <p:cNvPr id="10" name="Shape 8"/>
          <p:cNvSpPr/>
          <p:nvPr/>
        </p:nvSpPr>
        <p:spPr>
          <a:xfrm>
            <a:off x="566928" y="2130552"/>
            <a:ext cx="6492240" cy="438912"/>
          </a:xfrm>
          <a:prstGeom prst="rect">
            <a:avLst/>
          </a:prstGeom>
          <a:solidFill>
            <a:srgbClr val="FFFFFF"/>
          </a:solidFill>
          <a:ln w="9525">
            <a:solidFill>
              <a:srgbClr val="CDCECB"/>
            </a:solidFill>
            <a:prstDash val="solid"/>
          </a:ln>
        </p:spPr>
      </p:sp>
      <p:sp>
        <p:nvSpPr>
          <p:cNvPr id="11" name="Text 9"/>
          <p:cNvSpPr/>
          <p:nvPr/>
        </p:nvSpPr>
        <p:spPr>
          <a:xfrm>
            <a:off x="731520" y="2130552"/>
            <a:ext cx="3108960" cy="438912"/>
          </a:xfrm>
          <a:prstGeom prst="rect">
            <a:avLst/>
          </a:prstGeom>
          <a:noFill/>
          <a:ln/>
        </p:spPr>
        <p:txBody>
          <a:bodyPr wrap="square" lIns="0" tIns="0" rIns="0" bIns="0" rtlCol="0" anchor="ctr"/>
          <a:lstStyle/>
          <a:p>
            <a:pPr algn="l" indent="0" marL="0">
              <a:lnSpc>
                <a:spcPct val="124000"/>
              </a:lnSpc>
              <a:buNone/>
            </a:pPr>
            <a:r>
              <a:rPr lang="en-US" sz="1100" dirty="0">
                <a:solidFill>
                  <a:srgbClr val="1A1A1A"/>
                </a:solidFill>
                <a:latin typeface="Spoqa Han Sans Neo" pitchFamily="34" charset="0"/>
                <a:ea typeface="Spoqa Han Sans Neo" pitchFamily="34" charset="-122"/>
                <a:cs typeface="Spoqa Han Sans Neo" pitchFamily="34" charset="-120"/>
              </a:rPr>
              <a:t>− 일괄공제</a:t>
            </a:r>
            <a:endParaRPr lang="en-US" sz="1100" dirty="0"/>
          </a:p>
        </p:txBody>
      </p:sp>
      <p:sp>
        <p:nvSpPr>
          <p:cNvPr id="12" name="Text 10"/>
          <p:cNvSpPr/>
          <p:nvPr/>
        </p:nvSpPr>
        <p:spPr>
          <a:xfrm>
            <a:off x="3858768" y="2130552"/>
            <a:ext cx="1691640" cy="438912"/>
          </a:xfrm>
          <a:prstGeom prst="rect">
            <a:avLst/>
          </a:prstGeom>
          <a:noFill/>
          <a:ln/>
        </p:spPr>
        <p:txBody>
          <a:bodyPr wrap="square" lIns="0" tIns="0" rIns="0" bIns="0" rtlCol="0" anchor="ctr"/>
          <a:lstStyle/>
          <a:p>
            <a:pPr algn="r" indent="0" marL="0">
              <a:lnSpc>
                <a:spcPct val="124000"/>
              </a:lnSpc>
              <a:buNone/>
            </a:pPr>
            <a:r>
              <a:rPr lang="en-US" sz="1150" b="1" dirty="0">
                <a:solidFill>
                  <a:srgbClr val="F58220"/>
                </a:solidFill>
                <a:latin typeface="Spoqa Han Sans Neo" pitchFamily="34" charset="0"/>
                <a:ea typeface="Spoqa Han Sans Neo" pitchFamily="34" charset="-122"/>
                <a:cs typeface="Spoqa Han Sans Neo" pitchFamily="34" charset="-120"/>
              </a:rPr>
              <a:t>5억원</a:t>
            </a:r>
            <a:endParaRPr lang="en-US" sz="1150" dirty="0"/>
          </a:p>
        </p:txBody>
      </p:sp>
      <p:sp>
        <p:nvSpPr>
          <p:cNvPr id="13" name="Text 11"/>
          <p:cNvSpPr/>
          <p:nvPr/>
        </p:nvSpPr>
        <p:spPr>
          <a:xfrm>
            <a:off x="5687568" y="2130552"/>
            <a:ext cx="1207008" cy="438912"/>
          </a:xfrm>
          <a:prstGeom prst="rect">
            <a:avLst/>
          </a:prstGeom>
          <a:noFill/>
          <a:ln/>
        </p:spPr>
        <p:txBody>
          <a:bodyPr wrap="square" lIns="0" tIns="0" rIns="0" bIns="0" rtlCol="0" anchor="ctr"/>
          <a:lstStyle/>
          <a:p>
            <a:pPr algn="l" indent="0" marL="0">
              <a:lnSpc>
                <a:spcPct val="105000"/>
              </a:lnSpc>
              <a:buNone/>
            </a:pPr>
            <a:r>
              <a:rPr lang="en-US" sz="930" dirty="0">
                <a:solidFill>
                  <a:srgbClr val="6C6C6C"/>
                </a:solidFill>
                <a:latin typeface="Spoqa Han Sans Neo" pitchFamily="34" charset="0"/>
                <a:ea typeface="Spoqa Han Sans Neo" pitchFamily="34" charset="-122"/>
                <a:cs typeface="Spoqa Han Sans Neo" pitchFamily="34" charset="-120"/>
              </a:rPr>
              <a:t>기초 2억 + 인적공제보다 유리해 선택</a:t>
            </a:r>
            <a:endParaRPr lang="en-US" sz="930" dirty="0"/>
          </a:p>
        </p:txBody>
      </p:sp>
      <p:sp>
        <p:nvSpPr>
          <p:cNvPr id="14" name="Shape 12"/>
          <p:cNvSpPr/>
          <p:nvPr/>
        </p:nvSpPr>
        <p:spPr>
          <a:xfrm>
            <a:off x="566928" y="2633472"/>
            <a:ext cx="6492240" cy="438912"/>
          </a:xfrm>
          <a:prstGeom prst="rect">
            <a:avLst/>
          </a:prstGeom>
          <a:solidFill>
            <a:srgbClr val="FFFFFF"/>
          </a:solidFill>
          <a:ln w="9525">
            <a:solidFill>
              <a:srgbClr val="CDCECB"/>
            </a:solidFill>
            <a:prstDash val="solid"/>
          </a:ln>
        </p:spPr>
      </p:sp>
      <p:sp>
        <p:nvSpPr>
          <p:cNvPr id="15" name="Text 13"/>
          <p:cNvSpPr/>
          <p:nvPr/>
        </p:nvSpPr>
        <p:spPr>
          <a:xfrm>
            <a:off x="731520" y="2633472"/>
            <a:ext cx="3108960" cy="438912"/>
          </a:xfrm>
          <a:prstGeom prst="rect">
            <a:avLst/>
          </a:prstGeom>
          <a:noFill/>
          <a:ln/>
        </p:spPr>
        <p:txBody>
          <a:bodyPr wrap="square" lIns="0" tIns="0" rIns="0" bIns="0" rtlCol="0" anchor="ctr"/>
          <a:lstStyle/>
          <a:p>
            <a:pPr algn="l" indent="0" marL="0">
              <a:lnSpc>
                <a:spcPct val="124000"/>
              </a:lnSpc>
              <a:buNone/>
            </a:pPr>
            <a:r>
              <a:rPr lang="en-US" sz="1100" dirty="0">
                <a:solidFill>
                  <a:srgbClr val="1A1A1A"/>
                </a:solidFill>
                <a:latin typeface="Spoqa Han Sans Neo" pitchFamily="34" charset="0"/>
                <a:ea typeface="Spoqa Han Sans Neo" pitchFamily="34" charset="-122"/>
                <a:cs typeface="Spoqa Han Sans Neo" pitchFamily="34" charset="-120"/>
              </a:rPr>
              <a:t>− 배우자 상속공제</a:t>
            </a:r>
            <a:endParaRPr lang="en-US" sz="1100" dirty="0"/>
          </a:p>
        </p:txBody>
      </p:sp>
      <p:sp>
        <p:nvSpPr>
          <p:cNvPr id="16" name="Text 14"/>
          <p:cNvSpPr/>
          <p:nvPr/>
        </p:nvSpPr>
        <p:spPr>
          <a:xfrm>
            <a:off x="3858768" y="2633472"/>
            <a:ext cx="1691640" cy="438912"/>
          </a:xfrm>
          <a:prstGeom prst="rect">
            <a:avLst/>
          </a:prstGeom>
          <a:noFill/>
          <a:ln/>
        </p:spPr>
        <p:txBody>
          <a:bodyPr wrap="square" lIns="0" tIns="0" rIns="0" bIns="0" rtlCol="0" anchor="ctr"/>
          <a:lstStyle/>
          <a:p>
            <a:pPr algn="r" indent="0" marL="0">
              <a:lnSpc>
                <a:spcPct val="124000"/>
              </a:lnSpc>
              <a:buNone/>
            </a:pPr>
            <a:r>
              <a:rPr lang="en-US" sz="1150" b="1" dirty="0">
                <a:solidFill>
                  <a:srgbClr val="F58220"/>
                </a:solidFill>
                <a:latin typeface="Spoqa Han Sans Neo" pitchFamily="34" charset="0"/>
                <a:ea typeface="Spoqa Han Sans Neo" pitchFamily="34" charset="-122"/>
                <a:cs typeface="Spoqa Han Sans Neo" pitchFamily="34" charset="-120"/>
              </a:rPr>
              <a:t>12억 8,571만원</a:t>
            </a:r>
            <a:endParaRPr lang="en-US" sz="1150" dirty="0"/>
          </a:p>
        </p:txBody>
      </p:sp>
      <p:sp>
        <p:nvSpPr>
          <p:cNvPr id="17" name="Text 15"/>
          <p:cNvSpPr/>
          <p:nvPr/>
        </p:nvSpPr>
        <p:spPr>
          <a:xfrm>
            <a:off x="5687568" y="2633472"/>
            <a:ext cx="1207008" cy="438912"/>
          </a:xfrm>
          <a:prstGeom prst="rect">
            <a:avLst/>
          </a:prstGeom>
          <a:noFill/>
          <a:ln/>
        </p:spPr>
        <p:txBody>
          <a:bodyPr wrap="square" lIns="0" tIns="0" rIns="0" bIns="0" rtlCol="0" anchor="ctr"/>
          <a:lstStyle/>
          <a:p>
            <a:pPr algn="l" indent="0" marL="0">
              <a:lnSpc>
                <a:spcPct val="105000"/>
              </a:lnSpc>
              <a:buNone/>
            </a:pPr>
            <a:r>
              <a:rPr lang="en-US" sz="930" dirty="0">
                <a:solidFill>
                  <a:srgbClr val="6C6C6C"/>
                </a:solidFill>
                <a:latin typeface="Spoqa Han Sans Neo" pitchFamily="34" charset="0"/>
                <a:ea typeface="Spoqa Han Sans Neo" pitchFamily="34" charset="-122"/>
                <a:cs typeface="Spoqa Han Sans Neo" pitchFamily="34" charset="-120"/>
              </a:rPr>
              <a:t>법정상속지분 3/7을 실제 상속한 경우</a:t>
            </a:r>
            <a:endParaRPr lang="en-US" sz="930" dirty="0"/>
          </a:p>
        </p:txBody>
      </p:sp>
      <p:sp>
        <p:nvSpPr>
          <p:cNvPr id="18" name="Shape 16"/>
          <p:cNvSpPr/>
          <p:nvPr/>
        </p:nvSpPr>
        <p:spPr>
          <a:xfrm>
            <a:off x="566928" y="3136392"/>
            <a:ext cx="6492240" cy="438912"/>
          </a:xfrm>
          <a:prstGeom prst="rect">
            <a:avLst/>
          </a:prstGeom>
          <a:solidFill>
            <a:srgbClr val="FFFFFF"/>
          </a:solidFill>
          <a:ln w="9525">
            <a:solidFill>
              <a:srgbClr val="CDCECB"/>
            </a:solidFill>
            <a:prstDash val="solid"/>
          </a:ln>
        </p:spPr>
      </p:sp>
      <p:sp>
        <p:nvSpPr>
          <p:cNvPr id="19" name="Text 17"/>
          <p:cNvSpPr/>
          <p:nvPr/>
        </p:nvSpPr>
        <p:spPr>
          <a:xfrm>
            <a:off x="731520" y="3136392"/>
            <a:ext cx="3108960" cy="438912"/>
          </a:xfrm>
          <a:prstGeom prst="rect">
            <a:avLst/>
          </a:prstGeom>
          <a:noFill/>
          <a:ln/>
        </p:spPr>
        <p:txBody>
          <a:bodyPr wrap="square" lIns="0" tIns="0" rIns="0" bIns="0" rtlCol="0" anchor="ctr"/>
          <a:lstStyle/>
          <a:p>
            <a:pPr algn="l" indent="0" marL="0">
              <a:lnSpc>
                <a:spcPct val="124000"/>
              </a:lnSpc>
              <a:buNone/>
            </a:pPr>
            <a:r>
              <a:rPr lang="en-US" sz="1100" dirty="0">
                <a:solidFill>
                  <a:srgbClr val="1A1A1A"/>
                </a:solidFill>
                <a:latin typeface="Spoqa Han Sans Neo" pitchFamily="34" charset="0"/>
                <a:ea typeface="Spoqa Han Sans Neo" pitchFamily="34" charset="-122"/>
                <a:cs typeface="Spoqa Han Sans Neo" pitchFamily="34" charset="-120"/>
              </a:rPr>
              <a:t>− 금융재산 상속공제</a:t>
            </a:r>
            <a:endParaRPr lang="en-US" sz="1100" dirty="0"/>
          </a:p>
        </p:txBody>
      </p:sp>
      <p:sp>
        <p:nvSpPr>
          <p:cNvPr id="20" name="Text 18"/>
          <p:cNvSpPr/>
          <p:nvPr/>
        </p:nvSpPr>
        <p:spPr>
          <a:xfrm>
            <a:off x="3858768" y="3136392"/>
            <a:ext cx="1691640" cy="438912"/>
          </a:xfrm>
          <a:prstGeom prst="rect">
            <a:avLst/>
          </a:prstGeom>
          <a:noFill/>
          <a:ln/>
        </p:spPr>
        <p:txBody>
          <a:bodyPr wrap="square" lIns="0" tIns="0" rIns="0" bIns="0" rtlCol="0" anchor="ctr"/>
          <a:lstStyle/>
          <a:p>
            <a:pPr algn="r" indent="0" marL="0">
              <a:lnSpc>
                <a:spcPct val="124000"/>
              </a:lnSpc>
              <a:buNone/>
            </a:pPr>
            <a:r>
              <a:rPr lang="en-US" sz="1150" b="1" dirty="0">
                <a:solidFill>
                  <a:srgbClr val="F58220"/>
                </a:solidFill>
                <a:latin typeface="Spoqa Han Sans Neo" pitchFamily="34" charset="0"/>
                <a:ea typeface="Spoqa Han Sans Neo" pitchFamily="34" charset="-122"/>
                <a:cs typeface="Spoqa Han Sans Neo" pitchFamily="34" charset="-120"/>
              </a:rPr>
              <a:t>2억원</a:t>
            </a:r>
            <a:endParaRPr lang="en-US" sz="1150" dirty="0"/>
          </a:p>
        </p:txBody>
      </p:sp>
      <p:sp>
        <p:nvSpPr>
          <p:cNvPr id="21" name="Text 19"/>
          <p:cNvSpPr/>
          <p:nvPr/>
        </p:nvSpPr>
        <p:spPr>
          <a:xfrm>
            <a:off x="5687568" y="3136392"/>
            <a:ext cx="1207008" cy="438912"/>
          </a:xfrm>
          <a:prstGeom prst="rect">
            <a:avLst/>
          </a:prstGeom>
          <a:noFill/>
          <a:ln/>
        </p:spPr>
        <p:txBody>
          <a:bodyPr wrap="square" lIns="0" tIns="0" rIns="0" bIns="0" rtlCol="0" anchor="ctr"/>
          <a:lstStyle/>
          <a:p>
            <a:pPr algn="l" indent="0" marL="0">
              <a:lnSpc>
                <a:spcPct val="105000"/>
              </a:lnSpc>
              <a:buNone/>
            </a:pPr>
            <a:r>
              <a:rPr lang="en-US" sz="930" dirty="0">
                <a:solidFill>
                  <a:srgbClr val="6C6C6C"/>
                </a:solidFill>
                <a:latin typeface="Spoqa Han Sans Neo" pitchFamily="34" charset="0"/>
                <a:ea typeface="Spoqa Han Sans Neo" pitchFamily="34" charset="-122"/>
                <a:cs typeface="Spoqa Han Sans Neo" pitchFamily="34" charset="-120"/>
              </a:rPr>
              <a:t>순금융재산 10억 × 20% (한도 2억)</a:t>
            </a:r>
            <a:endParaRPr lang="en-US" sz="930" dirty="0"/>
          </a:p>
        </p:txBody>
      </p:sp>
      <p:sp>
        <p:nvSpPr>
          <p:cNvPr id="22" name="Shape 20"/>
          <p:cNvSpPr/>
          <p:nvPr/>
        </p:nvSpPr>
        <p:spPr>
          <a:xfrm>
            <a:off x="566928" y="3639312"/>
            <a:ext cx="6492240" cy="438912"/>
          </a:xfrm>
          <a:prstGeom prst="rect">
            <a:avLst/>
          </a:prstGeom>
          <a:solidFill>
            <a:srgbClr val="FFFFFF"/>
          </a:solidFill>
          <a:ln w="9525">
            <a:solidFill>
              <a:srgbClr val="CDCECB"/>
            </a:solidFill>
            <a:prstDash val="solid"/>
          </a:ln>
        </p:spPr>
      </p:sp>
      <p:sp>
        <p:nvSpPr>
          <p:cNvPr id="23" name="Text 21"/>
          <p:cNvSpPr/>
          <p:nvPr/>
        </p:nvSpPr>
        <p:spPr>
          <a:xfrm>
            <a:off x="731520" y="3639312"/>
            <a:ext cx="3108960" cy="438912"/>
          </a:xfrm>
          <a:prstGeom prst="rect">
            <a:avLst/>
          </a:prstGeom>
          <a:noFill/>
          <a:ln/>
        </p:spPr>
        <p:txBody>
          <a:bodyPr wrap="square" lIns="0" tIns="0" rIns="0" bIns="0" rtlCol="0" anchor="ctr"/>
          <a:lstStyle/>
          <a:p>
            <a:pPr algn="l" indent="0" marL="0">
              <a:lnSpc>
                <a:spcPct val="124000"/>
              </a:lnSpc>
              <a:buNone/>
            </a:pPr>
            <a:r>
              <a:rPr lang="en-US" sz="1100" b="1" dirty="0">
                <a:solidFill>
                  <a:srgbClr val="043B72"/>
                </a:solidFill>
                <a:latin typeface="Spoqa Han Sans Neo" pitchFamily="34" charset="0"/>
                <a:ea typeface="Spoqa Han Sans Neo" pitchFamily="34" charset="-122"/>
                <a:cs typeface="Spoqa Han Sans Neo" pitchFamily="34" charset="-120"/>
              </a:rPr>
              <a:t>= 과세표준</a:t>
            </a:r>
            <a:endParaRPr lang="en-US" sz="1100" dirty="0"/>
          </a:p>
        </p:txBody>
      </p:sp>
      <p:sp>
        <p:nvSpPr>
          <p:cNvPr id="24" name="Text 22"/>
          <p:cNvSpPr/>
          <p:nvPr/>
        </p:nvSpPr>
        <p:spPr>
          <a:xfrm>
            <a:off x="3858768" y="3639312"/>
            <a:ext cx="1691640" cy="438912"/>
          </a:xfrm>
          <a:prstGeom prst="rect">
            <a:avLst/>
          </a:prstGeom>
          <a:noFill/>
          <a:ln/>
        </p:spPr>
        <p:txBody>
          <a:bodyPr wrap="square" lIns="0" tIns="0" rIns="0" bIns="0" rtlCol="0" anchor="ctr"/>
          <a:lstStyle/>
          <a:p>
            <a:pPr algn="r" indent="0" marL="0">
              <a:lnSpc>
                <a:spcPct val="124000"/>
              </a:lnSpc>
              <a:buNone/>
            </a:pPr>
            <a:r>
              <a:rPr lang="en-US" sz="1150" b="1" dirty="0">
                <a:solidFill>
                  <a:srgbClr val="043B72"/>
                </a:solidFill>
                <a:latin typeface="Spoqa Han Sans Neo" pitchFamily="34" charset="0"/>
                <a:ea typeface="Spoqa Han Sans Neo" pitchFamily="34" charset="-122"/>
                <a:cs typeface="Spoqa Han Sans Neo" pitchFamily="34" charset="-120"/>
              </a:rPr>
              <a:t>10억 1,429만원</a:t>
            </a:r>
            <a:endParaRPr lang="en-US" sz="1150" dirty="0"/>
          </a:p>
        </p:txBody>
      </p:sp>
      <p:sp>
        <p:nvSpPr>
          <p:cNvPr id="25" name="Text 23"/>
          <p:cNvSpPr/>
          <p:nvPr/>
        </p:nvSpPr>
        <p:spPr>
          <a:xfrm>
            <a:off x="5687568" y="3639312"/>
            <a:ext cx="1207008" cy="438912"/>
          </a:xfrm>
          <a:prstGeom prst="rect">
            <a:avLst/>
          </a:prstGeom>
          <a:noFill/>
          <a:ln/>
        </p:spPr>
        <p:txBody>
          <a:bodyPr wrap="square" lIns="0" tIns="0" rIns="0" bIns="0" rtlCol="0" anchor="ctr"/>
          <a:lstStyle/>
          <a:p>
            <a:pPr algn="l" indent="0" marL="0">
              <a:lnSpc>
                <a:spcPct val="105000"/>
              </a:lnSpc>
              <a:buNone/>
            </a:pPr>
            <a:r>
              <a:rPr lang="en-US" sz="930" dirty="0">
                <a:solidFill>
                  <a:srgbClr val="6C6C6C"/>
                </a:solidFill>
                <a:latin typeface="Spoqa Han Sans Neo" pitchFamily="34" charset="0"/>
                <a:ea typeface="Spoqa Han Sans Neo" pitchFamily="34" charset="-122"/>
                <a:cs typeface="Spoqa Han Sans Neo" pitchFamily="34" charset="-120"/>
              </a:rPr>
              <a:t>40% 구간 진입</a:t>
            </a:r>
            <a:endParaRPr lang="en-US" sz="930" dirty="0"/>
          </a:p>
        </p:txBody>
      </p:sp>
      <p:sp>
        <p:nvSpPr>
          <p:cNvPr id="26" name="Shape 24"/>
          <p:cNvSpPr/>
          <p:nvPr/>
        </p:nvSpPr>
        <p:spPr>
          <a:xfrm>
            <a:off x="566928" y="4142232"/>
            <a:ext cx="6492240" cy="438912"/>
          </a:xfrm>
          <a:prstGeom prst="rect">
            <a:avLst/>
          </a:prstGeom>
          <a:solidFill>
            <a:srgbClr val="FFFFFF"/>
          </a:solidFill>
          <a:ln w="9525">
            <a:solidFill>
              <a:srgbClr val="CDCECB"/>
            </a:solidFill>
            <a:prstDash val="solid"/>
          </a:ln>
        </p:spPr>
      </p:sp>
      <p:sp>
        <p:nvSpPr>
          <p:cNvPr id="27" name="Text 25"/>
          <p:cNvSpPr/>
          <p:nvPr/>
        </p:nvSpPr>
        <p:spPr>
          <a:xfrm>
            <a:off x="731520" y="4142232"/>
            <a:ext cx="3108960" cy="438912"/>
          </a:xfrm>
          <a:prstGeom prst="rect">
            <a:avLst/>
          </a:prstGeom>
          <a:noFill/>
          <a:ln/>
        </p:spPr>
        <p:txBody>
          <a:bodyPr wrap="square" lIns="0" tIns="0" rIns="0" bIns="0" rtlCol="0" anchor="ctr"/>
          <a:lstStyle/>
          <a:p>
            <a:pPr algn="l" indent="0" marL="0">
              <a:lnSpc>
                <a:spcPct val="124000"/>
              </a:lnSpc>
              <a:buNone/>
            </a:pPr>
            <a:r>
              <a:rPr lang="en-US" sz="1100" dirty="0">
                <a:solidFill>
                  <a:srgbClr val="1A1A1A"/>
                </a:solidFill>
                <a:latin typeface="Spoqa Han Sans Neo" pitchFamily="34" charset="0"/>
                <a:ea typeface="Spoqa Han Sans Neo" pitchFamily="34" charset="-122"/>
                <a:cs typeface="Spoqa Han Sans Neo" pitchFamily="34" charset="-120"/>
              </a:rPr>
              <a:t>× 세율 40% − 누진공제 1.6억</a:t>
            </a:r>
            <a:endParaRPr lang="en-US" sz="1100" dirty="0"/>
          </a:p>
        </p:txBody>
      </p:sp>
      <p:sp>
        <p:nvSpPr>
          <p:cNvPr id="28" name="Text 26"/>
          <p:cNvSpPr/>
          <p:nvPr/>
        </p:nvSpPr>
        <p:spPr>
          <a:xfrm>
            <a:off x="3858768" y="4142232"/>
            <a:ext cx="1691640" cy="438912"/>
          </a:xfrm>
          <a:prstGeom prst="rect">
            <a:avLst/>
          </a:prstGeom>
          <a:noFill/>
          <a:ln/>
        </p:spPr>
        <p:txBody>
          <a:bodyPr wrap="square" lIns="0" tIns="0" rIns="0" bIns="0" rtlCol="0" anchor="ctr"/>
          <a:lstStyle/>
          <a:p>
            <a:pPr algn="r" indent="0" marL="0">
              <a:lnSpc>
                <a:spcPct val="124000"/>
              </a:lnSpc>
              <a:buNone/>
            </a:pPr>
            <a:r>
              <a:rPr lang="en-US" sz="1150" b="1" dirty="0">
                <a:solidFill>
                  <a:srgbClr val="F58220"/>
                </a:solidFill>
                <a:latin typeface="Spoqa Han Sans Neo" pitchFamily="34" charset="0"/>
                <a:ea typeface="Spoqa Han Sans Neo" pitchFamily="34" charset="-122"/>
                <a:cs typeface="Spoqa Han Sans Neo" pitchFamily="34" charset="-120"/>
              </a:rPr>
              <a:t>2억 4,571만원</a:t>
            </a:r>
            <a:endParaRPr lang="en-US" sz="1150" dirty="0"/>
          </a:p>
        </p:txBody>
      </p:sp>
      <p:sp>
        <p:nvSpPr>
          <p:cNvPr id="29" name="Text 27"/>
          <p:cNvSpPr/>
          <p:nvPr/>
        </p:nvSpPr>
        <p:spPr>
          <a:xfrm>
            <a:off x="5687568" y="4142232"/>
            <a:ext cx="1207008" cy="438912"/>
          </a:xfrm>
          <a:prstGeom prst="rect">
            <a:avLst/>
          </a:prstGeom>
          <a:noFill/>
          <a:ln/>
        </p:spPr>
        <p:txBody>
          <a:bodyPr wrap="square" lIns="0" tIns="0" rIns="0" bIns="0" rtlCol="0" anchor="ctr"/>
          <a:lstStyle/>
          <a:p>
            <a:pPr algn="l" indent="0" marL="0">
              <a:lnSpc>
                <a:spcPct val="105000"/>
              </a:lnSpc>
              <a:buNone/>
            </a:pPr>
            <a:r>
              <a:rPr lang="en-US" sz="930" dirty="0">
                <a:solidFill>
                  <a:srgbClr val="6C6C6C"/>
                </a:solidFill>
                <a:latin typeface="Spoqa Han Sans Neo" pitchFamily="34" charset="0"/>
                <a:ea typeface="Spoqa Han Sans Neo" pitchFamily="34" charset="-122"/>
                <a:cs typeface="Spoqa Han Sans Neo" pitchFamily="34" charset="-120"/>
              </a:rPr>
              <a:t>산출세액</a:t>
            </a:r>
            <a:endParaRPr lang="en-US" sz="930" dirty="0"/>
          </a:p>
        </p:txBody>
      </p:sp>
      <p:sp>
        <p:nvSpPr>
          <p:cNvPr id="30" name="Shape 28"/>
          <p:cNvSpPr/>
          <p:nvPr/>
        </p:nvSpPr>
        <p:spPr>
          <a:xfrm>
            <a:off x="566928" y="4645152"/>
            <a:ext cx="6492240" cy="438912"/>
          </a:xfrm>
          <a:prstGeom prst="rect">
            <a:avLst/>
          </a:prstGeom>
          <a:solidFill>
            <a:srgbClr val="F7F8FA"/>
          </a:solidFill>
          <a:ln w="9525">
            <a:solidFill>
              <a:srgbClr val="CDCECB"/>
            </a:solidFill>
            <a:prstDash val="solid"/>
          </a:ln>
        </p:spPr>
      </p:sp>
      <p:sp>
        <p:nvSpPr>
          <p:cNvPr id="31" name="Text 29"/>
          <p:cNvSpPr/>
          <p:nvPr/>
        </p:nvSpPr>
        <p:spPr>
          <a:xfrm>
            <a:off x="731520" y="4645152"/>
            <a:ext cx="3108960" cy="438912"/>
          </a:xfrm>
          <a:prstGeom prst="rect">
            <a:avLst/>
          </a:prstGeom>
          <a:noFill/>
          <a:ln/>
        </p:spPr>
        <p:txBody>
          <a:bodyPr wrap="square" lIns="0" tIns="0" rIns="0" bIns="0" rtlCol="0" anchor="ctr"/>
          <a:lstStyle/>
          <a:p>
            <a:pPr algn="l" indent="0" marL="0">
              <a:lnSpc>
                <a:spcPct val="124000"/>
              </a:lnSpc>
              <a:buNone/>
            </a:pPr>
            <a:r>
              <a:rPr lang="en-US" sz="1100" dirty="0">
                <a:solidFill>
                  <a:srgbClr val="1A1A1A"/>
                </a:solidFill>
                <a:latin typeface="Spoqa Han Sans Neo" pitchFamily="34" charset="0"/>
                <a:ea typeface="Spoqa Han Sans Neo" pitchFamily="34" charset="-122"/>
                <a:cs typeface="Spoqa Han Sans Neo" pitchFamily="34" charset="-120"/>
              </a:rPr>
              <a:t>− 신고세액공제 3%</a:t>
            </a:r>
            <a:endParaRPr lang="en-US" sz="1100" dirty="0"/>
          </a:p>
        </p:txBody>
      </p:sp>
      <p:sp>
        <p:nvSpPr>
          <p:cNvPr id="32" name="Text 30"/>
          <p:cNvSpPr/>
          <p:nvPr/>
        </p:nvSpPr>
        <p:spPr>
          <a:xfrm>
            <a:off x="3858768" y="4645152"/>
            <a:ext cx="1691640" cy="438912"/>
          </a:xfrm>
          <a:prstGeom prst="rect">
            <a:avLst/>
          </a:prstGeom>
          <a:noFill/>
          <a:ln/>
        </p:spPr>
        <p:txBody>
          <a:bodyPr wrap="square" lIns="0" tIns="0" rIns="0" bIns="0" rtlCol="0" anchor="ctr"/>
          <a:lstStyle/>
          <a:p>
            <a:pPr algn="r" indent="0" marL="0">
              <a:lnSpc>
                <a:spcPct val="124000"/>
              </a:lnSpc>
              <a:buNone/>
            </a:pPr>
            <a:r>
              <a:rPr lang="en-US" sz="1150" b="1" dirty="0">
                <a:solidFill>
                  <a:srgbClr val="F58220"/>
                </a:solidFill>
                <a:latin typeface="Spoqa Han Sans Neo" pitchFamily="34" charset="0"/>
                <a:ea typeface="Spoqa Han Sans Neo" pitchFamily="34" charset="-122"/>
                <a:cs typeface="Spoqa Han Sans Neo" pitchFamily="34" charset="-120"/>
              </a:rPr>
              <a:t>737만원</a:t>
            </a:r>
            <a:endParaRPr lang="en-US" sz="1150" dirty="0"/>
          </a:p>
        </p:txBody>
      </p:sp>
      <p:sp>
        <p:nvSpPr>
          <p:cNvPr id="33" name="Text 31"/>
          <p:cNvSpPr/>
          <p:nvPr/>
        </p:nvSpPr>
        <p:spPr>
          <a:xfrm>
            <a:off x="5687568" y="4645152"/>
            <a:ext cx="1207008" cy="438912"/>
          </a:xfrm>
          <a:prstGeom prst="rect">
            <a:avLst/>
          </a:prstGeom>
          <a:noFill/>
          <a:ln/>
        </p:spPr>
        <p:txBody>
          <a:bodyPr wrap="square" lIns="0" tIns="0" rIns="0" bIns="0" rtlCol="0" anchor="ctr"/>
          <a:lstStyle/>
          <a:p>
            <a:pPr algn="l" indent="0" marL="0">
              <a:lnSpc>
                <a:spcPct val="105000"/>
              </a:lnSpc>
              <a:buNone/>
            </a:pPr>
            <a:r>
              <a:rPr lang="en-US" sz="930" dirty="0">
                <a:solidFill>
                  <a:srgbClr val="6C6C6C"/>
                </a:solidFill>
                <a:latin typeface="Spoqa Han Sans Neo" pitchFamily="34" charset="0"/>
                <a:ea typeface="Spoqa Han Sans Neo" pitchFamily="34" charset="-122"/>
                <a:cs typeface="Spoqa Han Sans Neo" pitchFamily="34" charset="-120"/>
              </a:rPr>
              <a:t>기한 내 신고 시</a:t>
            </a:r>
            <a:endParaRPr lang="en-US" sz="930" dirty="0"/>
          </a:p>
        </p:txBody>
      </p:sp>
      <p:sp>
        <p:nvSpPr>
          <p:cNvPr id="34" name="Shape 32"/>
          <p:cNvSpPr/>
          <p:nvPr/>
        </p:nvSpPr>
        <p:spPr>
          <a:xfrm>
            <a:off x="7360920" y="1627632"/>
            <a:ext cx="4263847" cy="1143000"/>
          </a:xfrm>
          <a:prstGeom prst="rect">
            <a:avLst/>
          </a:prstGeom>
          <a:solidFill>
            <a:srgbClr val="FFFFFF"/>
          </a:solidFill>
          <a:ln w="9525">
            <a:solidFill>
              <a:srgbClr val="CDCECB"/>
            </a:solidFill>
            <a:prstDash val="solid"/>
          </a:ln>
        </p:spPr>
      </p:sp>
      <p:sp>
        <p:nvSpPr>
          <p:cNvPr id="35" name="Text 33"/>
          <p:cNvSpPr/>
          <p:nvPr/>
        </p:nvSpPr>
        <p:spPr>
          <a:xfrm>
            <a:off x="7525512" y="1755648"/>
            <a:ext cx="393466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최종 납부세액</a:t>
            </a:r>
            <a:endParaRPr lang="en-US" sz="1000" dirty="0"/>
          </a:p>
        </p:txBody>
      </p:sp>
      <p:sp>
        <p:nvSpPr>
          <p:cNvPr id="36" name="Text 34"/>
          <p:cNvSpPr/>
          <p:nvPr/>
        </p:nvSpPr>
        <p:spPr>
          <a:xfrm>
            <a:off x="7525512" y="1956816"/>
            <a:ext cx="3934663" cy="438912"/>
          </a:xfrm>
          <a:prstGeom prst="rect">
            <a:avLst/>
          </a:prstGeom>
          <a:noFill/>
          <a:ln/>
        </p:spPr>
        <p:txBody>
          <a:bodyPr wrap="square" lIns="0" tIns="0" rIns="0" bIns="0" rtlCol="0" anchor="ctr"/>
          <a:lstStyle/>
          <a:p>
            <a:pPr indent="0" marL="0">
              <a:buNone/>
            </a:pPr>
            <a:r>
              <a:rPr lang="en-US" sz="2300" b="1" spc="-60" kern="0" dirty="0">
                <a:solidFill>
                  <a:srgbClr val="F58220"/>
                </a:solidFill>
                <a:latin typeface="Spoqa Han Sans Neo" pitchFamily="34" charset="0"/>
                <a:ea typeface="Spoqa Han Sans Neo" pitchFamily="34" charset="-122"/>
                <a:cs typeface="Spoqa Han Sans Neo" pitchFamily="34" charset="-120"/>
              </a:rPr>
              <a:t>약 2억 3,834만원</a:t>
            </a:r>
            <a:endParaRPr lang="en-US" sz="2300" dirty="0"/>
          </a:p>
        </p:txBody>
      </p:sp>
      <p:sp>
        <p:nvSpPr>
          <p:cNvPr id="37" name="Text 35"/>
          <p:cNvSpPr/>
          <p:nvPr/>
        </p:nvSpPr>
        <p:spPr>
          <a:xfrm>
            <a:off x="7525512" y="2414016"/>
            <a:ext cx="3934663" cy="274320"/>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실효세율 약 7.9% (상속재산 30억 기준)</a:t>
            </a:r>
            <a:endParaRPr lang="en-US" sz="1000" dirty="0"/>
          </a:p>
        </p:txBody>
      </p:sp>
      <p:sp>
        <p:nvSpPr>
          <p:cNvPr id="38" name="Text 36"/>
          <p:cNvSpPr/>
          <p:nvPr/>
        </p:nvSpPr>
        <p:spPr>
          <a:xfrm>
            <a:off x="7360920" y="2926080"/>
            <a:ext cx="4263847" cy="256032"/>
          </a:xfrm>
          <a:prstGeom prst="rect">
            <a:avLst/>
          </a:prstGeom>
          <a:noFill/>
          <a:ln/>
        </p:spPr>
        <p:txBody>
          <a:bodyPr wrap="square" lIns="0" tIns="0" rIns="0" bIns="0" rtlCol="0" anchor="t"/>
          <a:lstStyle/>
          <a:p>
            <a:pPr algn="l" indent="0" marL="0">
              <a:lnSpc>
                <a:spcPct val="124000"/>
              </a:lnSpc>
              <a:buNone/>
            </a:pPr>
            <a:r>
              <a:rPr lang="en-US" sz="1200" b="1" dirty="0">
                <a:solidFill>
                  <a:srgbClr val="C62828"/>
                </a:solidFill>
                <a:latin typeface="Spoqa Han Sans Neo" pitchFamily="34" charset="0"/>
                <a:ea typeface="Spoqa Han Sans Neo" pitchFamily="34" charset="-122"/>
                <a:cs typeface="Spoqa Han Sans Neo" pitchFamily="34" charset="-120"/>
              </a:rPr>
              <a:t>배우자 상속공제를 쓰지 않았다면</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360920" y="3246120"/>
          <a:ext cx="9144000" cy="914400"/>
        </p:xfrm>
        <a:graphic>
          <a:graphicData uri="http://schemas.openxmlformats.org/drawingml/2006/table">
            <a:tbl>
              <a:tblPr/>
              <a:tblGrid>
                <a:gridCol w="1600200"/>
                <a:gridCol w="1234440"/>
                <a:gridCol w="1371600"/>
              </a:tblGrid>
              <a:tr h="310896">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구분</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과세표준</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납부세액</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10896">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법정지분 상속</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30" dirty="0">
                          <a:solidFill>
                            <a:srgbClr val="3D3D3D"/>
                          </a:solidFill>
                          <a:latin typeface="Spoqa Han Sans Neo" pitchFamily="34" charset="0"/>
                          <a:ea typeface="Spoqa Han Sans Neo" pitchFamily="34" charset="-122"/>
                          <a:cs typeface="Spoqa Han Sans Neo" pitchFamily="34" charset="-120"/>
                        </a:rPr>
                        <a:t>10.1억</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30" dirty="0">
                          <a:solidFill>
                            <a:srgbClr val="3D3D3D"/>
                          </a:solidFill>
                          <a:latin typeface="Spoqa Han Sans Neo" pitchFamily="34" charset="0"/>
                          <a:ea typeface="Spoqa Han Sans Neo" pitchFamily="34" charset="-122"/>
                          <a:cs typeface="Spoqa Han Sans Neo" pitchFamily="34" charset="-120"/>
                        </a:rPr>
                        <a:t>2.38억</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30" b="1" dirty="0">
                          <a:solidFill>
                            <a:srgbClr val="3D3D3D"/>
                          </a:solidFill>
                          <a:latin typeface="Spoqa Han Sans Neo" pitchFamily="34" charset="0"/>
                          <a:ea typeface="Spoqa Han Sans Neo" pitchFamily="34" charset="-122"/>
                          <a:cs typeface="Spoqa Han Sans Neo" pitchFamily="34" charset="-120"/>
                        </a:rPr>
                        <a:t>배우자 상속 없음</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30" b="1" dirty="0">
                          <a:solidFill>
                            <a:srgbClr val="3D3D3D"/>
                          </a:solidFill>
                          <a:latin typeface="Spoqa Han Sans Neo" pitchFamily="34" charset="0"/>
                          <a:ea typeface="Spoqa Han Sans Neo" pitchFamily="34" charset="-122"/>
                          <a:cs typeface="Spoqa Han Sans Neo" pitchFamily="34" charset="-120"/>
                        </a:rPr>
                        <a:t>18.0억</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30" b="1" dirty="0">
                          <a:solidFill>
                            <a:srgbClr val="3D3D3D"/>
                          </a:solidFill>
                          <a:latin typeface="Spoqa Han Sans Neo" pitchFamily="34" charset="0"/>
                          <a:ea typeface="Spoqa Han Sans Neo" pitchFamily="34" charset="-122"/>
                          <a:cs typeface="Spoqa Han Sans Neo" pitchFamily="34" charset="-120"/>
                        </a:rPr>
                        <a:t>5.43억</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bl>
          </a:graphicData>
        </a:graphic>
      </p:graphicFrame>
      <p:sp>
        <p:nvSpPr>
          <p:cNvPr id="40" name="Text 37"/>
          <p:cNvSpPr/>
          <p:nvPr/>
        </p:nvSpPr>
        <p:spPr>
          <a:xfrm>
            <a:off x="7360920" y="4279392"/>
            <a:ext cx="4263847"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배우자가 상속을 받지 않아도 최소 5억원은 공제되므로, 차액 약 3억원이 배우자 상속공제 설계 효과다.</a:t>
            </a:r>
            <a:endParaRPr lang="en-US" sz="900" dirty="0"/>
          </a:p>
        </p:txBody>
      </p:sp>
      <p:sp>
        <p:nvSpPr>
          <p:cNvPr id="41" name="Shape 38"/>
          <p:cNvSpPr/>
          <p:nvPr/>
        </p:nvSpPr>
        <p:spPr>
          <a:xfrm>
            <a:off x="7360920" y="4846320"/>
            <a:ext cx="4263847" cy="1188720"/>
          </a:xfrm>
          <a:prstGeom prst="rect">
            <a:avLst/>
          </a:prstGeom>
          <a:solidFill>
            <a:srgbClr val="ECEFF4"/>
          </a:solidFill>
          <a:ln/>
        </p:spPr>
      </p:sp>
      <p:sp>
        <p:nvSpPr>
          <p:cNvPr id="42" name="Text 39"/>
          <p:cNvSpPr/>
          <p:nvPr/>
        </p:nvSpPr>
        <p:spPr>
          <a:xfrm>
            <a:off x="7543800" y="4937760"/>
            <a:ext cx="3898087" cy="23774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단, 2차 상속을 함께 본다</a:t>
            </a:r>
            <a:endParaRPr lang="en-US" sz="1100" dirty="0"/>
          </a:p>
        </p:txBody>
      </p:sp>
      <p:sp>
        <p:nvSpPr>
          <p:cNvPr id="43" name="Text 40"/>
          <p:cNvSpPr/>
          <p:nvPr/>
        </p:nvSpPr>
        <p:spPr>
          <a:xfrm>
            <a:off x="7543800" y="5175504"/>
            <a:ext cx="3898087" cy="768096"/>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배우자에게 최대한 상속하면 1차 상속세는 줄지만, 이후 배우자 사망 시 같은 재산이 다시 과세된다. 배우자의 연령 · 건강 · 본인 재산 규모를 함께 놓고 1차와 2차 상속세 합계를 최소화하는 지점을 찾아야 한다.</a:t>
            </a:r>
            <a:endParaRPr lang="en-US" sz="1060" dirty="0"/>
          </a:p>
        </p:txBody>
      </p:sp>
      <p:sp>
        <p:nvSpPr>
          <p:cNvPr id="44" name="Shape 41"/>
          <p:cNvSpPr/>
          <p:nvPr/>
        </p:nvSpPr>
        <p:spPr>
          <a:xfrm>
            <a:off x="566928" y="5285232"/>
            <a:ext cx="6492240" cy="713232"/>
          </a:xfrm>
          <a:prstGeom prst="rect">
            <a:avLst/>
          </a:prstGeom>
          <a:solidFill>
            <a:srgbClr val="F58220"/>
          </a:solidFill>
          <a:ln/>
        </p:spPr>
      </p:sp>
      <p:sp>
        <p:nvSpPr>
          <p:cNvPr id="45" name="Text 42"/>
          <p:cNvSpPr/>
          <p:nvPr/>
        </p:nvSpPr>
        <p:spPr>
          <a:xfrm>
            <a:off x="786384" y="5394960"/>
            <a:ext cx="6053328" cy="256032"/>
          </a:xfrm>
          <a:prstGeom prst="rect">
            <a:avLst/>
          </a:prstGeom>
          <a:noFill/>
          <a:ln/>
        </p:spPr>
        <p:txBody>
          <a:bodyPr wrap="square" lIns="0" tIns="0" rIns="0" bIns="0" rtlCol="0" anchor="ctr"/>
          <a:lstStyle/>
          <a:p>
            <a:pP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이 사례에 반영하지 않은 항목</a:t>
            </a:r>
            <a:endParaRPr lang="en-US" sz="1200" dirty="0"/>
          </a:p>
        </p:txBody>
      </p:sp>
      <p:sp>
        <p:nvSpPr>
          <p:cNvPr id="46" name="Text 43"/>
          <p:cNvSpPr/>
          <p:nvPr/>
        </p:nvSpPr>
        <p:spPr>
          <a:xfrm>
            <a:off x="786384" y="5650992"/>
            <a:ext cx="6053328" cy="256032"/>
          </a:xfrm>
          <a:prstGeom prst="rect">
            <a:avLst/>
          </a:prstGeom>
          <a:noFill/>
          <a:ln/>
        </p:spPr>
        <p:txBody>
          <a:bodyPr wrap="square" lIns="0" tIns="0" rIns="0" bIns="0" rtlCol="0" anchor="t"/>
          <a:lstStyle/>
          <a:p>
            <a:pPr indent="0" marL="0">
              <a:lnSpc>
                <a:spcPct val="120000"/>
              </a:lnSpc>
              <a:buNone/>
            </a:pPr>
            <a:r>
              <a:rPr lang="en-US" sz="1020" dirty="0">
                <a:solidFill>
                  <a:srgbClr val="FFFFFF"/>
                </a:solidFill>
                <a:latin typeface="Spoqa Han Sans Neo" pitchFamily="34" charset="0"/>
                <a:ea typeface="Spoqa Han Sans Neo" pitchFamily="34" charset="-122"/>
                <a:cs typeface="Spoqa Han Sans Neo" pitchFamily="34" charset="-120"/>
              </a:rPr>
              <a:t>피상속인의 채무 · 장례비 공제, 상속개시 전 10년 내 사전증여 합산, 동거주택 상속공제 등은 별도로 반영해야 한다.</a:t>
            </a:r>
            <a:endParaRPr lang="en-US" sz="1020" dirty="0"/>
          </a:p>
        </p:txBody>
      </p:sp>
      <p:sp>
        <p:nvSpPr>
          <p:cNvPr id="47" name="Text 44"/>
          <p:cNvSpPr/>
          <p:nvPr/>
        </p:nvSpPr>
        <p:spPr>
          <a:xfrm>
            <a:off x="566928" y="6089904"/>
            <a:ext cx="649224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단순 가정에 따른 예시이며 실제 세액은 재산 평가, 채무 · 장례비 공제, 사전증여 여부에 따라 달라진다.</a:t>
            </a:r>
            <a:endParaRPr lang="en-US" sz="900" dirty="0"/>
          </a:p>
        </p:txBody>
      </p:sp>
      <p:sp>
        <p:nvSpPr>
          <p:cNvPr id="48" name="Text 45"/>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49" name="Text 46"/>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III  상속 · 증여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유산취득세 전환 — 아직 '안'이다</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2026년 10월 기준 국회 계류 중, 2028년 시행 목표</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1737360"/>
                <a:gridCol w="4206240"/>
                <a:gridCol w="5111496"/>
              </a:tblGrid>
              <a:tr h="384048">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구분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현행 — 유산세 방식 (적용 중)</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정부안 — 유산취득세 방식 (미확정)</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84048">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과세 단위</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피상속인이 남긴 재산 총액</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상속인이 각자 실제 취득한 재산</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누진 효과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상속인 수와 무관하게 총액에 누진세율</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각자 취득분에 누진세율 → 상속인이 많으면 부담 감소</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공제 구조</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일괄공제 5억 · 배우자 5억~30억 · 자녀 1인 5,000만원</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상속인별 개별 공제 체계로 재편, 자녀공제 확대 논의</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납세의무</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상속인 연대납세의무</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각 상속인이 자기 취득분에 대해 개별 납세</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30" b="1" dirty="0">
                          <a:solidFill>
                            <a:srgbClr val="3D3D3D"/>
                          </a:solidFill>
                          <a:latin typeface="Spoqa Han Sans Neo" pitchFamily="34" charset="0"/>
                          <a:ea typeface="Spoqa Han Sans Neo" pitchFamily="34" charset="-122"/>
                          <a:cs typeface="Spoqa Han Sans Neo" pitchFamily="34" charset="-120"/>
                        </a:rPr>
                        <a:t>세율</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b="1" dirty="0">
                          <a:solidFill>
                            <a:srgbClr val="3D3D3D"/>
                          </a:solidFill>
                          <a:latin typeface="Spoqa Han Sans Neo" pitchFamily="34" charset="0"/>
                          <a:ea typeface="Spoqa Han Sans Neo" pitchFamily="34" charset="-122"/>
                          <a:cs typeface="Spoqa Han Sans Neo" pitchFamily="34" charset="-120"/>
                        </a:rPr>
                        <a:t>10~50% 5단계 (변동 없음)</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b="1" dirty="0">
                          <a:solidFill>
                            <a:srgbClr val="3D3D3D"/>
                          </a:solidFill>
                          <a:latin typeface="Spoqa Han Sans Neo" pitchFamily="34" charset="0"/>
                          <a:ea typeface="Spoqa Han Sans Neo" pitchFamily="34" charset="-122"/>
                          <a:cs typeface="Spoqa Han Sans Neo" pitchFamily="34" charset="-120"/>
                        </a:rPr>
                        <a:t>최고세율 인하는 별도 논의 · 미반영</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4041648"/>
            <a:ext cx="11057839" cy="256032"/>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입법 경과</a:t>
            </a:r>
            <a:endParaRPr lang="en-US" sz="1250" dirty="0"/>
          </a:p>
        </p:txBody>
      </p:sp>
      <p:sp>
        <p:nvSpPr>
          <p:cNvPr id="8" name="Shape 5"/>
          <p:cNvSpPr/>
          <p:nvPr/>
        </p:nvSpPr>
        <p:spPr>
          <a:xfrm>
            <a:off x="566928" y="4370832"/>
            <a:ext cx="2679192" cy="841248"/>
          </a:xfrm>
          <a:prstGeom prst="rect">
            <a:avLst/>
          </a:prstGeom>
          <a:solidFill>
            <a:srgbClr val="F7F8FA"/>
          </a:solidFill>
          <a:ln/>
        </p:spPr>
      </p:sp>
      <p:sp>
        <p:nvSpPr>
          <p:cNvPr id="9" name="Text 6"/>
          <p:cNvSpPr/>
          <p:nvPr/>
        </p:nvSpPr>
        <p:spPr>
          <a:xfrm>
            <a:off x="713232" y="4443984"/>
            <a:ext cx="2386584" cy="219456"/>
          </a:xfrm>
          <a:prstGeom prst="rect">
            <a:avLst/>
          </a:prstGeom>
          <a:noFill/>
          <a:ln/>
        </p:spPr>
        <p:txBody>
          <a:bodyPr wrap="square" lIns="0" tIns="0" rIns="0" bIns="0" rtlCol="0" anchor="t"/>
          <a:lstStyle/>
          <a:p>
            <a:pPr algn="l" indent="0" marL="0">
              <a:lnSpc>
                <a:spcPct val="124000"/>
              </a:lnSpc>
              <a:buNone/>
            </a:pPr>
            <a:r>
              <a:rPr lang="en-US" sz="1050" b="1" dirty="0">
                <a:solidFill>
                  <a:srgbClr val="F58220"/>
                </a:solidFill>
                <a:latin typeface="Spoqa Han Sans Neo" pitchFamily="34" charset="0"/>
                <a:ea typeface="Spoqa Han Sans Neo" pitchFamily="34" charset="-122"/>
                <a:cs typeface="Spoqa Han Sans Neo" pitchFamily="34" charset="-120"/>
              </a:rPr>
              <a:t>2024. 7</a:t>
            </a:r>
            <a:endParaRPr lang="en-US" sz="1050" dirty="0"/>
          </a:p>
        </p:txBody>
      </p:sp>
      <p:sp>
        <p:nvSpPr>
          <p:cNvPr id="10" name="Text 7"/>
          <p:cNvSpPr/>
          <p:nvPr/>
        </p:nvSpPr>
        <p:spPr>
          <a:xfrm>
            <a:off x="713232" y="4681728"/>
            <a:ext cx="2386584" cy="475488"/>
          </a:xfrm>
          <a:prstGeom prst="rect">
            <a:avLst/>
          </a:prstGeom>
          <a:noFill/>
          <a:ln/>
        </p:spPr>
        <p:txBody>
          <a:bodyPr wrap="square" lIns="0" tIns="0" rIns="0" bIns="0" rtlCol="0" anchor="t"/>
          <a:lstStyle/>
          <a:p>
            <a:pPr algn="l" indent="0" marL="0">
              <a:lnSpc>
                <a:spcPct val="114000"/>
              </a:lnSpc>
              <a:buNone/>
            </a:pPr>
            <a:r>
              <a:rPr lang="en-US" sz="960" dirty="0">
                <a:solidFill>
                  <a:srgbClr val="3D3D3D"/>
                </a:solidFill>
                <a:latin typeface="Spoqa Han Sans Neo" pitchFamily="34" charset="0"/>
                <a:ea typeface="Spoqa Han Sans Neo" pitchFamily="34" charset="-122"/>
                <a:cs typeface="Spoqa Han Sans Neo" pitchFamily="34" charset="-120"/>
              </a:rPr>
              <a:t>정부 세법개정안 — 최고세율 50%→40%, 자녀공제 5,000만원→5억원</a:t>
            </a:r>
            <a:endParaRPr lang="en-US" sz="960" dirty="0"/>
          </a:p>
        </p:txBody>
      </p:sp>
      <p:sp>
        <p:nvSpPr>
          <p:cNvPr id="11" name="Shape 8"/>
          <p:cNvSpPr/>
          <p:nvPr/>
        </p:nvSpPr>
        <p:spPr>
          <a:xfrm>
            <a:off x="3364992" y="4370832"/>
            <a:ext cx="2679192" cy="841248"/>
          </a:xfrm>
          <a:prstGeom prst="rect">
            <a:avLst/>
          </a:prstGeom>
          <a:solidFill>
            <a:srgbClr val="F7F8FA"/>
          </a:solidFill>
          <a:ln/>
        </p:spPr>
      </p:sp>
      <p:sp>
        <p:nvSpPr>
          <p:cNvPr id="12" name="Text 9"/>
          <p:cNvSpPr/>
          <p:nvPr/>
        </p:nvSpPr>
        <p:spPr>
          <a:xfrm>
            <a:off x="3511296" y="4443984"/>
            <a:ext cx="2386584" cy="219456"/>
          </a:xfrm>
          <a:prstGeom prst="rect">
            <a:avLst/>
          </a:prstGeom>
          <a:noFill/>
          <a:ln/>
        </p:spPr>
        <p:txBody>
          <a:bodyPr wrap="square" lIns="0" tIns="0" rIns="0" bIns="0" rtlCol="0" anchor="t"/>
          <a:lstStyle/>
          <a:p>
            <a:pPr algn="l" indent="0" marL="0">
              <a:lnSpc>
                <a:spcPct val="124000"/>
              </a:lnSpc>
              <a:buNone/>
            </a:pPr>
            <a:r>
              <a:rPr lang="en-US" sz="1050" b="1" dirty="0">
                <a:solidFill>
                  <a:srgbClr val="F58220"/>
                </a:solidFill>
                <a:latin typeface="Spoqa Han Sans Neo" pitchFamily="34" charset="0"/>
                <a:ea typeface="Spoqa Han Sans Neo" pitchFamily="34" charset="-122"/>
                <a:cs typeface="Spoqa Han Sans Neo" pitchFamily="34" charset="-120"/>
              </a:rPr>
              <a:t>2024. 12</a:t>
            </a:r>
            <a:endParaRPr lang="en-US" sz="1050" dirty="0"/>
          </a:p>
        </p:txBody>
      </p:sp>
      <p:sp>
        <p:nvSpPr>
          <p:cNvPr id="13" name="Text 10"/>
          <p:cNvSpPr/>
          <p:nvPr/>
        </p:nvSpPr>
        <p:spPr>
          <a:xfrm>
            <a:off x="3511296" y="4681728"/>
            <a:ext cx="2386584" cy="475488"/>
          </a:xfrm>
          <a:prstGeom prst="rect">
            <a:avLst/>
          </a:prstGeom>
          <a:noFill/>
          <a:ln/>
        </p:spPr>
        <p:txBody>
          <a:bodyPr wrap="square" lIns="0" tIns="0" rIns="0" bIns="0" rtlCol="0" anchor="t"/>
          <a:lstStyle/>
          <a:p>
            <a:pPr algn="l" indent="0" marL="0">
              <a:lnSpc>
                <a:spcPct val="114000"/>
              </a:lnSpc>
              <a:buNone/>
            </a:pPr>
            <a:r>
              <a:rPr lang="en-US" sz="960" dirty="0">
                <a:solidFill>
                  <a:srgbClr val="3D3D3D"/>
                </a:solidFill>
                <a:latin typeface="Spoqa Han Sans Neo" pitchFamily="34" charset="0"/>
                <a:ea typeface="Spoqa Han Sans Neo" pitchFamily="34" charset="-122"/>
                <a:cs typeface="Spoqa Han Sans Neo" pitchFamily="34" charset="-120"/>
              </a:rPr>
              <a:t>국회 부결 — 개정 무산</a:t>
            </a:r>
            <a:endParaRPr lang="en-US" sz="960" dirty="0"/>
          </a:p>
        </p:txBody>
      </p:sp>
      <p:sp>
        <p:nvSpPr>
          <p:cNvPr id="14" name="Shape 11"/>
          <p:cNvSpPr/>
          <p:nvPr/>
        </p:nvSpPr>
        <p:spPr>
          <a:xfrm>
            <a:off x="6163056" y="4370832"/>
            <a:ext cx="2679192" cy="841248"/>
          </a:xfrm>
          <a:prstGeom prst="rect">
            <a:avLst/>
          </a:prstGeom>
          <a:solidFill>
            <a:srgbClr val="F7F8FA"/>
          </a:solidFill>
          <a:ln/>
        </p:spPr>
      </p:sp>
      <p:sp>
        <p:nvSpPr>
          <p:cNvPr id="15" name="Text 12"/>
          <p:cNvSpPr/>
          <p:nvPr/>
        </p:nvSpPr>
        <p:spPr>
          <a:xfrm>
            <a:off x="6309360" y="4443984"/>
            <a:ext cx="2386584" cy="219456"/>
          </a:xfrm>
          <a:prstGeom prst="rect">
            <a:avLst/>
          </a:prstGeom>
          <a:noFill/>
          <a:ln/>
        </p:spPr>
        <p:txBody>
          <a:bodyPr wrap="square" lIns="0" tIns="0" rIns="0" bIns="0" rtlCol="0" anchor="t"/>
          <a:lstStyle/>
          <a:p>
            <a:pPr algn="l" indent="0" marL="0">
              <a:lnSpc>
                <a:spcPct val="124000"/>
              </a:lnSpc>
              <a:buNone/>
            </a:pPr>
            <a:r>
              <a:rPr lang="en-US" sz="1050" b="1" dirty="0">
                <a:solidFill>
                  <a:srgbClr val="F58220"/>
                </a:solidFill>
                <a:latin typeface="Spoqa Han Sans Neo" pitchFamily="34" charset="0"/>
                <a:ea typeface="Spoqa Han Sans Neo" pitchFamily="34" charset="-122"/>
                <a:cs typeface="Spoqa Han Sans Neo" pitchFamily="34" charset="-120"/>
              </a:rPr>
              <a:t>2025</a:t>
            </a:r>
            <a:endParaRPr lang="en-US" sz="1050" dirty="0"/>
          </a:p>
        </p:txBody>
      </p:sp>
      <p:sp>
        <p:nvSpPr>
          <p:cNvPr id="16" name="Text 13"/>
          <p:cNvSpPr/>
          <p:nvPr/>
        </p:nvSpPr>
        <p:spPr>
          <a:xfrm>
            <a:off x="6309360" y="4681728"/>
            <a:ext cx="2386584" cy="475488"/>
          </a:xfrm>
          <a:prstGeom prst="rect">
            <a:avLst/>
          </a:prstGeom>
          <a:noFill/>
          <a:ln/>
        </p:spPr>
        <p:txBody>
          <a:bodyPr wrap="square" lIns="0" tIns="0" rIns="0" bIns="0" rtlCol="0" anchor="t"/>
          <a:lstStyle/>
          <a:p>
            <a:pPr algn="l" indent="0" marL="0">
              <a:lnSpc>
                <a:spcPct val="114000"/>
              </a:lnSpc>
              <a:buNone/>
            </a:pPr>
            <a:r>
              <a:rPr lang="en-US" sz="960" dirty="0">
                <a:solidFill>
                  <a:srgbClr val="3D3D3D"/>
                </a:solidFill>
                <a:latin typeface="Spoqa Han Sans Neo" pitchFamily="34" charset="0"/>
                <a:ea typeface="Spoqa Han Sans Neo" pitchFamily="34" charset="-122"/>
                <a:cs typeface="Spoqa Han Sans Neo" pitchFamily="34" charset="-120"/>
              </a:rPr>
              <a:t>기획재정부 유산취득세 도입 개편안 입법예고 (2028년 시행 목표)</a:t>
            </a:r>
            <a:endParaRPr lang="en-US" sz="960" dirty="0"/>
          </a:p>
        </p:txBody>
      </p:sp>
      <p:sp>
        <p:nvSpPr>
          <p:cNvPr id="17" name="Shape 14"/>
          <p:cNvSpPr/>
          <p:nvPr/>
        </p:nvSpPr>
        <p:spPr>
          <a:xfrm>
            <a:off x="8961120" y="4370832"/>
            <a:ext cx="2679192" cy="841248"/>
          </a:xfrm>
          <a:prstGeom prst="rect">
            <a:avLst/>
          </a:prstGeom>
          <a:solidFill>
            <a:srgbClr val="F58220"/>
          </a:solidFill>
          <a:ln/>
        </p:spPr>
      </p:sp>
      <p:sp>
        <p:nvSpPr>
          <p:cNvPr id="18" name="Text 15"/>
          <p:cNvSpPr/>
          <p:nvPr/>
        </p:nvSpPr>
        <p:spPr>
          <a:xfrm>
            <a:off x="9107424" y="4443984"/>
            <a:ext cx="2386584" cy="219456"/>
          </a:xfrm>
          <a:prstGeom prst="rect">
            <a:avLst/>
          </a:prstGeom>
          <a:noFill/>
          <a:ln/>
        </p:spPr>
        <p:txBody>
          <a:bodyPr wrap="square" lIns="0" tIns="0" rIns="0" bIns="0" rtlCol="0" anchor="t"/>
          <a:lstStyle/>
          <a:p>
            <a:pPr algn="l" indent="0" marL="0">
              <a:lnSpc>
                <a:spcPct val="124000"/>
              </a:lnSpc>
              <a:buNone/>
            </a:pPr>
            <a:r>
              <a:rPr lang="en-US" sz="1050" b="1" dirty="0">
                <a:solidFill>
                  <a:srgbClr val="FFFFFF"/>
                </a:solidFill>
                <a:latin typeface="Spoqa Han Sans Neo" pitchFamily="34" charset="0"/>
                <a:ea typeface="Spoqa Han Sans Neo" pitchFamily="34" charset="-122"/>
                <a:cs typeface="Spoqa Han Sans Neo" pitchFamily="34" charset="-120"/>
              </a:rPr>
              <a:t>2026. 7</a:t>
            </a:r>
            <a:endParaRPr lang="en-US" sz="1050" dirty="0"/>
          </a:p>
        </p:txBody>
      </p:sp>
      <p:sp>
        <p:nvSpPr>
          <p:cNvPr id="19" name="Text 16"/>
          <p:cNvSpPr/>
          <p:nvPr/>
        </p:nvSpPr>
        <p:spPr>
          <a:xfrm>
            <a:off x="9107424" y="4681728"/>
            <a:ext cx="2386584" cy="475488"/>
          </a:xfrm>
          <a:prstGeom prst="rect">
            <a:avLst/>
          </a:prstGeom>
          <a:noFill/>
          <a:ln/>
        </p:spPr>
        <p:txBody>
          <a:bodyPr wrap="square" lIns="0" tIns="0" rIns="0" bIns="0" rtlCol="0" anchor="t"/>
          <a:lstStyle/>
          <a:p>
            <a:pPr algn="l" indent="0" marL="0">
              <a:lnSpc>
                <a:spcPct val="114000"/>
              </a:lnSpc>
              <a:buNone/>
            </a:pPr>
            <a:r>
              <a:rPr lang="en-US" sz="960" dirty="0">
                <a:solidFill>
                  <a:srgbClr val="FFFFFF"/>
                </a:solidFill>
                <a:latin typeface="Spoqa Han Sans Neo" pitchFamily="34" charset="0"/>
                <a:ea typeface="Spoqa Han Sans Neo" pitchFamily="34" charset="-122"/>
                <a:cs typeface="Spoqa Han Sans Neo" pitchFamily="34" charset="-120"/>
              </a:rPr>
              <a:t>국회 계류 중 — 현행 유산세 방식 그대로 적용</a:t>
            </a:r>
            <a:endParaRPr lang="en-US" sz="960" dirty="0"/>
          </a:p>
        </p:txBody>
      </p:sp>
      <p:sp>
        <p:nvSpPr>
          <p:cNvPr id="20" name="Shape 17"/>
          <p:cNvSpPr/>
          <p:nvPr/>
        </p:nvSpPr>
        <p:spPr>
          <a:xfrm>
            <a:off x="566928" y="5376672"/>
            <a:ext cx="11057839" cy="713232"/>
          </a:xfrm>
          <a:prstGeom prst="rect">
            <a:avLst/>
          </a:prstGeom>
          <a:solidFill>
            <a:srgbClr val="ECEFF4"/>
          </a:solidFill>
          <a:ln/>
        </p:spPr>
      </p:sp>
      <p:sp>
        <p:nvSpPr>
          <p:cNvPr id="21" name="Text 18"/>
          <p:cNvSpPr/>
          <p:nvPr/>
        </p:nvSpPr>
        <p:spPr>
          <a:xfrm>
            <a:off x="749808" y="5468112"/>
            <a:ext cx="10692079" cy="237744"/>
          </a:xfrm>
          <a:prstGeom prst="rect">
            <a:avLst/>
          </a:prstGeom>
          <a:noFill/>
          <a:ln/>
        </p:spPr>
        <p:txBody>
          <a:bodyPr wrap="square" lIns="0" tIns="0" rIns="0" bIns="0" rtlCol="0" anchor="ctr"/>
          <a:lstStyle/>
          <a:p>
            <a:pPr indent="0" marL="0">
              <a:buNone/>
            </a:pPr>
            <a:r>
              <a:rPr lang="en-US" sz="1100" b="1" dirty="0">
                <a:solidFill>
                  <a:srgbClr val="C62828"/>
                </a:solidFill>
                <a:latin typeface="Spoqa Han Sans Neo" pitchFamily="34" charset="0"/>
                <a:ea typeface="Spoqa Han Sans Neo" pitchFamily="34" charset="-122"/>
                <a:cs typeface="Spoqa Han Sans Neo" pitchFamily="34" charset="-120"/>
              </a:rPr>
              <a:t>상담 원칙</a:t>
            </a:r>
            <a:endParaRPr lang="en-US" sz="1100" dirty="0"/>
          </a:p>
        </p:txBody>
      </p:sp>
      <p:sp>
        <p:nvSpPr>
          <p:cNvPr id="22" name="Text 19"/>
          <p:cNvSpPr/>
          <p:nvPr/>
        </p:nvSpPr>
        <p:spPr>
          <a:xfrm>
            <a:off x="749808" y="5705856"/>
            <a:ext cx="10692079" cy="292608"/>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적용 법은 상속개시일 기준으로 결정된다. 시행 전 상속에는 현행 유산세 방식이 그대로 적용되므로, "곧 세금이 줄어든다"는 전제로 상속 준비를 미루는 것은 위험하다. 현행법 기준으로 대비하고, 개정 확정 시 다시 조정하는 순서가 안전하다.</a:t>
            </a:r>
            <a:endParaRPr lang="en-US" sz="1060" dirty="0"/>
          </a:p>
        </p:txBody>
      </p:sp>
      <p:sp>
        <p:nvSpPr>
          <p:cNvPr id="23" name="Text 20"/>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4" name="Text 21"/>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III  상속 · 증여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사전증여 — 10년 주기와 낮은 세율 구간</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같은 금액도 나누어 주면 실효세율이 달라진다</a:t>
            </a:r>
            <a:endParaRPr lang="en-US" sz="1250" dirty="0"/>
          </a:p>
        </p:txBody>
      </p:sp>
      <p:sp>
        <p:nvSpPr>
          <p:cNvPr id="6" name="Text 4"/>
          <p:cNvSpPr/>
          <p:nvPr/>
        </p:nvSpPr>
        <p:spPr>
          <a:xfrm>
            <a:off x="566928" y="1645920"/>
            <a:ext cx="5120640" cy="256032"/>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증여재산공제 (10년간 합산 한도)</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975104"/>
          <a:ext cx="9144000" cy="914400"/>
        </p:xfrm>
        <a:graphic>
          <a:graphicData uri="http://schemas.openxmlformats.org/drawingml/2006/table">
            <a:tbl>
              <a:tblPr/>
              <a:tblGrid>
                <a:gridCol w="3520440"/>
                <a:gridCol w="1600200"/>
              </a:tblGrid>
              <a:tr h="329184">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증여자 → 수증자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r" indent="0" marL="0">
                        <a:buNone/>
                      </a:pPr>
                      <a:r>
                        <a:rPr lang="en-US" sz="1040" b="1" dirty="0">
                          <a:solidFill>
                            <a:srgbClr val="1A1A1A"/>
                          </a:solidFill>
                          <a:latin typeface="Spoqa Han Sans Neo" pitchFamily="34" charset="0"/>
                          <a:ea typeface="Spoqa Han Sans Neo" pitchFamily="34" charset="-122"/>
                          <a:cs typeface="Spoqa Han Sans Neo" pitchFamily="34" charset="-120"/>
                        </a:rPr>
                        <a:t>공제 한도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배우자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40" dirty="0">
                          <a:solidFill>
                            <a:srgbClr val="3D3D3D"/>
                          </a:solidFill>
                          <a:latin typeface="Spoqa Han Sans Neo" pitchFamily="34" charset="0"/>
                          <a:ea typeface="Spoqa Han Sans Neo" pitchFamily="34" charset="-122"/>
                          <a:cs typeface="Spoqa Han Sans Neo" pitchFamily="34" charset="-120"/>
                        </a:rPr>
                        <a:t>6억원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직계존속 → 성년 자녀 · 손자녀</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40" dirty="0">
                          <a:solidFill>
                            <a:srgbClr val="3D3D3D"/>
                          </a:solidFill>
                          <a:latin typeface="Spoqa Han Sans Neo" pitchFamily="34" charset="0"/>
                          <a:ea typeface="Spoqa Han Sans Neo" pitchFamily="34" charset="-122"/>
                          <a:cs typeface="Spoqa Han Sans Neo" pitchFamily="34" charset="-120"/>
                        </a:rPr>
                        <a:t>5,000만원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직계존속 → 미성년 자녀 · 손자녀</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40" dirty="0">
                          <a:solidFill>
                            <a:srgbClr val="3D3D3D"/>
                          </a:solidFill>
                          <a:latin typeface="Spoqa Han Sans Neo" pitchFamily="34" charset="0"/>
                          <a:ea typeface="Spoqa Han Sans Neo" pitchFamily="34" charset="-122"/>
                          <a:cs typeface="Spoqa Han Sans Neo" pitchFamily="34" charset="-120"/>
                        </a:rPr>
                        <a:t>2,000만원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직계비속 → 부모 · 조부모</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40" dirty="0">
                          <a:solidFill>
                            <a:srgbClr val="3D3D3D"/>
                          </a:solidFill>
                          <a:latin typeface="Spoqa Han Sans Neo" pitchFamily="34" charset="0"/>
                          <a:ea typeface="Spoqa Han Sans Neo" pitchFamily="34" charset="-122"/>
                          <a:cs typeface="Spoqa Han Sans Neo" pitchFamily="34" charset="-120"/>
                        </a:rPr>
                        <a:t>5,000만원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기타 친족(6촌 이내 혈족 등)</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40" dirty="0">
                          <a:solidFill>
                            <a:srgbClr val="3D3D3D"/>
                          </a:solidFill>
                          <a:latin typeface="Spoqa Han Sans Neo" pitchFamily="34" charset="0"/>
                          <a:ea typeface="Spoqa Han Sans Neo" pitchFamily="34" charset="-122"/>
                          <a:cs typeface="Spoqa Han Sans Neo" pitchFamily="34" charset="-120"/>
                        </a:rPr>
                        <a:t>1,000만원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40" b="1" dirty="0">
                          <a:solidFill>
                            <a:srgbClr val="3D3D3D"/>
                          </a:solidFill>
                          <a:latin typeface="Spoqa Han Sans Neo" pitchFamily="34" charset="0"/>
                          <a:ea typeface="Spoqa Han Sans Neo" pitchFamily="34" charset="-122"/>
                          <a:cs typeface="Spoqa Han Sans Neo" pitchFamily="34" charset="-120"/>
                        </a:rPr>
                        <a:t>혼인 · 출산 증여재산공제</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r" indent="0" marL="0">
                        <a:buNone/>
                      </a:pPr>
                      <a:r>
                        <a:rPr lang="en-US" sz="1040" b="1" dirty="0">
                          <a:solidFill>
                            <a:srgbClr val="3D3D3D"/>
                          </a:solidFill>
                          <a:latin typeface="Spoqa Han Sans Neo" pitchFamily="34" charset="0"/>
                          <a:ea typeface="Spoqa Han Sans Neo" pitchFamily="34" charset="-122"/>
                          <a:cs typeface="Spoqa Han Sans Neo" pitchFamily="34" charset="-120"/>
                        </a:rPr>
                        <a:t>1억원 (통합 한도)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8" name="Text 5"/>
          <p:cNvSpPr/>
          <p:nvPr/>
        </p:nvSpPr>
        <p:spPr>
          <a:xfrm>
            <a:off x="566928" y="4343400"/>
            <a:ext cx="512064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혼인 · 출산 공제는 일반 증여재산공제와 별도로 적용되므로, 성년 자녀 혼인 시 5,000만원 + 1억원 = 1억 5,000만원까지 무세 증여가 가능하다.</a:t>
            </a:r>
            <a:endParaRPr lang="en-US" sz="900" dirty="0"/>
          </a:p>
        </p:txBody>
      </p:sp>
      <p:graphicFrame>
        <p:nvGraphicFramePr>
          <p:cNvPr id="9" name="Chart 0" descr=""/>
          <p:cNvGraphicFramePr/>
          <p:nvPr/>
        </p:nvGraphicFramePr>
        <p:xfrm>
          <a:off x="5852160" y="1691640"/>
          <a:ext cx="5760720" cy="292608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5852160" y="4663440"/>
            <a:ext cx="576072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증여재산공제 5,000만원 및 신고세액공제 3% 반영. 1억원 증여 시 485만원, 10억원 증여 시 2억 1,825만원 — 금액이 커질수록 누진 효과가 급격히 커진다.</a:t>
            </a:r>
            <a:endParaRPr lang="en-US" sz="900" dirty="0"/>
          </a:p>
        </p:txBody>
      </p:sp>
      <p:sp>
        <p:nvSpPr>
          <p:cNvPr id="11" name="Shape 7"/>
          <p:cNvSpPr/>
          <p:nvPr/>
        </p:nvSpPr>
        <p:spPr>
          <a:xfrm>
            <a:off x="566928" y="5120640"/>
            <a:ext cx="11057839" cy="969264"/>
          </a:xfrm>
          <a:prstGeom prst="rect">
            <a:avLst/>
          </a:prstGeom>
          <a:solidFill>
            <a:srgbClr val="F58220"/>
          </a:solidFill>
          <a:ln/>
        </p:spPr>
      </p:sp>
      <p:sp>
        <p:nvSpPr>
          <p:cNvPr id="12" name="Text 8"/>
          <p:cNvSpPr/>
          <p:nvPr/>
        </p:nvSpPr>
        <p:spPr>
          <a:xfrm>
            <a:off x="786384" y="5230368"/>
            <a:ext cx="10618927" cy="256032"/>
          </a:xfrm>
          <a:prstGeom prst="rect">
            <a:avLst/>
          </a:prstGeom>
          <a:noFill/>
          <a:ln/>
        </p:spPr>
        <p:txBody>
          <a:bodyPr wrap="square" lIns="0" tIns="0" rIns="0" bIns="0" rtlCol="0" anchor="ctr"/>
          <a:lstStyle/>
          <a:p>
            <a:pP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설계 원칙 — 일찍, 나누어, 여러 사람에게</a:t>
            </a:r>
            <a:endParaRPr lang="en-US" sz="1250" dirty="0"/>
          </a:p>
        </p:txBody>
      </p:sp>
      <p:sp>
        <p:nvSpPr>
          <p:cNvPr id="13" name="Text 9"/>
          <p:cNvSpPr/>
          <p:nvPr/>
        </p:nvSpPr>
        <p:spPr>
          <a:xfrm>
            <a:off x="786384" y="5486400"/>
            <a:ext cx="10618927" cy="512064"/>
          </a:xfrm>
          <a:prstGeom prst="rect">
            <a:avLst/>
          </a:prstGeom>
          <a:noFill/>
          <a:ln/>
        </p:spPr>
        <p:txBody>
          <a:bodyPr wrap="square" lIns="0" tIns="0" rIns="0" bIns="0" rtlCol="0" anchor="t"/>
          <a:lstStyle/>
          <a:p>
            <a:pPr indent="0" marL="0">
              <a:lnSpc>
                <a:spcPct val="120000"/>
              </a:lnSpc>
              <a:buNone/>
            </a:pPr>
            <a:r>
              <a:rPr lang="en-US" sz="1010" dirty="0">
                <a:solidFill>
                  <a:srgbClr val="FFFFFF"/>
                </a:solidFill>
                <a:latin typeface="Spoqa Han Sans Neo" pitchFamily="34" charset="0"/>
                <a:ea typeface="Spoqa Han Sans Neo" pitchFamily="34" charset="-122"/>
                <a:cs typeface="Spoqa Han Sans Neo" pitchFamily="34" charset="-120"/>
              </a:rPr>
              <a:t>① 10년 주기로 반복하면 공제를 다시 쓸 수 있다  ②  자녀뿐 아니라 배우자 · 손자녀 · 사위 · 며느리로 수증자를 늘리면 각자 낮은 세율 구간을 적용받는다  ③  단, 상속개시 전 10년(상속인) 이내 증여는 상속재산에 합산되므로 '늦은 증여'는 효과가 없다.</a:t>
            </a:r>
            <a:endParaRPr lang="en-US" sz="1010" dirty="0"/>
          </a:p>
        </p:txBody>
      </p:sp>
      <p:sp>
        <p:nvSpPr>
          <p:cNvPr id="14" name="Text 10"/>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5" name="Text 11"/>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III  상속 · 증여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무엇을, 언제 증여할 것인가</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같은 자산도 평가 시점과 방식에 따라 세금이 달라진다</a:t>
            </a:r>
            <a:endParaRPr lang="en-US" sz="1250" dirty="0"/>
          </a:p>
        </p:txBody>
      </p:sp>
      <p:sp>
        <p:nvSpPr>
          <p:cNvPr id="6" name="Shape 4"/>
          <p:cNvSpPr/>
          <p:nvPr/>
        </p:nvSpPr>
        <p:spPr>
          <a:xfrm>
            <a:off x="566928" y="1600200"/>
            <a:ext cx="5358384" cy="1554480"/>
          </a:xfrm>
          <a:prstGeom prst="rect">
            <a:avLst/>
          </a:prstGeom>
          <a:solidFill>
            <a:srgbClr val="FFFFFF"/>
          </a:solidFill>
          <a:ln w="9525">
            <a:solidFill>
              <a:srgbClr val="CDCECB"/>
            </a:solidFill>
            <a:prstDash val="solid"/>
          </a:ln>
        </p:spPr>
      </p:sp>
      <p:sp>
        <p:nvSpPr>
          <p:cNvPr id="7" name="Shape 5"/>
          <p:cNvSpPr/>
          <p:nvPr/>
        </p:nvSpPr>
        <p:spPr>
          <a:xfrm>
            <a:off x="749808" y="1783080"/>
            <a:ext cx="384048" cy="384048"/>
          </a:xfrm>
          <a:prstGeom prst="ellipse">
            <a:avLst/>
          </a:prstGeom>
          <a:solidFill>
            <a:srgbClr val="F58220"/>
          </a:solidFill>
          <a:ln/>
        </p:spPr>
      </p:sp>
      <p:sp>
        <p:nvSpPr>
          <p:cNvPr id="8" name="Text 6"/>
          <p:cNvSpPr/>
          <p:nvPr/>
        </p:nvSpPr>
        <p:spPr>
          <a:xfrm>
            <a:off x="749808" y="17830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1</a:t>
            </a:r>
            <a:endParaRPr lang="en-US" sz="1250" dirty="0"/>
          </a:p>
        </p:txBody>
      </p:sp>
      <p:sp>
        <p:nvSpPr>
          <p:cNvPr id="9" name="Text 7"/>
          <p:cNvSpPr/>
          <p:nvPr/>
        </p:nvSpPr>
        <p:spPr>
          <a:xfrm>
            <a:off x="1280160" y="1764792"/>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평가액이 낮을 때 증여한다</a:t>
            </a:r>
            <a:endParaRPr lang="en-US" sz="1250" dirty="0"/>
          </a:p>
        </p:txBody>
      </p:sp>
      <p:sp>
        <p:nvSpPr>
          <p:cNvPr id="10" name="Text 8"/>
          <p:cNvSpPr/>
          <p:nvPr/>
        </p:nvSpPr>
        <p:spPr>
          <a:xfrm>
            <a:off x="1280160" y="2020824"/>
            <a:ext cx="4462272" cy="987552"/>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상장주식은 증여일 전후 2개월(총 4개월) 종가 평균으로 평가한다. 주가 조정기가 증여 기회다. 비상장주식 · 부동산도 보충적 평가방법의 기준 시점을 확인해 저평가 구간을 활용한다.</a:t>
            </a:r>
            <a:endParaRPr lang="en-US" sz="1040" dirty="0"/>
          </a:p>
        </p:txBody>
      </p:sp>
      <p:sp>
        <p:nvSpPr>
          <p:cNvPr id="11" name="Shape 9"/>
          <p:cNvSpPr/>
          <p:nvPr/>
        </p:nvSpPr>
        <p:spPr>
          <a:xfrm>
            <a:off x="6254496" y="1600200"/>
            <a:ext cx="5358384" cy="1554480"/>
          </a:xfrm>
          <a:prstGeom prst="rect">
            <a:avLst/>
          </a:prstGeom>
          <a:solidFill>
            <a:srgbClr val="FFFFFF"/>
          </a:solidFill>
          <a:ln w="9525">
            <a:solidFill>
              <a:srgbClr val="CDCECB"/>
            </a:solidFill>
            <a:prstDash val="solid"/>
          </a:ln>
        </p:spPr>
      </p:sp>
      <p:sp>
        <p:nvSpPr>
          <p:cNvPr id="12" name="Shape 10"/>
          <p:cNvSpPr/>
          <p:nvPr/>
        </p:nvSpPr>
        <p:spPr>
          <a:xfrm>
            <a:off x="6437376" y="1783080"/>
            <a:ext cx="384048" cy="384048"/>
          </a:xfrm>
          <a:prstGeom prst="ellipse">
            <a:avLst/>
          </a:prstGeom>
          <a:solidFill>
            <a:srgbClr val="F58220"/>
          </a:solidFill>
          <a:ln/>
        </p:spPr>
      </p:sp>
      <p:sp>
        <p:nvSpPr>
          <p:cNvPr id="13" name="Text 11"/>
          <p:cNvSpPr/>
          <p:nvPr/>
        </p:nvSpPr>
        <p:spPr>
          <a:xfrm>
            <a:off x="6437376" y="17830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2</a:t>
            </a:r>
            <a:endParaRPr lang="en-US" sz="1250" dirty="0"/>
          </a:p>
        </p:txBody>
      </p:sp>
      <p:sp>
        <p:nvSpPr>
          <p:cNvPr id="14" name="Text 12"/>
          <p:cNvSpPr/>
          <p:nvPr/>
        </p:nvSpPr>
        <p:spPr>
          <a:xfrm>
            <a:off x="6967728" y="1764792"/>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수익을 낳는 자산을 먼저 준다</a:t>
            </a:r>
            <a:endParaRPr lang="en-US" sz="1250" dirty="0"/>
          </a:p>
        </p:txBody>
      </p:sp>
      <p:sp>
        <p:nvSpPr>
          <p:cNvPr id="15" name="Text 13"/>
          <p:cNvSpPr/>
          <p:nvPr/>
        </p:nvSpPr>
        <p:spPr>
          <a:xfrm>
            <a:off x="6967728" y="2020824"/>
            <a:ext cx="4462272" cy="987552"/>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증여 후 발생하는 배당 · 임대수익 · 시세차익은 수증자의 것이 된다. 증여자의 상속재산이 더 이상 불어나지 않게 막는 효과가 있어, 성장 자산일수록 조기 증여가 유리하다.</a:t>
            </a:r>
            <a:endParaRPr lang="en-US" sz="1040" dirty="0"/>
          </a:p>
        </p:txBody>
      </p:sp>
      <p:sp>
        <p:nvSpPr>
          <p:cNvPr id="16" name="Shape 14"/>
          <p:cNvSpPr/>
          <p:nvPr/>
        </p:nvSpPr>
        <p:spPr>
          <a:xfrm>
            <a:off x="566928" y="3355848"/>
            <a:ext cx="5358384" cy="1554480"/>
          </a:xfrm>
          <a:prstGeom prst="rect">
            <a:avLst/>
          </a:prstGeom>
          <a:solidFill>
            <a:srgbClr val="FFFFFF"/>
          </a:solidFill>
          <a:ln w="9525">
            <a:solidFill>
              <a:srgbClr val="CDCECB"/>
            </a:solidFill>
            <a:prstDash val="solid"/>
          </a:ln>
        </p:spPr>
      </p:sp>
      <p:sp>
        <p:nvSpPr>
          <p:cNvPr id="17" name="Shape 15"/>
          <p:cNvSpPr/>
          <p:nvPr/>
        </p:nvSpPr>
        <p:spPr>
          <a:xfrm>
            <a:off x="749808" y="3538728"/>
            <a:ext cx="384048" cy="384048"/>
          </a:xfrm>
          <a:prstGeom prst="ellipse">
            <a:avLst/>
          </a:prstGeom>
          <a:solidFill>
            <a:srgbClr val="F58220"/>
          </a:solidFill>
          <a:ln/>
        </p:spPr>
      </p:sp>
      <p:sp>
        <p:nvSpPr>
          <p:cNvPr id="18" name="Text 16"/>
          <p:cNvSpPr/>
          <p:nvPr/>
        </p:nvSpPr>
        <p:spPr>
          <a:xfrm>
            <a:off x="749808" y="353872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3</a:t>
            </a:r>
            <a:endParaRPr lang="en-US" sz="1250" dirty="0"/>
          </a:p>
        </p:txBody>
      </p:sp>
      <p:sp>
        <p:nvSpPr>
          <p:cNvPr id="19" name="Text 17"/>
          <p:cNvSpPr/>
          <p:nvPr/>
        </p:nvSpPr>
        <p:spPr>
          <a:xfrm>
            <a:off x="1280160" y="3520440"/>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부담부증여를 비교한다</a:t>
            </a:r>
            <a:endParaRPr lang="en-US" sz="1250" dirty="0"/>
          </a:p>
        </p:txBody>
      </p:sp>
      <p:sp>
        <p:nvSpPr>
          <p:cNvPr id="20" name="Text 18"/>
          <p:cNvSpPr/>
          <p:nvPr/>
        </p:nvSpPr>
        <p:spPr>
          <a:xfrm>
            <a:off x="1280160" y="3776472"/>
            <a:ext cx="4462272" cy="987552"/>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담보 채무를 함께 넘기면 채무 인수분은 양도, 나머지는 증여로 과세된다. 증여세 누진구간을 낮추지만 증여자에게 양도소득세가 발생하므로 반드시 두 세목의 합계를 비교해야 한다.</a:t>
            </a:r>
            <a:endParaRPr lang="en-US" sz="1040" dirty="0"/>
          </a:p>
        </p:txBody>
      </p:sp>
      <p:sp>
        <p:nvSpPr>
          <p:cNvPr id="21" name="Shape 19"/>
          <p:cNvSpPr/>
          <p:nvPr/>
        </p:nvSpPr>
        <p:spPr>
          <a:xfrm>
            <a:off x="6254496" y="3355848"/>
            <a:ext cx="5358384" cy="1554480"/>
          </a:xfrm>
          <a:prstGeom prst="rect">
            <a:avLst/>
          </a:prstGeom>
          <a:solidFill>
            <a:srgbClr val="FFFFFF"/>
          </a:solidFill>
          <a:ln w="9525">
            <a:solidFill>
              <a:srgbClr val="CDCECB"/>
            </a:solidFill>
            <a:prstDash val="solid"/>
          </a:ln>
        </p:spPr>
      </p:sp>
      <p:sp>
        <p:nvSpPr>
          <p:cNvPr id="22" name="Shape 20"/>
          <p:cNvSpPr/>
          <p:nvPr/>
        </p:nvSpPr>
        <p:spPr>
          <a:xfrm>
            <a:off x="6437376" y="3538728"/>
            <a:ext cx="384048" cy="384048"/>
          </a:xfrm>
          <a:prstGeom prst="ellipse">
            <a:avLst/>
          </a:prstGeom>
          <a:solidFill>
            <a:srgbClr val="F58220"/>
          </a:solidFill>
          <a:ln/>
        </p:spPr>
      </p:sp>
      <p:sp>
        <p:nvSpPr>
          <p:cNvPr id="23" name="Text 21"/>
          <p:cNvSpPr/>
          <p:nvPr/>
        </p:nvSpPr>
        <p:spPr>
          <a:xfrm>
            <a:off x="6437376" y="353872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4</a:t>
            </a:r>
            <a:endParaRPr lang="en-US" sz="1250" dirty="0"/>
          </a:p>
        </p:txBody>
      </p:sp>
      <p:sp>
        <p:nvSpPr>
          <p:cNvPr id="24" name="Text 22"/>
          <p:cNvSpPr/>
          <p:nvPr/>
        </p:nvSpPr>
        <p:spPr>
          <a:xfrm>
            <a:off x="6967728" y="3520440"/>
            <a:ext cx="4462272"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이월과세 10년을 기억한다</a:t>
            </a:r>
            <a:endParaRPr lang="en-US" sz="1250" dirty="0"/>
          </a:p>
        </p:txBody>
      </p:sp>
      <p:sp>
        <p:nvSpPr>
          <p:cNvPr id="25" name="Text 23"/>
          <p:cNvSpPr/>
          <p:nvPr/>
        </p:nvSpPr>
        <p:spPr>
          <a:xfrm>
            <a:off x="6967728" y="3776472"/>
            <a:ext cx="4462272" cy="987552"/>
          </a:xfrm>
          <a:prstGeom prst="rect">
            <a:avLst/>
          </a:prstGeom>
          <a:noFill/>
          <a:ln/>
        </p:spPr>
        <p:txBody>
          <a:bodyPr wrap="square" lIns="0" tIns="0" rIns="0" bIns="0" rtlCol="0" anchor="t"/>
          <a:lstStyle/>
          <a:p>
            <a:pPr indent="0" marL="0">
              <a:lnSpc>
                <a:spcPct val="120000"/>
              </a:lnSpc>
              <a:buNone/>
            </a:pPr>
            <a:r>
              <a:rPr lang="en-US" sz="1040" dirty="0">
                <a:solidFill>
                  <a:srgbClr val="3D3D3D"/>
                </a:solidFill>
                <a:latin typeface="Spoqa Han Sans Neo" pitchFamily="34" charset="0"/>
                <a:ea typeface="Spoqa Han Sans Neo" pitchFamily="34" charset="-122"/>
                <a:cs typeface="Spoqa Han Sans Neo" pitchFamily="34" charset="-120"/>
              </a:rPr>
              <a:t>배우자 · 직계존비속으로부터 증여받은 부동산을 10년 이내에 양도하면, 취득가액을 증여자의 취득가액으로 계산해 양도세가 크게 늘어난다. 증여 후 단기 매각 계획이 있으면 절세 효과가 사라진다.</a:t>
            </a:r>
            <a:endParaRPr lang="en-US" sz="1040" dirty="0"/>
          </a:p>
        </p:txBody>
      </p:sp>
      <p:sp>
        <p:nvSpPr>
          <p:cNvPr id="26" name="Shape 24"/>
          <p:cNvSpPr/>
          <p:nvPr/>
        </p:nvSpPr>
        <p:spPr>
          <a:xfrm>
            <a:off x="566928" y="5029200"/>
            <a:ext cx="11057839" cy="1152144"/>
          </a:xfrm>
          <a:prstGeom prst="rect">
            <a:avLst/>
          </a:prstGeom>
          <a:solidFill>
            <a:srgbClr val="ECEFF4"/>
          </a:solidFill>
          <a:ln/>
        </p:spPr>
      </p:sp>
      <p:sp>
        <p:nvSpPr>
          <p:cNvPr id="27" name="Text 25"/>
          <p:cNvSpPr/>
          <p:nvPr/>
        </p:nvSpPr>
        <p:spPr>
          <a:xfrm>
            <a:off x="749808" y="5120640"/>
            <a:ext cx="10692079" cy="237744"/>
          </a:xfrm>
          <a:prstGeom prst="rect">
            <a:avLst/>
          </a:prstGeom>
          <a:noFill/>
          <a:ln/>
        </p:spPr>
        <p:txBody>
          <a:bodyPr wrap="square" lIns="0" tIns="0" rIns="0" bIns="0" rtlCol="0" anchor="ctr"/>
          <a:lstStyle/>
          <a:p>
            <a:pPr indent="0" marL="0">
              <a:buNone/>
            </a:pPr>
            <a:r>
              <a:rPr lang="en-US" sz="1100" b="1" dirty="0">
                <a:solidFill>
                  <a:srgbClr val="C62828"/>
                </a:solidFill>
                <a:latin typeface="Spoqa Han Sans Neo" pitchFamily="34" charset="0"/>
                <a:ea typeface="Spoqa Han Sans Neo" pitchFamily="34" charset="-122"/>
                <a:cs typeface="Spoqa Han Sans Neo" pitchFamily="34" charset="-120"/>
              </a:rPr>
              <a:t>세무조사에서 문제되는 지점</a:t>
            </a:r>
            <a:endParaRPr lang="en-US" sz="1100" dirty="0"/>
          </a:p>
        </p:txBody>
      </p:sp>
      <p:sp>
        <p:nvSpPr>
          <p:cNvPr id="28" name="Text 26"/>
          <p:cNvSpPr/>
          <p:nvPr/>
        </p:nvSpPr>
        <p:spPr>
          <a:xfrm>
            <a:off x="749808" y="5358384"/>
            <a:ext cx="10692079" cy="731520"/>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현금 증여 후 자금 사용 내역이 증여 목적과 다르거나, 차용증만 작성하고 이자를 실제 지급하지 않은 '가족 간 차입'은 증여로 재구성될 수 있다. 미성년 자녀 명의 계좌의 운용 주체가 부모인 경우도 마찬가지다. 증여는 반드시 기한 내 신고하고, 자금 이동과 사용 흐름을 문서로 남긴다. 신고하지 않은 증여는 증여세뿐 아니라 향후 상속 시 사전증여 합산 · 가산세 문제로 이어진다.</a:t>
            </a:r>
            <a:endParaRPr lang="en-US" sz="1060" dirty="0"/>
          </a:p>
        </p:txBody>
      </p:sp>
      <p:sp>
        <p:nvSpPr>
          <p:cNvPr id="29" name="Text 27"/>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0" name="Text 28"/>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III  상속 · 증여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가업승계 — 두 갈래 트랙</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생전 주식증여 특례와 사후 가업상속공제를 함께 설계한다</a:t>
            </a:r>
            <a:endParaRPr lang="en-US" sz="1250" dirty="0"/>
          </a:p>
        </p:txBody>
      </p:sp>
      <p:sp>
        <p:nvSpPr>
          <p:cNvPr id="6" name="Shape 4"/>
          <p:cNvSpPr/>
          <p:nvPr/>
        </p:nvSpPr>
        <p:spPr>
          <a:xfrm>
            <a:off x="566928" y="1627632"/>
            <a:ext cx="5358384" cy="3200400"/>
          </a:xfrm>
          <a:prstGeom prst="rect">
            <a:avLst/>
          </a:prstGeom>
          <a:solidFill>
            <a:srgbClr val="FFFFFF"/>
          </a:solidFill>
          <a:ln w="9525">
            <a:solidFill>
              <a:srgbClr val="CDCECB"/>
            </a:solidFill>
            <a:prstDash val="solid"/>
          </a:ln>
        </p:spPr>
      </p:sp>
      <p:sp>
        <p:nvSpPr>
          <p:cNvPr id="7" name="Shape 5"/>
          <p:cNvSpPr/>
          <p:nvPr/>
        </p:nvSpPr>
        <p:spPr>
          <a:xfrm>
            <a:off x="566928" y="1627632"/>
            <a:ext cx="5358384" cy="384048"/>
          </a:xfrm>
          <a:prstGeom prst="rect">
            <a:avLst/>
          </a:prstGeom>
          <a:solidFill>
            <a:srgbClr val="ECEFF4"/>
          </a:solidFill>
          <a:ln/>
        </p:spPr>
      </p:sp>
      <p:sp>
        <p:nvSpPr>
          <p:cNvPr id="8" name="Text 6"/>
          <p:cNvSpPr/>
          <p:nvPr/>
        </p:nvSpPr>
        <p:spPr>
          <a:xfrm>
            <a:off x="749808" y="1627632"/>
            <a:ext cx="4992624" cy="384048"/>
          </a:xfrm>
          <a:prstGeom prst="rect">
            <a:avLst/>
          </a:prstGeom>
          <a:noFill/>
          <a:ln/>
        </p:spPr>
        <p:txBody>
          <a:bodyPr wrap="square" lIns="0" tIns="0" rIns="0" bIns="0" rtlCol="0" anchor="ctr"/>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트랙 A · 가업승계 증여세 특례</a:t>
            </a:r>
            <a:endParaRPr lang="en-US" sz="1250" dirty="0"/>
          </a:p>
        </p:txBody>
      </p:sp>
      <p:sp>
        <p:nvSpPr>
          <p:cNvPr id="9" name="Text 7"/>
          <p:cNvSpPr/>
          <p:nvPr/>
        </p:nvSpPr>
        <p:spPr>
          <a:xfrm>
            <a:off x="749808" y="2139696"/>
            <a:ext cx="4992624" cy="256032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대표가 생전에 자녀에게 주식을 증여하는 방식(조세특례제한법)</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과세가액 600억원 한도, 120억원까지 10% · 초과분 20% 저율 과세</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증여자 60세 이상 · 10년 이상 계속 경영, 수증자 18세 이상</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신고기한까지 가업 종사, 3년 이내 대표이사 취임</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사후관리 5년 — 가업 유지 및 지분 유지 의무</a:t>
            </a:r>
            <a:endParaRPr lang="en-US" sz="1050" dirty="0"/>
          </a:p>
          <a:p>
            <a:pPr marL="342900" indent="-342900">
              <a:lnSpc>
                <a:spcPct val="120000"/>
              </a:lnSpc>
              <a:spcAft>
                <a:spcPts val="6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연부연납 활용 가능 — 자금 부담을 분산</a:t>
            </a:r>
            <a:endParaRPr lang="en-US" sz="1050" dirty="0"/>
          </a:p>
        </p:txBody>
      </p:sp>
      <p:sp>
        <p:nvSpPr>
          <p:cNvPr id="10" name="Shape 8"/>
          <p:cNvSpPr/>
          <p:nvPr/>
        </p:nvSpPr>
        <p:spPr>
          <a:xfrm>
            <a:off x="6254496" y="1627632"/>
            <a:ext cx="5370271" cy="3200400"/>
          </a:xfrm>
          <a:prstGeom prst="rect">
            <a:avLst/>
          </a:prstGeom>
          <a:solidFill>
            <a:srgbClr val="FFFFFF"/>
          </a:solidFill>
          <a:ln w="9525">
            <a:solidFill>
              <a:srgbClr val="CDCECB"/>
            </a:solidFill>
            <a:prstDash val="solid"/>
          </a:ln>
        </p:spPr>
      </p:sp>
      <p:sp>
        <p:nvSpPr>
          <p:cNvPr id="11" name="Shape 9"/>
          <p:cNvSpPr/>
          <p:nvPr/>
        </p:nvSpPr>
        <p:spPr>
          <a:xfrm>
            <a:off x="6254496" y="1627632"/>
            <a:ext cx="5370271" cy="384048"/>
          </a:xfrm>
          <a:prstGeom prst="rect">
            <a:avLst/>
          </a:prstGeom>
          <a:solidFill>
            <a:srgbClr val="ECEFF4"/>
          </a:solidFill>
          <a:ln/>
        </p:spPr>
      </p:sp>
      <p:sp>
        <p:nvSpPr>
          <p:cNvPr id="12" name="Text 10"/>
          <p:cNvSpPr/>
          <p:nvPr/>
        </p:nvSpPr>
        <p:spPr>
          <a:xfrm>
            <a:off x="6437376" y="1627632"/>
            <a:ext cx="5004511" cy="384048"/>
          </a:xfrm>
          <a:prstGeom prst="rect">
            <a:avLst/>
          </a:prstGeom>
          <a:noFill/>
          <a:ln/>
        </p:spPr>
        <p:txBody>
          <a:bodyPr wrap="square" lIns="0" tIns="0" rIns="0" bIns="0" rtlCol="0" anchor="ctr"/>
          <a:lstStyle/>
          <a:p>
            <a:pPr algn="l" indent="0" marL="0">
              <a:lnSpc>
                <a:spcPct val="124000"/>
              </a:lnSpc>
              <a:buNone/>
            </a:pPr>
            <a:r>
              <a:rPr lang="en-US" sz="1250" b="1" dirty="0">
                <a:solidFill>
                  <a:srgbClr val="F58220"/>
                </a:solidFill>
                <a:latin typeface="Spoqa Han Sans Neo" pitchFamily="34" charset="0"/>
                <a:ea typeface="Spoqa Han Sans Neo" pitchFamily="34" charset="-122"/>
                <a:cs typeface="Spoqa Han Sans Neo" pitchFamily="34" charset="-120"/>
              </a:rPr>
              <a:t>트랙 B · 가업상속공제</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37376" y="2139696"/>
          <a:ext cx="9144000" cy="914400"/>
        </p:xfrm>
        <a:graphic>
          <a:graphicData uri="http://schemas.openxmlformats.org/drawingml/2006/table">
            <a:tbl>
              <a:tblPr/>
              <a:tblGrid>
                <a:gridCol w="3017520"/>
                <a:gridCol w="1883664"/>
              </a:tblGrid>
              <a:tr h="310896">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피상속인 경영기간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r" indent="0" marL="0">
                        <a:buNone/>
                      </a:pPr>
                      <a:r>
                        <a:rPr lang="en-US" sz="1040" b="1" dirty="0">
                          <a:solidFill>
                            <a:srgbClr val="1A1A1A"/>
                          </a:solidFill>
                          <a:latin typeface="Spoqa Han Sans Neo" pitchFamily="34" charset="0"/>
                          <a:ea typeface="Spoqa Han Sans Neo" pitchFamily="34" charset="-122"/>
                          <a:cs typeface="Spoqa Han Sans Neo" pitchFamily="34" charset="-120"/>
                        </a:rPr>
                        <a:t>공제 한도</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10896">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10년 이상</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40" dirty="0">
                          <a:solidFill>
                            <a:srgbClr val="3D3D3D"/>
                          </a:solidFill>
                          <a:latin typeface="Spoqa Han Sans Neo" pitchFamily="34" charset="0"/>
                          <a:ea typeface="Spoqa Han Sans Neo" pitchFamily="34" charset="-122"/>
                          <a:cs typeface="Spoqa Han Sans Neo" pitchFamily="34" charset="-120"/>
                        </a:rPr>
                        <a:t>300억원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40" dirty="0">
                          <a:solidFill>
                            <a:srgbClr val="3D3D3D"/>
                          </a:solidFill>
                          <a:latin typeface="Spoqa Han Sans Neo" pitchFamily="34" charset="0"/>
                          <a:ea typeface="Spoqa Han Sans Neo" pitchFamily="34" charset="-122"/>
                          <a:cs typeface="Spoqa Han Sans Neo" pitchFamily="34" charset="-120"/>
                        </a:rPr>
                        <a:t>20년 이상</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r" indent="0" marL="0">
                        <a:buNone/>
                      </a:pPr>
                      <a:r>
                        <a:rPr lang="en-US" sz="1040" dirty="0">
                          <a:solidFill>
                            <a:srgbClr val="3D3D3D"/>
                          </a:solidFill>
                          <a:latin typeface="Spoqa Han Sans Neo" pitchFamily="34" charset="0"/>
                          <a:ea typeface="Spoqa Han Sans Neo" pitchFamily="34" charset="-122"/>
                          <a:cs typeface="Spoqa Han Sans Neo" pitchFamily="34" charset="-120"/>
                        </a:rPr>
                        <a:t>400억원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l" indent="0" marL="0">
                        <a:buNone/>
                      </a:pPr>
                      <a:r>
                        <a:rPr lang="en-US" sz="1040" b="1" dirty="0">
                          <a:solidFill>
                            <a:srgbClr val="3D3D3D"/>
                          </a:solidFill>
                          <a:latin typeface="Spoqa Han Sans Neo" pitchFamily="34" charset="0"/>
                          <a:ea typeface="Spoqa Han Sans Neo" pitchFamily="34" charset="-122"/>
                          <a:cs typeface="Spoqa Han Sans Neo" pitchFamily="34" charset="-120"/>
                        </a:rPr>
                        <a:t>30년 이상</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r" indent="0" marL="0">
                        <a:buNone/>
                      </a:pPr>
                      <a:r>
                        <a:rPr lang="en-US" sz="1040" b="1" dirty="0">
                          <a:solidFill>
                            <a:srgbClr val="3D3D3D"/>
                          </a:solidFill>
                          <a:latin typeface="Spoqa Han Sans Neo" pitchFamily="34" charset="0"/>
                          <a:ea typeface="Spoqa Han Sans Neo" pitchFamily="34" charset="-122"/>
                          <a:cs typeface="Spoqa Han Sans Neo" pitchFamily="34" charset="-120"/>
                        </a:rPr>
                        <a:t>600억원</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14" name="Text 11"/>
          <p:cNvSpPr/>
          <p:nvPr/>
        </p:nvSpPr>
        <p:spPr>
          <a:xfrm>
            <a:off x="6437376" y="3493008"/>
            <a:ext cx="5004511" cy="123444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중소 · 중견기업(매출 5,000억원 미만) 대상</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상속인 2년 이상 가업 종사 + 신고기한까지 임원 취임</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사후관리 5년 — 가업 · 지분 · 고용(정규직 90% 또는 총급여 90%) 유지</a:t>
            </a:r>
            <a:endParaRPr lang="en-US" sz="1040" dirty="0"/>
          </a:p>
          <a:p>
            <a:pPr marL="342900" indent="-342900">
              <a:lnSpc>
                <a:spcPct val="120000"/>
              </a:lnSpc>
              <a:spcAft>
                <a:spcPts val="500"/>
              </a:spcAft>
              <a:buSzPct val="100000"/>
              <a:buChar char="•"/>
            </a:pPr>
            <a:r>
              <a:rPr lang="en-US" sz="1040" dirty="0">
                <a:solidFill>
                  <a:srgbClr val="3D3D3D"/>
                </a:solidFill>
                <a:latin typeface="Spoqa Han Sans Neo" pitchFamily="34" charset="0"/>
                <a:ea typeface="Spoqa Han Sans Neo" pitchFamily="34" charset="-122"/>
                <a:cs typeface="Spoqa Han Sans Neo" pitchFamily="34" charset="-120"/>
              </a:rPr>
              <a:t>요건 위반 시 공제받은 세액과 이자상당액 추징</a:t>
            </a:r>
            <a:endParaRPr lang="en-US" sz="1040" dirty="0"/>
          </a:p>
        </p:txBody>
      </p:sp>
      <p:sp>
        <p:nvSpPr>
          <p:cNvPr id="15" name="Shape 12"/>
          <p:cNvSpPr/>
          <p:nvPr/>
        </p:nvSpPr>
        <p:spPr>
          <a:xfrm>
            <a:off x="566928" y="4956048"/>
            <a:ext cx="11057839" cy="1152144"/>
          </a:xfrm>
          <a:prstGeom prst="rect">
            <a:avLst/>
          </a:prstGeom>
          <a:solidFill>
            <a:srgbClr val="F58220"/>
          </a:solidFill>
          <a:ln/>
        </p:spPr>
      </p:sp>
      <p:sp>
        <p:nvSpPr>
          <p:cNvPr id="16" name="Text 13"/>
          <p:cNvSpPr/>
          <p:nvPr/>
        </p:nvSpPr>
        <p:spPr>
          <a:xfrm>
            <a:off x="786384" y="5065776"/>
            <a:ext cx="10618927" cy="256032"/>
          </a:xfrm>
          <a:prstGeom prst="rect">
            <a:avLst/>
          </a:prstGeom>
          <a:noFill/>
          <a:ln/>
        </p:spPr>
        <p:txBody>
          <a:bodyPr wrap="square" lIns="0" tIns="0" rIns="0" bIns="0" rtlCol="0" anchor="ctr"/>
          <a:lstStyle/>
          <a:p>
            <a:pP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실무 순서 — 요건이 아니라 시간이 관건이다</a:t>
            </a:r>
            <a:endParaRPr lang="en-US" sz="1250" dirty="0"/>
          </a:p>
        </p:txBody>
      </p:sp>
      <p:sp>
        <p:nvSpPr>
          <p:cNvPr id="17" name="Text 14"/>
          <p:cNvSpPr/>
          <p:nvPr/>
        </p:nvSpPr>
        <p:spPr>
          <a:xfrm>
            <a:off x="786384" y="5321808"/>
            <a:ext cx="10618927" cy="694944"/>
          </a:xfrm>
          <a:prstGeom prst="rect">
            <a:avLst/>
          </a:prstGeom>
          <a:noFill/>
          <a:ln/>
        </p:spPr>
        <p:txBody>
          <a:bodyPr wrap="square" lIns="0" tIns="0" rIns="0" bIns="0" rtlCol="0" anchor="t"/>
          <a:lstStyle/>
          <a:p>
            <a:pPr indent="0" marL="0">
              <a:lnSpc>
                <a:spcPct val="120000"/>
              </a:lnSpc>
              <a:buNone/>
            </a:pPr>
            <a:r>
              <a:rPr lang="en-US" sz="1020" dirty="0">
                <a:solidFill>
                  <a:srgbClr val="FFFFFF"/>
                </a:solidFill>
                <a:latin typeface="Spoqa Han Sans Neo" pitchFamily="34" charset="0"/>
                <a:ea typeface="Spoqa Han Sans Neo" pitchFamily="34" charset="-122"/>
                <a:cs typeface="Spoqa Han Sans Neo" pitchFamily="34" charset="-120"/>
              </a:rPr>
              <a:t>① 지분율 · 대표이사 재직 요건은 하루아침에 만들 수 없다. 승계 논의 시작 시점에 요건 충족 여부를 먼저 진단한다.  ② 주식 가치가 낮을 때(실적 하락기, 사업 초기) 증여하는 것이 절대적으로 유리하다.  ③ 가업승계 세제는 최근 수년간 요건 완화와 사후관리 기간 단축이 이어지고 있어, 실행 직전 최신 규정을 반드시 재확인해야 한다.</a:t>
            </a:r>
            <a:endParaRPr lang="en-US" sz="1020" dirty="0"/>
          </a:p>
        </p:txBody>
      </p:sp>
      <p:sp>
        <p:nvSpPr>
          <p:cNvPr id="18" name="Text 15"/>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9" name="Text 16"/>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IV  법인 · 금융투자</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2026년 법인세율 — 전 구간 1%p 인상</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2026년 1월 1일 이후 개시하는 사업연도부터 적용</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468880"/>
                <a:gridCol w="1097280"/>
                <a:gridCol w="1097280"/>
                <a:gridCol w="1371600"/>
              </a:tblGrid>
              <a:tr h="347472">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과세표준</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2025년</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2026년</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지방세 포함</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47472">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2억원 이하</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9%</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11.0%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47472">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2억원 ~ 200억원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19%</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22.0%</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47472">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200억원 ~ 3,000억원</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21%</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22%</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24.2%</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47472">
                <a:tc>
                  <a:txBody>
                    <a:bodyPr/>
                    <a:lstStyle/>
                    <a:p>
                      <a:pPr algn="l" indent="0" marL="0">
                        <a:buNone/>
                      </a:pPr>
                      <a:r>
                        <a:rPr lang="en-US" sz="1080" b="1" dirty="0">
                          <a:solidFill>
                            <a:srgbClr val="3D3D3D"/>
                          </a:solidFill>
                          <a:latin typeface="Spoqa Han Sans Neo" pitchFamily="34" charset="0"/>
                          <a:ea typeface="Spoqa Han Sans Neo" pitchFamily="34" charset="-122"/>
                          <a:cs typeface="Spoqa Han Sans Neo" pitchFamily="34" charset="-120"/>
                        </a:rPr>
                        <a:t>3,000억원 초과</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24%</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25%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3D3D3D"/>
                          </a:solidFill>
                          <a:latin typeface="Spoqa Han Sans Neo" pitchFamily="34" charset="0"/>
                          <a:ea typeface="Spoqa Han Sans Neo" pitchFamily="34" charset="-122"/>
                          <a:cs typeface="Spoqa Han Sans Neo" pitchFamily="34" charset="-120"/>
                        </a:rPr>
                        <a:t>27.5%</a:t>
                      </a:r>
                      <a:endParaRPr lang="en-US" sz="108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7" name="Text 4"/>
          <p:cNvSpPr/>
          <p:nvPr/>
        </p:nvSpPr>
        <p:spPr>
          <a:xfrm>
            <a:off x="566928" y="3401568"/>
            <a:ext cx="603504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2022년 세제개편으로 1%p 인하했던 세율을 환원한 조치다. 12월 결산법인의 실제 신고는 2027년 3월.</a:t>
            </a:r>
            <a:endParaRPr lang="en-US" sz="900" dirty="0"/>
          </a:p>
        </p:txBody>
      </p:sp>
      <p:graphicFrame>
        <p:nvGraphicFramePr>
          <p:cNvPr id="8" name="Chart 0" descr=""/>
          <p:cNvGraphicFramePr/>
          <p:nvPr/>
        </p:nvGraphicFramePr>
        <p:xfrm>
          <a:off x="566928" y="3794760"/>
          <a:ext cx="6035040" cy="21945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858000" y="1645920"/>
            <a:ext cx="4766767" cy="1188720"/>
          </a:xfrm>
          <a:prstGeom prst="rect">
            <a:avLst/>
          </a:prstGeom>
          <a:solidFill>
            <a:srgbClr val="FFFFFF"/>
          </a:solidFill>
          <a:ln w="9525">
            <a:solidFill>
              <a:srgbClr val="CDCECB"/>
            </a:solidFill>
            <a:prstDash val="solid"/>
          </a:ln>
        </p:spPr>
      </p:sp>
      <p:sp>
        <p:nvSpPr>
          <p:cNvPr id="10" name="Text 6"/>
          <p:cNvSpPr/>
          <p:nvPr/>
        </p:nvSpPr>
        <p:spPr>
          <a:xfrm>
            <a:off x="7022592" y="1773936"/>
            <a:ext cx="4437583" cy="219456"/>
          </a:xfrm>
          <a:prstGeom prst="rect">
            <a:avLst/>
          </a:prstGeom>
          <a:noFill/>
          <a:ln/>
        </p:spPr>
        <p:txBody>
          <a:bodyPr wrap="square" lIns="0" tIns="0" rIns="0" bIns="0" rtlCol="0" anchor="ctr"/>
          <a:lstStyle/>
          <a:p>
            <a:pPr indent="0" marL="0">
              <a:buNone/>
            </a:pPr>
            <a:r>
              <a:rPr lang="en-US" sz="1000" b="1" spc="40" kern="0" dirty="0">
                <a:solidFill>
                  <a:srgbClr val="6C6C6C"/>
                </a:solidFill>
                <a:latin typeface="Spoqa Han Sans Neo" pitchFamily="34" charset="0"/>
                <a:ea typeface="Spoqa Han Sans Neo" pitchFamily="34" charset="-122"/>
                <a:cs typeface="Spoqa Han Sans Neo" pitchFamily="34" charset="-120"/>
              </a:rPr>
              <a:t>과세표준 10억원 법인</a:t>
            </a:r>
            <a:endParaRPr lang="en-US" sz="1000" dirty="0"/>
          </a:p>
        </p:txBody>
      </p:sp>
      <p:sp>
        <p:nvSpPr>
          <p:cNvPr id="11" name="Text 7"/>
          <p:cNvSpPr/>
          <p:nvPr/>
        </p:nvSpPr>
        <p:spPr>
          <a:xfrm>
            <a:off x="7022592" y="1975104"/>
            <a:ext cx="4437583" cy="438912"/>
          </a:xfrm>
          <a:prstGeom prst="rect">
            <a:avLst/>
          </a:prstGeom>
          <a:noFill/>
          <a:ln/>
        </p:spPr>
        <p:txBody>
          <a:bodyPr wrap="square" lIns="0" tIns="0" rIns="0" bIns="0" rtlCol="0" anchor="ctr"/>
          <a:lstStyle/>
          <a:p>
            <a:pPr indent="0" marL="0">
              <a:buNone/>
            </a:pPr>
            <a:r>
              <a:rPr lang="en-US" sz="2400" b="1" spc="-60" kern="0" dirty="0">
                <a:solidFill>
                  <a:srgbClr val="F58220"/>
                </a:solidFill>
                <a:latin typeface="Spoqa Han Sans Neo" pitchFamily="34" charset="0"/>
                <a:ea typeface="Spoqa Han Sans Neo" pitchFamily="34" charset="-122"/>
                <a:cs typeface="Spoqa Han Sans Neo" pitchFamily="34" charset="-120"/>
              </a:rPr>
              <a:t>약 1,100만원</a:t>
            </a:r>
            <a:endParaRPr lang="en-US" sz="2400" dirty="0"/>
          </a:p>
        </p:txBody>
      </p:sp>
      <p:sp>
        <p:nvSpPr>
          <p:cNvPr id="12" name="Text 8"/>
          <p:cNvSpPr/>
          <p:nvPr/>
        </p:nvSpPr>
        <p:spPr>
          <a:xfrm>
            <a:off x="7022592" y="2432304"/>
            <a:ext cx="4437583" cy="329184"/>
          </a:xfrm>
          <a:prstGeom prst="rect">
            <a:avLst/>
          </a:prstGeom>
          <a:noFill/>
          <a:ln/>
        </p:spPr>
        <p:txBody>
          <a:bodyPr wrap="square" lIns="0" tIns="0" rIns="0" bIns="0" rtlCol="0" anchor="t"/>
          <a:lstStyle/>
          <a:p>
            <a:pPr indent="0" marL="0">
              <a:lnSpc>
                <a:spcPct val="116000"/>
              </a:lnSpc>
              <a:buNone/>
            </a:pPr>
            <a:r>
              <a:rPr lang="en-US" sz="1000" dirty="0">
                <a:solidFill>
                  <a:srgbClr val="3D3D3D"/>
                </a:solidFill>
                <a:latin typeface="Spoqa Han Sans Neo" pitchFamily="34" charset="0"/>
                <a:ea typeface="Spoqa Han Sans Neo" pitchFamily="34" charset="-122"/>
                <a:cs typeface="Spoqa Han Sans Neo" pitchFamily="34" charset="-120"/>
              </a:rPr>
              <a:t>지방소득세 포함 연간 추가 부담 (1억 7,000만원 → 1억 8,000만원)</a:t>
            </a:r>
            <a:endParaRPr lang="en-US" sz="1000" dirty="0"/>
          </a:p>
        </p:txBody>
      </p:sp>
      <p:sp>
        <p:nvSpPr>
          <p:cNvPr id="13" name="Text 9"/>
          <p:cNvSpPr/>
          <p:nvPr/>
        </p:nvSpPr>
        <p:spPr>
          <a:xfrm>
            <a:off x="6858000" y="2999232"/>
            <a:ext cx="4766767" cy="256032"/>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대응 우선순위</a:t>
            </a:r>
            <a:endParaRPr lang="en-US" sz="1250" dirty="0"/>
          </a:p>
        </p:txBody>
      </p:sp>
      <p:sp>
        <p:nvSpPr>
          <p:cNvPr id="14" name="Text 10"/>
          <p:cNvSpPr/>
          <p:nvPr/>
        </p:nvSpPr>
        <p:spPr>
          <a:xfrm>
            <a:off x="6858000" y="3346704"/>
            <a:ext cx="4766767" cy="2377440"/>
          </a:xfrm>
          <a:prstGeom prst="rect">
            <a:avLst/>
          </a:prstGeom>
          <a:noFill/>
          <a:ln/>
        </p:spPr>
        <p:txBody>
          <a:bodyPr wrap="square" lIns="0" tIns="0" rIns="0" bIns="0" rtlCol="0" anchor="t"/>
          <a:lstStyle/>
          <a:p>
            <a:pPr marL="342900" indent="-3429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세액공제 · 감면 재점검 — 통합투자 · R&amp;D · 통합고용세액공제</a:t>
            </a:r>
            <a:endParaRPr lang="en-US" sz="1050" dirty="0"/>
          </a:p>
          <a:p>
            <a:pPr marL="342900" indent="-3429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손익 귀속시기 관리 — 매출 인식과 비용 계상 시점 점검</a:t>
            </a:r>
            <a:endParaRPr lang="en-US" sz="1050" dirty="0"/>
          </a:p>
          <a:p>
            <a:pPr marL="342900" indent="-3429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임원 보수 · 상여 · 퇴직급여 규정 정비로 손금 확보</a:t>
            </a:r>
            <a:endParaRPr lang="en-US" sz="1050" dirty="0"/>
          </a:p>
          <a:p>
            <a:pPr marL="342900" indent="-3429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이월결손금(15년) 잔액과 공제 한도 확인</a:t>
            </a:r>
            <a:endParaRPr lang="en-US" sz="1050" dirty="0"/>
          </a:p>
          <a:p>
            <a:pPr marL="342900" indent="-3429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가지급금 정리 — 인정이자 익금산입 · 대표 상여 처분 리스크 제거</a:t>
            </a:r>
            <a:endParaRPr lang="en-US" sz="1050" dirty="0"/>
          </a:p>
          <a:p>
            <a:pPr marL="342900" indent="-3429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배당 · 급여 구조 재설계로 개인 단계 세부담까지 통합 검토</a:t>
            </a:r>
            <a:endParaRPr lang="en-US" sz="1050" dirty="0"/>
          </a:p>
        </p:txBody>
      </p:sp>
      <p:sp>
        <p:nvSpPr>
          <p:cNvPr id="15" name="Text 11"/>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16" name="Text 12"/>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IV  법인 · 금융투자</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법인세 계산 구조와 신고 일정</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결산서상 이익과 세법상 소득은 다르다</a:t>
            </a:r>
            <a:endParaRPr lang="en-US" sz="1250" dirty="0"/>
          </a:p>
        </p:txBody>
      </p:sp>
      <p:sp>
        <p:nvSpPr>
          <p:cNvPr id="6" name="Shape 4"/>
          <p:cNvSpPr/>
          <p:nvPr/>
        </p:nvSpPr>
        <p:spPr>
          <a:xfrm>
            <a:off x="566928" y="1627632"/>
            <a:ext cx="6400800" cy="493776"/>
          </a:xfrm>
          <a:prstGeom prst="rect">
            <a:avLst/>
          </a:prstGeom>
          <a:solidFill>
            <a:srgbClr val="FFFFFF"/>
          </a:solidFill>
          <a:ln w="9525">
            <a:solidFill>
              <a:srgbClr val="CDCECB"/>
            </a:solidFill>
            <a:prstDash val="solid"/>
          </a:ln>
        </p:spPr>
      </p:sp>
      <p:sp>
        <p:nvSpPr>
          <p:cNvPr id="7" name="Text 5"/>
          <p:cNvSpPr/>
          <p:nvPr/>
        </p:nvSpPr>
        <p:spPr>
          <a:xfrm>
            <a:off x="731520" y="1627632"/>
            <a:ext cx="2743200" cy="493776"/>
          </a:xfrm>
          <a:prstGeom prst="rect">
            <a:avLst/>
          </a:prstGeom>
          <a:noFill/>
          <a:ln/>
        </p:spPr>
        <p:txBody>
          <a:bodyPr wrap="square" lIns="0" tIns="0" rIns="0" bIns="0" rtlCol="0" anchor="ctr"/>
          <a:lstStyle/>
          <a:p>
            <a:pPr algn="l" indent="0" marL="0">
              <a:lnSpc>
                <a:spcPct val="124000"/>
              </a:lnSpc>
              <a:buNone/>
            </a:pPr>
            <a:r>
              <a:rPr lang="en-US" sz="1100" b="1" dirty="0">
                <a:solidFill>
                  <a:srgbClr val="1A1A1A"/>
                </a:solidFill>
                <a:latin typeface="Spoqa Han Sans Neo" pitchFamily="34" charset="0"/>
                <a:ea typeface="Spoqa Han Sans Neo" pitchFamily="34" charset="-122"/>
                <a:cs typeface="Spoqa Han Sans Neo" pitchFamily="34" charset="-120"/>
              </a:rPr>
              <a:t>결산서상 당기순이익</a:t>
            </a:r>
            <a:endParaRPr lang="en-US" sz="1100" dirty="0"/>
          </a:p>
        </p:txBody>
      </p:sp>
      <p:sp>
        <p:nvSpPr>
          <p:cNvPr id="8" name="Text 6"/>
          <p:cNvSpPr/>
          <p:nvPr/>
        </p:nvSpPr>
        <p:spPr>
          <a:xfrm>
            <a:off x="3529584" y="1627632"/>
            <a:ext cx="3291840" cy="493776"/>
          </a:xfrm>
          <a:prstGeom prst="rect">
            <a:avLst/>
          </a:prstGeom>
          <a:noFill/>
          <a:ln/>
        </p:spPr>
        <p:txBody>
          <a:bodyPr wrap="square" lIns="0" tIns="0" rIns="0" bIns="0" rtlCol="0" anchor="ctr"/>
          <a:lstStyle/>
          <a:p>
            <a:pPr algn="l" indent="0" marL="0">
              <a:lnSpc>
                <a:spcPct val="108000"/>
              </a:lnSpc>
              <a:buNone/>
            </a:pPr>
            <a:r>
              <a:rPr lang="en-US" sz="960" dirty="0">
                <a:solidFill>
                  <a:srgbClr val="3D3D3D"/>
                </a:solidFill>
                <a:latin typeface="Spoqa Han Sans Neo" pitchFamily="34" charset="0"/>
                <a:ea typeface="Spoqa Han Sans Neo" pitchFamily="34" charset="-122"/>
                <a:cs typeface="Spoqa Han Sans Neo" pitchFamily="34" charset="-120"/>
              </a:rPr>
              <a:t>회계상 이익 — 출발점</a:t>
            </a:r>
            <a:endParaRPr lang="en-US" sz="960" dirty="0"/>
          </a:p>
        </p:txBody>
      </p:sp>
      <p:sp>
        <p:nvSpPr>
          <p:cNvPr id="9" name="Shape 7"/>
          <p:cNvSpPr/>
          <p:nvPr/>
        </p:nvSpPr>
        <p:spPr>
          <a:xfrm>
            <a:off x="566928" y="2194560"/>
            <a:ext cx="6400800" cy="493776"/>
          </a:xfrm>
          <a:prstGeom prst="rect">
            <a:avLst/>
          </a:prstGeom>
          <a:solidFill>
            <a:srgbClr val="FFFFFF"/>
          </a:solidFill>
          <a:ln w="9525">
            <a:solidFill>
              <a:srgbClr val="CDCECB"/>
            </a:solidFill>
            <a:prstDash val="solid"/>
          </a:ln>
        </p:spPr>
      </p:sp>
      <p:sp>
        <p:nvSpPr>
          <p:cNvPr id="10" name="Text 8"/>
          <p:cNvSpPr/>
          <p:nvPr/>
        </p:nvSpPr>
        <p:spPr>
          <a:xfrm>
            <a:off x="731520" y="2194560"/>
            <a:ext cx="2743200" cy="493776"/>
          </a:xfrm>
          <a:prstGeom prst="rect">
            <a:avLst/>
          </a:prstGeom>
          <a:noFill/>
          <a:ln/>
        </p:spPr>
        <p:txBody>
          <a:bodyPr wrap="square" lIns="0" tIns="0" rIns="0" bIns="0" rtlCol="0" anchor="ctr"/>
          <a:lstStyle/>
          <a:p>
            <a:pPr algn="l" indent="0" marL="0">
              <a:lnSpc>
                <a:spcPct val="124000"/>
              </a:lnSpc>
              <a:buNone/>
            </a:pPr>
            <a:r>
              <a:rPr lang="en-US" sz="1100" b="1" dirty="0">
                <a:solidFill>
                  <a:srgbClr val="1A1A1A"/>
                </a:solidFill>
                <a:latin typeface="Spoqa Han Sans Neo" pitchFamily="34" charset="0"/>
                <a:ea typeface="Spoqa Han Sans Neo" pitchFamily="34" charset="-122"/>
                <a:cs typeface="Spoqa Han Sans Neo" pitchFamily="34" charset="-120"/>
              </a:rPr>
              <a:t>+ 익금산입 · 손금불산입</a:t>
            </a:r>
            <a:endParaRPr lang="en-US" sz="1100" dirty="0"/>
          </a:p>
        </p:txBody>
      </p:sp>
      <p:sp>
        <p:nvSpPr>
          <p:cNvPr id="11" name="Text 9"/>
          <p:cNvSpPr/>
          <p:nvPr/>
        </p:nvSpPr>
        <p:spPr>
          <a:xfrm>
            <a:off x="3529584" y="2194560"/>
            <a:ext cx="3291840" cy="493776"/>
          </a:xfrm>
          <a:prstGeom prst="rect">
            <a:avLst/>
          </a:prstGeom>
          <a:noFill/>
          <a:ln/>
        </p:spPr>
        <p:txBody>
          <a:bodyPr wrap="square" lIns="0" tIns="0" rIns="0" bIns="0" rtlCol="0" anchor="ctr"/>
          <a:lstStyle/>
          <a:p>
            <a:pPr algn="l" indent="0" marL="0">
              <a:lnSpc>
                <a:spcPct val="108000"/>
              </a:lnSpc>
              <a:buNone/>
            </a:pPr>
            <a:r>
              <a:rPr lang="en-US" sz="960" dirty="0">
                <a:solidFill>
                  <a:srgbClr val="3D3D3D"/>
                </a:solidFill>
                <a:latin typeface="Spoqa Han Sans Neo" pitchFamily="34" charset="0"/>
                <a:ea typeface="Spoqa Han Sans Neo" pitchFamily="34" charset="-122"/>
                <a:cs typeface="Spoqa Han Sans Neo" pitchFamily="34" charset="-120"/>
              </a:rPr>
              <a:t>가지급금 인정이자, 접대비 · 기부금 한도초과, 벌과금, 임원 보수 한도초과</a:t>
            </a:r>
            <a:endParaRPr lang="en-US" sz="960" dirty="0"/>
          </a:p>
        </p:txBody>
      </p:sp>
      <p:sp>
        <p:nvSpPr>
          <p:cNvPr id="12" name="Shape 10"/>
          <p:cNvSpPr/>
          <p:nvPr/>
        </p:nvSpPr>
        <p:spPr>
          <a:xfrm>
            <a:off x="566928" y="2761488"/>
            <a:ext cx="6400800" cy="493776"/>
          </a:xfrm>
          <a:prstGeom prst="rect">
            <a:avLst/>
          </a:prstGeom>
          <a:solidFill>
            <a:srgbClr val="FFFFFF"/>
          </a:solidFill>
          <a:ln w="9525">
            <a:solidFill>
              <a:srgbClr val="CDCECB"/>
            </a:solidFill>
            <a:prstDash val="solid"/>
          </a:ln>
        </p:spPr>
      </p:sp>
      <p:sp>
        <p:nvSpPr>
          <p:cNvPr id="13" name="Text 11"/>
          <p:cNvSpPr/>
          <p:nvPr/>
        </p:nvSpPr>
        <p:spPr>
          <a:xfrm>
            <a:off x="731520" y="2761488"/>
            <a:ext cx="2743200" cy="493776"/>
          </a:xfrm>
          <a:prstGeom prst="rect">
            <a:avLst/>
          </a:prstGeom>
          <a:noFill/>
          <a:ln/>
        </p:spPr>
        <p:txBody>
          <a:bodyPr wrap="square" lIns="0" tIns="0" rIns="0" bIns="0" rtlCol="0" anchor="ctr"/>
          <a:lstStyle/>
          <a:p>
            <a:pPr algn="l" indent="0" marL="0">
              <a:lnSpc>
                <a:spcPct val="124000"/>
              </a:lnSpc>
              <a:buNone/>
            </a:pPr>
            <a:r>
              <a:rPr lang="en-US" sz="1100" b="1" dirty="0">
                <a:solidFill>
                  <a:srgbClr val="1A1A1A"/>
                </a:solidFill>
                <a:latin typeface="Spoqa Han Sans Neo" pitchFamily="34" charset="0"/>
                <a:ea typeface="Spoqa Han Sans Neo" pitchFamily="34" charset="-122"/>
                <a:cs typeface="Spoqa Han Sans Neo" pitchFamily="34" charset="-120"/>
              </a:rPr>
              <a:t>− 손금산입 · 익금불산입</a:t>
            </a:r>
            <a:endParaRPr lang="en-US" sz="1100" dirty="0"/>
          </a:p>
        </p:txBody>
      </p:sp>
      <p:sp>
        <p:nvSpPr>
          <p:cNvPr id="14" name="Text 12"/>
          <p:cNvSpPr/>
          <p:nvPr/>
        </p:nvSpPr>
        <p:spPr>
          <a:xfrm>
            <a:off x="3529584" y="2761488"/>
            <a:ext cx="3291840" cy="493776"/>
          </a:xfrm>
          <a:prstGeom prst="rect">
            <a:avLst/>
          </a:prstGeom>
          <a:noFill/>
          <a:ln/>
        </p:spPr>
        <p:txBody>
          <a:bodyPr wrap="square" lIns="0" tIns="0" rIns="0" bIns="0" rtlCol="0" anchor="ctr"/>
          <a:lstStyle/>
          <a:p>
            <a:pPr algn="l" indent="0" marL="0">
              <a:lnSpc>
                <a:spcPct val="108000"/>
              </a:lnSpc>
              <a:buNone/>
            </a:pPr>
            <a:r>
              <a:rPr lang="en-US" sz="960" dirty="0">
                <a:solidFill>
                  <a:srgbClr val="3D3D3D"/>
                </a:solidFill>
                <a:latin typeface="Spoqa Han Sans Neo" pitchFamily="34" charset="0"/>
                <a:ea typeface="Spoqa Han Sans Neo" pitchFamily="34" charset="-122"/>
                <a:cs typeface="Spoqa Han Sans Neo" pitchFamily="34" charset="-120"/>
              </a:rPr>
              <a:t>수입배당금 익금불산입, 국세 환급금 이자 등</a:t>
            </a:r>
            <a:endParaRPr lang="en-US" sz="960" dirty="0"/>
          </a:p>
        </p:txBody>
      </p:sp>
      <p:sp>
        <p:nvSpPr>
          <p:cNvPr id="15" name="Shape 13"/>
          <p:cNvSpPr/>
          <p:nvPr/>
        </p:nvSpPr>
        <p:spPr>
          <a:xfrm>
            <a:off x="566928" y="3328416"/>
            <a:ext cx="6400800" cy="493776"/>
          </a:xfrm>
          <a:prstGeom prst="rect">
            <a:avLst/>
          </a:prstGeom>
          <a:solidFill>
            <a:srgbClr val="F7F8FA"/>
          </a:solidFill>
          <a:ln w="9525">
            <a:solidFill>
              <a:srgbClr val="CDCECB"/>
            </a:solidFill>
            <a:prstDash val="solid"/>
          </a:ln>
        </p:spPr>
      </p:sp>
      <p:sp>
        <p:nvSpPr>
          <p:cNvPr id="16" name="Text 14"/>
          <p:cNvSpPr/>
          <p:nvPr/>
        </p:nvSpPr>
        <p:spPr>
          <a:xfrm>
            <a:off x="731520" y="3328416"/>
            <a:ext cx="2743200" cy="493776"/>
          </a:xfrm>
          <a:prstGeom prst="rect">
            <a:avLst/>
          </a:prstGeom>
          <a:noFill/>
          <a:ln/>
        </p:spPr>
        <p:txBody>
          <a:bodyPr wrap="square" lIns="0" tIns="0" rIns="0" bIns="0" rtlCol="0" anchor="ctr"/>
          <a:lstStyle/>
          <a:p>
            <a:pPr algn="l" indent="0" marL="0">
              <a:lnSpc>
                <a:spcPct val="124000"/>
              </a:lnSpc>
              <a:buNone/>
            </a:pPr>
            <a:r>
              <a:rPr lang="en-US" sz="1100" b="1" dirty="0">
                <a:solidFill>
                  <a:srgbClr val="043B72"/>
                </a:solidFill>
                <a:latin typeface="Spoqa Han Sans Neo" pitchFamily="34" charset="0"/>
                <a:ea typeface="Spoqa Han Sans Neo" pitchFamily="34" charset="-122"/>
                <a:cs typeface="Spoqa Han Sans Neo" pitchFamily="34" charset="-120"/>
              </a:rPr>
              <a:t>= 각 사업연도 소득금액</a:t>
            </a:r>
            <a:endParaRPr lang="en-US" sz="1100" dirty="0"/>
          </a:p>
        </p:txBody>
      </p:sp>
      <p:sp>
        <p:nvSpPr>
          <p:cNvPr id="17" name="Text 15"/>
          <p:cNvSpPr/>
          <p:nvPr/>
        </p:nvSpPr>
        <p:spPr>
          <a:xfrm>
            <a:off x="3529584" y="3328416"/>
            <a:ext cx="3291840" cy="493776"/>
          </a:xfrm>
          <a:prstGeom prst="rect">
            <a:avLst/>
          </a:prstGeom>
          <a:noFill/>
          <a:ln/>
        </p:spPr>
        <p:txBody>
          <a:bodyPr wrap="square" lIns="0" tIns="0" rIns="0" bIns="0" rtlCol="0" anchor="ctr"/>
          <a:lstStyle/>
          <a:p>
            <a:pPr algn="l" indent="0" marL="0">
              <a:lnSpc>
                <a:spcPct val="108000"/>
              </a:lnSpc>
              <a:buNone/>
            </a:pPr>
            <a:r>
              <a:rPr lang="en-US" sz="960" dirty="0">
                <a:solidFill>
                  <a:srgbClr val="3D3D3D"/>
                </a:solidFill>
                <a:latin typeface="Spoqa Han Sans Neo" pitchFamily="34" charset="0"/>
                <a:ea typeface="Spoqa Han Sans Neo" pitchFamily="34" charset="-122"/>
                <a:cs typeface="Spoqa Han Sans Neo" pitchFamily="34" charset="-120"/>
              </a:rPr>
              <a:t>세법상 소득 확정</a:t>
            </a:r>
            <a:endParaRPr lang="en-US" sz="960" dirty="0"/>
          </a:p>
        </p:txBody>
      </p:sp>
      <p:sp>
        <p:nvSpPr>
          <p:cNvPr id="18" name="Shape 16"/>
          <p:cNvSpPr/>
          <p:nvPr/>
        </p:nvSpPr>
        <p:spPr>
          <a:xfrm>
            <a:off x="566928" y="3895344"/>
            <a:ext cx="6400800" cy="493776"/>
          </a:xfrm>
          <a:prstGeom prst="rect">
            <a:avLst/>
          </a:prstGeom>
          <a:solidFill>
            <a:srgbClr val="FFFFFF"/>
          </a:solidFill>
          <a:ln w="9525">
            <a:solidFill>
              <a:srgbClr val="CDCECB"/>
            </a:solidFill>
            <a:prstDash val="solid"/>
          </a:ln>
        </p:spPr>
      </p:sp>
      <p:sp>
        <p:nvSpPr>
          <p:cNvPr id="19" name="Text 17"/>
          <p:cNvSpPr/>
          <p:nvPr/>
        </p:nvSpPr>
        <p:spPr>
          <a:xfrm>
            <a:off x="731520" y="3895344"/>
            <a:ext cx="2743200" cy="493776"/>
          </a:xfrm>
          <a:prstGeom prst="rect">
            <a:avLst/>
          </a:prstGeom>
          <a:noFill/>
          <a:ln/>
        </p:spPr>
        <p:txBody>
          <a:bodyPr wrap="square" lIns="0" tIns="0" rIns="0" bIns="0" rtlCol="0" anchor="ctr"/>
          <a:lstStyle/>
          <a:p>
            <a:pPr algn="l" indent="0" marL="0">
              <a:lnSpc>
                <a:spcPct val="124000"/>
              </a:lnSpc>
              <a:buNone/>
            </a:pPr>
            <a:r>
              <a:rPr lang="en-US" sz="1100" b="1" dirty="0">
                <a:solidFill>
                  <a:srgbClr val="1A1A1A"/>
                </a:solidFill>
                <a:latin typeface="Spoqa Han Sans Neo" pitchFamily="34" charset="0"/>
                <a:ea typeface="Spoqa Han Sans Neo" pitchFamily="34" charset="-122"/>
                <a:cs typeface="Spoqa Han Sans Neo" pitchFamily="34" charset="-120"/>
              </a:rPr>
              <a:t>− 이월결손금</a:t>
            </a:r>
            <a:endParaRPr lang="en-US" sz="1100" dirty="0"/>
          </a:p>
        </p:txBody>
      </p:sp>
      <p:sp>
        <p:nvSpPr>
          <p:cNvPr id="20" name="Text 18"/>
          <p:cNvSpPr/>
          <p:nvPr/>
        </p:nvSpPr>
        <p:spPr>
          <a:xfrm>
            <a:off x="3529584" y="3895344"/>
            <a:ext cx="3291840" cy="493776"/>
          </a:xfrm>
          <a:prstGeom prst="rect">
            <a:avLst/>
          </a:prstGeom>
          <a:noFill/>
          <a:ln/>
        </p:spPr>
        <p:txBody>
          <a:bodyPr wrap="square" lIns="0" tIns="0" rIns="0" bIns="0" rtlCol="0" anchor="ctr"/>
          <a:lstStyle/>
          <a:p>
            <a:pPr algn="l" indent="0" marL="0">
              <a:lnSpc>
                <a:spcPct val="108000"/>
              </a:lnSpc>
              <a:buNone/>
            </a:pPr>
            <a:r>
              <a:rPr lang="en-US" sz="960" dirty="0">
                <a:solidFill>
                  <a:srgbClr val="3D3D3D"/>
                </a:solidFill>
                <a:latin typeface="Spoqa Han Sans Neo" pitchFamily="34" charset="0"/>
                <a:ea typeface="Spoqa Han Sans Neo" pitchFamily="34" charset="-122"/>
                <a:cs typeface="Spoqa Han Sans Neo" pitchFamily="34" charset="-120"/>
              </a:rPr>
              <a:t>15년 이내 발생분. 중소기업 100%, 일반법인 소득의 80% 한도</a:t>
            </a:r>
            <a:endParaRPr lang="en-US" sz="960" dirty="0"/>
          </a:p>
        </p:txBody>
      </p:sp>
      <p:sp>
        <p:nvSpPr>
          <p:cNvPr id="21" name="Shape 19"/>
          <p:cNvSpPr/>
          <p:nvPr/>
        </p:nvSpPr>
        <p:spPr>
          <a:xfrm>
            <a:off x="566928" y="4462272"/>
            <a:ext cx="6400800" cy="493776"/>
          </a:xfrm>
          <a:prstGeom prst="rect">
            <a:avLst/>
          </a:prstGeom>
          <a:solidFill>
            <a:srgbClr val="F7F8FA"/>
          </a:solidFill>
          <a:ln w="9525">
            <a:solidFill>
              <a:srgbClr val="CDCECB"/>
            </a:solidFill>
            <a:prstDash val="solid"/>
          </a:ln>
        </p:spPr>
      </p:sp>
      <p:sp>
        <p:nvSpPr>
          <p:cNvPr id="22" name="Text 20"/>
          <p:cNvSpPr/>
          <p:nvPr/>
        </p:nvSpPr>
        <p:spPr>
          <a:xfrm>
            <a:off x="731520" y="4462272"/>
            <a:ext cx="2743200" cy="493776"/>
          </a:xfrm>
          <a:prstGeom prst="rect">
            <a:avLst/>
          </a:prstGeom>
          <a:noFill/>
          <a:ln/>
        </p:spPr>
        <p:txBody>
          <a:bodyPr wrap="square" lIns="0" tIns="0" rIns="0" bIns="0" rtlCol="0" anchor="ctr"/>
          <a:lstStyle/>
          <a:p>
            <a:pPr algn="l" indent="0" marL="0">
              <a:lnSpc>
                <a:spcPct val="124000"/>
              </a:lnSpc>
              <a:buNone/>
            </a:pPr>
            <a:r>
              <a:rPr lang="en-US" sz="1100" b="1" dirty="0">
                <a:solidFill>
                  <a:srgbClr val="043B72"/>
                </a:solidFill>
                <a:latin typeface="Spoqa Han Sans Neo" pitchFamily="34" charset="0"/>
                <a:ea typeface="Spoqa Han Sans Neo" pitchFamily="34" charset="-122"/>
                <a:cs typeface="Spoqa Han Sans Neo" pitchFamily="34" charset="-120"/>
              </a:rPr>
              <a:t>= 과세표준 × 세율</a:t>
            </a:r>
            <a:endParaRPr lang="en-US" sz="1100" dirty="0"/>
          </a:p>
        </p:txBody>
      </p:sp>
      <p:sp>
        <p:nvSpPr>
          <p:cNvPr id="23" name="Text 21"/>
          <p:cNvSpPr/>
          <p:nvPr/>
        </p:nvSpPr>
        <p:spPr>
          <a:xfrm>
            <a:off x="3529584" y="4462272"/>
            <a:ext cx="3291840" cy="493776"/>
          </a:xfrm>
          <a:prstGeom prst="rect">
            <a:avLst/>
          </a:prstGeom>
          <a:noFill/>
          <a:ln/>
        </p:spPr>
        <p:txBody>
          <a:bodyPr wrap="square" lIns="0" tIns="0" rIns="0" bIns="0" rtlCol="0" anchor="ctr"/>
          <a:lstStyle/>
          <a:p>
            <a:pPr algn="l" indent="0" marL="0">
              <a:lnSpc>
                <a:spcPct val="108000"/>
              </a:lnSpc>
              <a:buNone/>
            </a:pPr>
            <a:r>
              <a:rPr lang="en-US" sz="960" dirty="0">
                <a:solidFill>
                  <a:srgbClr val="3D3D3D"/>
                </a:solidFill>
                <a:latin typeface="Spoqa Han Sans Neo" pitchFamily="34" charset="0"/>
                <a:ea typeface="Spoqa Han Sans Neo" pitchFamily="34" charset="-122"/>
                <a:cs typeface="Spoqa Han Sans Neo" pitchFamily="34" charset="-120"/>
              </a:rPr>
              <a:t>10% · 20% · 22% · 25% (2026년)</a:t>
            </a:r>
            <a:endParaRPr lang="en-US" sz="960" dirty="0"/>
          </a:p>
        </p:txBody>
      </p:sp>
      <p:sp>
        <p:nvSpPr>
          <p:cNvPr id="24" name="Shape 22"/>
          <p:cNvSpPr/>
          <p:nvPr/>
        </p:nvSpPr>
        <p:spPr>
          <a:xfrm>
            <a:off x="566928" y="5029200"/>
            <a:ext cx="6400800" cy="493776"/>
          </a:xfrm>
          <a:prstGeom prst="rect">
            <a:avLst/>
          </a:prstGeom>
          <a:solidFill>
            <a:srgbClr val="FFFFFF"/>
          </a:solidFill>
          <a:ln w="9525">
            <a:solidFill>
              <a:srgbClr val="CDCECB"/>
            </a:solidFill>
            <a:prstDash val="solid"/>
          </a:ln>
        </p:spPr>
      </p:sp>
      <p:sp>
        <p:nvSpPr>
          <p:cNvPr id="25" name="Text 23"/>
          <p:cNvSpPr/>
          <p:nvPr/>
        </p:nvSpPr>
        <p:spPr>
          <a:xfrm>
            <a:off x="731520" y="5029200"/>
            <a:ext cx="2743200" cy="493776"/>
          </a:xfrm>
          <a:prstGeom prst="rect">
            <a:avLst/>
          </a:prstGeom>
          <a:noFill/>
          <a:ln/>
        </p:spPr>
        <p:txBody>
          <a:bodyPr wrap="square" lIns="0" tIns="0" rIns="0" bIns="0" rtlCol="0" anchor="ctr"/>
          <a:lstStyle/>
          <a:p>
            <a:pPr algn="l" indent="0" marL="0">
              <a:lnSpc>
                <a:spcPct val="124000"/>
              </a:lnSpc>
              <a:buNone/>
            </a:pPr>
            <a:r>
              <a:rPr lang="en-US" sz="1100" b="1" dirty="0">
                <a:solidFill>
                  <a:srgbClr val="1A1A1A"/>
                </a:solidFill>
                <a:latin typeface="Spoqa Han Sans Neo" pitchFamily="34" charset="0"/>
                <a:ea typeface="Spoqa Han Sans Neo" pitchFamily="34" charset="-122"/>
                <a:cs typeface="Spoqa Han Sans Neo" pitchFamily="34" charset="-120"/>
              </a:rPr>
              <a:t>− 세액공제 · 감면 → 최저한세 검토</a:t>
            </a:r>
            <a:endParaRPr lang="en-US" sz="1100" dirty="0"/>
          </a:p>
        </p:txBody>
      </p:sp>
      <p:sp>
        <p:nvSpPr>
          <p:cNvPr id="26" name="Text 24"/>
          <p:cNvSpPr/>
          <p:nvPr/>
        </p:nvSpPr>
        <p:spPr>
          <a:xfrm>
            <a:off x="3529584" y="5029200"/>
            <a:ext cx="3291840" cy="493776"/>
          </a:xfrm>
          <a:prstGeom prst="rect">
            <a:avLst/>
          </a:prstGeom>
          <a:noFill/>
          <a:ln/>
        </p:spPr>
        <p:txBody>
          <a:bodyPr wrap="square" lIns="0" tIns="0" rIns="0" bIns="0" rtlCol="0" anchor="ctr"/>
          <a:lstStyle/>
          <a:p>
            <a:pPr algn="l" indent="0" marL="0">
              <a:lnSpc>
                <a:spcPct val="108000"/>
              </a:lnSpc>
              <a:buNone/>
            </a:pPr>
            <a:r>
              <a:rPr lang="en-US" sz="960" dirty="0">
                <a:solidFill>
                  <a:srgbClr val="3D3D3D"/>
                </a:solidFill>
                <a:latin typeface="Spoqa Han Sans Neo" pitchFamily="34" charset="0"/>
                <a:ea typeface="Spoqa Han Sans Neo" pitchFamily="34" charset="-122"/>
                <a:cs typeface="Spoqa Han Sans Neo" pitchFamily="34" charset="-120"/>
              </a:rPr>
              <a:t>감면 후 세액이 최저한세(중소기업 7%)에 미달하면 그만큼 배제</a:t>
            </a:r>
            <a:endParaRPr lang="en-US" sz="960" dirty="0"/>
          </a:p>
        </p:txBody>
      </p:sp>
      <p:sp>
        <p:nvSpPr>
          <p:cNvPr id="27" name="Text 25"/>
          <p:cNvSpPr/>
          <p:nvPr/>
        </p:nvSpPr>
        <p:spPr>
          <a:xfrm>
            <a:off x="7269480" y="1627632"/>
            <a:ext cx="4355287" cy="256032"/>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12월 결산법인 신고 일정</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269480" y="1956816"/>
          <a:ext cx="9144000" cy="914400"/>
        </p:xfrm>
        <a:graphic>
          <a:graphicData uri="http://schemas.openxmlformats.org/drawingml/2006/table">
            <a:tbl>
              <a:tblPr/>
              <a:tblGrid>
                <a:gridCol w="1280160"/>
                <a:gridCol w="3291840"/>
              </a:tblGrid>
              <a:tr h="310896">
                <a:tc>
                  <a:txBody>
                    <a:bodyPr/>
                    <a:lstStyle/>
                    <a:p>
                      <a:pPr algn="ct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기한</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항목</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1089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3월 31일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법인세 신고 · 납부</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4월 30일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법인 지방소득세 신고</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4월 30일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성실신고확인서 제출 대상 법인</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ctr" indent="0" marL="0">
                        <a:buNone/>
                      </a:pPr>
                      <a:r>
                        <a:rPr lang="en-US" sz="1030" dirty="0">
                          <a:solidFill>
                            <a:srgbClr val="3D3D3D"/>
                          </a:solidFill>
                          <a:latin typeface="Spoqa Han Sans Neo" pitchFamily="34" charset="0"/>
                          <a:ea typeface="Spoqa Han Sans Neo" pitchFamily="34" charset="-122"/>
                          <a:cs typeface="Spoqa Han Sans Neo" pitchFamily="34" charset="-120"/>
                        </a:rPr>
                        <a:t>8월 31일</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dirty="0">
                          <a:solidFill>
                            <a:srgbClr val="3D3D3D"/>
                          </a:solidFill>
                          <a:latin typeface="Spoqa Han Sans Neo" pitchFamily="34" charset="0"/>
                          <a:ea typeface="Spoqa Han Sans Neo" pitchFamily="34" charset="-122"/>
                          <a:cs typeface="Spoqa Han Sans Neo" pitchFamily="34" charset="-120"/>
                        </a:rPr>
                        <a:t>법인세 중간예납</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10896">
                <a:tc>
                  <a:txBody>
                    <a:bodyPr/>
                    <a:lstStyle/>
                    <a:p>
                      <a:pPr algn="ctr" indent="0" marL="0">
                        <a:buNone/>
                      </a:pPr>
                      <a:r>
                        <a:rPr lang="en-US" sz="1030" b="1" dirty="0">
                          <a:solidFill>
                            <a:srgbClr val="3D3D3D"/>
                          </a:solidFill>
                          <a:latin typeface="Spoqa Han Sans Neo" pitchFamily="34" charset="0"/>
                          <a:ea typeface="Spoqa Han Sans Neo" pitchFamily="34" charset="-122"/>
                          <a:cs typeface="Spoqa Han Sans Neo" pitchFamily="34" charset="-120"/>
                        </a:rPr>
                        <a:t>수시</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30" b="1" dirty="0">
                          <a:solidFill>
                            <a:srgbClr val="3D3D3D"/>
                          </a:solidFill>
                          <a:latin typeface="Spoqa Han Sans Neo" pitchFamily="34" charset="0"/>
                          <a:ea typeface="Spoqa Han Sans Neo" pitchFamily="34" charset="-122"/>
                          <a:cs typeface="Spoqa Han Sans Neo" pitchFamily="34" charset="-120"/>
                        </a:rPr>
                        <a:t>원천세 매월 10일(반기납 가능)</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bl>
          </a:graphicData>
        </a:graphic>
      </p:graphicFrame>
      <p:sp>
        <p:nvSpPr>
          <p:cNvPr id="29" name="Shape 26"/>
          <p:cNvSpPr/>
          <p:nvPr/>
        </p:nvSpPr>
        <p:spPr>
          <a:xfrm>
            <a:off x="7269480" y="4005072"/>
            <a:ext cx="4355287" cy="1783080"/>
          </a:xfrm>
          <a:prstGeom prst="rect">
            <a:avLst/>
          </a:prstGeom>
          <a:solidFill>
            <a:srgbClr val="FFFFFF"/>
          </a:solidFill>
          <a:ln w="9525">
            <a:solidFill>
              <a:srgbClr val="CDCECB"/>
            </a:solidFill>
            <a:prstDash val="solid"/>
          </a:ln>
        </p:spPr>
      </p:sp>
      <p:sp>
        <p:nvSpPr>
          <p:cNvPr id="30" name="Text 27"/>
          <p:cNvSpPr/>
          <p:nvPr/>
        </p:nvSpPr>
        <p:spPr>
          <a:xfrm>
            <a:off x="7452360" y="4133088"/>
            <a:ext cx="3989527" cy="256032"/>
          </a:xfrm>
          <a:prstGeom prst="rect">
            <a:avLst/>
          </a:prstGeom>
          <a:noFill/>
          <a:ln/>
        </p:spPr>
        <p:txBody>
          <a:bodyPr wrap="square" lIns="0" tIns="0" rIns="0" bIns="0" rtlCol="0" anchor="t"/>
          <a:lstStyle/>
          <a:p>
            <a:pPr algn="l" indent="0" marL="0">
              <a:lnSpc>
                <a:spcPct val="124000"/>
              </a:lnSpc>
              <a:buNone/>
            </a:pPr>
            <a:r>
              <a:rPr lang="en-US" sz="1200" b="1" dirty="0">
                <a:solidFill>
                  <a:srgbClr val="043B72"/>
                </a:solidFill>
                <a:latin typeface="Spoqa Han Sans Neo" pitchFamily="34" charset="0"/>
                <a:ea typeface="Spoqa Han Sans Neo" pitchFamily="34" charset="-122"/>
                <a:cs typeface="Spoqa Han Sans Neo" pitchFamily="34" charset="-120"/>
              </a:rPr>
              <a:t>결손금 관리가 곧 절세다</a:t>
            </a:r>
            <a:endParaRPr lang="en-US" sz="1200" dirty="0"/>
          </a:p>
        </p:txBody>
      </p:sp>
      <p:sp>
        <p:nvSpPr>
          <p:cNvPr id="31" name="Text 28"/>
          <p:cNvSpPr/>
          <p:nvPr/>
        </p:nvSpPr>
        <p:spPr>
          <a:xfrm>
            <a:off x="7452360" y="4462272"/>
            <a:ext cx="3989527" cy="123444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이월공제 기간 15년 — 초기 손실을 미래 이익과 상계</a:t>
            </a:r>
            <a:endParaRPr lang="en-US" sz="1030" dirty="0"/>
          </a:p>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중소기업은 소득 100% 한도, 일반법인은 80% 한도</a:t>
            </a:r>
            <a:endParaRPr lang="en-US" sz="1030" dirty="0"/>
          </a:p>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결손금 소급공제(중소기업, 직전 1년) 환급 신청 가능</a:t>
            </a:r>
            <a:endParaRPr lang="en-US" sz="1030" dirty="0"/>
          </a:p>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추계 결정 시 이월결손금 공제가 배제되므로 장부 필수</a:t>
            </a:r>
            <a:endParaRPr lang="en-US" sz="1030" dirty="0"/>
          </a:p>
        </p:txBody>
      </p:sp>
      <p:sp>
        <p:nvSpPr>
          <p:cNvPr id="32" name="Text 29"/>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3" name="Text 30"/>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IV  법인 · 금융투자</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법인 계좌로 투자하면 무엇이 달라지는가</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개인은 소득 종류별 과세, 법인은 모두 하나의 소득으로 합산</a:t>
            </a:r>
            <a:endParaRPr lang="en-US" sz="12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9144000" cy="914400"/>
        </p:xfrm>
        <a:graphic>
          <a:graphicData uri="http://schemas.openxmlformats.org/drawingml/2006/table">
            <a:tbl>
              <a:tblPr/>
              <a:tblGrid>
                <a:gridCol w="2468880"/>
                <a:gridCol w="4206240"/>
                <a:gridCol w="4379976"/>
              </a:tblGrid>
              <a:tr h="356616">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항목</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개인</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40" b="1" dirty="0">
                          <a:solidFill>
                            <a:srgbClr val="1A1A1A"/>
                          </a:solidFill>
                          <a:latin typeface="Spoqa Han Sans Neo" pitchFamily="34" charset="0"/>
                          <a:ea typeface="Spoqa Han Sans Neo" pitchFamily="34" charset="-122"/>
                          <a:cs typeface="Spoqa Han Sans Neo" pitchFamily="34" charset="-120"/>
                        </a:rPr>
                        <a:t>법인</a:t>
                      </a:r>
                      <a:endParaRPr lang="en-US" sz="104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56616">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예금 · 채권 이자</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15.4% 원천징수 후 분리 또는 종합과세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14% 원천징수 후 각 사업연도 소득에 합산</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56616">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국내 상장주식 양도차익</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소액주주 비과세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전액 익금 — 법인세 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56616">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해외주식 양도차익</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22% 분류과세(연 250만원 공제)</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익금 합산, 외국납부세액공제 적용</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56616">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배당금</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15.4% 또는 종합과세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익금 합산 후 수입배당금 익금불산입 적용</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56616">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평가손익</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과세 대상 아님(실현 시 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원칙적으로 인정하지 않음 — 처분 · 환매 시 손익 확정</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56616">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손실 처리</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국내주식 손익통산 제한(ISA 내에서만 통산)</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전액 손금, 이월결손금 15년 활용</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7" name="Shape 4"/>
          <p:cNvSpPr/>
          <p:nvPr/>
        </p:nvSpPr>
        <p:spPr>
          <a:xfrm>
            <a:off x="566928" y="4498848"/>
            <a:ext cx="3502152" cy="1572768"/>
          </a:xfrm>
          <a:prstGeom prst="rect">
            <a:avLst/>
          </a:prstGeom>
          <a:solidFill>
            <a:srgbClr val="FFFFFF"/>
          </a:solidFill>
          <a:ln w="9525">
            <a:solidFill>
              <a:srgbClr val="CDCECB"/>
            </a:solidFill>
            <a:prstDash val="solid"/>
          </a:ln>
        </p:spPr>
      </p:sp>
      <p:sp>
        <p:nvSpPr>
          <p:cNvPr id="8" name="Shape 5"/>
          <p:cNvSpPr/>
          <p:nvPr/>
        </p:nvSpPr>
        <p:spPr>
          <a:xfrm>
            <a:off x="566928" y="4498848"/>
            <a:ext cx="3502152" cy="45720"/>
          </a:xfrm>
          <a:prstGeom prst="rect">
            <a:avLst/>
          </a:prstGeom>
          <a:solidFill>
            <a:srgbClr val="043B72"/>
          </a:solidFill>
          <a:ln/>
        </p:spPr>
      </p:sp>
      <p:sp>
        <p:nvSpPr>
          <p:cNvPr id="9" name="Text 6"/>
          <p:cNvSpPr/>
          <p:nvPr/>
        </p:nvSpPr>
        <p:spPr>
          <a:xfrm>
            <a:off x="731520" y="4626864"/>
            <a:ext cx="3172968" cy="256032"/>
          </a:xfrm>
          <a:prstGeom prst="rect">
            <a:avLst/>
          </a:prstGeom>
          <a:noFill/>
          <a:ln/>
        </p:spPr>
        <p:txBody>
          <a:bodyPr wrap="square" lIns="0" tIns="0" rIns="0" bIns="0" rtlCol="0" anchor="t"/>
          <a:lstStyle/>
          <a:p>
            <a:pPr algn="l" indent="0" marL="0">
              <a:lnSpc>
                <a:spcPct val="124000"/>
              </a:lnSpc>
              <a:buNone/>
            </a:pPr>
            <a:r>
              <a:rPr lang="en-US" sz="1200" b="1" dirty="0">
                <a:solidFill>
                  <a:srgbClr val="1A1A1A"/>
                </a:solidFill>
                <a:latin typeface="Spoqa Han Sans Neo" pitchFamily="34" charset="0"/>
                <a:ea typeface="Spoqa Han Sans Neo" pitchFamily="34" charset="-122"/>
                <a:cs typeface="Spoqa Han Sans Neo" pitchFamily="34" charset="-120"/>
              </a:rPr>
              <a:t>법인 계좌의 강점</a:t>
            </a:r>
            <a:endParaRPr lang="en-US" sz="1200" dirty="0"/>
          </a:p>
        </p:txBody>
      </p:sp>
      <p:sp>
        <p:nvSpPr>
          <p:cNvPr id="10" name="Text 7"/>
          <p:cNvSpPr/>
          <p:nvPr/>
        </p:nvSpPr>
        <p:spPr>
          <a:xfrm>
            <a:off x="731520" y="4937760"/>
            <a:ext cx="3172968" cy="1078992"/>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투자 손실을 다른 사업 이익과 상계 가능</a:t>
            </a:r>
            <a:endParaRPr lang="en-US" sz="990" dirty="0"/>
          </a:p>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이월결손금 15년으로 손실의 세금 가치 보존</a:t>
            </a:r>
            <a:endParaRPr lang="en-US" sz="990" dirty="0"/>
          </a:p>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차입이자 · 리서치 비용 등 관련 비용 손금 인정</a:t>
            </a:r>
            <a:endParaRPr lang="en-US" sz="990" dirty="0"/>
          </a:p>
        </p:txBody>
      </p:sp>
      <p:sp>
        <p:nvSpPr>
          <p:cNvPr id="11" name="Shape 8"/>
          <p:cNvSpPr/>
          <p:nvPr/>
        </p:nvSpPr>
        <p:spPr>
          <a:xfrm>
            <a:off x="4361688" y="4498848"/>
            <a:ext cx="3502152" cy="1572768"/>
          </a:xfrm>
          <a:prstGeom prst="rect">
            <a:avLst/>
          </a:prstGeom>
          <a:solidFill>
            <a:srgbClr val="FFFFFF"/>
          </a:solidFill>
          <a:ln w="9525">
            <a:solidFill>
              <a:srgbClr val="CDCECB"/>
            </a:solidFill>
            <a:prstDash val="solid"/>
          </a:ln>
        </p:spPr>
      </p:sp>
      <p:sp>
        <p:nvSpPr>
          <p:cNvPr id="12" name="Shape 9"/>
          <p:cNvSpPr/>
          <p:nvPr/>
        </p:nvSpPr>
        <p:spPr>
          <a:xfrm>
            <a:off x="4361688" y="4498848"/>
            <a:ext cx="3502152" cy="45720"/>
          </a:xfrm>
          <a:prstGeom prst="rect">
            <a:avLst/>
          </a:prstGeom>
          <a:solidFill>
            <a:srgbClr val="C62828"/>
          </a:solidFill>
          <a:ln/>
        </p:spPr>
      </p:sp>
      <p:sp>
        <p:nvSpPr>
          <p:cNvPr id="13" name="Text 10"/>
          <p:cNvSpPr/>
          <p:nvPr/>
        </p:nvSpPr>
        <p:spPr>
          <a:xfrm>
            <a:off x="4526280" y="4626864"/>
            <a:ext cx="3172968" cy="256032"/>
          </a:xfrm>
          <a:prstGeom prst="rect">
            <a:avLst/>
          </a:prstGeom>
          <a:noFill/>
          <a:ln/>
        </p:spPr>
        <p:txBody>
          <a:bodyPr wrap="square" lIns="0" tIns="0" rIns="0" bIns="0" rtlCol="0" anchor="t"/>
          <a:lstStyle/>
          <a:p>
            <a:pPr algn="l" indent="0" marL="0">
              <a:lnSpc>
                <a:spcPct val="124000"/>
              </a:lnSpc>
              <a:buNone/>
            </a:pPr>
            <a:r>
              <a:rPr lang="en-US" sz="1200" b="1" dirty="0">
                <a:solidFill>
                  <a:srgbClr val="1A1A1A"/>
                </a:solidFill>
                <a:latin typeface="Spoqa Han Sans Neo" pitchFamily="34" charset="0"/>
                <a:ea typeface="Spoqa Han Sans Neo" pitchFamily="34" charset="-122"/>
                <a:cs typeface="Spoqa Han Sans Neo" pitchFamily="34" charset="-120"/>
              </a:rPr>
              <a:t>법인 계좌의 약점</a:t>
            </a:r>
            <a:endParaRPr lang="en-US" sz="1200" dirty="0"/>
          </a:p>
        </p:txBody>
      </p:sp>
      <p:sp>
        <p:nvSpPr>
          <p:cNvPr id="14" name="Text 11"/>
          <p:cNvSpPr/>
          <p:nvPr/>
        </p:nvSpPr>
        <p:spPr>
          <a:xfrm>
            <a:off x="4526280" y="4937760"/>
            <a:ext cx="3172968" cy="1078992"/>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국내주식 양도차익까지 과세(개인은 비과세)</a:t>
            </a:r>
            <a:endParaRPr lang="en-US" sz="990" dirty="0"/>
          </a:p>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개인이 자금을 쓰려면 배당 · 급여로 2차 과세</a:t>
            </a:r>
            <a:endParaRPr lang="en-US" sz="990" dirty="0"/>
          </a:p>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고배당 배당소득 분리과세는 개인 주주 제도</a:t>
            </a:r>
            <a:endParaRPr lang="en-US" sz="990" dirty="0"/>
          </a:p>
        </p:txBody>
      </p:sp>
      <p:sp>
        <p:nvSpPr>
          <p:cNvPr id="15" name="Shape 12"/>
          <p:cNvSpPr/>
          <p:nvPr/>
        </p:nvSpPr>
        <p:spPr>
          <a:xfrm>
            <a:off x="8156448" y="4498848"/>
            <a:ext cx="3502152" cy="1572768"/>
          </a:xfrm>
          <a:prstGeom prst="rect">
            <a:avLst/>
          </a:prstGeom>
          <a:solidFill>
            <a:srgbClr val="FFFFFF"/>
          </a:solidFill>
          <a:ln w="9525">
            <a:solidFill>
              <a:srgbClr val="CDCECB"/>
            </a:solidFill>
            <a:prstDash val="solid"/>
          </a:ln>
        </p:spPr>
      </p:sp>
      <p:sp>
        <p:nvSpPr>
          <p:cNvPr id="16" name="Shape 13"/>
          <p:cNvSpPr/>
          <p:nvPr/>
        </p:nvSpPr>
        <p:spPr>
          <a:xfrm>
            <a:off x="8156448" y="4498848"/>
            <a:ext cx="3502152" cy="45720"/>
          </a:xfrm>
          <a:prstGeom prst="rect">
            <a:avLst/>
          </a:prstGeom>
          <a:solidFill>
            <a:srgbClr val="F58220"/>
          </a:solidFill>
          <a:ln/>
        </p:spPr>
      </p:sp>
      <p:sp>
        <p:nvSpPr>
          <p:cNvPr id="17" name="Text 14"/>
          <p:cNvSpPr/>
          <p:nvPr/>
        </p:nvSpPr>
        <p:spPr>
          <a:xfrm>
            <a:off x="8321040" y="4626864"/>
            <a:ext cx="3172968" cy="256032"/>
          </a:xfrm>
          <a:prstGeom prst="rect">
            <a:avLst/>
          </a:prstGeom>
          <a:noFill/>
          <a:ln/>
        </p:spPr>
        <p:txBody>
          <a:bodyPr wrap="square" lIns="0" tIns="0" rIns="0" bIns="0" rtlCol="0" anchor="t"/>
          <a:lstStyle/>
          <a:p>
            <a:pPr algn="l" indent="0" marL="0">
              <a:lnSpc>
                <a:spcPct val="124000"/>
              </a:lnSpc>
              <a:buNone/>
            </a:pPr>
            <a:r>
              <a:rPr lang="en-US" sz="1200" b="1" dirty="0">
                <a:solidFill>
                  <a:srgbClr val="1A1A1A"/>
                </a:solidFill>
                <a:latin typeface="Spoqa Han Sans Neo" pitchFamily="34" charset="0"/>
                <a:ea typeface="Spoqa Han Sans Neo" pitchFamily="34" charset="-122"/>
                <a:cs typeface="Spoqa Han Sans Neo" pitchFamily="34" charset="-120"/>
              </a:rPr>
              <a:t>판단 기준</a:t>
            </a:r>
            <a:endParaRPr lang="en-US" sz="1200" dirty="0"/>
          </a:p>
        </p:txBody>
      </p:sp>
      <p:sp>
        <p:nvSpPr>
          <p:cNvPr id="18" name="Text 15"/>
          <p:cNvSpPr/>
          <p:nvPr/>
        </p:nvSpPr>
        <p:spPr>
          <a:xfrm>
            <a:off x="8321040" y="4937760"/>
            <a:ext cx="3172968" cy="1078992"/>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재투자 목적 자금은 법인, 생활자금은 개인</a:t>
            </a:r>
            <a:endParaRPr lang="en-US" sz="990" dirty="0"/>
          </a:p>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국내주식 중심이면 개인 계좌가 유리한 경우 많음</a:t>
            </a:r>
            <a:endParaRPr lang="en-US" sz="990" dirty="0"/>
          </a:p>
          <a:p>
            <a:pPr marL="342900" indent="-342900">
              <a:lnSpc>
                <a:spcPct val="120000"/>
              </a:lnSpc>
              <a:spcAft>
                <a:spcPts val="5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부동산임대 등 소규모법인 규제 해당 여부 확인</a:t>
            </a:r>
            <a:endParaRPr lang="en-US" sz="990" dirty="0"/>
          </a:p>
        </p:txBody>
      </p:sp>
      <p:sp>
        <p:nvSpPr>
          <p:cNvPr id="19" name="Text 16"/>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0" name="Text 17"/>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IV  법인 · 금융투자</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이중과세 조정과 잉여금 환류 설계</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법인이 번 돈을 개인에게 옮기는 세 가지 경로</a:t>
            </a:r>
            <a:endParaRPr lang="en-US" sz="1250" dirty="0"/>
          </a:p>
        </p:txBody>
      </p:sp>
      <p:sp>
        <p:nvSpPr>
          <p:cNvPr id="6" name="Text 4"/>
          <p:cNvSpPr/>
          <p:nvPr/>
        </p:nvSpPr>
        <p:spPr>
          <a:xfrm>
            <a:off x="566928" y="1645920"/>
            <a:ext cx="4937760" cy="256032"/>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수입배당금 익금불산입 — 지분율에 따라 달라진다</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975104"/>
          <a:ext cx="9144000" cy="914400"/>
        </p:xfrm>
        <a:graphic>
          <a:graphicData uri="http://schemas.openxmlformats.org/drawingml/2006/table">
            <a:tbl>
              <a:tblPr/>
              <a:tblGrid>
                <a:gridCol w="3017520"/>
                <a:gridCol w="1920240"/>
              </a:tblGrid>
              <a:tr h="329184">
                <a:tc>
                  <a:txBody>
                    <a:bodyPr/>
                    <a:lstStyle/>
                    <a:p>
                      <a:pPr algn="l" indent="0" marL="0">
                        <a:buNone/>
                      </a:pPr>
                      <a:r>
                        <a:rPr lang="en-US" sz="1060" b="1" dirty="0">
                          <a:solidFill>
                            <a:srgbClr val="1A1A1A"/>
                          </a:solidFill>
                          <a:latin typeface="Spoqa Han Sans Neo" pitchFamily="34" charset="0"/>
                          <a:ea typeface="Spoqa Han Sans Neo" pitchFamily="34" charset="-122"/>
                          <a:cs typeface="Spoqa Han Sans Neo" pitchFamily="34" charset="-120"/>
                        </a:rPr>
                        <a:t>출자 지분율</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익금불산입률</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29184">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50% 이상</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100%</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20% 이상 ~ 50% 미만</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80%</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329184">
                <a:tc>
                  <a:txBody>
                    <a:bodyPr/>
                    <a:lstStyle/>
                    <a:p>
                      <a:pPr algn="l" indent="0" marL="0">
                        <a:buNone/>
                      </a:pPr>
                      <a:r>
                        <a:rPr lang="en-US" sz="1060" b="1" dirty="0">
                          <a:solidFill>
                            <a:srgbClr val="3D3D3D"/>
                          </a:solidFill>
                          <a:latin typeface="Spoqa Han Sans Neo" pitchFamily="34" charset="0"/>
                          <a:ea typeface="Spoqa Han Sans Neo" pitchFamily="34" charset="-122"/>
                          <a:cs typeface="Spoqa Han Sans Neo" pitchFamily="34" charset="-120"/>
                        </a:rPr>
                        <a:t>20% 미만</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3D3D3D"/>
                          </a:solidFill>
                          <a:latin typeface="Spoqa Han Sans Neo" pitchFamily="34" charset="0"/>
                          <a:ea typeface="Spoqa Han Sans Neo" pitchFamily="34" charset="-122"/>
                          <a:cs typeface="Spoqa Han Sans Neo" pitchFamily="34" charset="-120"/>
                        </a:rPr>
                        <a:t>30%</a:t>
                      </a:r>
                      <a:endParaRPr lang="en-US" sz="106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8" name="Text 5"/>
          <p:cNvSpPr/>
          <p:nvPr/>
        </p:nvSpPr>
        <p:spPr>
          <a:xfrm>
            <a:off x="566928" y="3401568"/>
            <a:ext cx="4937760" cy="219456"/>
          </a:xfrm>
          <a:prstGeom prst="rect">
            <a:avLst/>
          </a:prstGeom>
          <a:noFill/>
          <a:ln/>
        </p:spPr>
        <p:txBody>
          <a:bodyPr wrap="square" lIns="0" tIns="0" rIns="0" bIns="0" rtlCol="0" anchor="ctr"/>
          <a:lstStyle/>
          <a:p>
            <a:pPr indent="0" marL="0">
              <a:lnSpc>
                <a:spcPct val="110000"/>
              </a:lnSpc>
              <a:buNone/>
            </a:pPr>
            <a:r>
              <a:rPr lang="en-US" sz="900" dirty="0">
                <a:solidFill>
                  <a:srgbClr val="84888B"/>
                </a:solidFill>
                <a:latin typeface="Spoqa Han Sans Neo" pitchFamily="34" charset="0"/>
                <a:ea typeface="Spoqa Han Sans Neo" pitchFamily="34" charset="-122"/>
                <a:cs typeface="Spoqa Han Sans Neo" pitchFamily="34" charset="-120"/>
              </a:rPr>
              <a:t>내국법인이 다른 내국법인으로부터 받은 배당의 이중과세를 조정하는 제도다. 지주회사 · 관계회사 구조를 설계할 때 지분율 구간(20% · 50%)이 실질 세부담을 좌우한다.</a:t>
            </a:r>
            <a:endParaRPr lang="en-US" sz="90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5806440" y="1645920"/>
          <a:ext cx="9144000" cy="914400"/>
        </p:xfrm>
        <a:graphic>
          <a:graphicData uri="http://schemas.openxmlformats.org/drawingml/2006/table">
            <a:tbl>
              <a:tblPr/>
              <a:tblGrid>
                <a:gridCol w="1371600"/>
                <a:gridCol w="2377440"/>
                <a:gridCol w="2651760"/>
              </a:tblGrid>
              <a:tr h="457200">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경로</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법인 단계</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algn="l" indent="0" marL="0">
                        <a:buNone/>
                      </a:pPr>
                      <a:r>
                        <a:rPr lang="en-US" sz="1030" b="1" dirty="0">
                          <a:solidFill>
                            <a:srgbClr val="1A1A1A"/>
                          </a:solidFill>
                          <a:latin typeface="Spoqa Han Sans Neo" pitchFamily="34" charset="0"/>
                          <a:ea typeface="Spoqa Han Sans Neo" pitchFamily="34" charset="-122"/>
                          <a:cs typeface="Spoqa Han Sans Neo" pitchFamily="34" charset="-120"/>
                        </a:rPr>
                        <a:t>개인 단계</a:t>
                      </a:r>
                      <a:endParaRPr lang="en-US" sz="103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45720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급여 · 상여</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손금 인정(정관 · 주주총회 근거 필요)</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근로소득 종합과세 6~45% + 4대보험</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457200">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배당</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손금 불인정 — 법인세 납부 후 재원</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배당소득 15.4% 또는 종합과세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FFFFF"/>
                    </a:solidFill>
                  </a:tcPr>
                </a:tc>
              </a:tr>
              <a:tr h="457200">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퇴직금</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손금 인정(임원 한도 규정 준수)</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3D3D3D"/>
                          </a:solidFill>
                          <a:latin typeface="Spoqa Han Sans Neo" pitchFamily="34" charset="0"/>
                          <a:ea typeface="Spoqa Han Sans Neo" pitchFamily="34" charset="-122"/>
                          <a:cs typeface="Spoqa Han Sans Neo" pitchFamily="34" charset="-120"/>
                        </a:rPr>
                        <a:t>퇴직소득세 — 근속연수 반영 저율 분리과세</a:t>
                      </a:r>
                      <a:endParaRPr lang="en-US" sz="1020" dirty="0">
                        <a:latin typeface="Spoqa Han Sans Neo" charset="0"/>
                        <a:ea typeface="Spoqa Han Sans Neo" charset="0"/>
                        <a:cs typeface="Spoqa Han Sans Neo" charset="0"/>
                      </a:endParaRPr>
                    </a:p>
                  </a:txBody>
                  <a:tcPr marL="63500" marR="63500" marT="63500" marB="63500"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D7D7D7"/>
                    </a:solidFill>
                  </a:tcPr>
                </a:tc>
              </a:tr>
            </a:tbl>
          </a:graphicData>
        </a:graphic>
      </p:graphicFrame>
      <p:sp>
        <p:nvSpPr>
          <p:cNvPr id="10" name="Shape 6"/>
          <p:cNvSpPr/>
          <p:nvPr/>
        </p:nvSpPr>
        <p:spPr>
          <a:xfrm>
            <a:off x="5806440" y="3429000"/>
            <a:ext cx="5818327" cy="1417320"/>
          </a:xfrm>
          <a:prstGeom prst="rect">
            <a:avLst/>
          </a:prstGeom>
          <a:solidFill>
            <a:srgbClr val="FFFFFF"/>
          </a:solidFill>
          <a:ln w="9525">
            <a:solidFill>
              <a:srgbClr val="CDCECB"/>
            </a:solidFill>
            <a:prstDash val="solid"/>
          </a:ln>
        </p:spPr>
      </p:sp>
      <p:sp>
        <p:nvSpPr>
          <p:cNvPr id="11" name="Text 7"/>
          <p:cNvSpPr/>
          <p:nvPr/>
        </p:nvSpPr>
        <p:spPr>
          <a:xfrm>
            <a:off x="5989320" y="3538728"/>
            <a:ext cx="5452567" cy="256032"/>
          </a:xfrm>
          <a:prstGeom prst="rect">
            <a:avLst/>
          </a:prstGeom>
          <a:noFill/>
          <a:ln/>
        </p:spPr>
        <p:txBody>
          <a:bodyPr wrap="square" lIns="0" tIns="0" rIns="0" bIns="0" rtlCol="0" anchor="t"/>
          <a:lstStyle/>
          <a:p>
            <a:pPr algn="l" indent="0" marL="0">
              <a:lnSpc>
                <a:spcPct val="124000"/>
              </a:lnSpc>
              <a:buNone/>
            </a:pPr>
            <a:r>
              <a:rPr lang="en-US" sz="1150" b="1" dirty="0">
                <a:solidFill>
                  <a:srgbClr val="C62828"/>
                </a:solidFill>
                <a:latin typeface="Spoqa Han Sans Neo" pitchFamily="34" charset="0"/>
                <a:ea typeface="Spoqa Han Sans Neo" pitchFamily="34" charset="-122"/>
                <a:cs typeface="Spoqa Han Sans Neo" pitchFamily="34" charset="-120"/>
              </a:rPr>
              <a:t>임원 퇴직금 한도 — 놓치면 근로소득으로 재분류</a:t>
            </a:r>
            <a:endParaRPr lang="en-US" sz="1150" dirty="0"/>
          </a:p>
        </p:txBody>
      </p:sp>
      <p:sp>
        <p:nvSpPr>
          <p:cNvPr id="12" name="Text 8"/>
          <p:cNvSpPr/>
          <p:nvPr/>
        </p:nvSpPr>
        <p:spPr>
          <a:xfrm>
            <a:off x="5989320" y="3822192"/>
            <a:ext cx="5452567" cy="914400"/>
          </a:xfrm>
          <a:prstGeom prst="rect">
            <a:avLst/>
          </a:prstGeom>
          <a:noFill/>
          <a:ln/>
        </p:spPr>
        <p:txBody>
          <a:bodyPr wrap="square" lIns="0" tIns="0" rIns="0" bIns="0" rtlCol="0" anchor="t"/>
          <a:lstStyle/>
          <a:p>
            <a:pPr algn="l" indent="0" marL="0">
              <a:lnSpc>
                <a:spcPct val="120000"/>
              </a:lnSpc>
              <a:buNone/>
            </a:pPr>
            <a:r>
              <a:rPr lang="en-US" sz="1020" dirty="0">
                <a:solidFill>
                  <a:srgbClr val="3D3D3D"/>
                </a:solidFill>
                <a:latin typeface="Spoqa Han Sans Neo" pitchFamily="34" charset="0"/>
                <a:ea typeface="Spoqa Han Sans Neo" pitchFamily="34" charset="-122"/>
                <a:cs typeface="Spoqa Han Sans Neo" pitchFamily="34" charset="-120"/>
              </a:rPr>
              <a:t>2020년 1월 1일 이후 근속분은 「퇴직 전 3년 평균급여 × 10% × 근속연수 × 2배」를 초과하는 금액이 근로소득으로 과세된다. 정관 또는 정관에서 위임한 퇴직급여규정을 사전에 정비해 두어야 손금과 저율과세를 모두 확보할 수 있다.</a:t>
            </a:r>
            <a:endParaRPr lang="en-US" sz="1020" dirty="0"/>
          </a:p>
        </p:txBody>
      </p:sp>
      <p:sp>
        <p:nvSpPr>
          <p:cNvPr id="13" name="Shape 9"/>
          <p:cNvSpPr/>
          <p:nvPr/>
        </p:nvSpPr>
        <p:spPr>
          <a:xfrm>
            <a:off x="566928" y="4160520"/>
            <a:ext cx="4937760" cy="1874520"/>
          </a:xfrm>
          <a:prstGeom prst="rect">
            <a:avLst/>
          </a:prstGeom>
          <a:solidFill>
            <a:srgbClr val="ECEFF4"/>
          </a:solidFill>
          <a:ln/>
        </p:spPr>
      </p:sp>
      <p:sp>
        <p:nvSpPr>
          <p:cNvPr id="14" name="Text 10"/>
          <p:cNvSpPr/>
          <p:nvPr/>
        </p:nvSpPr>
        <p:spPr>
          <a:xfrm>
            <a:off x="749808" y="4251960"/>
            <a:ext cx="4572000" cy="237744"/>
          </a:xfrm>
          <a:prstGeom prst="rect">
            <a:avLst/>
          </a:prstGeom>
          <a:noFill/>
          <a:ln/>
        </p:spPr>
        <p:txBody>
          <a:bodyPr wrap="square" lIns="0" tIns="0" rIns="0" bIns="0" rtlCol="0" anchor="ctr"/>
          <a:lstStyle/>
          <a:p>
            <a:pPr indent="0" marL="0">
              <a:buNone/>
            </a:pPr>
            <a:r>
              <a:rPr lang="en-US" sz="1100" b="1" dirty="0">
                <a:solidFill>
                  <a:srgbClr val="C62828"/>
                </a:solidFill>
                <a:latin typeface="Spoqa Han Sans Neo" pitchFamily="34" charset="0"/>
                <a:ea typeface="Spoqa Han Sans Neo" pitchFamily="34" charset="-122"/>
                <a:cs typeface="Spoqa Han Sans Neo" pitchFamily="34" charset="-120"/>
              </a:rPr>
              <a:t>가지급금 — 법인 세무의 1순위 리스크</a:t>
            </a:r>
            <a:endParaRPr lang="en-US" sz="1100" dirty="0"/>
          </a:p>
        </p:txBody>
      </p:sp>
      <p:sp>
        <p:nvSpPr>
          <p:cNvPr id="15" name="Text 11"/>
          <p:cNvSpPr/>
          <p:nvPr/>
        </p:nvSpPr>
        <p:spPr>
          <a:xfrm>
            <a:off x="749808" y="4489704"/>
            <a:ext cx="4572000" cy="1453896"/>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대표이사 등에게 업무와 무관하게 대여된 자금은 ①인정이자(당좌대출이자율 4.6%)를 익금산입하고 ②관련 차입금 이자를 손금부인하며 ③회수하지 못하면 대표 상여로 처분되어 소득세까지 부과된다. 매년 누적되며 가업승계 시 주식 가치 평가에도 악영향을 준다. 급여 · 배당 · 퇴직금 재원으로 계획적으로 상환하는 것이 유일한 해법이다.</a:t>
            </a:r>
            <a:endParaRPr lang="en-US" sz="1060" dirty="0"/>
          </a:p>
        </p:txBody>
      </p:sp>
      <p:sp>
        <p:nvSpPr>
          <p:cNvPr id="16" name="Shape 12"/>
          <p:cNvSpPr/>
          <p:nvPr/>
        </p:nvSpPr>
        <p:spPr>
          <a:xfrm>
            <a:off x="5806440" y="4937760"/>
            <a:ext cx="5818327" cy="1133856"/>
          </a:xfrm>
          <a:prstGeom prst="rect">
            <a:avLst/>
          </a:prstGeom>
          <a:solidFill>
            <a:srgbClr val="F58220"/>
          </a:solidFill>
          <a:ln/>
        </p:spPr>
      </p:sp>
      <p:sp>
        <p:nvSpPr>
          <p:cNvPr id="17" name="Text 13"/>
          <p:cNvSpPr/>
          <p:nvPr/>
        </p:nvSpPr>
        <p:spPr>
          <a:xfrm>
            <a:off x="6025896" y="5047488"/>
            <a:ext cx="5379415" cy="256032"/>
          </a:xfrm>
          <a:prstGeom prst="rect">
            <a:avLst/>
          </a:prstGeom>
          <a:noFill/>
          <a:ln/>
        </p:spPr>
        <p:txBody>
          <a:bodyPr wrap="square" lIns="0" tIns="0" rIns="0" bIns="0" rtlCol="0" anchor="ctr"/>
          <a:lstStyle/>
          <a:p>
            <a:pP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환류 설계의 기본형</a:t>
            </a:r>
            <a:endParaRPr lang="en-US" sz="1250" dirty="0"/>
          </a:p>
        </p:txBody>
      </p:sp>
      <p:sp>
        <p:nvSpPr>
          <p:cNvPr id="18" name="Text 14"/>
          <p:cNvSpPr/>
          <p:nvPr/>
        </p:nvSpPr>
        <p:spPr>
          <a:xfrm>
            <a:off x="6025896" y="5303520"/>
            <a:ext cx="5379415" cy="676656"/>
          </a:xfrm>
          <a:prstGeom prst="rect">
            <a:avLst/>
          </a:prstGeom>
          <a:noFill/>
          <a:ln/>
        </p:spPr>
        <p:txBody>
          <a:bodyPr wrap="square" lIns="0" tIns="0" rIns="0" bIns="0" rtlCol="0" anchor="t"/>
          <a:lstStyle/>
          <a:p>
            <a:pPr indent="0" marL="0">
              <a:lnSpc>
                <a:spcPct val="120000"/>
              </a:lnSpc>
              <a:buNone/>
            </a:pPr>
            <a:r>
              <a:rPr lang="en-US" sz="1020" dirty="0">
                <a:solidFill>
                  <a:srgbClr val="FFFFFF"/>
                </a:solidFill>
                <a:latin typeface="Spoqa Han Sans Neo" pitchFamily="34" charset="0"/>
                <a:ea typeface="Spoqa Han Sans Neo" pitchFamily="34" charset="-122"/>
                <a:cs typeface="Spoqa Han Sans Neo" pitchFamily="34" charset="-120"/>
              </a:rPr>
              <a:t>① 생활비 수준은 급여로 — 손금 인정 효과가 가장 크다  ②  누진구간을 넘는 초과분은 배당으로 분산(가족 주주 활용)  ③  장기 축적분은 퇴직금으로 — 근속연수가 길수록 유리하다. 세 경로를 한 해에 몰지 않고 다년에 걸쳐 배분하는 것이 핵심이다.</a:t>
            </a:r>
            <a:endParaRPr lang="en-US" sz="1020" dirty="0"/>
          </a:p>
        </p:txBody>
      </p:sp>
      <p:sp>
        <p:nvSpPr>
          <p:cNvPr id="19" name="Text 15"/>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0" name="Text 16"/>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PART IV  법인 · 금융투자</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부동산임대 · 가족법인이라면 먼저 확인할 것</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성실신고확인 대상 소규모법인은 세율 특례가 배제된다</a:t>
            </a:r>
            <a:endParaRPr lang="en-US" sz="1250" dirty="0"/>
          </a:p>
        </p:txBody>
      </p:sp>
      <p:sp>
        <p:nvSpPr>
          <p:cNvPr id="6" name="Shape 4"/>
          <p:cNvSpPr/>
          <p:nvPr/>
        </p:nvSpPr>
        <p:spPr>
          <a:xfrm>
            <a:off x="566928" y="1627632"/>
            <a:ext cx="5760720" cy="2103120"/>
          </a:xfrm>
          <a:prstGeom prst="rect">
            <a:avLst/>
          </a:prstGeom>
          <a:solidFill>
            <a:srgbClr val="FFFFFF"/>
          </a:solidFill>
          <a:ln w="9525">
            <a:solidFill>
              <a:srgbClr val="CDCECB"/>
            </a:solidFill>
            <a:prstDash val="solid"/>
          </a:ln>
        </p:spPr>
      </p:sp>
      <p:sp>
        <p:nvSpPr>
          <p:cNvPr id="7" name="Text 5"/>
          <p:cNvSpPr/>
          <p:nvPr/>
        </p:nvSpPr>
        <p:spPr>
          <a:xfrm>
            <a:off x="749808" y="1755648"/>
            <a:ext cx="5394960" cy="256032"/>
          </a:xfrm>
          <a:prstGeom prst="rect">
            <a:avLst/>
          </a:prstGeom>
          <a:noFill/>
          <a:ln/>
        </p:spPr>
        <p:txBody>
          <a:bodyPr wrap="square" lIns="0" tIns="0" rIns="0" bIns="0" rtlCol="0" anchor="t"/>
          <a:lstStyle/>
          <a:p>
            <a:pPr algn="l" indent="0" marL="0">
              <a:lnSpc>
                <a:spcPct val="124000"/>
              </a:lnSpc>
              <a:buNone/>
            </a:pPr>
            <a:r>
              <a:rPr lang="en-US" sz="1250" b="1" dirty="0">
                <a:solidFill>
                  <a:srgbClr val="C62828"/>
                </a:solidFill>
                <a:latin typeface="Spoqa Han Sans Neo" pitchFamily="34" charset="0"/>
                <a:ea typeface="Spoqa Han Sans Neo" pitchFamily="34" charset="-122"/>
                <a:cs typeface="Spoqa Han Sans Neo" pitchFamily="34" charset="-120"/>
              </a:rPr>
              <a:t>세 가지 요건을 모두 충족하면 해당된다</a:t>
            </a:r>
            <a:endParaRPr lang="en-US" sz="1250" dirty="0"/>
          </a:p>
        </p:txBody>
      </p:sp>
      <p:sp>
        <p:nvSpPr>
          <p:cNvPr id="8" name="Shape 6"/>
          <p:cNvSpPr/>
          <p:nvPr/>
        </p:nvSpPr>
        <p:spPr>
          <a:xfrm>
            <a:off x="749808" y="2139696"/>
            <a:ext cx="1600200" cy="365760"/>
          </a:xfrm>
          <a:prstGeom prst="rect">
            <a:avLst/>
          </a:prstGeom>
          <a:solidFill>
            <a:srgbClr val="F7F8FA"/>
          </a:solidFill>
          <a:ln/>
        </p:spPr>
      </p:sp>
      <p:sp>
        <p:nvSpPr>
          <p:cNvPr id="9" name="Text 7"/>
          <p:cNvSpPr/>
          <p:nvPr/>
        </p:nvSpPr>
        <p:spPr>
          <a:xfrm>
            <a:off x="749808" y="2139696"/>
            <a:ext cx="1600200" cy="365760"/>
          </a:xfrm>
          <a:prstGeom prst="rect">
            <a:avLst/>
          </a:prstGeom>
          <a:noFill/>
          <a:ln/>
        </p:spPr>
        <p:txBody>
          <a:bodyPr wrap="square" lIns="0" tIns="0" rIns="0" bIns="0" rtlCol="0" anchor="ctr"/>
          <a:lstStyle/>
          <a:p>
            <a:pPr algn="ctr" indent="0" marL="0">
              <a:lnSpc>
                <a:spcPct val="124000"/>
              </a:lnSpc>
              <a:buNone/>
            </a:pPr>
            <a:r>
              <a:rPr lang="en-US" sz="1040" b="1" dirty="0">
                <a:solidFill>
                  <a:srgbClr val="043B72"/>
                </a:solidFill>
                <a:latin typeface="Spoqa Han Sans Neo" pitchFamily="34" charset="0"/>
                <a:ea typeface="Spoqa Han Sans Neo" pitchFamily="34" charset="-122"/>
                <a:cs typeface="Spoqa Han Sans Neo" pitchFamily="34" charset="-120"/>
              </a:rPr>
              <a:t>상시근로자 수</a:t>
            </a:r>
            <a:endParaRPr lang="en-US" sz="1040" dirty="0"/>
          </a:p>
        </p:txBody>
      </p:sp>
      <p:sp>
        <p:nvSpPr>
          <p:cNvPr id="10" name="Text 8"/>
          <p:cNvSpPr/>
          <p:nvPr/>
        </p:nvSpPr>
        <p:spPr>
          <a:xfrm>
            <a:off x="2459736" y="2139696"/>
            <a:ext cx="3685032" cy="365760"/>
          </a:xfrm>
          <a:prstGeom prst="rect">
            <a:avLst/>
          </a:prstGeom>
          <a:noFill/>
          <a:ln/>
        </p:spPr>
        <p:txBody>
          <a:bodyPr wrap="square" lIns="0" tIns="0" rIns="0" bIns="0" rtlCol="0" anchor="ctr"/>
          <a:lstStyle/>
          <a:p>
            <a:pPr algn="l" indent="0" marL="0">
              <a:lnSpc>
                <a:spcPct val="124000"/>
              </a:lnSpc>
              <a:buNone/>
            </a:pPr>
            <a:r>
              <a:rPr lang="en-US" sz="1040" dirty="0">
                <a:solidFill>
                  <a:srgbClr val="3D3D3D"/>
                </a:solidFill>
                <a:latin typeface="Spoqa Han Sans Neo" pitchFamily="34" charset="0"/>
                <a:ea typeface="Spoqa Han Sans Neo" pitchFamily="34" charset="-122"/>
                <a:cs typeface="Spoqa Han Sans Neo" pitchFamily="34" charset="-120"/>
              </a:rPr>
              <a:t>5명 미만</a:t>
            </a:r>
            <a:endParaRPr lang="en-US" sz="1040" dirty="0"/>
          </a:p>
        </p:txBody>
      </p:sp>
      <p:sp>
        <p:nvSpPr>
          <p:cNvPr id="11" name="Shape 9"/>
          <p:cNvSpPr/>
          <p:nvPr/>
        </p:nvSpPr>
        <p:spPr>
          <a:xfrm>
            <a:off x="749808" y="2615184"/>
            <a:ext cx="1600200" cy="365760"/>
          </a:xfrm>
          <a:prstGeom prst="rect">
            <a:avLst/>
          </a:prstGeom>
          <a:solidFill>
            <a:srgbClr val="F7F8FA"/>
          </a:solidFill>
          <a:ln/>
        </p:spPr>
      </p:sp>
      <p:sp>
        <p:nvSpPr>
          <p:cNvPr id="12" name="Text 10"/>
          <p:cNvSpPr/>
          <p:nvPr/>
        </p:nvSpPr>
        <p:spPr>
          <a:xfrm>
            <a:off x="749808" y="2615184"/>
            <a:ext cx="1600200" cy="365760"/>
          </a:xfrm>
          <a:prstGeom prst="rect">
            <a:avLst/>
          </a:prstGeom>
          <a:noFill/>
          <a:ln/>
        </p:spPr>
        <p:txBody>
          <a:bodyPr wrap="square" lIns="0" tIns="0" rIns="0" bIns="0" rtlCol="0" anchor="ctr"/>
          <a:lstStyle/>
          <a:p>
            <a:pPr algn="ctr" indent="0" marL="0">
              <a:lnSpc>
                <a:spcPct val="124000"/>
              </a:lnSpc>
              <a:buNone/>
            </a:pPr>
            <a:r>
              <a:rPr lang="en-US" sz="1040" b="1" dirty="0">
                <a:solidFill>
                  <a:srgbClr val="043B72"/>
                </a:solidFill>
                <a:latin typeface="Spoqa Han Sans Neo" pitchFamily="34" charset="0"/>
                <a:ea typeface="Spoqa Han Sans Neo" pitchFamily="34" charset="-122"/>
                <a:cs typeface="Spoqa Han Sans Neo" pitchFamily="34" charset="-120"/>
              </a:rPr>
              <a:t>지배주주 등 지분</a:t>
            </a:r>
            <a:endParaRPr lang="en-US" sz="1040" dirty="0"/>
          </a:p>
        </p:txBody>
      </p:sp>
      <p:sp>
        <p:nvSpPr>
          <p:cNvPr id="13" name="Text 11"/>
          <p:cNvSpPr/>
          <p:nvPr/>
        </p:nvSpPr>
        <p:spPr>
          <a:xfrm>
            <a:off x="2459736" y="2615184"/>
            <a:ext cx="3685032" cy="365760"/>
          </a:xfrm>
          <a:prstGeom prst="rect">
            <a:avLst/>
          </a:prstGeom>
          <a:noFill/>
          <a:ln/>
        </p:spPr>
        <p:txBody>
          <a:bodyPr wrap="square" lIns="0" tIns="0" rIns="0" bIns="0" rtlCol="0" anchor="ctr"/>
          <a:lstStyle/>
          <a:p>
            <a:pPr algn="l" indent="0" marL="0">
              <a:lnSpc>
                <a:spcPct val="124000"/>
              </a:lnSpc>
              <a:buNone/>
            </a:pPr>
            <a:r>
              <a:rPr lang="en-US" sz="1040" dirty="0">
                <a:solidFill>
                  <a:srgbClr val="3D3D3D"/>
                </a:solidFill>
                <a:latin typeface="Spoqa Han Sans Neo" pitchFamily="34" charset="0"/>
                <a:ea typeface="Spoqa Han Sans Neo" pitchFamily="34" charset="-122"/>
                <a:cs typeface="Spoqa Han Sans Neo" pitchFamily="34" charset="-120"/>
              </a:rPr>
              <a:t>50% 초과 보유</a:t>
            </a:r>
            <a:endParaRPr lang="en-US" sz="1040" dirty="0"/>
          </a:p>
        </p:txBody>
      </p:sp>
      <p:sp>
        <p:nvSpPr>
          <p:cNvPr id="14" name="Shape 12"/>
          <p:cNvSpPr/>
          <p:nvPr/>
        </p:nvSpPr>
        <p:spPr>
          <a:xfrm>
            <a:off x="749808" y="3090672"/>
            <a:ext cx="1600200" cy="365760"/>
          </a:xfrm>
          <a:prstGeom prst="rect">
            <a:avLst/>
          </a:prstGeom>
          <a:solidFill>
            <a:srgbClr val="F7F8FA"/>
          </a:solidFill>
          <a:ln/>
        </p:spPr>
      </p:sp>
      <p:sp>
        <p:nvSpPr>
          <p:cNvPr id="15" name="Text 13"/>
          <p:cNvSpPr/>
          <p:nvPr/>
        </p:nvSpPr>
        <p:spPr>
          <a:xfrm>
            <a:off x="749808" y="3090672"/>
            <a:ext cx="1600200" cy="365760"/>
          </a:xfrm>
          <a:prstGeom prst="rect">
            <a:avLst/>
          </a:prstGeom>
          <a:noFill/>
          <a:ln/>
        </p:spPr>
        <p:txBody>
          <a:bodyPr wrap="square" lIns="0" tIns="0" rIns="0" bIns="0" rtlCol="0" anchor="ctr"/>
          <a:lstStyle/>
          <a:p>
            <a:pPr algn="ctr" indent="0" marL="0">
              <a:lnSpc>
                <a:spcPct val="124000"/>
              </a:lnSpc>
              <a:buNone/>
            </a:pPr>
            <a:r>
              <a:rPr lang="en-US" sz="1040" b="1" dirty="0">
                <a:solidFill>
                  <a:srgbClr val="043B72"/>
                </a:solidFill>
                <a:latin typeface="Spoqa Han Sans Neo" pitchFamily="34" charset="0"/>
                <a:ea typeface="Spoqa Han Sans Neo" pitchFamily="34" charset="-122"/>
                <a:cs typeface="Spoqa Han Sans Neo" pitchFamily="34" charset="-120"/>
              </a:rPr>
              <a:t>수입 구성</a:t>
            </a:r>
            <a:endParaRPr lang="en-US" sz="1040" dirty="0"/>
          </a:p>
        </p:txBody>
      </p:sp>
      <p:sp>
        <p:nvSpPr>
          <p:cNvPr id="16" name="Text 14"/>
          <p:cNvSpPr/>
          <p:nvPr/>
        </p:nvSpPr>
        <p:spPr>
          <a:xfrm>
            <a:off x="2459736" y="3090672"/>
            <a:ext cx="3685032" cy="365760"/>
          </a:xfrm>
          <a:prstGeom prst="rect">
            <a:avLst/>
          </a:prstGeom>
          <a:noFill/>
          <a:ln/>
        </p:spPr>
        <p:txBody>
          <a:bodyPr wrap="square" lIns="0" tIns="0" rIns="0" bIns="0" rtlCol="0" anchor="ctr"/>
          <a:lstStyle/>
          <a:p>
            <a:pPr algn="l" indent="0" marL="0">
              <a:lnSpc>
                <a:spcPct val="124000"/>
              </a:lnSpc>
              <a:buNone/>
            </a:pPr>
            <a:r>
              <a:rPr lang="en-US" sz="1040" dirty="0">
                <a:solidFill>
                  <a:srgbClr val="3D3D3D"/>
                </a:solidFill>
                <a:latin typeface="Spoqa Han Sans Neo" pitchFamily="34" charset="0"/>
                <a:ea typeface="Spoqa Han Sans Neo" pitchFamily="34" charset="-122"/>
                <a:cs typeface="Spoqa Han Sans Neo" pitchFamily="34" charset="-120"/>
              </a:rPr>
              <a:t>부동산임대 · 이자 · 배당 수입이 매출의 70% 이상</a:t>
            </a:r>
            <a:endParaRPr lang="en-US" sz="1040" dirty="0"/>
          </a:p>
        </p:txBody>
      </p:sp>
      <p:sp>
        <p:nvSpPr>
          <p:cNvPr id="17" name="Shape 15"/>
          <p:cNvSpPr/>
          <p:nvPr/>
        </p:nvSpPr>
        <p:spPr>
          <a:xfrm>
            <a:off x="6647688" y="1627632"/>
            <a:ext cx="4977079" cy="2103120"/>
          </a:xfrm>
          <a:prstGeom prst="rect">
            <a:avLst/>
          </a:prstGeom>
          <a:solidFill>
            <a:srgbClr val="FFFFFF"/>
          </a:solidFill>
          <a:ln w="9525">
            <a:solidFill>
              <a:srgbClr val="CDCECB"/>
            </a:solidFill>
            <a:prstDash val="solid"/>
          </a:ln>
        </p:spPr>
      </p:sp>
      <p:sp>
        <p:nvSpPr>
          <p:cNvPr id="18" name="Text 16"/>
          <p:cNvSpPr/>
          <p:nvPr/>
        </p:nvSpPr>
        <p:spPr>
          <a:xfrm>
            <a:off x="6830568" y="1755648"/>
            <a:ext cx="4611319" cy="256032"/>
          </a:xfrm>
          <a:prstGeom prst="rect">
            <a:avLst/>
          </a:prstGeom>
          <a:noFill/>
          <a:ln/>
        </p:spPr>
        <p:txBody>
          <a:bodyPr wrap="square" lIns="0" tIns="0" rIns="0" bIns="0" rtlCol="0" anchor="t"/>
          <a:lstStyle/>
          <a:p>
            <a:pPr algn="l" indent="0" marL="0">
              <a:lnSpc>
                <a:spcPct val="124000"/>
              </a:lnSpc>
              <a:buNone/>
            </a:pPr>
            <a:r>
              <a:rPr lang="en-US" sz="1250" b="1" dirty="0">
                <a:solidFill>
                  <a:srgbClr val="C62828"/>
                </a:solidFill>
                <a:latin typeface="Spoqa Han Sans Neo" pitchFamily="34" charset="0"/>
                <a:ea typeface="Spoqa Han Sans Neo" pitchFamily="34" charset="-122"/>
                <a:cs typeface="Spoqa Han Sans Neo" pitchFamily="34" charset="-120"/>
              </a:rPr>
              <a:t>받게 되는 불이익</a:t>
            </a:r>
            <a:endParaRPr lang="en-US" sz="1250" dirty="0"/>
          </a:p>
        </p:txBody>
      </p:sp>
      <p:sp>
        <p:nvSpPr>
          <p:cNvPr id="19" name="Text 17"/>
          <p:cNvSpPr/>
          <p:nvPr/>
        </p:nvSpPr>
        <p:spPr>
          <a:xfrm>
            <a:off x="6830568" y="2103120"/>
            <a:ext cx="4611319" cy="1554480"/>
          </a:xfrm>
          <a:prstGeom prst="rect">
            <a:avLst/>
          </a:prstGeom>
          <a:noFill/>
          <a:ln/>
        </p:spPr>
        <p:txBody>
          <a:bodyPr wrap="square" lIns="0" tIns="0" rIns="0" bIns="0" rtlCol="0" anchor="t"/>
          <a:lstStyle/>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2억원 이하 특례세율 배제 — 2026년 기준 20% 적용</a:t>
            </a:r>
            <a:endParaRPr lang="en-US" sz="1030" dirty="0"/>
          </a:p>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조세특례제한법상 중소기업 범위에서도 제외 → 각종 감면 상실</a:t>
            </a:r>
            <a:endParaRPr lang="en-US" sz="1030" dirty="0"/>
          </a:p>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접대비 한도 50% 축소</a:t>
            </a:r>
            <a:endParaRPr lang="en-US" sz="1030" dirty="0"/>
          </a:p>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업무용승용차 관련 손금 한도 축소</a:t>
            </a:r>
            <a:endParaRPr lang="en-US" sz="1030" dirty="0"/>
          </a:p>
          <a:p>
            <a:pPr marL="342900" indent="-342900">
              <a:lnSpc>
                <a:spcPct val="120000"/>
              </a:lnSpc>
              <a:spcAft>
                <a:spcPts val="5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성실신고확인서 제출 의무(4월 30일), 미제출 시 가산세</a:t>
            </a:r>
            <a:endParaRPr lang="en-US" sz="1030" dirty="0"/>
          </a:p>
        </p:txBody>
      </p:sp>
      <p:sp>
        <p:nvSpPr>
          <p:cNvPr id="20" name="Shape 18"/>
          <p:cNvSpPr/>
          <p:nvPr/>
        </p:nvSpPr>
        <p:spPr>
          <a:xfrm>
            <a:off x="566928" y="3886200"/>
            <a:ext cx="11057839" cy="749808"/>
          </a:xfrm>
          <a:prstGeom prst="rect">
            <a:avLst/>
          </a:prstGeom>
          <a:solidFill>
            <a:srgbClr val="F58220"/>
          </a:solidFill>
          <a:ln/>
        </p:spPr>
      </p:sp>
      <p:sp>
        <p:nvSpPr>
          <p:cNvPr id="21" name="Text 19"/>
          <p:cNvSpPr/>
          <p:nvPr/>
        </p:nvSpPr>
        <p:spPr>
          <a:xfrm>
            <a:off x="786384" y="3995928"/>
            <a:ext cx="10618927" cy="256032"/>
          </a:xfrm>
          <a:prstGeom prst="rect">
            <a:avLst/>
          </a:prstGeom>
          <a:noFill/>
          <a:ln/>
        </p:spPr>
        <p:txBody>
          <a:bodyPr wrap="square" lIns="0" tIns="0" rIns="0" bIns="0" rtlCol="0" anchor="ctr"/>
          <a:lstStyle/>
          <a:p>
            <a:pP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세율만 10% → 20%가 아니다</a:t>
            </a:r>
            <a:endParaRPr lang="en-US" sz="1200" dirty="0"/>
          </a:p>
        </p:txBody>
      </p:sp>
      <p:sp>
        <p:nvSpPr>
          <p:cNvPr id="22" name="Text 20"/>
          <p:cNvSpPr/>
          <p:nvPr/>
        </p:nvSpPr>
        <p:spPr>
          <a:xfrm>
            <a:off x="786384" y="4251960"/>
            <a:ext cx="10618927" cy="292608"/>
          </a:xfrm>
          <a:prstGeom prst="rect">
            <a:avLst/>
          </a:prstGeom>
          <a:noFill/>
          <a:ln/>
        </p:spPr>
        <p:txBody>
          <a:bodyPr wrap="square" lIns="0" tIns="0" rIns="0" bIns="0" rtlCol="0" anchor="t"/>
          <a:lstStyle/>
          <a:p>
            <a:pPr indent="0" marL="0">
              <a:lnSpc>
                <a:spcPct val="120000"/>
              </a:lnSpc>
              <a:buNone/>
            </a:pPr>
            <a:r>
              <a:rPr lang="en-US" sz="1040" dirty="0">
                <a:solidFill>
                  <a:srgbClr val="FFFFFF"/>
                </a:solidFill>
                <a:latin typeface="Spoqa Han Sans Neo" pitchFamily="34" charset="0"/>
                <a:ea typeface="Spoqa Han Sans Neo" pitchFamily="34" charset="-122"/>
                <a:cs typeface="Spoqa Han Sans Neo" pitchFamily="34" charset="-120"/>
              </a:rPr>
              <a:t>감면 배제까지 겹치면 실제 납부세액은 두 배를 넘을 수 있다. 부동산임대업 법인 설립을 검토하는 고객에게는 반드시 이 조항을 먼저 설명해야 한다.</a:t>
            </a:r>
            <a:endParaRPr lang="en-US" sz="1040" dirty="0"/>
          </a:p>
        </p:txBody>
      </p:sp>
      <p:sp>
        <p:nvSpPr>
          <p:cNvPr id="23" name="Text 21"/>
          <p:cNvSpPr/>
          <p:nvPr/>
        </p:nvSpPr>
        <p:spPr>
          <a:xfrm>
            <a:off x="566928" y="4846320"/>
            <a:ext cx="11057839" cy="256032"/>
          </a:xfrm>
          <a:prstGeom prst="rect">
            <a:avLst/>
          </a:prstGeom>
          <a:noFill/>
          <a:ln/>
        </p:spPr>
        <p:txBody>
          <a:bodyPr wrap="square" lIns="0" tIns="0" rIns="0" bIns="0" rtlCol="0" anchor="t"/>
          <a:lstStyle/>
          <a:p>
            <a:pPr algn="l" indent="0" marL="0">
              <a:lnSpc>
                <a:spcPct val="124000"/>
              </a:lnSpc>
              <a:buNone/>
            </a:pPr>
            <a:r>
              <a:rPr lang="en-US" sz="1250" b="1" dirty="0">
                <a:solidFill>
                  <a:srgbClr val="1A1A1A"/>
                </a:solidFill>
                <a:latin typeface="Spoqa Han Sans Neo" pitchFamily="34" charset="0"/>
                <a:ea typeface="Spoqa Han Sans Neo" pitchFamily="34" charset="-122"/>
                <a:cs typeface="Spoqa Han Sans Neo" pitchFamily="34" charset="-120"/>
              </a:rPr>
              <a:t>일반 법인이 활용할 세액공제 · 감면</a:t>
            </a:r>
            <a:endParaRPr lang="en-US" sz="1250" dirty="0"/>
          </a:p>
        </p:txBody>
      </p:sp>
      <p:sp>
        <p:nvSpPr>
          <p:cNvPr id="24" name="Shape 22"/>
          <p:cNvSpPr/>
          <p:nvPr/>
        </p:nvSpPr>
        <p:spPr>
          <a:xfrm>
            <a:off x="566928" y="5175504"/>
            <a:ext cx="2679192" cy="914400"/>
          </a:xfrm>
          <a:prstGeom prst="rect">
            <a:avLst/>
          </a:prstGeom>
          <a:solidFill>
            <a:srgbClr val="FFFFFF"/>
          </a:solidFill>
          <a:ln w="9525">
            <a:solidFill>
              <a:srgbClr val="CDCECB"/>
            </a:solidFill>
            <a:prstDash val="solid"/>
          </a:ln>
        </p:spPr>
      </p:sp>
      <p:sp>
        <p:nvSpPr>
          <p:cNvPr id="25" name="Text 23"/>
          <p:cNvSpPr/>
          <p:nvPr/>
        </p:nvSpPr>
        <p:spPr>
          <a:xfrm>
            <a:off x="713232" y="5285232"/>
            <a:ext cx="2386584" cy="237744"/>
          </a:xfrm>
          <a:prstGeom prst="rect">
            <a:avLst/>
          </a:prstGeom>
          <a:noFill/>
          <a:ln/>
        </p:spPr>
        <p:txBody>
          <a:bodyPr wrap="square" lIns="0" tIns="0" rIns="0" bIns="0" rtlCol="0" anchor="t"/>
          <a:lstStyle/>
          <a:p>
            <a:pPr algn="l" indent="0" marL="0">
              <a:lnSpc>
                <a:spcPct val="124000"/>
              </a:lnSpc>
              <a:buNone/>
            </a:pPr>
            <a:r>
              <a:rPr lang="en-US" sz="1100" b="1" dirty="0">
                <a:solidFill>
                  <a:srgbClr val="043B72"/>
                </a:solidFill>
                <a:latin typeface="Spoqa Han Sans Neo" pitchFamily="34" charset="0"/>
                <a:ea typeface="Spoqa Han Sans Neo" pitchFamily="34" charset="-122"/>
                <a:cs typeface="Spoqa Han Sans Neo" pitchFamily="34" charset="-120"/>
              </a:rPr>
              <a:t>통합투자세액공제</a:t>
            </a:r>
            <a:endParaRPr lang="en-US" sz="1100" dirty="0"/>
          </a:p>
        </p:txBody>
      </p:sp>
      <p:sp>
        <p:nvSpPr>
          <p:cNvPr id="26" name="Text 24"/>
          <p:cNvSpPr/>
          <p:nvPr/>
        </p:nvSpPr>
        <p:spPr>
          <a:xfrm>
            <a:off x="713232" y="5541264"/>
            <a:ext cx="2386584" cy="493776"/>
          </a:xfrm>
          <a:prstGeom prst="rect">
            <a:avLst/>
          </a:prstGeom>
          <a:noFill/>
          <a:ln/>
        </p:spPr>
        <p:txBody>
          <a:bodyPr wrap="square" lIns="0" tIns="0" rIns="0" bIns="0" rtlCol="0" anchor="t"/>
          <a:lstStyle/>
          <a:p>
            <a:pPr algn="l" indent="0" marL="0">
              <a:lnSpc>
                <a:spcPct val="114000"/>
              </a:lnSpc>
              <a:buNone/>
            </a:pPr>
            <a:r>
              <a:rPr lang="en-US" sz="950" dirty="0">
                <a:solidFill>
                  <a:srgbClr val="3D3D3D"/>
                </a:solidFill>
                <a:latin typeface="Spoqa Han Sans Neo" pitchFamily="34" charset="0"/>
                <a:ea typeface="Spoqa Han Sans Neo" pitchFamily="34" charset="-122"/>
                <a:cs typeface="Spoqa Han Sans Neo" pitchFamily="34" charset="-120"/>
              </a:rPr>
              <a:t>사업용 유형자산 투자액의 일정률. 국가전략기술 · 신성장기술은 우대율 적용</a:t>
            </a:r>
            <a:endParaRPr lang="en-US" sz="950" dirty="0"/>
          </a:p>
        </p:txBody>
      </p:sp>
      <p:sp>
        <p:nvSpPr>
          <p:cNvPr id="27" name="Shape 25"/>
          <p:cNvSpPr/>
          <p:nvPr/>
        </p:nvSpPr>
        <p:spPr>
          <a:xfrm>
            <a:off x="3364992" y="5175504"/>
            <a:ext cx="2679192" cy="914400"/>
          </a:xfrm>
          <a:prstGeom prst="rect">
            <a:avLst/>
          </a:prstGeom>
          <a:solidFill>
            <a:srgbClr val="FFFFFF"/>
          </a:solidFill>
          <a:ln w="9525">
            <a:solidFill>
              <a:srgbClr val="CDCECB"/>
            </a:solidFill>
            <a:prstDash val="solid"/>
          </a:ln>
        </p:spPr>
      </p:sp>
      <p:sp>
        <p:nvSpPr>
          <p:cNvPr id="28" name="Text 26"/>
          <p:cNvSpPr/>
          <p:nvPr/>
        </p:nvSpPr>
        <p:spPr>
          <a:xfrm>
            <a:off x="3511296" y="5285232"/>
            <a:ext cx="2386584" cy="237744"/>
          </a:xfrm>
          <a:prstGeom prst="rect">
            <a:avLst/>
          </a:prstGeom>
          <a:noFill/>
          <a:ln/>
        </p:spPr>
        <p:txBody>
          <a:bodyPr wrap="square" lIns="0" tIns="0" rIns="0" bIns="0" rtlCol="0" anchor="t"/>
          <a:lstStyle/>
          <a:p>
            <a:pPr algn="l" indent="0" marL="0">
              <a:lnSpc>
                <a:spcPct val="124000"/>
              </a:lnSpc>
              <a:buNone/>
            </a:pPr>
            <a:r>
              <a:rPr lang="en-US" sz="1100" b="1" dirty="0">
                <a:solidFill>
                  <a:srgbClr val="043B72"/>
                </a:solidFill>
                <a:latin typeface="Spoqa Han Sans Neo" pitchFamily="34" charset="0"/>
                <a:ea typeface="Spoqa Han Sans Neo" pitchFamily="34" charset="-122"/>
                <a:cs typeface="Spoqa Han Sans Neo" pitchFamily="34" charset="-120"/>
              </a:rPr>
              <a:t>R&amp;D 세액공제</a:t>
            </a:r>
            <a:endParaRPr lang="en-US" sz="1100" dirty="0"/>
          </a:p>
        </p:txBody>
      </p:sp>
      <p:sp>
        <p:nvSpPr>
          <p:cNvPr id="29" name="Text 27"/>
          <p:cNvSpPr/>
          <p:nvPr/>
        </p:nvSpPr>
        <p:spPr>
          <a:xfrm>
            <a:off x="3511296" y="5541264"/>
            <a:ext cx="2386584" cy="493776"/>
          </a:xfrm>
          <a:prstGeom prst="rect">
            <a:avLst/>
          </a:prstGeom>
          <a:noFill/>
          <a:ln/>
        </p:spPr>
        <p:txBody>
          <a:bodyPr wrap="square" lIns="0" tIns="0" rIns="0" bIns="0" rtlCol="0" anchor="t"/>
          <a:lstStyle/>
          <a:p>
            <a:pPr algn="l" indent="0" marL="0">
              <a:lnSpc>
                <a:spcPct val="114000"/>
              </a:lnSpc>
              <a:buNone/>
            </a:pPr>
            <a:r>
              <a:rPr lang="en-US" sz="950" dirty="0">
                <a:solidFill>
                  <a:srgbClr val="3D3D3D"/>
                </a:solidFill>
                <a:latin typeface="Spoqa Han Sans Neo" pitchFamily="34" charset="0"/>
                <a:ea typeface="Spoqa Han Sans Neo" pitchFamily="34" charset="-122"/>
                <a:cs typeface="Spoqa Han Sans Neo" pitchFamily="34" charset="-120"/>
              </a:rPr>
              <a:t>연구 · 인력개발비의 일정률. 중소기업 우대, 신성장 · 원천기술 별도 구간</a:t>
            </a:r>
            <a:endParaRPr lang="en-US" sz="950" dirty="0"/>
          </a:p>
        </p:txBody>
      </p:sp>
      <p:sp>
        <p:nvSpPr>
          <p:cNvPr id="30" name="Shape 28"/>
          <p:cNvSpPr/>
          <p:nvPr/>
        </p:nvSpPr>
        <p:spPr>
          <a:xfrm>
            <a:off x="6163056" y="5175504"/>
            <a:ext cx="2679192" cy="914400"/>
          </a:xfrm>
          <a:prstGeom prst="rect">
            <a:avLst/>
          </a:prstGeom>
          <a:solidFill>
            <a:srgbClr val="FFFFFF"/>
          </a:solidFill>
          <a:ln w="9525">
            <a:solidFill>
              <a:srgbClr val="CDCECB"/>
            </a:solidFill>
            <a:prstDash val="solid"/>
          </a:ln>
        </p:spPr>
      </p:sp>
      <p:sp>
        <p:nvSpPr>
          <p:cNvPr id="31" name="Text 29"/>
          <p:cNvSpPr/>
          <p:nvPr/>
        </p:nvSpPr>
        <p:spPr>
          <a:xfrm>
            <a:off x="6309360" y="5285232"/>
            <a:ext cx="2386584" cy="237744"/>
          </a:xfrm>
          <a:prstGeom prst="rect">
            <a:avLst/>
          </a:prstGeom>
          <a:noFill/>
          <a:ln/>
        </p:spPr>
        <p:txBody>
          <a:bodyPr wrap="square" lIns="0" tIns="0" rIns="0" bIns="0" rtlCol="0" anchor="t"/>
          <a:lstStyle/>
          <a:p>
            <a:pPr algn="l" indent="0" marL="0">
              <a:lnSpc>
                <a:spcPct val="124000"/>
              </a:lnSpc>
              <a:buNone/>
            </a:pPr>
            <a:r>
              <a:rPr lang="en-US" sz="1100" b="1" dirty="0">
                <a:solidFill>
                  <a:srgbClr val="043B72"/>
                </a:solidFill>
                <a:latin typeface="Spoqa Han Sans Neo" pitchFamily="34" charset="0"/>
                <a:ea typeface="Spoqa Han Sans Neo" pitchFamily="34" charset="-122"/>
                <a:cs typeface="Spoqa Han Sans Neo" pitchFamily="34" charset="-120"/>
              </a:rPr>
              <a:t>통합고용세액공제</a:t>
            </a:r>
            <a:endParaRPr lang="en-US" sz="1100" dirty="0"/>
          </a:p>
        </p:txBody>
      </p:sp>
      <p:sp>
        <p:nvSpPr>
          <p:cNvPr id="32" name="Text 30"/>
          <p:cNvSpPr/>
          <p:nvPr/>
        </p:nvSpPr>
        <p:spPr>
          <a:xfrm>
            <a:off x="6309360" y="5541264"/>
            <a:ext cx="2386584" cy="493776"/>
          </a:xfrm>
          <a:prstGeom prst="rect">
            <a:avLst/>
          </a:prstGeom>
          <a:noFill/>
          <a:ln/>
        </p:spPr>
        <p:txBody>
          <a:bodyPr wrap="square" lIns="0" tIns="0" rIns="0" bIns="0" rtlCol="0" anchor="t"/>
          <a:lstStyle/>
          <a:p>
            <a:pPr algn="l" indent="0" marL="0">
              <a:lnSpc>
                <a:spcPct val="114000"/>
              </a:lnSpc>
              <a:buNone/>
            </a:pPr>
            <a:r>
              <a:rPr lang="en-US" sz="950" dirty="0">
                <a:solidFill>
                  <a:srgbClr val="3D3D3D"/>
                </a:solidFill>
                <a:latin typeface="Spoqa Han Sans Neo" pitchFamily="34" charset="0"/>
                <a:ea typeface="Spoqa Han Sans Neo" pitchFamily="34" charset="-122"/>
                <a:cs typeface="Spoqa Han Sans Neo" pitchFamily="34" charset="-120"/>
              </a:rPr>
              <a:t>고용 증가 시 인원당 공제. 2026년부터 사후관리(감소 시 추징) 폐지</a:t>
            </a:r>
            <a:endParaRPr lang="en-US" sz="950" dirty="0"/>
          </a:p>
        </p:txBody>
      </p:sp>
      <p:sp>
        <p:nvSpPr>
          <p:cNvPr id="33" name="Shape 31"/>
          <p:cNvSpPr/>
          <p:nvPr/>
        </p:nvSpPr>
        <p:spPr>
          <a:xfrm>
            <a:off x="8961120" y="5175504"/>
            <a:ext cx="2679192" cy="914400"/>
          </a:xfrm>
          <a:prstGeom prst="rect">
            <a:avLst/>
          </a:prstGeom>
          <a:solidFill>
            <a:srgbClr val="FFFFFF"/>
          </a:solidFill>
          <a:ln w="9525">
            <a:solidFill>
              <a:srgbClr val="CDCECB"/>
            </a:solidFill>
            <a:prstDash val="solid"/>
          </a:ln>
        </p:spPr>
      </p:sp>
      <p:sp>
        <p:nvSpPr>
          <p:cNvPr id="34" name="Text 32"/>
          <p:cNvSpPr/>
          <p:nvPr/>
        </p:nvSpPr>
        <p:spPr>
          <a:xfrm>
            <a:off x="9107424" y="5285232"/>
            <a:ext cx="2386584" cy="237744"/>
          </a:xfrm>
          <a:prstGeom prst="rect">
            <a:avLst/>
          </a:prstGeom>
          <a:noFill/>
          <a:ln/>
        </p:spPr>
        <p:txBody>
          <a:bodyPr wrap="square" lIns="0" tIns="0" rIns="0" bIns="0" rtlCol="0" anchor="t"/>
          <a:lstStyle/>
          <a:p>
            <a:pPr algn="l" indent="0" marL="0">
              <a:lnSpc>
                <a:spcPct val="124000"/>
              </a:lnSpc>
              <a:buNone/>
            </a:pPr>
            <a:r>
              <a:rPr lang="en-US" sz="1100" b="1" dirty="0">
                <a:solidFill>
                  <a:srgbClr val="043B72"/>
                </a:solidFill>
                <a:latin typeface="Spoqa Han Sans Neo" pitchFamily="34" charset="0"/>
                <a:ea typeface="Spoqa Han Sans Neo" pitchFamily="34" charset="-122"/>
                <a:cs typeface="Spoqa Han Sans Neo" pitchFamily="34" charset="-120"/>
              </a:rPr>
              <a:t>창업 · 중소기업 감면</a:t>
            </a:r>
            <a:endParaRPr lang="en-US" sz="1100" dirty="0"/>
          </a:p>
        </p:txBody>
      </p:sp>
      <p:sp>
        <p:nvSpPr>
          <p:cNvPr id="35" name="Text 33"/>
          <p:cNvSpPr/>
          <p:nvPr/>
        </p:nvSpPr>
        <p:spPr>
          <a:xfrm>
            <a:off x="9107424" y="5541264"/>
            <a:ext cx="2386584" cy="493776"/>
          </a:xfrm>
          <a:prstGeom prst="rect">
            <a:avLst/>
          </a:prstGeom>
          <a:noFill/>
          <a:ln/>
        </p:spPr>
        <p:txBody>
          <a:bodyPr wrap="square" lIns="0" tIns="0" rIns="0" bIns="0" rtlCol="0" anchor="t"/>
          <a:lstStyle/>
          <a:p>
            <a:pPr algn="l" indent="0" marL="0">
              <a:lnSpc>
                <a:spcPct val="114000"/>
              </a:lnSpc>
              <a:buNone/>
            </a:pPr>
            <a:r>
              <a:rPr lang="en-US" sz="950" dirty="0">
                <a:solidFill>
                  <a:srgbClr val="3D3D3D"/>
                </a:solidFill>
                <a:latin typeface="Spoqa Han Sans Neo" pitchFamily="34" charset="0"/>
                <a:ea typeface="Spoqa Han Sans Neo" pitchFamily="34" charset="-122"/>
                <a:cs typeface="Spoqa Han Sans Neo" pitchFamily="34" charset="-120"/>
              </a:rPr>
              <a:t>창업중소기업 5년 50~100%, 중소기업 특별세액감면 병행 검토</a:t>
            </a:r>
            <a:endParaRPr lang="en-US" sz="950" dirty="0"/>
          </a:p>
        </p:txBody>
      </p:sp>
      <p:sp>
        <p:nvSpPr>
          <p:cNvPr id="36" name="Text 34"/>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37" name="Text 35"/>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256032"/>
            <a:ext cx="11057839" cy="219456"/>
          </a:xfrm>
          <a:prstGeom prst="rect">
            <a:avLst/>
          </a:prstGeom>
          <a:noFill/>
          <a:ln/>
        </p:spPr>
        <p:txBody>
          <a:bodyPr wrap="square" lIns="0" tIns="0" rIns="0" bIns="0" rtlCol="0" anchor="ctr"/>
          <a:lstStyle/>
          <a:p>
            <a:pPr algn="l" indent="0" marL="0">
              <a:buNone/>
            </a:pPr>
            <a:r>
              <a:rPr lang="en-US" sz="1050" b="1" spc="60" kern="0" dirty="0">
                <a:solidFill>
                  <a:srgbClr val="F58220"/>
                </a:solidFill>
                <a:latin typeface="Spoqa Han Sans Neo" pitchFamily="34" charset="0"/>
                <a:ea typeface="Spoqa Han Sans Neo" pitchFamily="34" charset="-122"/>
                <a:cs typeface="Spoqa Han Sans Neo" pitchFamily="34" charset="-120"/>
              </a:rPr>
              <a:t>마무리</a:t>
            </a:r>
            <a:endParaRPr lang="en-US" sz="1050" dirty="0"/>
          </a:p>
        </p:txBody>
      </p:sp>
      <p:sp>
        <p:nvSpPr>
          <p:cNvPr id="3" name="Shape 1"/>
          <p:cNvSpPr/>
          <p:nvPr/>
        </p:nvSpPr>
        <p:spPr>
          <a:xfrm>
            <a:off x="566928" y="530352"/>
            <a:ext cx="11057839" cy="10973"/>
          </a:xfrm>
          <a:prstGeom prst="rect">
            <a:avLst/>
          </a:prstGeom>
          <a:solidFill>
            <a:srgbClr val="F58220"/>
          </a:solidFill>
          <a:ln/>
        </p:spPr>
      </p:sp>
      <p:sp>
        <p:nvSpPr>
          <p:cNvPr id="4" name="Text 2"/>
          <p:cNvSpPr/>
          <p:nvPr/>
        </p:nvSpPr>
        <p:spPr>
          <a:xfrm>
            <a:off x="566928" y="603504"/>
            <a:ext cx="11057839" cy="475488"/>
          </a:xfrm>
          <a:prstGeom prst="rect">
            <a:avLst/>
          </a:prstGeom>
          <a:noFill/>
          <a:ln/>
        </p:spPr>
        <p:txBody>
          <a:bodyPr wrap="square" lIns="0" tIns="0" rIns="0" bIns="0" rtlCol="0" anchor="ctr"/>
          <a:lstStyle/>
          <a:p>
            <a:pPr algn="l" indent="0" marL="0">
              <a:buNone/>
            </a:pPr>
            <a:r>
              <a:rPr lang="en-US" sz="2600" b="1" spc="-30" kern="0" dirty="0">
                <a:solidFill>
                  <a:srgbClr val="1A1A1A"/>
                </a:solidFill>
                <a:latin typeface="Spoqa Han Sans Neo" pitchFamily="34" charset="0"/>
                <a:ea typeface="Spoqa Han Sans Neo" pitchFamily="34" charset="-122"/>
                <a:cs typeface="Spoqa Han Sans Neo" pitchFamily="34" charset="-120"/>
              </a:rPr>
              <a:t>대상별 실행 체크리스트</a:t>
            </a:r>
            <a:endParaRPr lang="en-US" sz="2600" dirty="0"/>
          </a:p>
        </p:txBody>
      </p:sp>
      <p:sp>
        <p:nvSpPr>
          <p:cNvPr id="5" name="Text 3"/>
          <p:cNvSpPr/>
          <p:nvPr/>
        </p:nvSpPr>
        <p:spPr>
          <a:xfrm>
            <a:off x="566928" y="1097280"/>
            <a:ext cx="11057839" cy="274320"/>
          </a:xfrm>
          <a:prstGeom prst="rect">
            <a:avLst/>
          </a:prstGeom>
          <a:noFill/>
          <a:ln/>
        </p:spPr>
        <p:txBody>
          <a:bodyPr wrap="square" lIns="0" tIns="0" rIns="0" bIns="0" rtlCol="0" anchor="ctr"/>
          <a:lstStyle/>
          <a:p>
            <a:pPr algn="l" indent="0" marL="0">
              <a:buNone/>
            </a:pPr>
            <a:r>
              <a:rPr lang="en-US" sz="1250" dirty="0">
                <a:solidFill>
                  <a:srgbClr val="6C6C6C"/>
                </a:solidFill>
                <a:latin typeface="Spoqa Han Sans Neo" pitchFamily="34" charset="0"/>
                <a:ea typeface="Spoqa Han Sans Neo" pitchFamily="34" charset="-122"/>
                <a:cs typeface="Spoqa Han Sans Neo" pitchFamily="34" charset="-120"/>
              </a:rPr>
              <a:t>지금 확인할 것과 연말까지 준비할 것을 분리한다</a:t>
            </a:r>
            <a:endParaRPr lang="en-US" sz="1250" dirty="0"/>
          </a:p>
        </p:txBody>
      </p:sp>
      <p:sp>
        <p:nvSpPr>
          <p:cNvPr id="6" name="Shape 4"/>
          <p:cNvSpPr/>
          <p:nvPr/>
        </p:nvSpPr>
        <p:spPr>
          <a:xfrm>
            <a:off x="566928" y="1627632"/>
            <a:ext cx="3502152" cy="3200400"/>
          </a:xfrm>
          <a:prstGeom prst="rect">
            <a:avLst/>
          </a:prstGeom>
          <a:solidFill>
            <a:srgbClr val="FFFFFF"/>
          </a:solidFill>
          <a:ln w="9525">
            <a:solidFill>
              <a:srgbClr val="CDCECB"/>
            </a:solidFill>
            <a:prstDash val="solid"/>
          </a:ln>
        </p:spPr>
      </p:sp>
      <p:sp>
        <p:nvSpPr>
          <p:cNvPr id="7" name="Shape 5"/>
          <p:cNvSpPr/>
          <p:nvPr/>
        </p:nvSpPr>
        <p:spPr>
          <a:xfrm>
            <a:off x="566928" y="1627632"/>
            <a:ext cx="3502152" cy="384048"/>
          </a:xfrm>
          <a:prstGeom prst="rect">
            <a:avLst/>
          </a:prstGeom>
          <a:solidFill>
            <a:srgbClr val="ECEFF4"/>
          </a:solidFill>
          <a:ln/>
        </p:spPr>
      </p:sp>
      <p:sp>
        <p:nvSpPr>
          <p:cNvPr id="8" name="Text 6"/>
          <p:cNvSpPr/>
          <p:nvPr/>
        </p:nvSpPr>
        <p:spPr>
          <a:xfrm>
            <a:off x="731520" y="1627632"/>
            <a:ext cx="3172968" cy="384048"/>
          </a:xfrm>
          <a:prstGeom prst="rect">
            <a:avLst/>
          </a:prstGeom>
          <a:noFill/>
          <a:ln/>
        </p:spPr>
        <p:txBody>
          <a:bodyPr wrap="square" lIns="0" tIns="0" rIns="0" bIns="0" rtlCol="0" anchor="ctr"/>
          <a:lstStyle/>
          <a:p>
            <a:pPr algn="l" indent="0" marL="0">
              <a:lnSpc>
                <a:spcPct val="124000"/>
              </a:lnSpc>
              <a:buNone/>
            </a:pPr>
            <a:r>
              <a:rPr lang="en-US" sz="1250" b="1" dirty="0">
                <a:solidFill>
                  <a:srgbClr val="F58220"/>
                </a:solidFill>
                <a:latin typeface="Spoqa Han Sans Neo" pitchFamily="34" charset="0"/>
                <a:ea typeface="Spoqa Han Sans Neo" pitchFamily="34" charset="-122"/>
                <a:cs typeface="Spoqa Han Sans Neo" pitchFamily="34" charset="-120"/>
              </a:rPr>
              <a:t>개인 투자자</a:t>
            </a:r>
            <a:endParaRPr lang="en-US" sz="1250" dirty="0"/>
          </a:p>
        </p:txBody>
      </p:sp>
      <p:sp>
        <p:nvSpPr>
          <p:cNvPr id="9" name="Text 7"/>
          <p:cNvSpPr/>
          <p:nvPr/>
        </p:nvSpPr>
        <p:spPr>
          <a:xfrm>
            <a:off x="731520" y="2121408"/>
            <a:ext cx="3172968" cy="265176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금융소득 연간 누적액 2,000만원 대비 점검</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고배당 종목 분리과세 요건 · 유불리 비교</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ISA 개설 및 연간 납입한도 소진 여부</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연금계좌 900만원 한도 납입 완료</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12월 31일 기준 대주주 요건(종목당 50억) 확인</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해외주식 양도차익 250만원 공제 활용 · 손익 실현 시기 조정</a:t>
            </a:r>
            <a:endParaRPr lang="en-US" sz="990" dirty="0"/>
          </a:p>
        </p:txBody>
      </p:sp>
      <p:sp>
        <p:nvSpPr>
          <p:cNvPr id="10" name="Shape 8"/>
          <p:cNvSpPr/>
          <p:nvPr/>
        </p:nvSpPr>
        <p:spPr>
          <a:xfrm>
            <a:off x="4361688" y="1627632"/>
            <a:ext cx="3502152" cy="3200400"/>
          </a:xfrm>
          <a:prstGeom prst="rect">
            <a:avLst/>
          </a:prstGeom>
          <a:solidFill>
            <a:srgbClr val="FFFFFF"/>
          </a:solidFill>
          <a:ln w="9525">
            <a:solidFill>
              <a:srgbClr val="CDCECB"/>
            </a:solidFill>
            <a:prstDash val="solid"/>
          </a:ln>
        </p:spPr>
      </p:sp>
      <p:sp>
        <p:nvSpPr>
          <p:cNvPr id="11" name="Shape 9"/>
          <p:cNvSpPr/>
          <p:nvPr/>
        </p:nvSpPr>
        <p:spPr>
          <a:xfrm>
            <a:off x="4361688" y="1627632"/>
            <a:ext cx="3502152" cy="384048"/>
          </a:xfrm>
          <a:prstGeom prst="rect">
            <a:avLst/>
          </a:prstGeom>
          <a:solidFill>
            <a:srgbClr val="ECEFF4"/>
          </a:solidFill>
          <a:ln/>
        </p:spPr>
      </p:sp>
      <p:sp>
        <p:nvSpPr>
          <p:cNvPr id="12" name="Text 10"/>
          <p:cNvSpPr/>
          <p:nvPr/>
        </p:nvSpPr>
        <p:spPr>
          <a:xfrm>
            <a:off x="4526280" y="1627632"/>
            <a:ext cx="3172968" cy="384048"/>
          </a:xfrm>
          <a:prstGeom prst="rect">
            <a:avLst/>
          </a:prstGeom>
          <a:noFill/>
          <a:ln/>
        </p:spPr>
        <p:txBody>
          <a:bodyPr wrap="square" lIns="0" tIns="0" rIns="0" bIns="0" rtlCol="0" anchor="ctr"/>
          <a:lstStyle/>
          <a:p>
            <a:pPr algn="l" indent="0" marL="0">
              <a:lnSpc>
                <a:spcPct val="124000"/>
              </a:lnSpc>
              <a:buNone/>
            </a:pPr>
            <a:r>
              <a:rPr lang="en-US" sz="1250" b="1" dirty="0">
                <a:solidFill>
                  <a:srgbClr val="043B72"/>
                </a:solidFill>
                <a:latin typeface="Spoqa Han Sans Neo" pitchFamily="34" charset="0"/>
                <a:ea typeface="Spoqa Han Sans Neo" pitchFamily="34" charset="-122"/>
                <a:cs typeface="Spoqa Han Sans Neo" pitchFamily="34" charset="-120"/>
              </a:rPr>
              <a:t>사업자 · 근로자</a:t>
            </a:r>
            <a:endParaRPr lang="en-US" sz="1250" dirty="0"/>
          </a:p>
        </p:txBody>
      </p:sp>
      <p:sp>
        <p:nvSpPr>
          <p:cNvPr id="13" name="Text 11"/>
          <p:cNvSpPr/>
          <p:nvPr/>
        </p:nvSpPr>
        <p:spPr>
          <a:xfrm>
            <a:off x="4526280" y="2121408"/>
            <a:ext cx="3172968" cy="265176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장부 의무 구분(간편장부 · 복식부기 · 성실신고) 확인</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적격증빙 수취 체계 점검, 3만원 초과 지출 관리</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노란우산공제 · 연금계좌 한도 소진</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창업 · 고용 · 투자 세액공제 적용 가능성 검토</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중간예납(11월 30일) 세액 추정</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과세표준 1.5억원 초과 지속 시 법인 전환 검토</a:t>
            </a:r>
            <a:endParaRPr lang="en-US" sz="990" dirty="0"/>
          </a:p>
        </p:txBody>
      </p:sp>
      <p:sp>
        <p:nvSpPr>
          <p:cNvPr id="14" name="Shape 12"/>
          <p:cNvSpPr/>
          <p:nvPr/>
        </p:nvSpPr>
        <p:spPr>
          <a:xfrm>
            <a:off x="8156448" y="1627632"/>
            <a:ext cx="3502152" cy="3200400"/>
          </a:xfrm>
          <a:prstGeom prst="rect">
            <a:avLst/>
          </a:prstGeom>
          <a:solidFill>
            <a:srgbClr val="FFFFFF"/>
          </a:solidFill>
          <a:ln w="9525">
            <a:solidFill>
              <a:srgbClr val="CDCECB"/>
            </a:solidFill>
            <a:prstDash val="solid"/>
          </a:ln>
        </p:spPr>
      </p:sp>
      <p:sp>
        <p:nvSpPr>
          <p:cNvPr id="15" name="Shape 13"/>
          <p:cNvSpPr/>
          <p:nvPr/>
        </p:nvSpPr>
        <p:spPr>
          <a:xfrm>
            <a:off x="8156448" y="1627632"/>
            <a:ext cx="3502152" cy="384048"/>
          </a:xfrm>
          <a:prstGeom prst="rect">
            <a:avLst/>
          </a:prstGeom>
          <a:solidFill>
            <a:srgbClr val="ECEFF4"/>
          </a:solidFill>
          <a:ln/>
        </p:spPr>
      </p:sp>
      <p:sp>
        <p:nvSpPr>
          <p:cNvPr id="16" name="Text 14"/>
          <p:cNvSpPr/>
          <p:nvPr/>
        </p:nvSpPr>
        <p:spPr>
          <a:xfrm>
            <a:off x="8321040" y="1627632"/>
            <a:ext cx="3172968" cy="384048"/>
          </a:xfrm>
          <a:prstGeom prst="rect">
            <a:avLst/>
          </a:prstGeom>
          <a:noFill/>
          <a:ln/>
        </p:spPr>
        <p:txBody>
          <a:bodyPr wrap="square" lIns="0" tIns="0" rIns="0" bIns="0" rtlCol="0" anchor="ctr"/>
          <a:lstStyle/>
          <a:p>
            <a:pPr algn="l" indent="0" marL="0">
              <a:lnSpc>
                <a:spcPct val="124000"/>
              </a:lnSpc>
              <a:buNone/>
            </a:pPr>
            <a:r>
              <a:rPr lang="en-US" sz="1250" b="1" dirty="0">
                <a:solidFill>
                  <a:srgbClr val="CB6015"/>
                </a:solidFill>
                <a:latin typeface="Spoqa Han Sans Neo" pitchFamily="34" charset="0"/>
                <a:ea typeface="Spoqa Han Sans Neo" pitchFamily="34" charset="-122"/>
                <a:cs typeface="Spoqa Han Sans Neo" pitchFamily="34" charset="-120"/>
              </a:rPr>
              <a:t>법인 대표 · 자산가</a:t>
            </a:r>
            <a:endParaRPr lang="en-US" sz="1250" dirty="0"/>
          </a:p>
        </p:txBody>
      </p:sp>
      <p:sp>
        <p:nvSpPr>
          <p:cNvPr id="17" name="Text 15"/>
          <p:cNvSpPr/>
          <p:nvPr/>
        </p:nvSpPr>
        <p:spPr>
          <a:xfrm>
            <a:off x="8321040" y="2121408"/>
            <a:ext cx="3172968" cy="265176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2026년 세율 인상 반영 세부담 재추정</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가지급금 잔액 확인 및 상환 계획 수립</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임원 보수 · 퇴직급여 규정 정비</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이월결손금 잔액과 공제 한도 점검</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사전증여 10년 주기 계획 착수(빠를수록 유리)</a:t>
            </a:r>
            <a:endParaRPr lang="en-US" sz="990" dirty="0"/>
          </a:p>
          <a:p>
            <a:pPr marL="342900" indent="-342900">
              <a:lnSpc>
                <a:spcPct val="120000"/>
              </a:lnSpc>
              <a:spcAft>
                <a:spcPts val="600"/>
              </a:spcAft>
              <a:buSzPct val="100000"/>
              <a:buChar char="•"/>
            </a:pPr>
            <a:r>
              <a:rPr lang="en-US" sz="990" dirty="0">
                <a:solidFill>
                  <a:srgbClr val="3D3D3D"/>
                </a:solidFill>
                <a:latin typeface="Spoqa Han Sans Neo" pitchFamily="34" charset="0"/>
                <a:ea typeface="Spoqa Han Sans Neo" pitchFamily="34" charset="-122"/>
                <a:cs typeface="Spoqa Han Sans Neo" pitchFamily="34" charset="-120"/>
              </a:rPr>
              <a:t>□  가업승계 요건(경영기간 · 지분 · 종사) 사전 진단</a:t>
            </a:r>
            <a:endParaRPr lang="en-US" sz="990" dirty="0"/>
          </a:p>
        </p:txBody>
      </p:sp>
      <p:sp>
        <p:nvSpPr>
          <p:cNvPr id="18" name="Shape 16"/>
          <p:cNvSpPr/>
          <p:nvPr/>
        </p:nvSpPr>
        <p:spPr>
          <a:xfrm>
            <a:off x="566928" y="4956048"/>
            <a:ext cx="11057839" cy="1170432"/>
          </a:xfrm>
          <a:prstGeom prst="rect">
            <a:avLst/>
          </a:prstGeom>
          <a:solidFill>
            <a:srgbClr val="ECEFF4"/>
          </a:solidFill>
          <a:ln/>
        </p:spPr>
      </p:sp>
      <p:sp>
        <p:nvSpPr>
          <p:cNvPr id="19" name="Text 17"/>
          <p:cNvSpPr/>
          <p:nvPr/>
        </p:nvSpPr>
        <p:spPr>
          <a:xfrm>
            <a:off x="749808" y="5047488"/>
            <a:ext cx="10692079" cy="23774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자료 이용 시 유의사항</a:t>
            </a:r>
            <a:endParaRPr lang="en-US" sz="1100" dirty="0"/>
          </a:p>
        </p:txBody>
      </p:sp>
      <p:sp>
        <p:nvSpPr>
          <p:cNvPr id="20" name="Text 18"/>
          <p:cNvSpPr/>
          <p:nvPr/>
        </p:nvSpPr>
        <p:spPr>
          <a:xfrm>
            <a:off x="749808" y="5285232"/>
            <a:ext cx="10692079" cy="749808"/>
          </a:xfrm>
          <a:prstGeom prst="rect">
            <a:avLst/>
          </a:prstGeom>
          <a:noFill/>
          <a:ln/>
        </p:spPr>
        <p:txBody>
          <a:bodyPr wrap="square" lIns="0" tIns="0" rIns="0" bIns="0" rtlCol="0" anchor="t"/>
          <a:lstStyle/>
          <a:p>
            <a:pPr indent="0" marL="0">
              <a:lnSpc>
                <a:spcPct val="122000"/>
              </a:lnSpc>
              <a:buNone/>
            </a:pPr>
            <a:r>
              <a:rPr lang="en-US" sz="1060" dirty="0">
                <a:solidFill>
                  <a:srgbClr val="1A1A1A"/>
                </a:solidFill>
                <a:latin typeface="Spoqa Han Sans Neo" pitchFamily="34" charset="0"/>
                <a:ea typeface="Spoqa Han Sans Neo" pitchFamily="34" charset="-122"/>
                <a:cs typeface="Spoqa Han Sans Neo" pitchFamily="34" charset="-120"/>
              </a:rPr>
              <a:t>본 자료는 2026년 10월 기준으로 확정 공포된 세법 및 시행령을 바탕으로 작성했으며, 국회 계류 중인 개정안(상속세 유산취득세 전환, ISA 한도 확대 등)은 '미확정'으로 구분해 표기했습니다. 본문의 세액 계산은 특정 가정에 따른 예시로 실제 세액은 재산 평가, 소득 구성, 공제 요건 충족 여부에 따라 달라집니다. 개별 사안의 적용 여부는 세무사 · 회계사 등 세무 전문가의 확인이 필요하며, 본 자료는 특정 금융상품의 투자 권유를 목적으로 하지 않습니다.</a:t>
            </a:r>
            <a:endParaRPr lang="en-US" sz="1060" dirty="0"/>
          </a:p>
        </p:txBody>
      </p:sp>
      <p:sp>
        <p:nvSpPr>
          <p:cNvPr id="21" name="Text 19"/>
          <p:cNvSpPr/>
          <p:nvPr/>
        </p:nvSpPr>
        <p:spPr>
          <a:xfrm>
            <a:off x="566928" y="6382512"/>
            <a:ext cx="7315200" cy="237744"/>
          </a:xfrm>
          <a:prstGeom prst="rect">
            <a:avLst/>
          </a:prstGeom>
          <a:noFill/>
          <a:ln/>
        </p:spPr>
        <p:txBody>
          <a:bodyPr wrap="square" lIns="0" tIns="0" rIns="0" bIns="0" rtlCol="0" anchor="ctr"/>
          <a:lstStyle/>
          <a:p>
            <a:pPr algn="l" indent="0" marL="0">
              <a:buNone/>
            </a:pPr>
            <a:r>
              <a:rPr lang="en-US" sz="900" dirty="0">
                <a:solidFill>
                  <a:srgbClr val="84888B"/>
                </a:solidFill>
                <a:latin typeface="Spoqa Han Sans Neo" pitchFamily="34" charset="0"/>
                <a:ea typeface="Spoqa Han Sans Neo" pitchFamily="34" charset="-122"/>
                <a:cs typeface="Spoqa Han Sans Neo" pitchFamily="34" charset="-120"/>
              </a:rPr>
              <a:t>2026년 10월 기준 확정 세법</a:t>
            </a:r>
            <a:endParaRPr lang="en-US" sz="900" dirty="0"/>
          </a:p>
        </p:txBody>
      </p:sp>
      <p:sp>
        <p:nvSpPr>
          <p:cNvPr id="22" name="Text 20"/>
          <p:cNvSpPr/>
          <p:nvPr/>
        </p:nvSpPr>
        <p:spPr>
          <a:xfrm>
            <a:off x="10527487" y="6382512"/>
            <a:ext cx="1097280" cy="237744"/>
          </a:xfrm>
          <a:prstGeom prst="rect">
            <a:avLst/>
          </a:prstGeom>
          <a:noFill/>
          <a:ln/>
        </p:spPr>
        <p:txBody>
          <a:bodyPr wrap="square" lIns="0" tIns="0" rIns="0" bIns="0" rtlCol="0" anchor="ctr"/>
          <a:lstStyle/>
          <a:p>
            <a:pPr algn="r" indent="0" marL="0">
              <a:buNone/>
            </a:pPr>
            <a:r>
              <a:rPr lang="en-US" sz="950" dirty="0">
                <a:solidFill>
                  <a:srgbClr val="6C6C6C"/>
                </a:solidFill>
                <a:latin typeface="Spoqa Han Sans Neo" pitchFamily="34" charset="0"/>
                <a:ea typeface="Spoqa Han Sans Neo" pitchFamily="34" charset="-122"/>
                <a:cs typeface="Spoqa Han Sans Neo" pitchFamily="34" charset="-120"/>
              </a:rPr>
              <a:t>30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 자산관리 세무 전략</dc:title>
  <dc:subject>종합소득세 · 근로/사업소득 · 상속증여 · 법인 금융투자 세제</dc:subject>
  <dc:creator>세무 전략 자료</dc:creator>
  <cp:lastModifiedBy>세무 전략 자료</cp:lastModifiedBy>
  <cp:revision>1</cp:revision>
  <dcterms:created xsi:type="dcterms:W3CDTF">2026-07-28T23:05:11Z</dcterms:created>
  <dcterms:modified xsi:type="dcterms:W3CDTF">2026-07-28T23:05:11Z</dcterms:modified>
</cp:coreProperties>
</file>