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2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소득보험료 (원)</c:v>
                </c:pt>
              </c:strCache>
            </c:strRef>
          </c:tx>
          <c:spPr>
            <a:solidFill>
              <a:srgbClr val="F582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3D3D3D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금융소득 900만원</c:v>
                  </c:pt>
                  <c:pt idx="1">
                    <c:v>999만원</c:v>
                  </c:pt>
                  <c:pt idx="2">
                    <c:v>1,001만원</c:v>
                  </c:pt>
                  <c:pt idx="3">
                    <c:v>1,500만원</c:v>
                  </c:pt>
                  <c:pt idx="4">
                    <c:v>2,000만원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59980</c:v>
                </c:pt>
                <c:pt idx="3">
                  <c:v>89880</c:v>
                </c:pt>
                <c:pt idx="4">
                  <c:v>119830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50" u="none">
                  <a:solidFill>
                    <a:srgbClr val="3D3D3D"/>
                  </a:solidFill>
                  <a:latin typeface="Spoqa Han Sans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C6C6C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5000"/>
          <c:min val="0"/>
        </c:scaling>
        <c:delete val="0"/>
        <c:axPos val="l"/>
        <c:majorGridlines>
          <c:spPr>
            <a:ln w="12700" cap="flat">
              <a:solidFill>
                <a:srgbClr val="E5E4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6C6C"/>
                </a:solidFill>
                <a:latin typeface="Spoqa Han Sans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건강보험료율 (%)</c:v>
                </c:pt>
              </c:strCache>
            </c:strRef>
          </c:tx>
          <c:spPr>
            <a:solidFill>
              <a:srgbClr val="F5822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3D3D3D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2022년</c:v>
                  </c:pt>
                  <c:pt idx="1">
                    <c:v>2023년</c:v>
                  </c:pt>
                  <c:pt idx="2">
                    <c:v>2024년</c:v>
                  </c:pt>
                  <c:pt idx="3">
                    <c:v>2025년</c:v>
                  </c:pt>
                  <c:pt idx="4">
                    <c:v>2026년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6.99</c:v>
                </c:pt>
                <c:pt idx="1">
                  <c:v>7.09</c:v>
                </c:pt>
                <c:pt idx="2">
                  <c:v>7.09</c:v>
                </c:pt>
                <c:pt idx="3">
                  <c:v>7.09</c:v>
                </c:pt>
                <c:pt idx="4">
                  <c:v>7.19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50" u="none">
                  <a:solidFill>
                    <a:srgbClr val="3D3D3D"/>
                  </a:solidFill>
                  <a:latin typeface="Spoqa Han Sans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C6C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.35"/>
          <c:min val="6.8"/>
        </c:scaling>
        <c:delete val="0"/>
        <c:axPos val="l"/>
        <c:majorGridlines>
          <c:spPr>
            <a:ln w="12700" cap="flat">
              <a:solidFill>
                <a:srgbClr val="E5E4E1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6C6C"/>
                </a:solidFill>
                <a:latin typeface="Spoqa Han Sans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30초: 건강보험료는 세금이 아니라서 공제·감면 장치가 거의 없다. 그런데 은퇴 고객의 고정지출 중 통제 가능성이 가장 큰 항목이기도 하다. 오늘은 '어디에 서 있느냐'가 보험료의 90%를 결정한다는 관점으로 제도를 분해한다.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 Ⅲ와 Ⅳ가 실제 상담에서 가장 자주 쓰이는 구간이다. 시간이 부족하면 Ⅱ의 계산 실습을 축약하고 Ⅲ·Ⅳ에 시간을 배분한다.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요율 인상 자체는 월 2,235원 수준으로 크지 않다. 고객 체감을 만드는 것은 요율이 아니라 ①자격 전환(직장→지역, 피부양자→지역)과 ②부과 대상 소득의 확대다. 이 두 축으로 강의를 끌고 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반드시 짚을 것: 직장가입자는 재산에 보험료가 붙지 않는다. 은퇴 고객의 보험료 급증은 '소득이 줄어서'가 아니라 '재산이 부과 대상으로 들어오기 때문'이다. 이 문장을 강의 전체의 축으로 반복한다.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고객이 가장 놀라는 숫자는 하한 20,160원이다. 소득과 재산이 전혀 없어도 매달 2만원은 나간다. 반대로 상한이 있다는 점도 자산가 고객에게는 중요한 정보다.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4월 정산 이야기를 꼭 넣는다. 고객 문의가 가장 많이 몰리는 시점이고, '왜 갑자기 올랐냐'는 질문의 절반은 연말정산식 보험료 정산 때문이다.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여기가 이번 개편의 진짜 타격 지점이다. 부수입 1,000만~2,000만원 구간 고객은 지금은 0원이지만 개편 후 신규 부과 대상이 된다. 27쪽에서 다시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'정률제 전환으로 저소득 지역가입자는 유리해졌다'는 점과 '2,000만원 공제가 없어 부수입 있는 고소득 지역가입자는 직장가입자보다 불리하다'는 점을 대비해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공시가격과 과세표준을 혼동하는 고객이 압도적으로 많다. '공시가격 10억 주택이면 과표는 약 6억'이라는 감각을 심어준다. 피부양자 재산 요건(18쪽)에서 바로 다시 쓰인다.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표를 인쇄해서 상담 데스크에 두게 하라고 안내한다. 회색 두 줄(사적연금·양도퇴직)이 자산배분 상담과 직결된다. 단, 사적연금 부과 제외는 법령상 명문이 아니라 실무 운영 기준이므로 향후 변경 가능성을 반드시 함께 고지한다.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자산가 고객 상담의 핵심이다. '999만원과 1,001만원의 차이'를 반드시 숫자로 보여준다. 다음 슬라이드 차트로 바로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차트의 '0, 0'이 시각적 충격을 만든다. 다만 실제로는 하한액 20,160원이 적용되므로 완전 0원은 아니라는 점을 구두로 보완한다. 각주에 명시되어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고객은 IRP 상담과 직결된다. 다만 '사적연금은 영원히 안 붙는다'고 단정하지 말 것. 부과체계 개편 논의에서 반복적으로 검토 대상에 오르는 항목이다.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임대소득은 '수익률'만 보고 결정하는 고객이 많다. 부모님 피부양자 자격 상실로 인한 연간 보험료 증가분을 함께 계산해 주면 상담의 질이 달라진다. 20쪽 케이스와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절대 하지 말 것: '이렇게 하면 건보료를 피할 수 있습니다'라는 단정. 제도 변경 리스크와 재산 전환 효과를 반드시 함께 말한다. 컴플라이언스 관점에서도 중요하다.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개의 문이라는 비유를 유지한다. 고객이 가장 자주 놓치는 문은 2번(사업소득 1원 룰)과 3번(과표 기준)이다. 다음 두 슬라이드에서 각각 분해한다.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'사업자등록이 있으면 1원 룰'과 '없으면 500만원 룰'의 차이를 꼭 대비시킨다. 은퇴 후 부업·소규모 사업을 시작하려는 고객에게 사업자등록 여부가 보험료 구조를 바꾼다는 점을 알려준다.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고객에게 '공시가격 알려주시면 과표를 계산해 드리겠다'고 제안하는 것이 실전에서 가장 잘 통한다. 홈택스·위택스 재산세 고지서에 과세표준이 그대로 적혀 있다는 점도 안내한다.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 입장에서 이 슬라이드가 가장 실용적이다. 10월 정기 점검을 고객 접점 이벤트로 만들라고 제안한다. 실제로 상담 예약을 만드는 명분이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케이스를 강의의 감정적 정점으로 쓴다. '연금 10만원 초과 → 연 215만원'이라는 문장을 반복한다. 그리고 바로 다음 파트에서 대응 수단을 제시해 불안을 해결로 전환한다.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 감정을 먼저 받아준다. '억울한 게 당연합니다, 제도가 그렇게 설계되어 있습니다'라고 인정한 뒤 구조를 설명하면 수용도가 크게 올라간다.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실수하기 쉬운 조언이 '무조건 임의계속가입 하세요'다. 재산이 거의 없는 고객은 지역가입자 하한액 수준이 더 저렴하다. 두 금액 비교가 FA의 부가가치다.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퇴직 예정 고객을 만나면 그 자리에서 휴대폰 캘린더에 '임의계속가입 신청 마감'을 등록하게 한다. 이 한 가지 행동이 고객에게 수백만원을 지켜준다.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조정신청은 고객이 스스로 알기 어려운 제도다. FA가 알려주는 것만으로 신뢰가 크게 올라간다. 다만 정산 리스크를 반드시 함께 설명해 나중에 클레임이 생기지 않게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3번(세대 구성)은 반드시 조심해서 말한다. 위장 세대분리는 문제가 된다. '실제 거주와 생계가 분리된 경우에만'이라는 전제를 빼면 안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고객 배포용으로 따로 잘라 쓰기 좋다. T-0의 2개월 기한만 강조해도 강의 가치가 회수된다.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반드시 '검토 중'을 세 번 이상 말한다. 확정 제도로 오해하고 의사결정하는 고객이 생기면 문제가 된다. 다만 방향성은 명확하다 — 부과 대상은 계속 넓어진다.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고객에게 '왜 자꾸 늘어나냐'는 질문을 받으면 이 슬라이드로 답한다. 정치적 판단이 아니라 인구구조와 재정의 문제라고 설명하면 수용도가 높다. 전망치임을 명시할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 리스트를 이 4분면으로 분류하는 작업을 세미나 후 과제로 준다. 1번 그룹이 가장 시급하고 상담 전환율도 높다.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마지막은 행동으로 닫는다. 체크리스트를 인쇄해 상담 데스크에 두게 하고, 다음 주까지 고객 5명을 4분면으로 분류해 보라고 과제를 준다. 유의사항은 반드시 낭독한다.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40" kern="0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사내한 · 교육용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 건강보험료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완전 해부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4937760" cy="0"/>
          </a:xfrm>
          <a:prstGeom prst="line">
            <a:avLst/>
          </a:prstGeom>
          <a:noFill/>
          <a:ln w="12700">
            <a:solidFill>
              <a:srgbClr val="F582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8862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부과 구조 · 소득 종류별 부과 지도 · 피부양자 · 은퇴 후 대응 · 2026 개편안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892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대상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463040" y="48920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은퇴 예정·은퇴 고객 / 자산가 고객 / 사내 FA / 공개세미나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5202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분량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63040" y="52029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30슬라이드 · 6개 파트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513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기준일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463040" y="55138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10월 1일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미래에셋증권 마포WM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강의 로드맵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제도의 구조 → 소득별 부과 → 자격 요건 → 대응 전략 → 최신 개편안 순서로 진행합니다.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48996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130552"/>
            <a:ext cx="384048" cy="38404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46960" y="2148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80" kern="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SLIDE 3 – 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651760"/>
            <a:ext cx="2977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제도의 지도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4672" y="3054096"/>
            <a:ext cx="2977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가입자 3분류와 2026년 핵심 숫자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9496" y="1874520"/>
            <a:ext cx="348996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5528" y="2130552"/>
            <a:ext cx="384048" cy="38404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528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47816" y="2148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80" kern="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SLIDE 6 – 9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05528" y="2651760"/>
            <a:ext cx="2977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부과 구조 해부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05528" y="3054096"/>
            <a:ext cx="2977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직장·지역 보험료 계산식과 실습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50352" y="1874520"/>
            <a:ext cx="348996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06384" y="2130552"/>
            <a:ext cx="384048" cy="38404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0" name="Text 18"/>
          <p:cNvSpPr/>
          <p:nvPr/>
        </p:nvSpPr>
        <p:spPr>
          <a:xfrm>
            <a:off x="8406384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Ⅲ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948672" y="2148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80" kern="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SLIDE 10 – 15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06384" y="2651760"/>
            <a:ext cx="2977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 종류별 부과 지도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406384" y="3054096"/>
            <a:ext cx="2977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금융·연금·임대소득과 부과 제외 항목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941064"/>
            <a:ext cx="348996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4197096"/>
            <a:ext cx="384048" cy="38404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Ⅳ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346960" y="42153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80" kern="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SLIDE 16 – 20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" y="4718304"/>
            <a:ext cx="2977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피부양자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04672" y="5120640"/>
            <a:ext cx="2977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3대 요건과 탈락 시뮬레이션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49496" y="3941064"/>
            <a:ext cx="348996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05528" y="4197096"/>
            <a:ext cx="384048" cy="38404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2" name="Text 30"/>
          <p:cNvSpPr/>
          <p:nvPr/>
        </p:nvSpPr>
        <p:spPr>
          <a:xfrm>
            <a:off x="4605528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Ⅴ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147816" y="42153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80" kern="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SLIDE 21 – 26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05528" y="4718304"/>
            <a:ext cx="2977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은퇴 후 대응 전략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4605528" y="5120640"/>
            <a:ext cx="2977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임의계속가입·조정신청·5년 로드맵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50352" y="3941064"/>
            <a:ext cx="348996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06384" y="4197096"/>
            <a:ext cx="384048" cy="38404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8" name="Text 36"/>
          <p:cNvSpPr/>
          <p:nvPr/>
        </p:nvSpPr>
        <p:spPr>
          <a:xfrm>
            <a:off x="8406384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Ⅵ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948672" y="42153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80" kern="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SLIDE 27 – 30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06384" y="4718304"/>
            <a:ext cx="2977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 개편안과 상담 실무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8406384" y="5120640"/>
            <a:ext cx="2977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공제 축소·상한 인상과 체크리스트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 / 30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Ⅰ. 제도의 지도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왜 지금 건강보험료인가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2026년은 2년간의 요율 동결이 끝난 해이자, 부과체계 개편안이 다시 테이블에 올라온 해입니다.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453384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21992"/>
            <a:ext cx="2904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건강보험료율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2904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7.19%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2024·2025년 2년 연속 동결 후 0.1%p 인상. 전년 대비 인상률 1.48%.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7784" y="1965960"/>
            <a:ext cx="3453384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2104" y="2221992"/>
            <a:ext cx="2904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개편안 영향 인원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42104" y="2532888"/>
            <a:ext cx="2904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178만명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642104" y="338328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월급 외 소득 공제 축소로 소득월액보험료가 신규 부과되거나 늘어나는 직장가입자. 전체의 8.9%.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6928" y="1965960"/>
            <a:ext cx="3453384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61248" y="2221992"/>
            <a:ext cx="2904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월 보험료 상한 (개편안)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61248" y="2532888"/>
            <a:ext cx="2904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612만원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461248" y="338328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평균보수월액의 15배 → 20배로 상향. 현행 상한 459만원 대비 +153만원.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11091672" cy="960120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526280"/>
            <a:ext cx="54864" cy="9601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581144"/>
            <a:ext cx="106344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개편안은 2026년 7월 23일 건강보험정책심의위원회 소위원회에 '보고'된 단계입니다. 2026년 10월 1일 현재도 확정되지 않았으며, 시행 시기와 최종안은 변동될 수 있습니다. 고객 상담 시 반드시 '검토 중'임을 명시하십시오.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오늘의 관점 — 보험료는 금액이 아니라 '자격'에서 결정됩니다. 직장·지역·피부양자 중 어느 칸에 서 있는지가 부담의 대부분을 만듭니다.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보건복지부 보도자료(2025.8.28), 연합뉴스·언론 보도(2026.7.26~27)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 / 30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Ⅰ. 제도의 지도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가입자는 세 칸으로 나뉩니다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같은 소득·같은 재산이어도 어느 칸에 있느냐에 따라 보험료가 0원부터 수십만원까지 갈립니다.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47776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3477768" cy="566928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28800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직장가입자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86384" y="25786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37944" y="2578608"/>
            <a:ext cx="195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근로자·사용자, 공무원·교직원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6384" y="29077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부과 기준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37944" y="2907792"/>
            <a:ext cx="195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보수월액 (+ 보수 외 소득)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" y="323697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분담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37944" y="3236976"/>
            <a:ext cx="195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회사 50% / 본인 50%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6384" y="3566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산정 단위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37944" y="3566160"/>
            <a:ext cx="195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개인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6384" y="389534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 반영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37944" y="3895344"/>
            <a:ext cx="195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55592" y="1828800"/>
            <a:ext cx="347776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55592" y="1828800"/>
            <a:ext cx="3477768" cy="56692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1" name="Text 19"/>
          <p:cNvSpPr/>
          <p:nvPr/>
        </p:nvSpPr>
        <p:spPr>
          <a:xfrm>
            <a:off x="4593336" y="1828800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지역가입자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93336" y="25786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44896" y="2578608"/>
            <a:ext cx="195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자영업자·프리랜서·은퇴자 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93336" y="29077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부과 기준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44896" y="2907792"/>
            <a:ext cx="195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 + 재산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93336" y="323697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분담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44896" y="3236976"/>
            <a:ext cx="195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전액 본인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93336" y="3566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산정 단위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44896" y="3566160"/>
            <a:ext cx="195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세대 (합산)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93336" y="389534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 반영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44896" y="3895344"/>
            <a:ext cx="195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있음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62544" y="1828800"/>
            <a:ext cx="347776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2544" y="1828800"/>
            <a:ext cx="3477768" cy="566928"/>
          </a:xfrm>
          <a:prstGeom prst="rect">
            <a:avLst/>
          </a:prstGeom>
          <a:solidFill>
            <a:srgbClr val="84888B"/>
          </a:solidFill>
          <a:ln/>
        </p:spPr>
      </p:sp>
      <p:sp>
        <p:nvSpPr>
          <p:cNvPr id="34" name="Text 32"/>
          <p:cNvSpPr/>
          <p:nvPr/>
        </p:nvSpPr>
        <p:spPr>
          <a:xfrm>
            <a:off x="8400288" y="1828800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피부양자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400288" y="25786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대상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451848" y="2578608"/>
            <a:ext cx="195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직장가입자에 생계 의존하는 가족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00288" y="29077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부과 기준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451848" y="2907792"/>
            <a:ext cx="195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없음 (보험료 0원)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00288" y="323697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분담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451848" y="3236976"/>
            <a:ext cx="195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없음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400288" y="3566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산정 단위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451848" y="3566160"/>
            <a:ext cx="195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—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400288" y="389534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 반영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451848" y="3895344"/>
            <a:ext cx="195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자격 심사에만 반영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5120640"/>
            <a:ext cx="11091672" cy="868680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" y="512064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가입자 구성 (2023.9 기준)   </a:t>
            </a:r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직장가입자 38.7%  ·  피부양자 32.9%  ·  지역가입자 28.4%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22960" y="5504688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 국민의 약 3분의 1이 보험료를 내지 않는 피부양자입니다. 그래서 피부양자 요건이 개편 논의의 상시 표적이 됩니다.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국민건강보험법 제5조·제6조, 국민건강보험공단 통계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 / 30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Ⅰ. 제도의 지도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숫자, 한 장 요약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상담 중 가장 자주 찾게 되는 수치입니다. 이 표만 있어도 대부분의 즉답이 가능합니다.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3611880"/>
                <a:gridCol w="1600200"/>
                <a:gridCol w="1874520"/>
                <a:gridCol w="4005072"/>
              </a:tblGrid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항목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2025년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2026년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비고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건강보험료율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7.09%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7.19%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+0.1%p (전년 대비 +1.48%)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직장가입자 본인부담률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3.545%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3.595%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회사와 50:50 분담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장기요양보험료율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0.9182%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0.9448%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건강보험료의 약 13.14%로 환산 부과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국민연금 보험료율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9.0%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9.5%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근로자 4.75% (참고 항목)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재산 부과점수당 금액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211.5원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지역가입자 재산보험료 계산 단가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월 보험료 상한 (직장, 회사분 포함)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9,183,480원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본인부담 4,591,740원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월 보험료 상한 (소득월액·지역)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4,591,740원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전액 본인 부담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월 보험료 하한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20,160원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직장·지역 동일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53212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장기요양보험료 = 건강보험료 × ( 0.9448% ÷ 7.19% ) — 건강보험료가 오르면 장기요양보험료도 함께 오릅니다.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589788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상·하한액은 매년 보건복지부 고시로 개정됩니다(2026년 적용: 보건복지부고시 제2025-222호).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국민건강보험법 시행령 제44조, 월별 건강보험료액의 상한과 하한에 관한 고시, 보건복지부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 / 30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Ⅱ. 부과 구조 해부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직장가입자 ① 보수월액보험료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월급에 요율을 곱하고 반으로 나눕니다. 구조가 가장 단순한 대신 통제 여지도 가장 적습니다.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28800"/>
            <a:ext cx="10451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보수월액보험료 </a:t>
            </a:r>
            <a:pPr indent="0" marL="0">
              <a:buNone/>
            </a:pPr>
            <a:r>
              <a:rPr lang="en-US" sz="15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=  보수월액  ×  7.19%     →     본인 50% / 회사 50%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계산 실습 — 보수월액 500만원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401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3401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건강보험료 (총액)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63240" y="3401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500만원 × 7.19%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83480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359,500원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13048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" y="3813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건강보험료 (본인)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63240" y="3813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359,500원 × 50%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83480" y="3813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179,750원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24528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" y="4224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장기요양보험료 (총액)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63240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359,500원 × 13.14%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83480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47,240원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636008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636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2688" y="4636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장기요양보험료 (본인)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63240" y="4636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47,240원 × 50%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83480" y="4636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23,620원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138928"/>
            <a:ext cx="5806440" cy="0"/>
          </a:xfrm>
          <a:prstGeom prst="line">
            <a:avLst/>
          </a:prstGeom>
          <a:noFill/>
          <a:ln w="9525">
            <a:solidFill>
              <a:srgbClr val="CDCE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2303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본인 월 부담 합계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11880" y="5230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203,370원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720840" y="2971800"/>
            <a:ext cx="4919472" cy="262432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58584" y="3154680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상담 포인트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58584" y="3520440"/>
            <a:ext cx="44439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보수월액은 해당 연도 보수총액 ÷ 근무월수. 상여·성과급이 포함되므로 지급 시점에 따라 변동합니다.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매년 4월 전년도 보수 기준 정산이 이루어집니다 — 4월 급여의 '건보료 폭탄'은 대부분 이 정산분입니다.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휴직 중에는 휴직 직전 달의 보수월액을 기준으로 산정합니다.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재산에는 보험료가 붙지 않습니다. 직장가입자가 구조적으로 유리한 핵심 이유입니다.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국민건강보험법 제69조·제70조, 시행령 제44조 / 계산값은 원 단위 절사 기준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 / 30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Ⅱ. 부과 구조 해부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직장가입자 ② 소득월액보험료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월급 외 소득이 연 2,000만원을 넘으면 회사 부담 없이 전액 본인이 추가 부담합니다.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10512"/>
            <a:ext cx="11091672" cy="868680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810512"/>
            <a:ext cx="10506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소득월액 </a:t>
            </a:r>
            <a:pPr indent="0" marL="0"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=  ( 연간 보수 외 소득 − 2,000만원 )  ×  1/12  ×  소득평가율    </a:t>
            </a:r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→  × 7.19% (전액 본인)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3492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30358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소득평가율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이자·배당·사업·기타소득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23360" y="3383280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100% 반영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3712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근로·연금소득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023360" y="371246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50% 반영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40416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이자·배당 합계 1,000만원 이하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023360" y="4041648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합산 제외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81928" y="2880360"/>
            <a:ext cx="53583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303580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계산 실습 — 임대 3,000만 + 배당 2,000만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9672" y="3383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소득월액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571232" y="3383280"/>
            <a:ext cx="3831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(5,000만 − 2,000만) ÷ 12 = 250만원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19672" y="371246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건강보험료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571232" y="3712464"/>
            <a:ext cx="3831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250만원 × 7.19% = 179,750원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19672" y="40416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장기요양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571232" y="4041648"/>
            <a:ext cx="3831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179,750원 × 13.14% = 23,620원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68172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이자·배당 합계가 연 1,000만원 이하이면 금융소득은 보수 외 소득에 아예 합산하지 않습니다 (시행령 제41조 단서).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회사 부담분이 없어 전액 본인 부담입니다. 같은 금액이라도 급여보다 부수입이 체감 부담이 큽니다.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임의계속가입자도 보수 외 소득이 많으면 소득월액보험료가 별도로 부과됩니다.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5806440"/>
            <a:ext cx="54864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5861304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7월 개편안: 이 공제액을 2,000만원 → 1,000만원으로 축소하는 안이 검토 중입니다. 상세는 27쪽.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국민건강보험법 제71조, 시행령 제41조 / 계산값은 원 단위 절사 기준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 / 30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Ⅱ. 부과 구조 해부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지역가입자 ① 두 개의 축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지역가입자는 소득과 재산, 두 축으로 부과됩니다. 그리고 개인이 아니라 '세대' 단위입니다.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10512"/>
            <a:ext cx="11091672" cy="731520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810512"/>
            <a:ext cx="10506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세대 월 보험료 </a:t>
            </a:r>
            <a:pPr indent="0" marL="0"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=  소득보험료 ( 소득월액 × 7.19% )   +   재산보험료 ( 부과점수 × 211.5원 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81244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43200"/>
            <a:ext cx="5381244" cy="5029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743200"/>
            <a:ext cx="49057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축 1 · 소득보험료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6384" y="3401568"/>
            <a:ext cx="49057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2022년 9월 등급제(97등급) 폐지 → 직장가입자와 같은 정률제로 전환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 소득 × 소득평가율 ÷ 12 = 소득월액, 여기에 7.19%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이자·배당·사업·기타 100% / 근로·연금 50% 반영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직장가입자와 달리 2,000만원 공제가 없습니다 — 첫 원부터 부과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59068" y="2743200"/>
            <a:ext cx="5381244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9068" y="2743200"/>
            <a:ext cx="5381244" cy="502920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14" name="Text 12"/>
          <p:cNvSpPr/>
          <p:nvPr/>
        </p:nvSpPr>
        <p:spPr>
          <a:xfrm>
            <a:off x="6496812" y="2743200"/>
            <a:ext cx="49057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축 2 · 재산보험료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6812" y="3401568"/>
            <a:ext cx="49057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재산세 과세표준 합계에서 기본공제 1억원을 차감 (2024년 2월 5천만원 → 1억원)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주택 구입·임차 대출은 최대 5천만원 추가 공제 (신청주의)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잔액을 60등급으로 환산한 점수 × 211.5원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자동차 보험료는 2024년 2월 전면 폐지 — 1989년 도입 이후 35년 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11091672" cy="914400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5285232"/>
            <a:ext cx="54864" cy="91440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5340096"/>
            <a:ext cx="10634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세대 단위라는 점이 결정적입니다. 소득이 전혀 없는 배우자도 같은 세대에 있으면 세대의 소득·재산이 합산된 보험료를 함께 부담합니다. 하한 20,160원 · 상한 4,591,740원이 세대 기준으로 적용됩니다.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국민건강보험법 제69조·제72조, 시행령 제42조·제44조, 보건복지부 보도자료(2024.1)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8 / 30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Ⅱ. 부과 구조 해부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지역가입자 ② 재산보험료 계산 실습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공시가격이 아니라 '재산세 과세표준'에서 출발합니다. 이 한 단계를 건너뛰면 상담이 어긋납니다.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2669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1956816"/>
            <a:ext cx="256032" cy="25603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956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" y="2286000"/>
            <a:ext cx="14706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공시가격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76656" y="2761488"/>
            <a:ext cx="1470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국토교통부 공시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21636" y="1828800"/>
            <a:ext cx="172669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7940" y="1956816"/>
            <a:ext cx="256032" cy="25603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3" name="Text 11"/>
          <p:cNvSpPr/>
          <p:nvPr/>
        </p:nvSpPr>
        <p:spPr>
          <a:xfrm>
            <a:off x="2567940" y="1956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49652" y="2286000"/>
            <a:ext cx="14706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× 공정시장가액비율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49652" y="2761488"/>
            <a:ext cx="1470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주택 43~60%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4632" y="1828800"/>
            <a:ext cx="172669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40936" y="1956816"/>
            <a:ext cx="256032" cy="25603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8" name="Text 16"/>
          <p:cNvSpPr/>
          <p:nvPr/>
        </p:nvSpPr>
        <p:spPr>
          <a:xfrm>
            <a:off x="4440936" y="1956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22648" y="2286000"/>
            <a:ext cx="14706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= 재산세 과세표준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22648" y="2761488"/>
            <a:ext cx="1470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지방세법 기준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67628" y="1828800"/>
            <a:ext cx="1726692" cy="123444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13932" y="1956816"/>
            <a:ext cx="256032" cy="25603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3" name="Text 21"/>
          <p:cNvSpPr/>
          <p:nvPr/>
        </p:nvSpPr>
        <p:spPr>
          <a:xfrm>
            <a:off x="6313932" y="1956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95644" y="2286000"/>
            <a:ext cx="14706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− 기본공제 1억원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95644" y="2761488"/>
            <a:ext cx="1470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2024.2 상향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40624" y="1828800"/>
            <a:ext cx="1726692" cy="123444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6928" y="1956816"/>
            <a:ext cx="256032" cy="25603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8" name="Text 26"/>
          <p:cNvSpPr/>
          <p:nvPr/>
        </p:nvSpPr>
        <p:spPr>
          <a:xfrm>
            <a:off x="8186928" y="1956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68640" y="2286000"/>
            <a:ext cx="14706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− 주택부채공제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168640" y="2761488"/>
            <a:ext cx="1470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최대 5천만원 · 신청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913620" y="1828800"/>
            <a:ext cx="1726692" cy="123444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9924" y="1956816"/>
            <a:ext cx="256032" cy="25603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9924" y="1956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41636" y="2286000"/>
            <a:ext cx="14706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→ 60등급 점수 × 211.5원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041636" y="2761488"/>
            <a:ext cx="1470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시행령 별표 4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" y="329184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계산 실습 — 재산세 과세표준 2.1억원 주택 1채 보유 세대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60350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단계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계산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결과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재산세 과세표준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주택 1채 합산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210,000,000원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기본공제 차감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− 100,000,000원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110,000,000원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등급 환산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19등급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465점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월 재산보험료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465점 × 211.5원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98,340원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38" name="Shape 35"/>
          <p:cNvSpPr/>
          <p:nvPr/>
        </p:nvSpPr>
        <p:spPr>
          <a:xfrm>
            <a:off x="6812280" y="3291840"/>
            <a:ext cx="4828032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050024" y="347472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실무 주의점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7050024" y="3840480"/>
            <a:ext cx="4352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주택부채공제는 신청주의입니다. 대출이 있어도 공단에 통보하지 않으면 반영되지 않습니다.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무주택 세대는 임차보증금·월세를 평가한 금액이 재산으로 잡힙니다.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동일 세대 내 공동명의는 지분이 세대로 합산되므로 절감 효과가 없습니다.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등급별 점수는 시행령 별표 4에 따릅니다. 실제 부과액은 공단 모의계산으로 확인하십시오.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국민건강보험법 시행령 제42조·별표4, 보건복지부 보도자료 예시(465점·19등급)를 2026년 기준(공제 1억원·211.5원)으로 재계산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9 / 30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Ⅲ. 소득 종류별 부과 지도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어떤 소득에 보험료가 붙는가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 표가 이번 강의의 핵심입니다. 회색으로 강조한 두 줄이 설계 여지가 있는 칸입니다.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1600200"/>
                <a:gridCol w="391363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소득 종류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직장가입자 (보수 외)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지역가입자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피부양자 소득요건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근로소득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50% 반영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50% 반영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합산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사업소득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100% 반영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100% 반영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사업자등록 시 1원이라도 있으면 탈락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이자·배당소득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100% (합계 1,000만원 초과 시)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좌동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1,000만원 초과 시 전액 합산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공적연금 (국민·공무원·사학·군인)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50% 반영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50% 반영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전액(100%) 합산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사적연금 (연금저축·IRP·퇴직연금)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54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부과 제외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54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부과 제외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미반영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주택임대소득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100% 반영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100% 반영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과세 대상이면 금액 무관 탈락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기타소득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100% 반영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100% 반영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합산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양도·퇴직소득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54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부과 제외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54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부과 제외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미반영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86400"/>
            <a:ext cx="11091672" cy="749808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5486400"/>
            <a:ext cx="54864" cy="74980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5541264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부과 대상 여부와 피부양자 탈락 여부는 다른 기준입니다. 같은 연금소득이 부과 단계에서는 50%만 반영되지만, 피부양자 자격 심사에서는 전액이 합산됩니다. 이 비대칭이 상담에서 가장 자주 발생하는 오해입니다.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국민건강보험법 시행령 제41조·제42조, 시행규칙 제44조, 국민건강보험공단 안내 / 사적연금은 현행 실무 기준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 / 30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Ⅲ. 소득 종류별 부과 지도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금융소득 — 1,000만원의 절벽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건강보험료의 금융소득 기준선은 종합과세 기준선과 다릅니다. 1,000만원입니다.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62956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29968"/>
            <a:ext cx="4814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이자 + 배당 합계  ≤  1,000만원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14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전액 합산 제외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907792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보험료 산정 대상 소득에 아예 들어오지 않습니다. 피부양자 소득요건 판정에서도 제외됩니다.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7356" y="1828800"/>
            <a:ext cx="5362956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1676" y="2029968"/>
            <a:ext cx="4814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이자 + 배당 합계  &gt;  1,000만원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1676" y="2468880"/>
            <a:ext cx="4814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전액 100% 합산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51676" y="2907792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초과분만이 아니라 1,001만원 전부가 부과 대상 소득으로 들어옵니다. 단 1만원 차이로 결과가 뒤집힙니다.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11091672" cy="1097280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822192"/>
            <a:ext cx="10506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혼동 금지 — 세금 기준선 ≠ 건강보험료 기준선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" y="4160520"/>
            <a:ext cx="10506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금융소득종합과세  </a:t>
            </a:r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 2,000만원 초과부터        </a:t>
            </a:r>
            <a:pPr indent="0" marL="0">
              <a:buNone/>
            </a:pPr>
            <a:r>
              <a:rPr lang="en-US" sz="13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건강보험료 합산  </a:t>
            </a:r>
            <a:pPr indent="0" marL="0">
              <a:buNone/>
            </a:pPr>
            <a:r>
              <a:rPr lang="en-US" sz="13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 1,000만원 초과부터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4480560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결과: 금융소득 1,000만~2,000만원 구간은 종합소득세는 발생하지 않는데 건강보험료는 부과되는 구간입니다.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983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설계 여지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32180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예금·채권 만기와 배당 수령 시점을 특정 연도에 몰지 않고 분산합니다 — 기준선을 넘기는 해를 만들지 않는 것이 요점입니다.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ISA·비과세종합저축 등 비과세·분리과세 상품은 현행 기준으로 합산 대상 소득에 포함되지 않습니다.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부부 각각 판정하므로, 금융자산 명의 분산으로 각자 1,000만원 이내를 유지하는 방법도 검토 대상입니다.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국민건강보험법 시행령 제41조 단서, 시행규칙 제44조 / 소득세법 제14조제3항제6호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11 / 30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Ⅲ. 소득 종류별 부과 지도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1만원 차이가 만드는 계단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지역가입자 세대의 금융소득만을 놓고 월 소득보험료를 계산한 결과입니다.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83080"/>
          <a:ext cx="6903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1783080"/>
            <a:ext cx="395935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18704" y="1965960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읽는 법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18704" y="2331720"/>
            <a:ext cx="34838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999만원까지는 소득보험료가 발생하지 않습니다.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1,001만원이 되는 순간 월 약 6만원, 연 약 72만원이 새로 생깁니다.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실질 부담률로 환산하면 초과 2만원 구간의 한계 부담률이 3,000%를 넘습니다.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여기에 장기요양보험료 약 13.14%가 추가로 붙습니다.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피부양자였다면 자격 상실까지 겹쳐 재산보험료도 함께 발생합니다.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5166360"/>
            <a:ext cx="11091672" cy="777240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5166360"/>
            <a:ext cx="10506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상담 문장 — “배당을 조금 더 받는 것이 유리한지, 기준선 아래로 관리하는 것이 유리한지는 계산해 봐야 알 수 있습니다. 12월 전에 한 번 점검하시죠.”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가정: 지역가입자 세대, 금융소득 외 소득 없음, 소득평가율 100%, 재산보험료·장기요양보험료·하한액 미반영 단순 계산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12 / 30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Ⅲ. 소득 종류별 부과 지도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연금소득 — 공적과 사적의 갈림길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은퇴 소득의 무게중심을 어디에 두느냐가 건강보험료 구조를 바꿉니다.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10512"/>
            <a:ext cx="5362956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10512"/>
            <a:ext cx="5362956" cy="530352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10512"/>
            <a:ext cx="48874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공적연금  ·  부과 대상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487168"/>
            <a:ext cx="48874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대상: 국민연금·공무원연금·사학연금·군인연금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보험료 부과 단계: 소득평가율 50% 반영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피부양자 자격 심사: 전액(100%) 합산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건강보험료 산정에서는 연금소득공제를 차감하기 전 수령액을 기준으로 삼습니다(소득세법상으로는 연금소득공제가 적용됩니다)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물가에 연동해 매년 자동 인상됩니다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7356" y="1810512"/>
            <a:ext cx="5362956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7356" y="1810512"/>
            <a:ext cx="5362956" cy="53035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2" name="Text 10"/>
          <p:cNvSpPr/>
          <p:nvPr/>
        </p:nvSpPr>
        <p:spPr>
          <a:xfrm>
            <a:off x="6515100" y="1810512"/>
            <a:ext cx="48874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사적연금  ·  현행 부과 제외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5100" y="2487168"/>
            <a:ext cx="48874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대상: 연금저축계좌, IRP, 퇴직연금 수령액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보험료 부과: 현행 실무상 부과 대상에서 제외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피부양자 자격 심사: 소득요건에 미반영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퇴직소득 자체도 부과 대상이 아닙니다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다만 법령상 명문 규정이 아니라 운영 기준이므로 변경 가능성을 함께 안내해야 합니다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462272"/>
            <a:ext cx="11091672" cy="914400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462272"/>
            <a:ext cx="54864" cy="9144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517136"/>
            <a:ext cx="10634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가장 위험한 함정 — 국민연금 물가연동 인상. 작년에 1,980만원으로 피부양자 자격을 유지한 고객이 인상분 몇만원 때문에 2,010만원이 되어 탈락하는 사례가 매년 반복됩니다. 기준선 1,900만원대 고객은 매년 11월 전에 점검이 필요합니다.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532120"/>
            <a:ext cx="11091672" cy="713232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5532120"/>
            <a:ext cx="10506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설계 시사점 — 은퇴 후 필요 현금흐름을 공적연금 + 사적연금으로 배분할 때, 사적연금 비중은 건강보험료 기준선에 영향을 주지 않습니다. IRP·연금저축의 인출 설계가 건보료 관점에서도 의미를 갖습니다.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국민건강보험법 시행령 제41조·제42조, 소득세법 제20조의3 / 사적연금 취급은 국민건강보험공단 현행 운영 기준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13 / 30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Ⅲ. 소득 종류별 부과 지도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임대소득 — 금액이 아니라 존재가 문제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피부양자에게 임대소득은 1원이라도 있으면 자격 상실 사유가 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10512"/>
            <a:ext cx="3477768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10512"/>
            <a:ext cx="3477768" cy="502920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10512"/>
            <a:ext cx="300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부과 방식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468880"/>
            <a:ext cx="3002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사업소득으로 분류되어 소득평가율 100% 반영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매출이 아니라 필요경비·기본공제를 뺀 '소득금액' 기준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직장가입자는 다른 보수 외 소득과 합산해 2,000만원 초과 여부를 판정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55592" y="1810512"/>
            <a:ext cx="3477768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55592" y="1810512"/>
            <a:ext cx="3477768" cy="5029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2" name="Text 10"/>
          <p:cNvSpPr/>
          <p:nvPr/>
        </p:nvSpPr>
        <p:spPr>
          <a:xfrm>
            <a:off x="4593336" y="1810512"/>
            <a:ext cx="300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피부양자 판정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3336" y="2468880"/>
            <a:ext cx="3002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과세 대상 주택임대소득이 있으면 금액 무관 즉시 탈락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사업자등록 여부와 관계없이 적용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분리과세(연 2,000만원 이하)를 선택해도 건강보험료 부과는 별개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62544" y="1810512"/>
            <a:ext cx="3477768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62544" y="1810512"/>
            <a:ext cx="3477768" cy="502920"/>
          </a:xfrm>
          <a:prstGeom prst="rect">
            <a:avLst/>
          </a:prstGeom>
          <a:solidFill>
            <a:srgbClr val="84888B"/>
          </a:solidFill>
          <a:ln/>
        </p:spPr>
      </p:sp>
      <p:sp>
        <p:nvSpPr>
          <p:cNvPr id="16" name="Text 14"/>
          <p:cNvSpPr/>
          <p:nvPr/>
        </p:nvSpPr>
        <p:spPr>
          <a:xfrm>
            <a:off x="8400288" y="1810512"/>
            <a:ext cx="300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놓치는 지점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00288" y="2468880"/>
            <a:ext cx="3002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3주택 이상 보유 시 보증금 간주임대료가 소득으로 산정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월세 없이 보증금만 받아도 소득이 발생할 수 있습니다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1주택자의 기준시가 12억원 이하 월세는 비과세 — 과세 대상이 아니면 탈락 사유도 아닙니다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11091672" cy="1325880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5010912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상담 시 반드시 확인할 두 가지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1248" y="5330952"/>
            <a:ext cx="10506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① 부모님을 피부양자로 등재해 둔 상태에서 소형 상가나 원룸 임대를 시작하는 경우 — 임대 개시가 곧 자격 상실입니다. 임대 수익과 보험료 증가분을 반드시 비교해야 합니다.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" y="5742432"/>
            <a:ext cx="10506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② 주택 수 증가로 간주임대료가 새로 발생하는 경우 — 현금 유입이 없는데도 소득이 잡혀 보험료가 오릅니다.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국민건강보험법 시행령 제41조, 소득세법 제12조·제25조, 국민건강보험공단 피부양자 자격 안내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14 / 30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Ⅲ. 소득 종류별 부과 지도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보험료가 붙지 않는 칸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설계 여지는 바로 이 칸에 있습니다. 다만 절세 최적해와 건보료 최적해는 다를 수 있습니다.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10512"/>
            <a:ext cx="3489960" cy="141732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2011680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993392"/>
            <a:ext cx="270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양도소득 · 퇴직소득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68096" y="2386584"/>
            <a:ext cx="3051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일시적 소득으로 보아 부과 대상에서 제외됩니다. 다만 양도대금으로 취득한 부동산은 이후 재산보험료로 반영됩니다.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9496" y="1810512"/>
            <a:ext cx="3489960" cy="141732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8952" y="2011680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3" name="Text 11"/>
          <p:cNvSpPr/>
          <p:nvPr/>
        </p:nvSpPr>
        <p:spPr>
          <a:xfrm>
            <a:off x="4568952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6424" y="1993392"/>
            <a:ext cx="270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상속 · 증여 재산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68952" y="2386584"/>
            <a:ext cx="3051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취득 자체에는 보험료가 붙지 않습니다. 취득한 부동산·차량은 재산 항목으로 넘어갑니다.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50352" y="1810512"/>
            <a:ext cx="3489960" cy="141732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9808" y="2011680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8" name="Text 16"/>
          <p:cNvSpPr/>
          <p:nvPr/>
        </p:nvSpPr>
        <p:spPr>
          <a:xfrm>
            <a:off x="8369808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17280" y="1993392"/>
            <a:ext cx="270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비과세 소득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69808" y="2386584"/>
            <a:ext cx="3051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비과세 이자·배당, 비과세종합저축 수익 등은 부과 기준 소득에 포함되지 않습니다.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502152"/>
            <a:ext cx="3489960" cy="141732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3703320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3685032"/>
            <a:ext cx="270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ISA 비과세 · 분리과세분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68096" y="4078224"/>
            <a:ext cx="3051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현행 기준으로 합산 대상 소득에 들어오지 않습니다. 금융소득 1,000만원 관리의 핵심 도구입니다.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9496" y="3502152"/>
            <a:ext cx="3489960" cy="141732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68952" y="3703320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8" name="Text 26"/>
          <p:cNvSpPr/>
          <p:nvPr/>
        </p:nvSpPr>
        <p:spPr>
          <a:xfrm>
            <a:off x="4568952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16424" y="3685032"/>
            <a:ext cx="270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연금계좌 수령액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68952" y="4078224"/>
            <a:ext cx="3051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연금저축·IRP 수령액은 현행 실무상 부과 대상에서 제외됩니다.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50352" y="3502152"/>
            <a:ext cx="3489960" cy="141732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69808" y="3703320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3" name="Text 31"/>
          <p:cNvSpPr/>
          <p:nvPr/>
        </p:nvSpPr>
        <p:spPr>
          <a:xfrm>
            <a:off x="8369808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717280" y="3685032"/>
            <a:ext cx="270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국내 상장주식 양도차익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369808" y="4078224"/>
            <a:ext cx="3051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대주주 요건에 해당하지 않는 일반 투자자의 양도차익은 과세 대상이 아니므로 부과 대상도 아닙니다.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029200"/>
            <a:ext cx="11091672" cy="1188720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5029200"/>
            <a:ext cx="54864" cy="1188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" y="5084064"/>
            <a:ext cx="106344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 가지 경고 — ① 부과 제외는 '지금' 기준입니다. 부과체계 개편에서 반복적으로 검토되는 항목이 여기에 몰려 있습니다.  ② 재산으로 전환되면 다시 부과 대상이 됩니다. 소득을 피해도 재산보험료가 올라갈 수 있습니다.  ③ 절세 목적의 구조가 건보료를 늘리는 경우도 있습니다. 두 축을 함께 계산해야 합니다.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국민건강보험법 시행령 제41조, 조세특례제한법(ISA·비과세종합저축), 소득세법 / 사적연금·ISA 취급은 현행 운영 기준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15 / 30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Ⅳ. 피부양자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피부양자 자격, 세 개의 문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 요건을 모두 통과해야 유지됩니다. 하나만 어긋나면 그 달부터 지역가입자입니다.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48996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993392"/>
            <a:ext cx="347472" cy="34747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25296" y="1975104"/>
            <a:ext cx="257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부양 요건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432304"/>
            <a:ext cx="301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누구까지 되는가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6384" y="2779776"/>
            <a:ext cx="301447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배우자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직계존속 (배우자의 직계존속 포함)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직계비속과 그 배우자 (배우자의 직계비속 포함)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형제·자매는 원칙 제외 — 30세 미만 또는 65세 이상, 장애인인 경우 예외적으로 인정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동거 여부에 따라 인정 범위가 달라집니다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9496" y="1783080"/>
            <a:ext cx="348996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87240" y="1993392"/>
            <a:ext cx="347472" cy="34747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4" name="Text 12"/>
          <p:cNvSpPr/>
          <p:nvPr/>
        </p:nvSpPr>
        <p:spPr>
          <a:xfrm>
            <a:off x="4587240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6152" y="1975104"/>
            <a:ext cx="257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 요건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87240" y="2432304"/>
            <a:ext cx="301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 합산소득 2,000만원 이하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87240" y="2779776"/>
            <a:ext cx="301447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근로 + 사업 + 이자·배당 + 연금 + 기타소득 합산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금융소득은 1,000만원 초과 시에만 전액 합산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사업자등록이 있으면 사업소득 1원이라도 있으면 탈락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사업자등록이 없는 프리랜서는 사업소득금액 연 500만원 이하까지 허용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과세 대상 주택임대소득이 있으면 금액 무관 탈락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0352" y="1783080"/>
            <a:ext cx="348996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88096" y="1993392"/>
            <a:ext cx="347472" cy="34747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0" name="Text 18"/>
          <p:cNvSpPr/>
          <p:nvPr/>
        </p:nvSpPr>
        <p:spPr>
          <a:xfrm>
            <a:off x="8388096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27008" y="1975104"/>
            <a:ext cx="257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 요건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8096" y="2432304"/>
            <a:ext cx="301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재산세 과세표준 기준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88096" y="2779776"/>
            <a:ext cx="301447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과표 5.4억원 이하 → 통과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과표 5.4억 초과 ~ 9억 이하 → 연소득 1,000만원 이하여야 유지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과표 9억원 초과 → 소득과 무관하게 탈락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공시가격이나 실거래가가 아니라 재산세 과세표준 기준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형제·자매는 별도의 더 엄격한 재산 요건이 적용됩니다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687568"/>
            <a:ext cx="11091672" cy="548640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56875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자격 심사는 매년 11월에 일괄 재산정됩니다. 그 사이에도 소득·재산 변동이 확인되면 확인된 시점의 다음 달부터 지역가입자 보험료가 부과됩니다.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국민건강보험법 제5조, 시행규칙 제2조, 국민건강보험공단 피부양자 자격 인정기준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16 / 30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Ⅳ. 피부양자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 요건 — 함정은 사업소득에 있습니다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2,000만원이라는 숫자보다, 사업소득의 '1원 룰'이 실제 탈락을 더 많이 만듭니다.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566160"/>
                <a:gridCol w="450799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구분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기준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판정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합산소득 총액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근로+사업+이자·배당+연금+기타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 2,000만원 초과 시 탈락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금융소득 (이자·배당)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합계 1,000만원 이하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합산 제외 — 소득요건에 영향 없음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합계 1,000만원 초과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전액이 합산소득에 포함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사업소득 · 사업자등록 있음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소득금액 1원 이상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즉시 탈락 (결손·0원이면 유지 가능)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사업소득 · 사업자등록 없음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프리랜서 등 3.3% 원천징수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소득금액 연 500만원 이하까지 허용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주택임대소득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과세 대상 임대소득 발생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사업자등록 여부 무관 · 금액 무관 탈락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공적연금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국민·공무원·사학·군인연금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수령액 전액이 합산소득에 포함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92040"/>
            <a:ext cx="5362956" cy="1280160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4892040"/>
            <a:ext cx="54864" cy="12801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4946904"/>
            <a:ext cx="49057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부부 연좌 규정 — 소득 요건은 부부를 각각 판정하지만, 한 사람이라도 소득 기준을 초과하면 소득이 전혀 없는 배우자까지 함께 탈락합니다. 재산 초과로 인한 탈락에는 연좌가 적용되지 않습니다.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77356" y="4892040"/>
            <a:ext cx="5362956" cy="128016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5100" y="5029200"/>
            <a:ext cx="48874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실무 확인 순서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15100" y="5321808"/>
            <a:ext cx="48874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① 사업자등록 여부 확인  →  ② 임대소득 과세 대상 여부 확인  →  ③ 금융소득 1,000만원 초과 여부 확인  →  ④ 연금 포함 합산액 2,000만원 대비  →  ⑤ 배우자 동일 절차 반복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국민건강보험법 시행규칙 제2조 및 별표1, 국민건강보험공단 피부양자 자격 인정기준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17 / 30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Ⅳ. 피부양자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 요건 — 기준은 '재산세 과세표준'입니다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공시가격이나 실거래가로 판단하면 반드시 틀립니다.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7665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920240"/>
                <a:gridCol w="20116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재산세 과세표준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 합산소득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판정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5.4억원 이하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2,000만원 이하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54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유지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5.4억원 초과 ~ 9억원 이하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1,000만원 이하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54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유지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5.4억원 초과 ~ 9억원 이하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1,000만원 초과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탈락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9억원 초과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소득과 무관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탈락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43800" y="1783080"/>
            <a:ext cx="4096512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81544" y="1938528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과세표준 환산 감각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81544" y="2286000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재산세 과세표준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=  공시가격  ×  공정시장가액비율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81544" y="2852928"/>
            <a:ext cx="3621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주택 공정시장가액비율은 43~60% 구간입니다. 1세대 1주택 특례가 적용되면 비율이 더 낮아집니다.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예시: 공시가격 10억원 주택은 비율 60% 적용 시 과표 약 6억원 → 5.4억 초과 구간(연소득 1,000만원 이하여야 유지). 1세대 1주택 비율 45%면 약 4.5억원으로 5.4억 이하 구간입니다.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41148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상담에서 실제로 벌어지는 일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480560"/>
            <a:ext cx="3489960" cy="137160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" y="4645152"/>
            <a:ext cx="301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공시가격 상승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" y="4956048"/>
            <a:ext cx="301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소득은 그대로인데 공시가격 상승으로 과표가 구간을 넘어 탈락하는 사례가 매년 발생합니다.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49496" y="4480560"/>
            <a:ext cx="3489960" cy="137160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87240" y="4645152"/>
            <a:ext cx="301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기준선 근접 고객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87240" y="4956048"/>
            <a:ext cx="301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과표 5.2억~5.5억 구간 고객은 소득요건이 2,000만원에서 1,000만원으로 사실상 강화됩니다.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150352" y="4480560"/>
            <a:ext cx="3489960" cy="137160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88096" y="4645152"/>
            <a:ext cx="301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형제·자매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388096" y="4956048"/>
            <a:ext cx="301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연령 요건(30세 미만 또는 65세 이상, 장애인)에 더해 별도의 더 엄격한 재산 요건이 적용됩니다.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국민건강보험법 시행규칙 제2조 및 별표1, 지방세법 시행령 제109조 / 형제·자매 재산 기준은 공단 확인 필요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18 / 30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Ⅳ. 피부양자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네 개의 함정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요건을 알아도 이 네 가지를 모르면 대응 타이밍을 놓칩니다.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함정 1 · 2년의 시차 — 지금 내는 보험료는 2년 전 소득 기준입니다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2395728"/>
            <a:ext cx="10725912" cy="0"/>
          </a:xfrm>
          <a:prstGeom prst="line">
            <a:avLst/>
          </a:prstGeom>
          <a:noFill/>
          <a:ln w="12700">
            <a:solidFill>
              <a:srgbClr val="CDCE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4223" y="2340864"/>
            <a:ext cx="109728" cy="10972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05456"/>
            <a:ext cx="25808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2024년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25808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 발생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21149" y="2340864"/>
            <a:ext cx="109728" cy="10972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2" name="Text 10"/>
          <p:cNvSpPr/>
          <p:nvPr/>
        </p:nvSpPr>
        <p:spPr>
          <a:xfrm>
            <a:off x="3385566" y="2505456"/>
            <a:ext cx="25808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2025년 5월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5566" y="2743200"/>
            <a:ext cx="25808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종합소득세 확정신고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58075" y="2340864"/>
            <a:ext cx="109728" cy="10972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5" name="Text 13"/>
          <p:cNvSpPr/>
          <p:nvPr/>
        </p:nvSpPr>
        <p:spPr>
          <a:xfrm>
            <a:off x="6222492" y="2505456"/>
            <a:ext cx="25808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2025년 11월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22492" y="2743200"/>
            <a:ext cx="25808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공단 보험료 재산정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295001" y="2340864"/>
            <a:ext cx="109728" cy="10972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8" name="Text 16"/>
          <p:cNvSpPr/>
          <p:nvPr/>
        </p:nvSpPr>
        <p:spPr>
          <a:xfrm>
            <a:off x="9059418" y="2505456"/>
            <a:ext cx="25808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2025.11 ~ 2026.10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59418" y="2743200"/>
            <a:ext cx="25808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고지서에 반영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05409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함의: 은퇴한 첫해에도 재직 시 소득으로 보험료가 부과됩니다. 반대로 지금의 소득 관리가 2년 뒤 보험료를 만듭니다.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348996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" y="3703320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33856" y="3685032"/>
            <a:ext cx="2685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매년 11월 일괄 재심사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86384" y="4096512"/>
            <a:ext cx="3014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공단이 국세청 소득자료와 재산 자료를 반영해 다음 1년치 보험료와 자격을 확정합니다. 대응은 11월 이전에 끝나 있어야 합니다.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9496" y="3520440"/>
            <a:ext cx="348996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87240" y="3703320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8" name="Text 26"/>
          <p:cNvSpPr/>
          <p:nvPr/>
        </p:nvSpPr>
        <p:spPr>
          <a:xfrm>
            <a:off x="458724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4712" y="3685032"/>
            <a:ext cx="2685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부부 동반 탈락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87240" y="4096512"/>
            <a:ext cx="3014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 요건 초과 시 소득이 없는 배우자까지 함께 지역가입자로 전환됩니다. 한 세대에 두 사람의 보험료가 새로 생깁니다.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50352" y="3520440"/>
            <a:ext cx="348996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88096" y="3703320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3" name="Text 31"/>
          <p:cNvSpPr/>
          <p:nvPr/>
        </p:nvSpPr>
        <p:spPr>
          <a:xfrm>
            <a:off x="8388096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735568" y="3685032"/>
            <a:ext cx="2685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연금의 자동 인상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388096" y="4096512"/>
            <a:ext cx="3014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국민연금은 물가에 연동해 매년 자동 인상됩니다. 아무것도 하지 않아도 기준선을 넘는 해가 옵니다.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559552"/>
            <a:ext cx="11091672" cy="640080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" y="5559552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결론 — 피부양자 관리는 '연 1회 정기 점검' 업무입니다. 10월에 고객별 예상 합산소득과 과표를 확인하는 루틴을 만드십시오.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국민건강보험공단 보험료 부과·정산 절차 안내, 언론 보도(2025.11 지역가입자 보험료 재산정)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19 / 30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Ⅳ. 피부양자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케이스 — 연금 10만원이 만든 연 215만원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기준선을 아주 조금 넘긴 부모님의 사례를 끝까지 계산해 보겠습니다.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4206240" cy="205740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93852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고객 상황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22860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나이·자격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837944" y="2286000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68세 · 자녀의 피부양자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6384" y="26151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국민연금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837944" y="2615184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 2,010만원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6384" y="29443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금융소득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837944" y="2944368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 400만원 (이자·배당)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86384" y="327355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보유 주택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837944" y="3273552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재산세 과세표준 2.1억원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37760" y="1783080"/>
            <a:ext cx="32004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75504" y="1938528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자격 판정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75504" y="2286000"/>
            <a:ext cx="2724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금융소득 400만원 → 1,000만원 이하이므로 합산 제외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합산소득 = 연금 2,010만원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2,000만원 초과 → 소득요건 미달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75504" y="349300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피부양자 자격 상실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95360" y="1783080"/>
            <a:ext cx="3044952" cy="205740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33104" y="1938528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결과 요약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33104" y="233172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월 약 179,380원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833104" y="2788920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 약 2,152,000원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33104" y="3154680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직전까지 보험료 0원이었던 세대에 새로 발생하는 고정지출입니다.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97764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전환 후 지역가입자 보험료 계산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4340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7342632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항목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계산 과정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월 보험료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소득보험료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연금 2,010만원 × 소득평가율 50% = 1,005만원 → ÷ 12 = 837,500원 → × 7.19%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60,210원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재산보험료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과표 2.1억 − 기본공제 1억 = 1.1억 → 465점(19등급) × 211.5원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98,340원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장기요양보험료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(60,210원 + 98,340원) × 13.14%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20,830원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합계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소득 + 재산 + 장기요양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179,380원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예시 계산입니다. 실제 부과액은 세대 구성·등급표·경감 제도에 따라 달라지므로 국민건강보험공단(1577-1000) 모의계산으로 확인하십시오.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 / 30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Ⅴ. 은퇴 후 대응 전략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소득이 줄었는데 보험료는 오릅니다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고객이 가장 납득하지 못하는 지점입니다. 이유는 네 가지 구조 변화입니다.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10512"/>
            <a:ext cx="11091672" cy="932688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21408"/>
            <a:ext cx="310896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195681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회사 부담 50%가 사라집니다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98448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재직 중에는 회사가 절반을 냈습니다. 같은 금액이어도 본인 실부담은 두 배가 됩니다.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43784"/>
            <a:ext cx="11091672" cy="932688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154680"/>
            <a:ext cx="310896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299008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재산이 부과 대상으로 들어옵니다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98448" y="3319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직장가입자는 보수에만 부과됩니다. 지역가입자가 되는 순간 주택·토지가 보험료를 만듭니다. 이것이 급증의 최대 원인입니다.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77056"/>
            <a:ext cx="11091672" cy="932688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187952"/>
            <a:ext cx="310896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98448" y="40233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개인에서 세대로 바뀝니다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98448" y="435254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직장가입자는 개인 단위, 지역가입자는 세대 단위입니다. 배우자와 동일 세대 자녀의 소득·재산까지 합산됩니다.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910328"/>
            <a:ext cx="11091672" cy="932688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221224"/>
            <a:ext cx="310896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221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98448" y="50566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2년의 시차가 있습니다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98448" y="53858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 첫해 보험료는 재직 시 소득을 기준으로 산정됩니다. 소득이 끊긴 상태에서 가장 높은 보험료를 만납니다.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943600"/>
            <a:ext cx="11091672" cy="384048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" y="5943600"/>
            <a:ext cx="10506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따라서 대응의 순서는 ① 자격 자체를 바꾸는 것 → ② 부과 기준을 낮추는 것 → ③ 시차를 당겨오는 것 입니다.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국민건강보험법 제69조~제72조 / 구조 해석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21 / 30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Ⅴ. 은퇴 후 대응 전략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퇴직하면 세 갈래 길이 열립니다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선택이 아니라 순서입니다. 위에서부터 가능한지 확인하고 내려옵니다.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09544"/>
                <a:gridCol w="3209544"/>
                <a:gridCol w="3209544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구분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1순위 · 피부양자 등재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2순위 · 임의계속가입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3순위 · 지역가입자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보험료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854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0원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퇴직 전 직장 수준 (전액 본인)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소득보험료 + 재산보험료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자격 요건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부양·소득·재산 3요건 모두 충족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퇴직 전 18개월 중 직장가입 통산 1년 이상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없음 (자동 전환)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재산 반영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부과에는 없음 (자격 심사만)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없음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있음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최대 기간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요건 유지되는 동안 계속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36개월 · 연장 불가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제한 없음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신청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직장가입자인 가족이 신청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최초 지역보험료 납부기한 + 2개월 내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별도 신청 없음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핵심 한계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소득·재산 요건이 엄격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기한 경과 시 불가 · 생애 1회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재산이 많을수록 부담 급증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166360"/>
            <a:ext cx="11091672" cy="1051560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5166360"/>
            <a:ext cx="54864" cy="105156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5221224"/>
            <a:ext cx="106344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판단 기준 — 임의계속가입은 '무조건 유리'가 아닙니다. 예상 지역보험료가 임의계속 보험료보다 클 때만 유리합니다. 재산이 많고 소득이 적은 은퇴자에게 특히 효과가 큽니다. 반대로 재산이 거의 없고 소득도 없다면 지역가입자 하한액 수준이 더 저렴할 수 있으니, 반드시 두 금액을 계산해 비교하십시오.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국민건강보험법 제5조·제110조, 시행령 제48조, 국민건강보험공단 안내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22 / 30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Ⅴ. 은퇴 후 대응 전략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임의계속가입 — 기한이 전부입니다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요건보다 기한을 먼저 확인하십시오. 하루만 넘겨도 어떤 사유로도 신청할 수 없습니다.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7143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항목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내용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법적 근거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국민건강보험법 제110조, 시행령 제48조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자격 요건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퇴직일 이전 18개월 동안 직장가입자 자격을 통산 1년(365일) 이상 유지한 사람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신청 기한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퇴직 후 최초로 고지받은 지역가입자 보험료의 납부기한에서 2개월이 지나기 전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보험료 산정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퇴직 전 최근 12개월간 보수월액의 평균 금액을 기준으로 산정 · 현재 요율(7.19%) 적용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부담 주체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회사 부담분을 포함해 전액 본인 부담 — 재직 시 급여명세서 금액의 약 2배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적용 기간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퇴직일 다음 날부터 최대 36개월 · 연장 불가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재신청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생애 1회만 가능 · 중도 탈퇴 후 재신청 불가</a:t>
                      </a:r>
                      <a:endParaRPr lang="en-US" sz="11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590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신청 기한 계산 예시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937760"/>
            <a:ext cx="1527048" cy="73152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5029200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2026.3.31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1792" y="5285232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203704" y="4937760"/>
            <a:ext cx="1527048" cy="73152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76856" y="5029200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2026.4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276856" y="5285232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지역가입자 전환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858768" y="4937760"/>
            <a:ext cx="1527048" cy="73152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31920" y="5029200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2026.4.25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931920" y="5285232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첫 지역보험료 납부기한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513832" y="4937760"/>
            <a:ext cx="1527048" cy="731520"/>
          </a:xfrm>
          <a:prstGeom prst="rect">
            <a:avLst/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86984" y="5029200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2026.6.25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586984" y="5285232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신청 마감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269480" y="4590288"/>
            <a:ext cx="437083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07224" y="471830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주의할 네 가지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507224" y="5029200"/>
            <a:ext cx="38953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납부기한 미준수 시 자격 상실 — 자동이체 권장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보수 외 소득 많으면 소득월액보험료 별도 부과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36개월 종료 후 지역가입자로 자동 전환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36개월 내 재취업 예정이면 신청 유보 검토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국민건강보험법 제110조, 시행령 제48조, 국민건강보험공단 웹진 및 안내자료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23 / 30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Ⅴ. 은퇴 후 대응 전략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조정신청 — 2년의 시차를 앞당기는 장치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소득이 이미 줄었다면 국세청 확정신고를 기다릴 필요가 없습니다.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10512"/>
            <a:ext cx="5362956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10512"/>
            <a:ext cx="5362956" cy="502920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10512"/>
            <a:ext cx="4887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신청 사유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468880"/>
            <a:ext cx="48874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 · 폐업 · 휴업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사업 부진으로 인한 소득 감소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 처분 · 임대차 종료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연금·금융소득 감소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2025년 1월부터 소득 정산 제도가 이자·배당·연금 등으로 확대되어 즉시 감액 신청이 가능해졌습니다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7356" y="1810512"/>
            <a:ext cx="5362956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7356" y="1810512"/>
            <a:ext cx="5362956" cy="5029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2" name="Text 10"/>
          <p:cNvSpPr/>
          <p:nvPr/>
        </p:nvSpPr>
        <p:spPr>
          <a:xfrm>
            <a:off x="6515100" y="1810512"/>
            <a:ext cx="4887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신청 방법과 시점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5100" y="2468880"/>
            <a:ext cx="48874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국민건강보험공단 지사 방문 · 우편 · 팩스 · 온라인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폐업사실증명, 퇴직증명서, 소득금액증명 등 증빙서류 필요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매년 11월 정기 재산정 이전에 처리하는 것이 유리합니다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주택 부채공제도 별도 신청이 필요합니다 (신청주의)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11091672" cy="822960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206240"/>
            <a:ext cx="54864" cy="8229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261104"/>
            <a:ext cx="10634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정산 리스크 — 조정으로 미리 낮춰 낸 보험료는 추후 실제 소득이 확정되면 정산됩니다. 감액분이 과소납으로 판정되면 추가 납부가 발생할 수 있습니다. 고객에게 '환급'이 아니라 '선반영 후 정산' 구조임을 명확히 설명하십시오.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19379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FA가 만들 수 있는 루틴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532120"/>
            <a:ext cx="3526536" cy="68580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596128"/>
            <a:ext cx="312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" y="5852160"/>
            <a:ext cx="312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고객별 예상 합산소득·과표 점검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31208" y="5532120"/>
            <a:ext cx="3526536" cy="68580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32376" y="5596128"/>
            <a:ext cx="312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11월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32376" y="5852160"/>
            <a:ext cx="312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재산정 고지서 확인 및 조정신청 여부 판단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13776" y="5532120"/>
            <a:ext cx="3526536" cy="68580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14944" y="5596128"/>
            <a:ext cx="312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 발생 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14944" y="5852160"/>
            <a:ext cx="312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즉시 임의계속가입 기한 등록 + 조정신청 검토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국민건강보험공단 보험료 조정·정산 안내 / 조정·정산의 근거 조문은 공단 확인 필요(제72조의2는 보험료부과제도개선위원회 규정)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24 / 30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Ⅴ. 은퇴 후 대응 전략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재산보험료를 낮추는 네 가지 실무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지역가입자 부담의 대부분은 재산에서 나옵니다. 여기서 절감 여지를 찾습니다.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81244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984248"/>
            <a:ext cx="292608" cy="29260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984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965960"/>
            <a:ext cx="45217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주택 부채공제 신청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86384" y="2386584"/>
            <a:ext cx="49057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실거주 목적 주택 구입·임차를 위한 금융기관 대출은 최대 5,000만원까지 재산 과표에서 추가 공제됩니다.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6384" y="2935224"/>
            <a:ext cx="49057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공단에 통보하지 않으면 반영되지 않습니다. 대출이 있는 고객에게 가장 먼저 확인할 항목입니다.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9068" y="1783080"/>
            <a:ext cx="5381244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6812" y="1984248"/>
            <a:ext cx="292608" cy="29260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6812" y="1984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80860" y="1965960"/>
            <a:ext cx="45217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전월세 세대의 평가 구조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96812" y="2386584"/>
            <a:ext cx="49057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주택을 소유하지 않은 지역가입자는 임차보증금과 월세를 평가한 금액이 재산으로 산정됩니다.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96812" y="2935224"/>
            <a:ext cx="49057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주택 보유 대비 과표가 낮게 잡히는 경우가 있습니다. 매도 후 임차 전환을 검토하는 고객에게 참고 자료가 됩니다.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913632"/>
            <a:ext cx="5381244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" y="4114800"/>
            <a:ext cx="292608" cy="29260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70432" y="4096512"/>
            <a:ext cx="45217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세대 구성의 판단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86384" y="4517136"/>
            <a:ext cx="49057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지역가입자 보험료는 세대 단위로 합산됩니다. 세대 분리 여부에 따라 보험료가 크게 달라집니다.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86384" y="5065776"/>
            <a:ext cx="49057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실제 거주와 생계가 분리되어 있어야 합니다. 형식적 분리는 인정되지 않으며 소득이 있는 자녀의 세대 편입은 오히려 불리할 수 있습니다.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59068" y="3913632"/>
            <a:ext cx="5381244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6812" y="4114800"/>
            <a:ext cx="292608" cy="29260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6" name="Text 24"/>
          <p:cNvSpPr/>
          <p:nvPr/>
        </p:nvSpPr>
        <p:spPr>
          <a:xfrm>
            <a:off x="6496812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80860" y="4096512"/>
            <a:ext cx="45217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 처분 시점 설계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96812" y="4517136"/>
            <a:ext cx="49057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재산세 과세 기준일은 6월 1일이고, 공단 보험료 재산정은 매년 11월입니다.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96812" y="5065776"/>
            <a:ext cx="49057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처분 시점에 따라 반영이 1년 늦어질 수 있습니다. 동일 세대 내 공동명의는 지분이 세대로 합산되므로 절감 효과가 없습니다.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779008"/>
            <a:ext cx="11091672" cy="457200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" y="5779008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주의 — 세금 절감의 최적해와 건강보험료 절감의 최적해는 다를 수 있습니다. 두 축을 함께 계산한 뒤 제안하십시오.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국민건강보험법 제72조, 시행령 제42조·별표4, 지방세법 제114조 / 개별 사안은 공단 및 세무 전문가 확인 필요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25 / 30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Ⅴ. 은퇴 후 대응 전략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은퇴 전 5년 로드맵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보험료는 2년의 시차로 움직입니다. 그래서 대응도 미리 시작해야 효과가 있습니다.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21408"/>
            <a:ext cx="10725912" cy="0"/>
          </a:xfrm>
          <a:prstGeom prst="line">
            <a:avLst/>
          </a:prstGeom>
          <a:noFill/>
          <a:ln w="12700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7978" y="2057400"/>
            <a:ext cx="128016" cy="128016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1726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T−5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59152"/>
            <a:ext cx="1726692" cy="228600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523744"/>
            <a:ext cx="14340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 구조 진단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4944" y="3127248"/>
            <a:ext cx="14340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은퇴 후 예상 합산소득을 추정하고 피부양자 가능성을 판정합니다. 공적연금 예상 수령액이 출발점입니다.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20974" y="2057400"/>
            <a:ext cx="128016" cy="12801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3" name="Text 11"/>
          <p:cNvSpPr/>
          <p:nvPr/>
        </p:nvSpPr>
        <p:spPr>
          <a:xfrm>
            <a:off x="2421636" y="1783080"/>
            <a:ext cx="1726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T−3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21636" y="2359152"/>
            <a:ext cx="1726692" cy="228600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7940" y="2523744"/>
            <a:ext cx="14340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금융소득 기준선 관리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67940" y="3127248"/>
            <a:ext cx="14340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예금 만기와 배당 수령 시점을 분산합니다. ISA·비과세 상품으로 합산 대상 밖의 수익 비중을 만듭니다.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93970" y="2057400"/>
            <a:ext cx="128016" cy="128016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18" name="Text 16"/>
          <p:cNvSpPr/>
          <p:nvPr/>
        </p:nvSpPr>
        <p:spPr>
          <a:xfrm>
            <a:off x="4294632" y="1783080"/>
            <a:ext cx="1726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T−2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94632" y="2359152"/>
            <a:ext cx="1726692" cy="228600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40936" y="2523744"/>
            <a:ext cx="14340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 과표 점검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40936" y="3127248"/>
            <a:ext cx="14340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재산세 고지서로 과표를 확인하고 5.4억·9억 기준선 대비 위치를 파악합니다. 부채공제 요건도 이 시점에 정리합니다.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966966" y="2057400"/>
            <a:ext cx="128016" cy="12801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3" name="Text 21"/>
          <p:cNvSpPr/>
          <p:nvPr/>
        </p:nvSpPr>
        <p:spPr>
          <a:xfrm>
            <a:off x="6167628" y="1783080"/>
            <a:ext cx="1726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T−1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67628" y="2359152"/>
            <a:ext cx="1726692" cy="228600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13932" y="2523744"/>
            <a:ext cx="14340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 시점 시뮬레이션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13932" y="3127248"/>
            <a:ext cx="14340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예상 지역보험료와 임의계속가입 보험료를 계산해 비교합니다. 피부양자 등재 가능성도 함께 판정합니다.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839962" y="2057400"/>
            <a:ext cx="128016" cy="12801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8" name="Text 26"/>
          <p:cNvSpPr/>
          <p:nvPr/>
        </p:nvSpPr>
        <p:spPr>
          <a:xfrm>
            <a:off x="8040624" y="1783080"/>
            <a:ext cx="1726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T−0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40624" y="2359152"/>
            <a:ext cx="1726692" cy="228600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6928" y="2523744"/>
            <a:ext cx="14340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 직후 2개월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186928" y="3127248"/>
            <a:ext cx="14340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임의계속가입 신청 기한이 최우선입니다. 동시에 피부양자 등재 요건을 재확인합니다.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712958" y="2057400"/>
            <a:ext cx="128016" cy="128016"/>
          </a:xfrm>
          <a:prstGeom prst="rect">
            <a:avLst/>
          </a:prstGeom>
          <a:solidFill>
            <a:srgbClr val="84888B"/>
          </a:solidFill>
          <a:ln/>
        </p:spPr>
      </p:sp>
      <p:sp>
        <p:nvSpPr>
          <p:cNvPr id="33" name="Text 31"/>
          <p:cNvSpPr/>
          <p:nvPr/>
        </p:nvSpPr>
        <p:spPr>
          <a:xfrm>
            <a:off x="9913620" y="1783080"/>
            <a:ext cx="1726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T+1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913620" y="2359152"/>
            <a:ext cx="1726692" cy="228600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9924" y="2523744"/>
            <a:ext cx="14340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 1회 정기 점검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0059924" y="3127248"/>
            <a:ext cx="14340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매년 10월 예상 소득·과표를 점검하고 11월 재산정 결과에 따라 조정신청을 검토합니다.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48463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 로드맵이 상담에서 갖는 의미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548640" y="5184648"/>
            <a:ext cx="3514344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" y="5321808"/>
            <a:ext cx="3075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대응 가능 구간이 있다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68096" y="5614416"/>
            <a:ext cx="3075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T−3 이후에는 금융소득 시점 분산 외에 쓸 수 있는 수단이 급격히 줄어듭니다.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337304" y="5184648"/>
            <a:ext cx="3514344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56760" y="5321808"/>
            <a:ext cx="3075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 1회 접점이 생긴다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556760" y="5614416"/>
            <a:ext cx="3075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10월 정기 점검은 고객에게 명분 있는 상담 사유가 됩니다.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25968" y="5184648"/>
            <a:ext cx="3514344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45424" y="5321808"/>
            <a:ext cx="3075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기한이 곧 금액이다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345424" y="5614416"/>
            <a:ext cx="3075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임의계속가입 2개월과 11월 재산정, 이 두 날짜가 실질 절감액을 결정합니다.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구성: 국민건강보험법령 및 공단 절차를 기준으로 작성한 실무 제안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26 / 30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Ⅵ. 2026 개편안과 상담 실무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7월 개편안, 세 개의 축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7월 23일 건강보험정책심의위원회 소위원회에 보고된 내용입니다. 확정된 제도가 아닙니다.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10512"/>
            <a:ext cx="348996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2011680"/>
            <a:ext cx="310896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993392"/>
            <a:ext cx="2612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보수 외 소득 공제 축소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" y="2450592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2,000만원 → 1,000만원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6384" y="2852928"/>
            <a:ext cx="30144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대상: 직장가입자 178만명 (전체의 8.9%)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취지: 종합소득 전체에 부과되는 지역가입자와의 형평성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부수입 1,000만~2,000만원 구간이 신규 부과 대상으로 편입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9496" y="1810512"/>
            <a:ext cx="348996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87240" y="2011680"/>
            <a:ext cx="310896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4" name="Text 12"/>
          <p:cNvSpPr/>
          <p:nvPr/>
        </p:nvSpPr>
        <p:spPr>
          <a:xfrm>
            <a:off x="458724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9576" y="1993392"/>
            <a:ext cx="2612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상한 인상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87240" y="2450592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월 459만원 → 612만원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87240" y="2852928"/>
            <a:ext cx="30144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산정 배수: 평균보수월액의 15배 → 20배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대상: 직장 상위 0.04%(7,060명), 지역 상위 0.02%(1,891세대)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예상 수입 증가: 연 약 1,751억원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0352" y="1810512"/>
            <a:ext cx="348996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88096" y="2011680"/>
            <a:ext cx="310896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0" name="Text 18"/>
          <p:cNvSpPr/>
          <p:nvPr/>
        </p:nvSpPr>
        <p:spPr>
          <a:xfrm>
            <a:off x="8388096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90432" y="1993392"/>
            <a:ext cx="2612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하한 현실화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88096" y="2450592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최저임금 연계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88096" y="2852928"/>
            <a:ext cx="30144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2000년 법 제정 이후 26년간 월 보수 28만원 기준으로 동결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직장 본인부담 10,080원 → 22,260원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지역 20,160원 → 22,260원 · 인상분은 단계적 반영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5720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보수 외 소득 공제 기준의 변천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4919472"/>
            <a:ext cx="1581912" cy="713232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4992624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2012.9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" y="5248656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7,200만원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2276856" y="4919472"/>
            <a:ext cx="1581912" cy="713232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50008" y="4992624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2018.7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50008" y="5248656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3,400만원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005072" y="4919472"/>
            <a:ext cx="1581912" cy="713232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78224" y="4992624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2022.9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78224" y="5248656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2,000만원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733288" y="4919472"/>
            <a:ext cx="1581912" cy="713232"/>
          </a:xfrm>
          <a:prstGeom prst="rect">
            <a:avLst/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06440" y="4992624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개편안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06440" y="5248656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1,000만원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7543800" y="4572000"/>
            <a:ext cx="409651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81544" y="470001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고객 영향 계산 예시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781544" y="4992624"/>
            <a:ext cx="3621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보수 외 소득 5,000만원 직장가입자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현행 월 179,750원 → 개편 후 월 약 239,670원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증가분 월 약 6만원 · 연 약 72만원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보건복지부 건강보험정책심의위원회 소위원회 보고(2026.7.23), 연합뉴스·언론 보도(2026.7.26~27) / 확정 전 개편안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27 / 30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Ⅵ. 2026 개편안과 상담 실무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왜 계속 넓어지는가 — 재정 구조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개편의 방향은 재정에서 나옵니다. 단기 정책이 아니라 구조적 압력입니다.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83080"/>
          <a:ext cx="649224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543800" y="1783080"/>
            <a:ext cx="409651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18120" y="192024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당기수지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818120" y="2194560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적자 전환 전망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818120" y="2798064"/>
            <a:ext cx="3547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2027년 요율은 동결됐으나, 고령화에 따른 지출 증가로 중장기 수지 악화 압력은 남아 있습니다.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543800" y="3456432"/>
            <a:ext cx="409651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0" y="359359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2050년 전망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818120" y="3867912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 44조원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7818120" y="4471416"/>
            <a:ext cx="3547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장기 재정 추계상 연간 적자 규모. 부과 대상 확대 압력의 근원.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47548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2024·2025년 동결 후 2026년 인상, 2027년은 다시 동결(2026.9.8. 건정심) — 요율 조정만으로는 재정을 맞출 수 없다는 판단이 부과 대상 확대 논의로 이어집니다.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5349240"/>
            <a:ext cx="11091672" cy="868680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5349240"/>
            <a:ext cx="10506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개편안의 재원 효과   </a:t>
            </a:r>
            <a:pPr indent="0" marL="0">
              <a:buNone/>
            </a:pPr>
            <a:r>
              <a:rPr lang="en-US" sz="15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 약 1조 3,000억원</a:t>
            </a:r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  — 지역·필수의료 지원 확대와 중증·희귀질환 보장 강화에 투입 예정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보건복지부 보도자료(2025.8.28), 2027년 보험료율 동결 — 제15차 건정심(2026.9.8) / 전망치는 장기 재정추계 결과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28 / 30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Ⅵ. 2026 개편안과 상담 실무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고객 유형별로 무엇이 달라지는가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개편안이 확정될 경우, 우리 고객군은 네 갈래로 갈립니다.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81244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984248"/>
            <a:ext cx="292608" cy="29260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984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965960"/>
            <a:ext cx="3461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월급 외 소득 있는 직장인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86300" y="2002536"/>
            <a:ext cx="1005840" cy="2560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1" name="Text 9"/>
          <p:cNvSpPr/>
          <p:nvPr/>
        </p:nvSpPr>
        <p:spPr>
          <a:xfrm>
            <a:off x="4686300" y="20025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직격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6384" y="2386584"/>
            <a:ext cx="49057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임대·배당·사업소득이 있는 재직 고객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부수입 1,000만~2,000만원 구간은 현재 0원 → 신규 부과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이미 2,000만원 초과 고객은 부담 증가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" y="3300984"/>
            <a:ext cx="4905756" cy="0"/>
          </a:xfrm>
          <a:prstGeom prst="line">
            <a:avLst/>
          </a:prstGeom>
          <a:noFill/>
          <a:ln w="9525">
            <a:solidFill>
              <a:srgbClr val="E5E4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355848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상담: 부수입 규모를 먼저 파악하고 수령 시점 분산 가능성을 검토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59068" y="1783080"/>
            <a:ext cx="5381244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6812" y="1984248"/>
            <a:ext cx="292608" cy="29260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7" name="Text 15"/>
          <p:cNvSpPr/>
          <p:nvPr/>
        </p:nvSpPr>
        <p:spPr>
          <a:xfrm>
            <a:off x="6496812" y="1984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80860" y="1965960"/>
            <a:ext cx="3461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초고소득 직장·지역가입자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0396728" y="2002536"/>
            <a:ext cx="1005840" cy="25603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0" name="Text 18"/>
          <p:cNvSpPr/>
          <p:nvPr/>
        </p:nvSpPr>
        <p:spPr>
          <a:xfrm>
            <a:off x="10396728" y="20025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상한 영향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6812" y="2386584"/>
            <a:ext cx="49057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직장 상위 0.04% · 지역 상위 0.02%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월 상한 459만원 → 612만원, 최대 +153만원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대상 인원은 적지만 금액 영향은 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6812" y="3300984"/>
            <a:ext cx="4905756" cy="0"/>
          </a:xfrm>
          <a:prstGeom prst="line">
            <a:avLst/>
          </a:prstGeom>
          <a:noFill/>
          <a:ln w="9525">
            <a:solidFill>
              <a:srgbClr val="E5E4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6812" y="3355848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상담: 상한 적용 여부를 확인하고 연간 고정지출 변동폭을 미리 안내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005072"/>
            <a:ext cx="5381244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4206240"/>
            <a:ext cx="292608" cy="29260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70432" y="4187952"/>
            <a:ext cx="3461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은퇴·연금 생활자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686300" y="4224528"/>
            <a:ext cx="1005840" cy="256032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29" name="Text 27"/>
          <p:cNvSpPr/>
          <p:nvPr/>
        </p:nvSpPr>
        <p:spPr>
          <a:xfrm>
            <a:off x="4686300" y="4224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간접 영향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86384" y="4608576"/>
            <a:ext cx="49057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개편안 3개 축의 직접 영향은 상대적으로 작음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핵심 변수는 여전히 피부양자 요건과 재산보험료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부과 대상 확대 흐름은 장기적으로 불리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86384" y="5522976"/>
            <a:ext cx="4905756" cy="0"/>
          </a:xfrm>
          <a:prstGeom prst="line">
            <a:avLst/>
          </a:prstGeom>
          <a:noFill/>
          <a:ln w="9525">
            <a:solidFill>
              <a:srgbClr val="E5E4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" y="5577840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상담: 피부양자 요건 점검과 임의계속가입 판단이 우선순위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59068" y="4005072"/>
            <a:ext cx="5381244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6812" y="4206240"/>
            <a:ext cx="292608" cy="29260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5" name="Text 33"/>
          <p:cNvSpPr/>
          <p:nvPr/>
        </p:nvSpPr>
        <p:spPr>
          <a:xfrm>
            <a:off x="649681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80860" y="4187952"/>
            <a:ext cx="34610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소액 부과 저소득 세대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10396728" y="4224528"/>
            <a:ext cx="1005840" cy="256032"/>
          </a:xfrm>
          <a:prstGeom prst="rect">
            <a:avLst/>
          </a:prstGeom>
          <a:solidFill>
            <a:srgbClr val="84888B"/>
          </a:solidFill>
          <a:ln/>
        </p:spPr>
      </p:sp>
      <p:sp>
        <p:nvSpPr>
          <p:cNvPr id="38" name="Text 36"/>
          <p:cNvSpPr/>
          <p:nvPr/>
        </p:nvSpPr>
        <p:spPr>
          <a:xfrm>
            <a:off x="10396728" y="4224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하한 영향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6812" y="4608576"/>
            <a:ext cx="49057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하한액 20,160원 → 22,260원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인상분은 단계적으로 반영 예정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절대 금액은 작지만 대상 세대 수는 많음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6812" y="5522976"/>
            <a:ext cx="4905756" cy="0"/>
          </a:xfrm>
          <a:prstGeom prst="line">
            <a:avLst/>
          </a:prstGeom>
          <a:noFill/>
          <a:ln w="9525">
            <a:solidFill>
              <a:srgbClr val="E5E4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6812" y="5577840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상담: 감면 제도(농어촌·장애인 등) 해당 여부를 함께 확인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5870448"/>
            <a:ext cx="11091672" cy="384048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43" name="Text 41"/>
          <p:cNvSpPr/>
          <p:nvPr/>
        </p:nvSpPr>
        <p:spPr>
          <a:xfrm>
            <a:off x="841248" y="5870448"/>
            <a:ext cx="10506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공통 메시지 — 제도의 방향은 '소득 중심 확대'입니다. 지금 기준으로만 설계하면 2~3년 뒤 다시 흔들립니다.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48640" y="634593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보건복지부 소위원회 보고 내용 기준 해석(2026.7) / 확정 전 개편안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29 / 30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Ⅵ. 2026 개편안과 상담 실무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11091672" cy="0"/>
          </a:xfrm>
          <a:prstGeom prst="line">
            <a:avLst/>
          </a:prstGeom>
          <a:noFill/>
          <a:ln w="9525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2237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상담 체크리스트 10문항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고객을 만나기 전 이 열 가지를 확인하면 대화의 방향이 정해집니다.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37944"/>
            <a:ext cx="274320" cy="274320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37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783080"/>
            <a:ext cx="49789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고객은 직장·지역·피부양자 중 어디에 속하는가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271516" cy="0"/>
          </a:xfrm>
          <a:prstGeom prst="line">
            <a:avLst/>
          </a:prstGeom>
          <a:noFill/>
          <a:ln w="9525">
            <a:solidFill>
              <a:srgbClr val="E5E4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86584"/>
            <a:ext cx="274320" cy="274320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86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2331720"/>
            <a:ext cx="49789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보수 외 소득이 연 1,000만~2,000만원 구간에 있는가 (개편 직격 구간)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5271516" cy="0"/>
          </a:xfrm>
          <a:prstGeom prst="line">
            <a:avLst/>
          </a:prstGeom>
          <a:noFill/>
          <a:ln w="9525">
            <a:solidFill>
              <a:srgbClr val="E5E4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5224"/>
            <a:ext cx="274320" cy="274320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935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" y="2880360"/>
            <a:ext cx="49789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이자·배당 합계가 1,000만원 기준선 근처인가 — 만기·수령 시점 분산 여지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5271516" cy="0"/>
          </a:xfrm>
          <a:prstGeom prst="line">
            <a:avLst/>
          </a:prstGeom>
          <a:noFill/>
          <a:ln w="9525">
            <a:solidFill>
              <a:srgbClr val="E5E4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483864"/>
            <a:ext cx="274320" cy="274320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3429000"/>
            <a:ext cx="49789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연금 포함 합산소득이 2,000만원 기준선 근처인가 (물가연동 자동 상승 고려)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5271516" cy="0"/>
          </a:xfrm>
          <a:prstGeom prst="line">
            <a:avLst/>
          </a:prstGeom>
          <a:noFill/>
          <a:ln w="9525">
            <a:solidFill>
              <a:srgbClr val="E5E4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032504"/>
            <a:ext cx="274320" cy="274320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32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" y="3977640"/>
            <a:ext cx="49789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과세 대상 주택임대소득이 있는가 (피부양자 즉시 탈락 사유)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5271516" cy="0"/>
          </a:xfrm>
          <a:prstGeom prst="line">
            <a:avLst/>
          </a:prstGeom>
          <a:noFill/>
          <a:ln w="9525">
            <a:solidFill>
              <a:srgbClr val="E5E4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77356" y="1837944"/>
            <a:ext cx="274320" cy="274320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27" name="Text 25"/>
          <p:cNvSpPr/>
          <p:nvPr/>
        </p:nvSpPr>
        <p:spPr>
          <a:xfrm>
            <a:off x="6277356" y="1837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61404" y="1783080"/>
            <a:ext cx="49789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재산세 과세표준이 5.4억 또는 9억 기준선 근처인가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77356" y="2286000"/>
            <a:ext cx="5271516" cy="0"/>
          </a:xfrm>
          <a:prstGeom prst="line">
            <a:avLst/>
          </a:prstGeom>
          <a:noFill/>
          <a:ln w="9525">
            <a:solidFill>
              <a:srgbClr val="E5E4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77356" y="2386584"/>
            <a:ext cx="274320" cy="274320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31" name="Text 29"/>
          <p:cNvSpPr/>
          <p:nvPr/>
        </p:nvSpPr>
        <p:spPr>
          <a:xfrm>
            <a:off x="6277356" y="2386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61404" y="2331720"/>
            <a:ext cx="49789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주택 구입·임차 대출에 대한 부채공제를 신청했는가 (신청주의)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77356" y="2834640"/>
            <a:ext cx="5271516" cy="0"/>
          </a:xfrm>
          <a:prstGeom prst="line">
            <a:avLst/>
          </a:prstGeom>
          <a:noFill/>
          <a:ln w="9525">
            <a:solidFill>
              <a:srgbClr val="E5E4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77356" y="2935224"/>
            <a:ext cx="274320" cy="274320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35" name="Text 33"/>
          <p:cNvSpPr/>
          <p:nvPr/>
        </p:nvSpPr>
        <p:spPr>
          <a:xfrm>
            <a:off x="6277356" y="2935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61404" y="2880360"/>
            <a:ext cx="49789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퇴직 예정이면 임의계속가입 2개월 기한을 캘린더에 등록했는가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77356" y="3383280"/>
            <a:ext cx="5271516" cy="0"/>
          </a:xfrm>
          <a:prstGeom prst="line">
            <a:avLst/>
          </a:prstGeom>
          <a:noFill/>
          <a:ln w="9525">
            <a:solidFill>
              <a:srgbClr val="E5E4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77356" y="3483864"/>
            <a:ext cx="274320" cy="274320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39" name="Text 37"/>
          <p:cNvSpPr/>
          <p:nvPr/>
        </p:nvSpPr>
        <p:spPr>
          <a:xfrm>
            <a:off x="6277356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661404" y="3429000"/>
            <a:ext cx="49789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소득이 줄었는데 조정신청을 하지 않은 기간이 있는가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77356" y="3931920"/>
            <a:ext cx="5271516" cy="0"/>
          </a:xfrm>
          <a:prstGeom prst="line">
            <a:avLst/>
          </a:prstGeom>
          <a:noFill/>
          <a:ln w="9525">
            <a:solidFill>
              <a:srgbClr val="E5E4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77356" y="4032504"/>
            <a:ext cx="274320" cy="274320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43" name="Text 41"/>
          <p:cNvSpPr/>
          <p:nvPr/>
        </p:nvSpPr>
        <p:spPr>
          <a:xfrm>
            <a:off x="6277356" y="4032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661404" y="3977640"/>
            <a:ext cx="49789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매년 10~11월 정기 점검 루틴이 있는가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77356" y="4480560"/>
            <a:ext cx="5271516" cy="0"/>
          </a:xfrm>
          <a:prstGeom prst="line">
            <a:avLst/>
          </a:prstGeom>
          <a:noFill/>
          <a:ln w="9525">
            <a:solidFill>
              <a:srgbClr val="E5E4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4709160"/>
            <a:ext cx="11091672" cy="1554480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47" name="Text 45"/>
          <p:cNvSpPr/>
          <p:nvPr/>
        </p:nvSpPr>
        <p:spPr>
          <a:xfrm>
            <a:off x="841248" y="4828032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유의사항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41248" y="5120640"/>
            <a:ext cx="10506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본 자료는 2026년 10월 1일 기준 공개 자료를 정리한 교육용 자료로, 투자·세무·법률 자문이 아닙니다.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7월 개편안은 건강보험정책심의위원회 소위원회 보고 단계이며 확정된 제도가 아닙니다. 시행 시기와 최종안은 변동될 수 있습니다.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사적연금·ISA 등의 부과 제외 취급은 현행 운영 기준으로, 향후 제도 변경 가능성이 있습니다.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개별 보험료는 세대 구성·등급표·경감 제도에 따라 달라지므로 국민건강보험공단(1577-1000) 모의계산과 상담으로 확인하십시오.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보건복지부, 국민건강보험공단, 국민건강보험법 및 시행령·시행규칙, 관련 언론 보도(2026년 9월)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0058400" y="63459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30 / 30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건강보험료 완전 해부</dc:title>
  <dc:subject>PptxGenJS Presentation</dc:subject>
  <dc:creator>미래에셋증권 마포WM</dc:creator>
  <cp:lastModifiedBy>미래에셋증권 마포WM</cp:lastModifiedBy>
  <cp:revision>1</cp:revision>
  <dcterms:created xsi:type="dcterms:W3CDTF">2026-07-28T11:31:48Z</dcterms:created>
  <dcterms:modified xsi:type="dcterms:W3CDTF">2026-07-28T11:31:48Z</dcterms:modified>
</cp:coreProperties>
</file>