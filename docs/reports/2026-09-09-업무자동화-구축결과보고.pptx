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발행 판수</c:v>
                </c:pt>
              </c:strCache>
            </c:strRef>
          </c:tx>
          <c:spPr>
            <a:solidFill>
              <a:srgbClr val="F58220"/>
            </a:solidFill>
            <a:effectLst/>
          </c:spPr>
          <c:invertIfNegative val="0"/>
          <c:dLbls>
            <c:numFmt formatCode="#,##0" sourceLinked="0"/>
            <c:txPr>
              <a:bodyPr/>
              <a:lstStyle/>
              <a:p>
                <a:pPr>
                  <a:defRPr b="1" i="0" strike="noStrike" sz="1100" u="none">
                    <a:solidFill>
                      <a:srgbClr val="3D3D3D"/>
                    </a:solidFill>
                    <a:latin typeface="Spoqa Han Sans Neo"/>
                  </a:defRPr>
                </a:pPr>
              </a:p>
            </c:txPr>
            <c:showLegendKey val="0"/>
            <c:showVal val="1"/>
            <c:showCatName val="0"/>
            <c:showSerName val="0"/>
            <c:showPercent val="0"/>
            <c:showBubbleSize val="0"/>
            <c:showLeaderLines val="0"/>
          </c:dLbls>
          <c:cat>
            <c:multiLvlStrRef>
              <c:f>Sheet1!$A$2:$A$7</c:f>
              <c:multiLvlStrCache>
                <c:ptCount val="6"/>
                <c:lvl>
                  <c:pt idx="0">
                    <c:v>8/06~</c:v>
                  </c:pt>
                  <c:pt idx="1">
                    <c:v>8/10~</c:v>
                  </c:pt>
                  <c:pt idx="2">
                    <c:v>8/17~</c:v>
                  </c:pt>
                  <c:pt idx="3">
                    <c:v>8/24~</c:v>
                  </c:pt>
                  <c:pt idx="4">
                    <c:v>8/31~</c:v>
                  </c:pt>
                  <c:pt idx="5">
                    <c:v>9/07~</c:v>
                  </c:pt>
                </c:lvl>
              </c:multiLvlStrCache>
            </c:multiLvlStrRef>
          </c:cat>
          <c:val>
            <c:numRef>
              <c:f>Sheet1!$B$2:$B$7</c:f>
              <c:numCache>
                <c:formatCode>General</c:formatCode>
                <c:ptCount val="6"/>
                <c:pt idx="0">
                  <c:v>4</c:v>
                </c:pt>
                <c:pt idx="1">
                  <c:v>7</c:v>
                </c:pt>
                <c:pt idx="2">
                  <c:v>9</c:v>
                </c:pt>
                <c:pt idx="3">
                  <c:v>10</c:v>
                </c:pt>
                <c:pt idx="4">
                  <c:v>20</c:v>
                </c:pt>
                <c:pt idx="5">
                  <c:v>10</c:v>
                </c:pt>
              </c:numCache>
            </c:numRef>
          </c:val>
        </c:ser>
        <c:dLbls>
          <c:numFmt formatCode="#,##0" sourceLinked="0"/>
          <c:txPr>
            <a:bodyPr/>
            <a:lstStyle/>
            <a:p>
              <a:pPr>
                <a:defRPr b="1" i="0" strike="noStrike" sz="1100" u="none">
                  <a:solidFill>
                    <a:srgbClr val="3D3D3D"/>
                  </a:solidFill>
                  <a:latin typeface="Spoqa Han Sans Neo"/>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C6C6C"/>
                </a:solidFill>
                <a:latin typeface="Spoqa Han Sans Neo"/>
              </a:defRPr>
            </a:pPr>
            <a:endParaRPr lang="en-US"/>
          </a:p>
        </c:txPr>
        <c:crossAx val="2094734552"/>
        <c:crosses val="autoZero"/>
        <c:auto val="1"/>
        <c:lblAlgn val="ctr"/>
        <c:noMultiLvlLbl val="1"/>
      </c:catAx>
      <c:valAx>
        <c:axId val="2094734552"/>
        <c:scaling>
          <c:orientation val="minMax"/>
          <c:max val="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보고 목적: 8월 6일부터 9월 9일까지 Claude Code 로 수행한 업무 자동화 구축 결과를 보고합니다. 핵심은 세 가지 — (1) 매일 손으로 쓰던 시황 브리핑을 하루 두 번 예약 자동 발행으로 전환, (2) 흩어져 있던 시세·상품 조회를 사내망에서도 열리는 단일 파일 화면 4종으로 통합, (3) 데이터 수집과 검증을 무인 워크플로 7종으로 이관. 모든 산출물은 사내 저장소에 커밋되어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가지 문제 모두 '사람이 매번 같은 일을 반복한다'는 공통점이 있었습니다. 해결 방식도 하나로 정리됩니다 — 받아오는 일은 예약으로, 맞는지 보는 일은 스크립트로, 보여주는 일은 설치 없는 단일 파일로 옮겼습니다. 특히 검증을 자동화한 것이 중요합니다. 자동 발행에서 가장 위험한 것은 '틀린 숫자가 조용히 나가는 것'이라서, 어긋나면 발행을 멈추게 설계했습니다.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큰 성과는 '거르지 않는다'는 점입니다. 32일 동안 주말·휴장일을 포함해 매일 산출물이 나왔습니다. 휴장일에는 국내 마감이 없으므로 해외 증시 브리핑으로 판을 바꿔 내도록 지침에 규정해 두었습니다. 8/31 주에 판수가 20으로 뛴 것은 읽는 사람이 6쪽만 봐도 되도록 '핵심본'을 분리해 두 판을 함께 내기 시작했기 때문입니다. 검증 장치 5종은 실제 사고에서 나온 것입니다 — 예약 수집이 95분 늦어 금요일 값으로 월요일 판을 쓸 뻔한 일이 있었고, 그 뒤 신선도 확인을 필수 단계로 넣었습니다.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화면 모두 빌드 도구 없이 파일 하나로 동작합니다. 받는 사람이 설치할 것이 없다는 점이 현장 배포에서 결정적이었습니다. 가장 공들인 부분은 사내망 대응입니다. 업무용 PC 에서 외부 금융 사이트가 막히는 것을 전제로, ① 실시간 스트리밍 → ② 10분 주기 가격 파일 → ③ 브라우저 직접 조회 → ④ 저장 스냅샷 순서로 네 경로를 두고, 모두 막힌 경우에는 '예시 데이터'임을 화면에 명시해 업무에 잘못 쓰이지 않게 했습니다. 마포WM 창구 페이지의 13개 링크는 전단 QR 을 직접 디코딩해 옮긴 값으로, 추측해 만든 주소는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정량 성과에서 유일한 추정치는 절감 시간입니다. 판당 60분으로 보수적으로 잡아 약 60시간이며, 실측이 아니라는 점을 명시했습니다. 나머지 수치는 저장소에서 직접 집계한 값입니다. 다음 단계에서 가장 효과가 큰 것은 사내 프록시 연결입니다 — 주소 한 줄 등록으로 조회 화면 전체가 실시간으로 바뀌므로, 전산 부서 협의를 요청드립니다. 확장 관점에서는 이번에 만든 구조(예약 수집 → 자동 검증 → 단일 파일 배포)가 특정 업무에 종속되지 않으므로, 다른 반복 업무에도 같은 방식으로 적용할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8220"/>
        </a:solidFill>
      </p:bgPr>
    </p:bg>
    <p:spTree>
      <p:nvGrpSpPr>
        <p:cNvPr id="1" name=""/>
        <p:cNvGrpSpPr/>
        <p:nvPr/>
      </p:nvGrpSpPr>
      <p:grpSpPr>
        <a:xfrm>
          <a:off x="0" y="0"/>
          <a:ext cx="0" cy="0"/>
          <a:chOff x="0" y="0"/>
          <a:chExt cx="0" cy="0"/>
        </a:xfrm>
      </p:grpSpPr>
      <p:sp>
        <p:nvSpPr>
          <p:cNvPr id="2" name="Text 0"/>
          <p:cNvSpPr txBox="1"/>
          <p:nvPr/>
        </p:nvSpPr>
        <p:spPr>
          <a:xfrm>
            <a:off x="548640" y="475488"/>
            <a:ext cx="4572000" cy="274320"/>
          </a:xfrm>
          <a:prstGeom prst="rect">
            <a:avLst/>
          </a:prstGeom>
          <a:noFill/>
          <a:ln/>
        </p:spPr>
        <p:txBody>
          <a:bodyPr wrap="square" lIns="0" tIns="0" rIns="0" bIns="0" rtlCol="0" anchor="ctr"/>
          <a:lstStyle/>
          <a:p>
            <a:pPr indent="0" marL="0">
              <a:buNone/>
            </a:pPr>
            <a:r>
              <a:rPr lang="en-US" sz="1200" b="1" spc="160" kern="0" dirty="0">
                <a:solidFill>
                  <a:srgbClr val="FFE7D1"/>
                </a:solidFill>
                <a:latin typeface="Spoqa Han Sans Neo" pitchFamily="34" charset="0"/>
                <a:ea typeface="Spoqa Han Sans Neo" pitchFamily="34" charset="-122"/>
                <a:cs typeface="Spoqa Han Sans Neo" pitchFamily="34" charset="-120"/>
              </a:rPr>
              <a:t>[ 사내한 ]   업무 보고</a:t>
            </a:r>
            <a:endParaRPr lang="en-US" sz="1200" dirty="0"/>
          </a:p>
        </p:txBody>
      </p:sp>
      <p:sp>
        <p:nvSpPr>
          <p:cNvPr id="3" name="Text 1"/>
          <p:cNvSpPr txBox="1"/>
          <p:nvPr/>
        </p:nvSpPr>
        <p:spPr>
          <a:xfrm>
            <a:off x="548640" y="1115568"/>
            <a:ext cx="6675120" cy="1920240"/>
          </a:xfrm>
          <a:prstGeom prst="rect">
            <a:avLst/>
          </a:prstGeom>
          <a:noFill/>
          <a:ln/>
        </p:spPr>
        <p:txBody>
          <a:bodyPr wrap="square" lIns="0" tIns="0" rIns="0" bIns="0" rtlCol="0" anchor="ctr"/>
          <a:lstStyle/>
          <a:p>
            <a:pPr indent="0" marL="0">
              <a:lnSpc>
                <a:spcPts val="5000"/>
              </a:lnSpc>
              <a:buNone/>
            </a:pPr>
            <a:r>
              <a:rPr lang="en-US" sz="4000" b="1" spc="-100" kern="0" dirty="0">
                <a:solidFill>
                  <a:srgbClr val="FFFFFF"/>
                </a:solidFill>
                <a:latin typeface="Spoqa Han Sans Neo" pitchFamily="34" charset="0"/>
                <a:ea typeface="Spoqa Han Sans Neo" pitchFamily="34" charset="-122"/>
                <a:cs typeface="Spoqa Han Sans Neo" pitchFamily="34" charset="-120"/>
              </a:rPr>
              <a:t>Claude Code 로 만든</a:t>
            </a:r>
            <a:endParaRPr lang="en-US" sz="4000" dirty="0"/>
          </a:p>
          <a:p>
            <a:pPr indent="0" marL="0">
              <a:lnSpc>
                <a:spcPts val="5000"/>
              </a:lnSpc>
              <a:buNone/>
            </a:pPr>
            <a:r>
              <a:rPr lang="en-US" sz="4000" b="1" spc="-100" kern="0" dirty="0">
                <a:solidFill>
                  <a:srgbClr val="FFFFFF"/>
                </a:solidFill>
                <a:latin typeface="Spoqa Han Sans Neo" pitchFamily="34" charset="0"/>
                <a:ea typeface="Spoqa Han Sans Neo" pitchFamily="34" charset="-122"/>
                <a:cs typeface="Spoqa Han Sans Neo" pitchFamily="34" charset="-120"/>
              </a:rPr>
              <a:t>영업 현장 업무 자동화</a:t>
            </a:r>
            <a:endParaRPr lang="en-US" sz="4000" dirty="0"/>
          </a:p>
        </p:txBody>
      </p:sp>
      <p:sp>
        <p:nvSpPr>
          <p:cNvPr id="4" name="Text 2"/>
          <p:cNvSpPr txBox="1"/>
          <p:nvPr/>
        </p:nvSpPr>
        <p:spPr>
          <a:xfrm>
            <a:off x="548640" y="3200400"/>
            <a:ext cx="6675120" cy="786384"/>
          </a:xfrm>
          <a:prstGeom prst="rect">
            <a:avLst/>
          </a:prstGeom>
          <a:noFill/>
          <a:ln/>
        </p:spPr>
        <p:txBody>
          <a:bodyPr wrap="square" lIns="0" tIns="0" rIns="0" bIns="0" rtlCol="0" anchor="ctr"/>
          <a:lstStyle/>
          <a:p>
            <a:pPr indent="0" marL="0">
              <a:lnSpc>
                <a:spcPts val="2600"/>
              </a:lnSpc>
              <a:buNone/>
            </a:pPr>
            <a:r>
              <a:rPr lang="en-US" sz="1650" dirty="0">
                <a:solidFill>
                  <a:srgbClr val="FFFFFF"/>
                </a:solidFill>
                <a:latin typeface="Spoqa Han Sans Neo" pitchFamily="34" charset="0"/>
                <a:ea typeface="Spoqa Han Sans Neo" pitchFamily="34" charset="-122"/>
                <a:cs typeface="Spoqa Han Sans Neo" pitchFamily="34" charset="-120"/>
              </a:rPr>
              <a:t>시황 브리핑 자동 발행 · 업무 조회 화면 4종 · 데이터 수집 자동화</a:t>
            </a:r>
            <a:endParaRPr lang="en-US" sz="1650" dirty="0"/>
          </a:p>
        </p:txBody>
      </p:sp>
      <p:sp>
        <p:nvSpPr>
          <p:cNvPr id="5" name="Text 3"/>
          <p:cNvSpPr txBox="1"/>
          <p:nvPr/>
        </p:nvSpPr>
        <p:spPr>
          <a:xfrm>
            <a:off x="548640" y="4443984"/>
            <a:ext cx="6675120" cy="310896"/>
          </a:xfrm>
          <a:prstGeom prst="rect">
            <a:avLst/>
          </a:prstGeom>
          <a:noFill/>
          <a:ln/>
        </p:spPr>
        <p:txBody>
          <a:bodyPr wrap="square" lIns="0" tIns="0" rIns="0" bIns="0" rtlCol="0" anchor="ctr"/>
          <a:lstStyle/>
          <a:p>
            <a:pPr indent="0" marL="0">
              <a:buNone/>
            </a:pPr>
            <a:r>
              <a:rPr lang="en-US" sz="1350" b="1" dirty="0">
                <a:solidFill>
                  <a:srgbClr val="FFFFFF"/>
                </a:solidFill>
                <a:latin typeface="Spoqa Han Sans Neo" pitchFamily="34" charset="0"/>
                <a:ea typeface="Spoqa Han Sans Neo" pitchFamily="34" charset="-122"/>
                <a:cs typeface="Spoqa Han Sans Neo" pitchFamily="34" charset="-120"/>
              </a:rPr>
              <a:t>구축 기간</a:t>
            </a:r>
            <a:pPr indent="0" marL="0">
              <a:buNone/>
            </a:pPr>
            <a:r>
              <a:rPr lang="en-US" sz="1350" dirty="0">
                <a:solidFill>
                  <a:srgbClr val="FFE7D1"/>
                </a:solidFill>
                <a:latin typeface="Spoqa Han Sans Neo" pitchFamily="34" charset="0"/>
                <a:ea typeface="Spoqa Han Sans Neo" pitchFamily="34" charset="-122"/>
                <a:cs typeface="Spoqa Han Sans Neo" pitchFamily="34" charset="-120"/>
              </a:rPr>
              <a:t>   2026.08.06 – 09.09  (32일 연속 운영)</a:t>
            </a:r>
            <a:endParaRPr lang="en-US" sz="1350" dirty="0"/>
          </a:p>
        </p:txBody>
      </p:sp>
      <p:sp>
        <p:nvSpPr>
          <p:cNvPr id="6" name="Text 4"/>
          <p:cNvSpPr txBox="1"/>
          <p:nvPr/>
        </p:nvSpPr>
        <p:spPr>
          <a:xfrm>
            <a:off x="548640" y="4791456"/>
            <a:ext cx="6675120" cy="310896"/>
          </a:xfrm>
          <a:prstGeom prst="rect">
            <a:avLst/>
          </a:prstGeom>
          <a:noFill/>
          <a:ln/>
        </p:spPr>
        <p:txBody>
          <a:bodyPr wrap="square" lIns="0" tIns="0" rIns="0" bIns="0" rtlCol="0" anchor="ctr"/>
          <a:lstStyle/>
          <a:p>
            <a:pPr indent="0" marL="0">
              <a:buNone/>
            </a:pPr>
            <a:r>
              <a:rPr lang="en-US" sz="1350" b="1" dirty="0">
                <a:solidFill>
                  <a:srgbClr val="FFFFFF"/>
                </a:solidFill>
                <a:latin typeface="Spoqa Han Sans Neo" pitchFamily="34" charset="0"/>
                <a:ea typeface="Spoqa Han Sans Neo" pitchFamily="34" charset="-122"/>
                <a:cs typeface="Spoqa Han Sans Neo" pitchFamily="34" charset="-120"/>
              </a:rPr>
              <a:t>수행 방식</a:t>
            </a:r>
            <a:pPr indent="0" marL="0">
              <a:buNone/>
            </a:pPr>
            <a:r>
              <a:rPr lang="en-US" sz="1350" dirty="0">
                <a:solidFill>
                  <a:srgbClr val="FFE7D1"/>
                </a:solidFill>
                <a:latin typeface="Spoqa Han Sans Neo" pitchFamily="34" charset="0"/>
                <a:ea typeface="Spoqa Han Sans Neo" pitchFamily="34" charset="-122"/>
                <a:cs typeface="Spoqa Han Sans Neo" pitchFamily="34" charset="-120"/>
              </a:rPr>
              <a:t>   Claude Code 세션 + GitHub Actions 예약 실행</a:t>
            </a:r>
            <a:endParaRPr lang="en-US" sz="1350" dirty="0"/>
          </a:p>
        </p:txBody>
      </p:sp>
      <p:sp>
        <p:nvSpPr>
          <p:cNvPr id="7" name="Text 5"/>
          <p:cNvSpPr txBox="1"/>
          <p:nvPr/>
        </p:nvSpPr>
        <p:spPr>
          <a:xfrm>
            <a:off x="548640" y="5138928"/>
            <a:ext cx="6675120" cy="310896"/>
          </a:xfrm>
          <a:prstGeom prst="rect">
            <a:avLst/>
          </a:prstGeom>
          <a:noFill/>
          <a:ln/>
        </p:spPr>
        <p:txBody>
          <a:bodyPr wrap="square" lIns="0" tIns="0" rIns="0" bIns="0" rtlCol="0" anchor="ctr"/>
          <a:lstStyle/>
          <a:p>
            <a:pPr indent="0" marL="0">
              <a:buNone/>
            </a:pPr>
            <a:r>
              <a:rPr lang="en-US" sz="1350" b="1" dirty="0">
                <a:solidFill>
                  <a:srgbClr val="FFFFFF"/>
                </a:solidFill>
                <a:latin typeface="Spoqa Han Sans Neo" pitchFamily="34" charset="0"/>
                <a:ea typeface="Spoqa Han Sans Neo" pitchFamily="34" charset="-122"/>
                <a:cs typeface="Spoqa Han Sans Neo" pitchFamily="34" charset="-120"/>
              </a:rPr>
              <a:t>산출물 위치</a:t>
            </a:r>
            <a:pPr indent="0" marL="0">
              <a:buNone/>
            </a:pPr>
            <a:r>
              <a:rPr lang="en-US" sz="1350" dirty="0">
                <a:solidFill>
                  <a:srgbClr val="FFE7D1"/>
                </a:solidFill>
                <a:latin typeface="Spoqa Han Sans Neo" pitchFamily="34" charset="0"/>
                <a:ea typeface="Spoqa Han Sans Neo" pitchFamily="34" charset="-122"/>
                <a:cs typeface="Spoqa Han Sans Neo" pitchFamily="34" charset="-120"/>
              </a:rPr>
              <a:t>   사내 저장소 work_1 (전 커밋 이력 보존)</a:t>
            </a:r>
            <a:endParaRPr lang="en-US" sz="1350" dirty="0"/>
          </a:p>
        </p:txBody>
      </p:sp>
      <p:sp>
        <p:nvSpPr>
          <p:cNvPr id="8" name="Shape 6"/>
          <p:cNvSpPr/>
          <p:nvPr/>
        </p:nvSpPr>
        <p:spPr>
          <a:xfrm>
            <a:off x="7680960" y="1115568"/>
            <a:ext cx="3931920" cy="4626864"/>
          </a:xfrm>
          <a:prstGeom prst="roundRect">
            <a:avLst>
              <a:gd name="adj" fmla="val 465"/>
            </a:avLst>
          </a:prstGeom>
          <a:solidFill>
            <a:srgbClr val="FFFFFF"/>
          </a:solidFill>
          <a:ln/>
        </p:spPr>
      </p:sp>
      <p:sp>
        <p:nvSpPr>
          <p:cNvPr id="9" name="Text 7"/>
          <p:cNvSpPr txBox="1"/>
          <p:nvPr/>
        </p:nvSpPr>
        <p:spPr>
          <a:xfrm>
            <a:off x="8028432" y="1371600"/>
            <a:ext cx="3291840" cy="274320"/>
          </a:xfrm>
          <a:prstGeom prst="rect">
            <a:avLst/>
          </a:prstGeom>
          <a:noFill/>
          <a:ln/>
        </p:spPr>
        <p:txBody>
          <a:bodyPr wrap="square" lIns="0" tIns="0" rIns="0" bIns="0" rtlCol="0" anchor="ctr"/>
          <a:lstStyle/>
          <a:p>
            <a:pPr indent="0" marL="0">
              <a:buNone/>
            </a:pPr>
            <a:r>
              <a:rPr lang="en-US" sz="1200" b="1" spc="140" kern="0" dirty="0">
                <a:solidFill>
                  <a:srgbClr val="F58220"/>
                </a:solidFill>
                <a:latin typeface="Spoqa Han Sans Neo" pitchFamily="34" charset="0"/>
                <a:ea typeface="Spoqa Han Sans Neo" pitchFamily="34" charset="-122"/>
                <a:cs typeface="Spoqa Han Sans Neo" pitchFamily="34" charset="-120"/>
              </a:rPr>
              <a:t>한눈에</a:t>
            </a:r>
            <a:endParaRPr lang="en-US" sz="1200" dirty="0"/>
          </a:p>
        </p:txBody>
      </p:sp>
      <p:sp>
        <p:nvSpPr>
          <p:cNvPr id="10" name="Text 8"/>
          <p:cNvSpPr txBox="1"/>
          <p:nvPr/>
        </p:nvSpPr>
        <p:spPr>
          <a:xfrm>
            <a:off x="8028432" y="1783080"/>
            <a:ext cx="3291840" cy="438912"/>
          </a:xfrm>
          <a:prstGeom prst="rect">
            <a:avLst/>
          </a:prstGeom>
          <a:noFill/>
          <a:ln/>
        </p:spPr>
        <p:txBody>
          <a:bodyPr wrap="square" lIns="0" tIns="0" rIns="0" bIns="0" rtlCol="0" anchor="ctr"/>
          <a:lstStyle/>
          <a:p>
            <a:pPr indent="0" marL="0">
              <a:buNone/>
            </a:pPr>
            <a:r>
              <a:rPr lang="en-US" sz="3000" b="1" dirty="0">
                <a:solidFill>
                  <a:srgbClr val="043B72"/>
                </a:solidFill>
                <a:latin typeface="Spoqa Han Sans Neo" pitchFamily="34" charset="0"/>
                <a:ea typeface="Spoqa Han Sans Neo" pitchFamily="34" charset="-122"/>
                <a:cs typeface="Spoqa Han Sans Neo" pitchFamily="34" charset="-120"/>
              </a:rPr>
              <a:t>60</a:t>
            </a:r>
            <a:pPr indent="0" marL="0">
              <a:buNone/>
            </a:pPr>
            <a:r>
              <a:rPr lang="en-US" sz="1400" b="1" dirty="0">
                <a:solidFill>
                  <a:srgbClr val="F58220"/>
                </a:solidFill>
                <a:latin typeface="Spoqa Han Sans Neo" pitchFamily="34" charset="0"/>
                <a:ea typeface="Spoqa Han Sans Neo" pitchFamily="34" charset="-122"/>
                <a:cs typeface="Spoqa Han Sans Neo" pitchFamily="34" charset="-120"/>
              </a:rPr>
              <a:t> 판</a:t>
            </a:r>
            <a:endParaRPr lang="en-US" sz="3000" dirty="0"/>
          </a:p>
        </p:txBody>
      </p:sp>
      <p:sp>
        <p:nvSpPr>
          <p:cNvPr id="11" name="Text 9"/>
          <p:cNvSpPr txBox="1"/>
          <p:nvPr/>
        </p:nvSpPr>
        <p:spPr>
          <a:xfrm>
            <a:off x="8028432" y="2203704"/>
            <a:ext cx="3291840" cy="457200"/>
          </a:xfrm>
          <a:prstGeom prst="rect">
            <a:avLst/>
          </a:prstGeom>
          <a:noFill/>
          <a:ln/>
        </p:spPr>
        <p:txBody>
          <a:bodyPr wrap="square" lIns="0" tIns="0" rIns="0" bIns="0" rtlCol="0" anchor="ctr"/>
          <a:lstStyle/>
          <a:p>
            <a:pPr indent="0" marL="0">
              <a:lnSpc>
                <a:spcPts val="1500"/>
              </a:lnSpc>
              <a:buNone/>
            </a:pPr>
            <a:r>
              <a:rPr lang="en-US" sz="1150" dirty="0">
                <a:solidFill>
                  <a:srgbClr val="6C6C6C"/>
                </a:solidFill>
                <a:latin typeface="Spoqa Han Sans Neo" pitchFamily="34" charset="0"/>
                <a:ea typeface="Spoqa Han Sans Neo" pitchFamily="34" charset="-122"/>
                <a:cs typeface="Spoqa Han Sans Neo" pitchFamily="34" charset="-120"/>
              </a:rPr>
              <a:t>자동 발행한 시황 브리핑</a:t>
            </a:r>
            <a:endParaRPr lang="en-US" sz="1150" dirty="0"/>
          </a:p>
        </p:txBody>
      </p:sp>
      <p:sp>
        <p:nvSpPr>
          <p:cNvPr id="12" name="Shape 10"/>
          <p:cNvSpPr/>
          <p:nvPr/>
        </p:nvSpPr>
        <p:spPr>
          <a:xfrm>
            <a:off x="8028432" y="2651760"/>
            <a:ext cx="3291840" cy="9144"/>
          </a:xfrm>
          <a:prstGeom prst="rect">
            <a:avLst/>
          </a:prstGeom>
          <a:solidFill>
            <a:srgbClr val="E5E4E1"/>
          </a:solidFill>
          <a:ln/>
        </p:spPr>
      </p:sp>
      <p:sp>
        <p:nvSpPr>
          <p:cNvPr id="13" name="Text 11"/>
          <p:cNvSpPr txBox="1"/>
          <p:nvPr/>
        </p:nvSpPr>
        <p:spPr>
          <a:xfrm>
            <a:off x="8028432" y="2761488"/>
            <a:ext cx="3291840" cy="438912"/>
          </a:xfrm>
          <a:prstGeom prst="rect">
            <a:avLst/>
          </a:prstGeom>
          <a:noFill/>
          <a:ln/>
        </p:spPr>
        <p:txBody>
          <a:bodyPr wrap="square" lIns="0" tIns="0" rIns="0" bIns="0" rtlCol="0" anchor="ctr"/>
          <a:lstStyle/>
          <a:p>
            <a:pPr indent="0" marL="0">
              <a:buNone/>
            </a:pPr>
            <a:r>
              <a:rPr lang="en-US" sz="3000" b="1" dirty="0">
                <a:solidFill>
                  <a:srgbClr val="043B72"/>
                </a:solidFill>
                <a:latin typeface="Spoqa Han Sans Neo" pitchFamily="34" charset="0"/>
                <a:ea typeface="Spoqa Han Sans Neo" pitchFamily="34" charset="-122"/>
                <a:cs typeface="Spoqa Han Sans Neo" pitchFamily="34" charset="-120"/>
              </a:rPr>
              <a:t>4</a:t>
            </a:r>
            <a:pPr indent="0" marL="0">
              <a:buNone/>
            </a:pPr>
            <a:r>
              <a:rPr lang="en-US" sz="1400" b="1" dirty="0">
                <a:solidFill>
                  <a:srgbClr val="F58220"/>
                </a:solidFill>
                <a:latin typeface="Spoqa Han Sans Neo" pitchFamily="34" charset="0"/>
                <a:ea typeface="Spoqa Han Sans Neo" pitchFamily="34" charset="-122"/>
                <a:cs typeface="Spoqa Han Sans Neo" pitchFamily="34" charset="-120"/>
              </a:rPr>
              <a:t> 종</a:t>
            </a:r>
            <a:endParaRPr lang="en-US" sz="3000" dirty="0"/>
          </a:p>
        </p:txBody>
      </p:sp>
      <p:sp>
        <p:nvSpPr>
          <p:cNvPr id="14" name="Text 12"/>
          <p:cNvSpPr txBox="1"/>
          <p:nvPr/>
        </p:nvSpPr>
        <p:spPr>
          <a:xfrm>
            <a:off x="8028432" y="3182112"/>
            <a:ext cx="3291840" cy="457200"/>
          </a:xfrm>
          <a:prstGeom prst="rect">
            <a:avLst/>
          </a:prstGeom>
          <a:noFill/>
          <a:ln/>
        </p:spPr>
        <p:txBody>
          <a:bodyPr wrap="square" lIns="0" tIns="0" rIns="0" bIns="0" rtlCol="0" anchor="ctr"/>
          <a:lstStyle/>
          <a:p>
            <a:pPr indent="0" marL="0">
              <a:lnSpc>
                <a:spcPts val="1500"/>
              </a:lnSpc>
              <a:buNone/>
            </a:pPr>
            <a:r>
              <a:rPr lang="en-US" sz="1150" dirty="0">
                <a:solidFill>
                  <a:srgbClr val="6C6C6C"/>
                </a:solidFill>
                <a:latin typeface="Spoqa Han Sans Neo" pitchFamily="34" charset="0"/>
                <a:ea typeface="Spoqa Han Sans Neo" pitchFamily="34" charset="-122"/>
                <a:cs typeface="Spoqa Han Sans Neo" pitchFamily="34" charset="-120"/>
              </a:rPr>
              <a:t>새로 만든 업무 조회 화면</a:t>
            </a:r>
            <a:endParaRPr lang="en-US" sz="1150" dirty="0"/>
          </a:p>
        </p:txBody>
      </p:sp>
      <p:sp>
        <p:nvSpPr>
          <p:cNvPr id="15" name="Shape 13"/>
          <p:cNvSpPr/>
          <p:nvPr/>
        </p:nvSpPr>
        <p:spPr>
          <a:xfrm>
            <a:off x="8028432" y="3630168"/>
            <a:ext cx="3291840" cy="9144"/>
          </a:xfrm>
          <a:prstGeom prst="rect">
            <a:avLst/>
          </a:prstGeom>
          <a:solidFill>
            <a:srgbClr val="E5E4E1"/>
          </a:solidFill>
          <a:ln/>
        </p:spPr>
      </p:sp>
      <p:sp>
        <p:nvSpPr>
          <p:cNvPr id="16" name="Text 14"/>
          <p:cNvSpPr txBox="1"/>
          <p:nvPr/>
        </p:nvSpPr>
        <p:spPr>
          <a:xfrm>
            <a:off x="8028432" y="3739896"/>
            <a:ext cx="3291840" cy="438912"/>
          </a:xfrm>
          <a:prstGeom prst="rect">
            <a:avLst/>
          </a:prstGeom>
          <a:noFill/>
          <a:ln/>
        </p:spPr>
        <p:txBody>
          <a:bodyPr wrap="square" lIns="0" tIns="0" rIns="0" bIns="0" rtlCol="0" anchor="ctr"/>
          <a:lstStyle/>
          <a:p>
            <a:pPr indent="0" marL="0">
              <a:buNone/>
            </a:pPr>
            <a:r>
              <a:rPr lang="en-US" sz="3000" b="1" dirty="0">
                <a:solidFill>
                  <a:srgbClr val="043B72"/>
                </a:solidFill>
                <a:latin typeface="Spoqa Han Sans Neo" pitchFamily="34" charset="0"/>
                <a:ea typeface="Spoqa Han Sans Neo" pitchFamily="34" charset="-122"/>
                <a:cs typeface="Spoqa Han Sans Neo" pitchFamily="34" charset="-120"/>
              </a:rPr>
              <a:t>7</a:t>
            </a:r>
            <a:pPr indent="0" marL="0">
              <a:buNone/>
            </a:pPr>
            <a:r>
              <a:rPr lang="en-US" sz="1400" b="1" dirty="0">
                <a:solidFill>
                  <a:srgbClr val="F58220"/>
                </a:solidFill>
                <a:latin typeface="Spoqa Han Sans Neo" pitchFamily="34" charset="0"/>
                <a:ea typeface="Spoqa Han Sans Neo" pitchFamily="34" charset="-122"/>
                <a:cs typeface="Spoqa Han Sans Neo" pitchFamily="34" charset="-120"/>
              </a:rPr>
              <a:t> 종</a:t>
            </a:r>
            <a:endParaRPr lang="en-US" sz="3000" dirty="0"/>
          </a:p>
        </p:txBody>
      </p:sp>
      <p:sp>
        <p:nvSpPr>
          <p:cNvPr id="17" name="Text 15"/>
          <p:cNvSpPr txBox="1"/>
          <p:nvPr/>
        </p:nvSpPr>
        <p:spPr>
          <a:xfrm>
            <a:off x="8028432" y="4160520"/>
            <a:ext cx="3291840" cy="457200"/>
          </a:xfrm>
          <a:prstGeom prst="rect">
            <a:avLst/>
          </a:prstGeom>
          <a:noFill/>
          <a:ln/>
        </p:spPr>
        <p:txBody>
          <a:bodyPr wrap="square" lIns="0" tIns="0" rIns="0" bIns="0" rtlCol="0" anchor="ctr"/>
          <a:lstStyle/>
          <a:p>
            <a:pPr indent="0" marL="0">
              <a:lnSpc>
                <a:spcPts val="1500"/>
              </a:lnSpc>
              <a:buNone/>
            </a:pPr>
            <a:r>
              <a:rPr lang="en-US" sz="1150" dirty="0">
                <a:solidFill>
                  <a:srgbClr val="6C6C6C"/>
                </a:solidFill>
                <a:latin typeface="Spoqa Han Sans Neo" pitchFamily="34" charset="0"/>
                <a:ea typeface="Spoqa Han Sans Neo" pitchFamily="34" charset="-122"/>
                <a:cs typeface="Spoqa Han Sans Neo" pitchFamily="34" charset="-120"/>
              </a:rPr>
              <a:t>무인 운영 중인 수집·점검 워크플로</a:t>
            </a:r>
            <a:endParaRPr lang="en-US" sz="1150" dirty="0"/>
          </a:p>
        </p:txBody>
      </p:sp>
      <p:sp>
        <p:nvSpPr>
          <p:cNvPr id="18" name="Shape 16"/>
          <p:cNvSpPr/>
          <p:nvPr/>
        </p:nvSpPr>
        <p:spPr>
          <a:xfrm>
            <a:off x="8028432" y="4608576"/>
            <a:ext cx="3291840" cy="9144"/>
          </a:xfrm>
          <a:prstGeom prst="rect">
            <a:avLst/>
          </a:prstGeom>
          <a:solidFill>
            <a:srgbClr val="E5E4E1"/>
          </a:solidFill>
          <a:ln/>
        </p:spPr>
      </p:sp>
      <p:sp>
        <p:nvSpPr>
          <p:cNvPr id="19" name="Text 17"/>
          <p:cNvSpPr txBox="1"/>
          <p:nvPr/>
        </p:nvSpPr>
        <p:spPr>
          <a:xfrm>
            <a:off x="8028432" y="4718304"/>
            <a:ext cx="3291840" cy="438912"/>
          </a:xfrm>
          <a:prstGeom prst="rect">
            <a:avLst/>
          </a:prstGeom>
          <a:noFill/>
          <a:ln/>
        </p:spPr>
        <p:txBody>
          <a:bodyPr wrap="square" lIns="0" tIns="0" rIns="0" bIns="0" rtlCol="0" anchor="ctr"/>
          <a:lstStyle/>
          <a:p>
            <a:pPr indent="0" marL="0">
              <a:buNone/>
            </a:pPr>
            <a:r>
              <a:rPr lang="en-US" sz="3000" b="1" dirty="0">
                <a:solidFill>
                  <a:srgbClr val="043B72"/>
                </a:solidFill>
                <a:latin typeface="Spoqa Han Sans Neo" pitchFamily="34" charset="0"/>
                <a:ea typeface="Spoqa Han Sans Neo" pitchFamily="34" charset="-122"/>
                <a:cs typeface="Spoqa Han Sans Neo" pitchFamily="34" charset="-120"/>
              </a:rPr>
              <a:t>25,400</a:t>
            </a:r>
            <a:pPr indent="0" marL="0">
              <a:buNone/>
            </a:pPr>
            <a:r>
              <a:rPr lang="en-US" sz="1400" b="1" dirty="0">
                <a:solidFill>
                  <a:srgbClr val="F58220"/>
                </a:solidFill>
                <a:latin typeface="Spoqa Han Sans Neo" pitchFamily="34" charset="0"/>
                <a:ea typeface="Spoqa Han Sans Neo" pitchFamily="34" charset="-122"/>
                <a:cs typeface="Spoqa Han Sans Neo" pitchFamily="34" charset="-120"/>
              </a:rPr>
              <a:t> 줄</a:t>
            </a:r>
            <a:endParaRPr lang="en-US" sz="3000" dirty="0"/>
          </a:p>
        </p:txBody>
      </p:sp>
      <p:sp>
        <p:nvSpPr>
          <p:cNvPr id="20" name="Text 18"/>
          <p:cNvSpPr txBox="1"/>
          <p:nvPr/>
        </p:nvSpPr>
        <p:spPr>
          <a:xfrm>
            <a:off x="8028432" y="5138928"/>
            <a:ext cx="3291840" cy="457200"/>
          </a:xfrm>
          <a:prstGeom prst="rect">
            <a:avLst/>
          </a:prstGeom>
          <a:noFill/>
          <a:ln/>
        </p:spPr>
        <p:txBody>
          <a:bodyPr wrap="square" lIns="0" tIns="0" rIns="0" bIns="0" rtlCol="0" anchor="ctr"/>
          <a:lstStyle/>
          <a:p>
            <a:pPr indent="0" marL="0">
              <a:lnSpc>
                <a:spcPts val="1500"/>
              </a:lnSpc>
              <a:buNone/>
            </a:pPr>
            <a:r>
              <a:rPr lang="en-US" sz="1150" dirty="0">
                <a:solidFill>
                  <a:srgbClr val="6C6C6C"/>
                </a:solidFill>
                <a:latin typeface="Spoqa Han Sans Neo" pitchFamily="34" charset="0"/>
                <a:ea typeface="Spoqa Han Sans Neo" pitchFamily="34" charset="-122"/>
                <a:cs typeface="Spoqa Han Sans Neo" pitchFamily="34" charset="-120"/>
              </a:rPr>
              <a:t>구축한 화면·스크립트 코드</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11064240" cy="11887"/>
          </a:xfrm>
          <a:prstGeom prst="rect">
            <a:avLst/>
          </a:prstGeom>
          <a:solidFill>
            <a:srgbClr val="F58220"/>
          </a:solidFill>
          <a:ln/>
        </p:spPr>
      </p:sp>
      <p:sp>
        <p:nvSpPr>
          <p:cNvPr id="3" name="Text 1"/>
          <p:cNvSpPr txBox="1"/>
          <p:nvPr/>
        </p:nvSpPr>
        <p:spPr>
          <a:xfrm>
            <a:off x="548640" y="548640"/>
            <a:ext cx="3657600" cy="256032"/>
          </a:xfrm>
          <a:prstGeom prst="rect">
            <a:avLst/>
          </a:prstGeom>
          <a:noFill/>
          <a:ln/>
        </p:spPr>
        <p:txBody>
          <a:bodyPr wrap="square" lIns="0" tIns="0" rIns="0" bIns="0" rtlCol="0" anchor="ctr"/>
          <a:lstStyle/>
          <a:p>
            <a:pPr indent="0" marL="0">
              <a:buNone/>
            </a:pPr>
            <a:r>
              <a:rPr lang="en-US" sz="1150" b="1" spc="120" kern="0" dirty="0">
                <a:solidFill>
                  <a:srgbClr val="F58220"/>
                </a:solidFill>
                <a:latin typeface="Spoqa Han Sans Neo" pitchFamily="34" charset="0"/>
                <a:ea typeface="Spoqa Han Sans Neo" pitchFamily="34" charset="-122"/>
                <a:cs typeface="Spoqa Han Sans Neo" pitchFamily="34" charset="-120"/>
              </a:rPr>
              <a:t>배경 · 접근</a:t>
            </a:r>
            <a:endParaRPr lang="en-US" sz="1150" dirty="0"/>
          </a:p>
        </p:txBody>
      </p:sp>
      <p:sp>
        <p:nvSpPr>
          <p:cNvPr id="4" name="Text 2"/>
          <p:cNvSpPr txBox="1"/>
          <p:nvPr/>
        </p:nvSpPr>
        <p:spPr>
          <a:xfrm>
            <a:off x="548640" y="804672"/>
            <a:ext cx="11064240" cy="566928"/>
          </a:xfrm>
          <a:prstGeom prst="rect">
            <a:avLst/>
          </a:prstGeom>
          <a:noFill/>
          <a:ln/>
        </p:spPr>
        <p:txBody>
          <a:bodyPr wrap="square" lIns="0" tIns="0" rIns="0" bIns="0" rtlCol="0" anchor="ctr"/>
          <a:lstStyle/>
          <a:p>
            <a:pPr indent="0" marL="0">
              <a:buNone/>
            </a:pPr>
            <a:r>
              <a:rPr lang="en-US" sz="2800" b="1" spc="-40" kern="0" dirty="0">
                <a:solidFill>
                  <a:srgbClr val="1A1A1A"/>
                </a:solidFill>
                <a:latin typeface="Spoqa Han Sans Neo" pitchFamily="34" charset="0"/>
                <a:ea typeface="Spoqa Han Sans Neo" pitchFamily="34" charset="-122"/>
                <a:cs typeface="Spoqa Han Sans Neo" pitchFamily="34" charset="-120"/>
              </a:rPr>
              <a:t>반복 업무 세 가지를 자동화했습니다</a:t>
            </a:r>
            <a:endParaRPr lang="en-US" sz="2800" dirty="0"/>
          </a:p>
        </p:txBody>
      </p:sp>
      <p:sp>
        <p:nvSpPr>
          <p:cNvPr id="5" name="Shape 3"/>
          <p:cNvSpPr/>
          <p:nvPr/>
        </p:nvSpPr>
        <p:spPr>
          <a:xfrm>
            <a:off x="548640" y="1700784"/>
            <a:ext cx="420624" cy="420624"/>
          </a:xfrm>
          <a:prstGeom prst="roundRect">
            <a:avLst>
              <a:gd name="adj" fmla="val 6522"/>
            </a:avLst>
          </a:prstGeom>
          <a:solidFill>
            <a:srgbClr val="F58220"/>
          </a:solidFill>
          <a:ln/>
        </p:spPr>
      </p:sp>
      <p:sp>
        <p:nvSpPr>
          <p:cNvPr id="6" name="Text 4"/>
          <p:cNvSpPr txBox="1"/>
          <p:nvPr/>
        </p:nvSpPr>
        <p:spPr>
          <a:xfrm>
            <a:off x="548640" y="17007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Spoqa Han Sans Neo" pitchFamily="34" charset="0"/>
                <a:ea typeface="Spoqa Han Sans Neo" pitchFamily="34" charset="-122"/>
                <a:cs typeface="Spoqa Han Sans Neo" pitchFamily="34" charset="-120"/>
              </a:rPr>
              <a:t>01</a:t>
            </a:r>
            <a:endParaRPr lang="en-US" sz="1400" dirty="0"/>
          </a:p>
        </p:txBody>
      </p:sp>
      <p:sp>
        <p:nvSpPr>
          <p:cNvPr id="7" name="Text 5"/>
          <p:cNvSpPr txBox="1"/>
          <p:nvPr/>
        </p:nvSpPr>
        <p:spPr>
          <a:xfrm>
            <a:off x="1097280" y="1673352"/>
            <a:ext cx="5806440" cy="329184"/>
          </a:xfrm>
          <a:prstGeom prst="rect">
            <a:avLst/>
          </a:prstGeom>
          <a:noFill/>
          <a:ln/>
        </p:spPr>
        <p:txBody>
          <a:bodyPr wrap="square" lIns="0" tIns="0" rIns="0" bIns="0" rtlCol="0" anchor="ctr"/>
          <a:lstStyle/>
          <a:p>
            <a:pPr indent="0" marL="0">
              <a:buNone/>
            </a:pPr>
            <a:r>
              <a:rPr lang="en-US" sz="1600" b="1" dirty="0">
                <a:solidFill>
                  <a:srgbClr val="1A1A1A"/>
                </a:solidFill>
                <a:latin typeface="Spoqa Han Sans Neo" pitchFamily="34" charset="0"/>
                <a:ea typeface="Spoqa Han Sans Neo" pitchFamily="34" charset="-122"/>
                <a:cs typeface="Spoqa Han Sans Neo" pitchFamily="34" charset="-120"/>
              </a:rPr>
              <a:t>매일 손으로 쓰던 시황 브리핑</a:t>
            </a:r>
            <a:endParaRPr lang="en-US" sz="1600" dirty="0"/>
          </a:p>
        </p:txBody>
      </p:sp>
      <p:sp>
        <p:nvSpPr>
          <p:cNvPr id="8" name="Text 6"/>
          <p:cNvSpPr txBox="1"/>
          <p:nvPr/>
        </p:nvSpPr>
        <p:spPr>
          <a:xfrm>
            <a:off x="1097280" y="2029968"/>
            <a:ext cx="5806440" cy="960120"/>
          </a:xfrm>
          <a:prstGeom prst="rect">
            <a:avLst/>
          </a:prstGeom>
          <a:noFill/>
          <a:ln/>
        </p:spPr>
        <p:txBody>
          <a:bodyPr wrap="square" lIns="0" tIns="0" rIns="0" bIns="0" rtlCol="0" anchor="ctr"/>
          <a:lstStyle/>
          <a:p>
            <a:pPr indent="0" marL="0">
              <a:lnSpc>
                <a:spcPts val="1900"/>
              </a:lnSpc>
              <a:buNone/>
            </a:pPr>
            <a:r>
              <a:rPr lang="en-US" sz="1250" dirty="0">
                <a:solidFill>
                  <a:srgbClr val="3D3D3D"/>
                </a:solidFill>
                <a:latin typeface="Spoqa Han Sans Neo" pitchFamily="34" charset="0"/>
                <a:ea typeface="Spoqa Han Sans Neo" pitchFamily="34" charset="-122"/>
                <a:cs typeface="Spoqa Han Sans Neo" pitchFamily="34" charset="-120"/>
              </a:rPr>
              <a:t>지수·금리·환율·수급을 사이트마다 찾아 옮겨 적고, 숫자를 다시 맞춰 보는 데 매일 오전 시간이 들었습니다. 늦게 시작한 날은 발행을 건너뛰었습니다.</a:t>
            </a:r>
            <a:endParaRPr lang="en-US" sz="1250" dirty="0"/>
          </a:p>
        </p:txBody>
      </p:sp>
      <p:sp>
        <p:nvSpPr>
          <p:cNvPr id="9" name="Shape 7"/>
          <p:cNvSpPr/>
          <p:nvPr/>
        </p:nvSpPr>
        <p:spPr>
          <a:xfrm>
            <a:off x="548640" y="3182112"/>
            <a:ext cx="420624" cy="420624"/>
          </a:xfrm>
          <a:prstGeom prst="roundRect">
            <a:avLst>
              <a:gd name="adj" fmla="val 6522"/>
            </a:avLst>
          </a:prstGeom>
          <a:solidFill>
            <a:srgbClr val="F58220"/>
          </a:solidFill>
          <a:ln/>
        </p:spPr>
      </p:sp>
      <p:sp>
        <p:nvSpPr>
          <p:cNvPr id="10" name="Text 8"/>
          <p:cNvSpPr txBox="1"/>
          <p:nvPr/>
        </p:nvSpPr>
        <p:spPr>
          <a:xfrm>
            <a:off x="548640" y="31821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Spoqa Han Sans Neo" pitchFamily="34" charset="0"/>
                <a:ea typeface="Spoqa Han Sans Neo" pitchFamily="34" charset="-122"/>
                <a:cs typeface="Spoqa Han Sans Neo" pitchFamily="34" charset="-120"/>
              </a:rPr>
              <a:t>02</a:t>
            </a:r>
            <a:endParaRPr lang="en-US" sz="1400" dirty="0"/>
          </a:p>
        </p:txBody>
      </p:sp>
      <p:sp>
        <p:nvSpPr>
          <p:cNvPr id="11" name="Text 9"/>
          <p:cNvSpPr txBox="1"/>
          <p:nvPr/>
        </p:nvSpPr>
        <p:spPr>
          <a:xfrm>
            <a:off x="1097280" y="3154680"/>
            <a:ext cx="5806440" cy="329184"/>
          </a:xfrm>
          <a:prstGeom prst="rect">
            <a:avLst/>
          </a:prstGeom>
          <a:noFill/>
          <a:ln/>
        </p:spPr>
        <p:txBody>
          <a:bodyPr wrap="square" lIns="0" tIns="0" rIns="0" bIns="0" rtlCol="0" anchor="ctr"/>
          <a:lstStyle/>
          <a:p>
            <a:pPr indent="0" marL="0">
              <a:buNone/>
            </a:pPr>
            <a:r>
              <a:rPr lang="en-US" sz="1600" b="1" dirty="0">
                <a:solidFill>
                  <a:srgbClr val="1A1A1A"/>
                </a:solidFill>
                <a:latin typeface="Spoqa Han Sans Neo" pitchFamily="34" charset="0"/>
                <a:ea typeface="Spoqa Han Sans Neo" pitchFamily="34" charset="-122"/>
                <a:cs typeface="Spoqa Han Sans Neo" pitchFamily="34" charset="-120"/>
              </a:rPr>
              <a:t>조회 화면이 흩어져 있고, 사내망에서 막힘</a:t>
            </a:r>
            <a:endParaRPr lang="en-US" sz="1600" dirty="0"/>
          </a:p>
        </p:txBody>
      </p:sp>
      <p:sp>
        <p:nvSpPr>
          <p:cNvPr id="12" name="Text 10"/>
          <p:cNvSpPr txBox="1"/>
          <p:nvPr/>
        </p:nvSpPr>
        <p:spPr>
          <a:xfrm>
            <a:off x="1097280" y="3511296"/>
            <a:ext cx="5806440" cy="960120"/>
          </a:xfrm>
          <a:prstGeom prst="rect">
            <a:avLst/>
          </a:prstGeom>
          <a:noFill/>
          <a:ln/>
        </p:spPr>
        <p:txBody>
          <a:bodyPr wrap="square" lIns="0" tIns="0" rIns="0" bIns="0" rtlCol="0" anchor="ctr"/>
          <a:lstStyle/>
          <a:p>
            <a:pPr indent="0" marL="0">
              <a:lnSpc>
                <a:spcPts val="1900"/>
              </a:lnSpc>
              <a:buNone/>
            </a:pPr>
            <a:r>
              <a:rPr lang="en-US" sz="1250" dirty="0">
                <a:solidFill>
                  <a:srgbClr val="3D3D3D"/>
                </a:solidFill>
                <a:latin typeface="Spoqa Han Sans Neo" pitchFamily="34" charset="0"/>
                <a:ea typeface="Spoqa Han Sans Neo" pitchFamily="34" charset="-122"/>
                <a:cs typeface="Spoqa Han Sans Neo" pitchFamily="34" charset="-120"/>
              </a:rPr>
              <a:t>국내 종목·미국 대형주·ELS 를 각각 다른 사이트에서 봤고, 업무용 PC 에서는 상당수가 방화벽·CORS 로 열리지 않았습니다.</a:t>
            </a:r>
            <a:endParaRPr lang="en-US" sz="1250" dirty="0"/>
          </a:p>
        </p:txBody>
      </p:sp>
      <p:sp>
        <p:nvSpPr>
          <p:cNvPr id="13" name="Shape 11"/>
          <p:cNvSpPr/>
          <p:nvPr/>
        </p:nvSpPr>
        <p:spPr>
          <a:xfrm>
            <a:off x="548640" y="4663440"/>
            <a:ext cx="420624" cy="420624"/>
          </a:xfrm>
          <a:prstGeom prst="roundRect">
            <a:avLst>
              <a:gd name="adj" fmla="val 6522"/>
            </a:avLst>
          </a:prstGeom>
          <a:solidFill>
            <a:srgbClr val="F58220"/>
          </a:solidFill>
          <a:ln/>
        </p:spPr>
      </p:sp>
      <p:sp>
        <p:nvSpPr>
          <p:cNvPr id="14" name="Text 12"/>
          <p:cNvSpPr txBox="1"/>
          <p:nvPr/>
        </p:nvSpPr>
        <p:spPr>
          <a:xfrm>
            <a:off x="548640" y="46634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Spoqa Han Sans Neo" pitchFamily="34" charset="0"/>
                <a:ea typeface="Spoqa Han Sans Neo" pitchFamily="34" charset="-122"/>
                <a:cs typeface="Spoqa Han Sans Neo" pitchFamily="34" charset="-120"/>
              </a:rPr>
              <a:t>03</a:t>
            </a:r>
            <a:endParaRPr lang="en-US" sz="1400" dirty="0"/>
          </a:p>
        </p:txBody>
      </p:sp>
      <p:sp>
        <p:nvSpPr>
          <p:cNvPr id="15" name="Text 13"/>
          <p:cNvSpPr txBox="1"/>
          <p:nvPr/>
        </p:nvSpPr>
        <p:spPr>
          <a:xfrm>
            <a:off x="1097280" y="4636008"/>
            <a:ext cx="5806440" cy="329184"/>
          </a:xfrm>
          <a:prstGeom prst="rect">
            <a:avLst/>
          </a:prstGeom>
          <a:noFill/>
          <a:ln/>
        </p:spPr>
        <p:txBody>
          <a:bodyPr wrap="square" lIns="0" tIns="0" rIns="0" bIns="0" rtlCol="0" anchor="ctr"/>
          <a:lstStyle/>
          <a:p>
            <a:pPr indent="0" marL="0">
              <a:buNone/>
            </a:pPr>
            <a:r>
              <a:rPr lang="en-US" sz="1600" b="1" dirty="0">
                <a:solidFill>
                  <a:srgbClr val="1A1A1A"/>
                </a:solidFill>
                <a:latin typeface="Spoqa Han Sans Neo" pitchFamily="34" charset="0"/>
                <a:ea typeface="Spoqa Han Sans Neo" pitchFamily="34" charset="-122"/>
                <a:cs typeface="Spoqa Han Sans Neo" pitchFamily="34" charset="-120"/>
              </a:rPr>
              <a:t>고객 안내가 종이 QR 전단</a:t>
            </a:r>
            <a:endParaRPr lang="en-US" sz="1600" dirty="0"/>
          </a:p>
        </p:txBody>
      </p:sp>
      <p:sp>
        <p:nvSpPr>
          <p:cNvPr id="16" name="Text 14"/>
          <p:cNvSpPr txBox="1"/>
          <p:nvPr/>
        </p:nvSpPr>
        <p:spPr>
          <a:xfrm>
            <a:off x="1097280" y="4992624"/>
            <a:ext cx="5806440" cy="960120"/>
          </a:xfrm>
          <a:prstGeom prst="rect">
            <a:avLst/>
          </a:prstGeom>
          <a:noFill/>
          <a:ln/>
        </p:spPr>
        <p:txBody>
          <a:bodyPr wrap="square" lIns="0" tIns="0" rIns="0" bIns="0" rtlCol="0" anchor="ctr"/>
          <a:lstStyle/>
          <a:p>
            <a:pPr indent="0" marL="0">
              <a:lnSpc>
                <a:spcPts val="1900"/>
              </a:lnSpc>
              <a:buNone/>
            </a:pPr>
            <a:r>
              <a:rPr lang="en-US" sz="1250" dirty="0">
                <a:solidFill>
                  <a:srgbClr val="3D3D3D"/>
                </a:solidFill>
                <a:latin typeface="Spoqa Han Sans Neo" pitchFamily="34" charset="0"/>
                <a:ea typeface="Spoqa Han Sans Neo" pitchFamily="34" charset="-122"/>
                <a:cs typeface="Spoqa Han Sans Neo" pitchFamily="34" charset="-120"/>
              </a:rPr>
              <a:t>비대면 계좌개설·연금 이전 등 13개 업무를 QR 로 안내해, 고객이 카메라로 비추는 단계를 거쳐야 했습니다.</a:t>
            </a:r>
            <a:endParaRPr lang="en-US" sz="1250" dirty="0"/>
          </a:p>
        </p:txBody>
      </p:sp>
      <p:sp>
        <p:nvSpPr>
          <p:cNvPr id="17" name="Shape 15"/>
          <p:cNvSpPr/>
          <p:nvPr/>
        </p:nvSpPr>
        <p:spPr>
          <a:xfrm>
            <a:off x="7406640" y="1700784"/>
            <a:ext cx="4206240" cy="4443984"/>
          </a:xfrm>
          <a:prstGeom prst="roundRect">
            <a:avLst>
              <a:gd name="adj" fmla="val 652"/>
            </a:avLst>
          </a:prstGeom>
          <a:solidFill>
            <a:srgbClr val="ECEFF4"/>
          </a:solidFill>
          <a:ln/>
        </p:spPr>
      </p:sp>
      <p:sp>
        <p:nvSpPr>
          <p:cNvPr id="18" name="Text 16"/>
          <p:cNvSpPr txBox="1"/>
          <p:nvPr/>
        </p:nvSpPr>
        <p:spPr>
          <a:xfrm>
            <a:off x="7735824" y="1956816"/>
            <a:ext cx="3566160" cy="310896"/>
          </a:xfrm>
          <a:prstGeom prst="rect">
            <a:avLst/>
          </a:prstGeom>
          <a:noFill/>
          <a:ln/>
        </p:spPr>
        <p:txBody>
          <a:bodyPr wrap="square" lIns="0" tIns="0" rIns="0" bIns="0" rtlCol="0" anchor="ctr"/>
          <a:lstStyle/>
          <a:p>
            <a:pPr indent="0" marL="0">
              <a:buNone/>
            </a:pPr>
            <a:r>
              <a:rPr lang="en-US" sz="1500" b="1" dirty="0">
                <a:solidFill>
                  <a:srgbClr val="043B72"/>
                </a:solidFill>
                <a:latin typeface="Spoqa Han Sans Neo" pitchFamily="34" charset="0"/>
                <a:ea typeface="Spoqa Han Sans Neo" pitchFamily="34" charset="-122"/>
                <a:cs typeface="Spoqa Han Sans Neo" pitchFamily="34" charset="-120"/>
              </a:rPr>
              <a:t>해결 방식 — 세 단계</a:t>
            </a:r>
            <a:endParaRPr lang="en-US" sz="1500" dirty="0"/>
          </a:p>
        </p:txBody>
      </p:sp>
      <p:sp>
        <p:nvSpPr>
          <p:cNvPr id="19" name="Shape 17"/>
          <p:cNvSpPr/>
          <p:nvPr/>
        </p:nvSpPr>
        <p:spPr>
          <a:xfrm>
            <a:off x="7735824" y="2487168"/>
            <a:ext cx="420624" cy="420624"/>
          </a:xfrm>
          <a:prstGeom prst="roundRect">
            <a:avLst>
              <a:gd name="adj" fmla="val 6522"/>
            </a:avLst>
          </a:prstGeom>
          <a:solidFill>
            <a:srgbClr val="043B72"/>
          </a:solidFill>
          <a:ln/>
        </p:spPr>
      </p:sp>
      <p:sp>
        <p:nvSpPr>
          <p:cNvPr id="20" name="Text 18"/>
          <p:cNvSpPr txBox="1"/>
          <p:nvPr/>
        </p:nvSpPr>
        <p:spPr>
          <a:xfrm>
            <a:off x="7735824" y="24871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Spoqa Han Sans Neo" pitchFamily="34" charset="0"/>
                <a:ea typeface="Spoqa Han Sans Neo" pitchFamily="34" charset="-122"/>
                <a:cs typeface="Spoqa Han Sans Neo" pitchFamily="34" charset="-120"/>
              </a:rPr>
              <a:t>1</a:t>
            </a:r>
            <a:endParaRPr lang="en-US" sz="1400" dirty="0"/>
          </a:p>
        </p:txBody>
      </p:sp>
      <p:sp>
        <p:nvSpPr>
          <p:cNvPr id="21" name="Text 19"/>
          <p:cNvSpPr txBox="1"/>
          <p:nvPr/>
        </p:nvSpPr>
        <p:spPr>
          <a:xfrm>
            <a:off x="8284464" y="2468880"/>
            <a:ext cx="3017520" cy="292608"/>
          </a:xfrm>
          <a:prstGeom prst="rect">
            <a:avLst/>
          </a:prstGeom>
          <a:noFill/>
          <a:ln/>
        </p:spPr>
        <p:txBody>
          <a:bodyPr wrap="square" lIns="0" tIns="0" rIns="0" bIns="0" rtlCol="0" anchor="ctr"/>
          <a:lstStyle/>
          <a:p>
            <a:pPr indent="0" marL="0">
              <a:buNone/>
            </a:pPr>
            <a:r>
              <a:rPr lang="en-US" sz="1400" b="1" dirty="0">
                <a:solidFill>
                  <a:srgbClr val="1A1A1A"/>
                </a:solidFill>
                <a:latin typeface="Spoqa Han Sans Neo" pitchFamily="34" charset="0"/>
                <a:ea typeface="Spoqa Han Sans Neo" pitchFamily="34" charset="-122"/>
                <a:cs typeface="Spoqa Han Sans Neo" pitchFamily="34" charset="-120"/>
              </a:rPr>
              <a:t>예약 수집</a:t>
            </a:r>
            <a:endParaRPr lang="en-US" sz="1400" dirty="0"/>
          </a:p>
        </p:txBody>
      </p:sp>
      <p:sp>
        <p:nvSpPr>
          <p:cNvPr id="22" name="Text 20"/>
          <p:cNvSpPr txBox="1"/>
          <p:nvPr/>
        </p:nvSpPr>
        <p:spPr>
          <a:xfrm>
            <a:off x="8284464" y="2779776"/>
            <a:ext cx="3017520" cy="786384"/>
          </a:xfrm>
          <a:prstGeom prst="rect">
            <a:avLst/>
          </a:prstGeom>
          <a:noFill/>
          <a:ln/>
        </p:spPr>
        <p:txBody>
          <a:bodyPr wrap="square" lIns="0" tIns="0" rIns="0" bIns="0" rtlCol="0" anchor="ctr"/>
          <a:lstStyle/>
          <a:p>
            <a:pPr indent="0" marL="0">
              <a:lnSpc>
                <a:spcPts val="1600"/>
              </a:lnSpc>
              <a:buNone/>
            </a:pPr>
            <a:r>
              <a:rPr lang="en-US" sz="1150" dirty="0">
                <a:solidFill>
                  <a:srgbClr val="3D3D3D"/>
                </a:solidFill>
                <a:latin typeface="Spoqa Han Sans Neo" pitchFamily="34" charset="0"/>
                <a:ea typeface="Spoqa Han Sans Neo" pitchFamily="34" charset="-122"/>
                <a:cs typeface="Spoqa Han Sans Neo" pitchFamily="34" charset="-120"/>
              </a:rPr>
              <a:t>정해진 시각에 러너가 원천에서 받아 저장합니다. 사람이 사이트를 돌지 않습니다.</a:t>
            </a:r>
            <a:endParaRPr lang="en-US" sz="1150" dirty="0"/>
          </a:p>
        </p:txBody>
      </p:sp>
      <p:sp>
        <p:nvSpPr>
          <p:cNvPr id="23" name="Shape 21"/>
          <p:cNvSpPr/>
          <p:nvPr/>
        </p:nvSpPr>
        <p:spPr>
          <a:xfrm>
            <a:off x="7735824" y="3694176"/>
            <a:ext cx="420624" cy="420624"/>
          </a:xfrm>
          <a:prstGeom prst="roundRect">
            <a:avLst>
              <a:gd name="adj" fmla="val 6522"/>
            </a:avLst>
          </a:prstGeom>
          <a:solidFill>
            <a:srgbClr val="043B72"/>
          </a:solidFill>
          <a:ln/>
        </p:spPr>
      </p:sp>
      <p:sp>
        <p:nvSpPr>
          <p:cNvPr id="24" name="Text 22"/>
          <p:cNvSpPr txBox="1"/>
          <p:nvPr/>
        </p:nvSpPr>
        <p:spPr>
          <a:xfrm>
            <a:off x="7735824" y="369417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Spoqa Han Sans Neo" pitchFamily="34" charset="0"/>
                <a:ea typeface="Spoqa Han Sans Neo" pitchFamily="34" charset="-122"/>
                <a:cs typeface="Spoqa Han Sans Neo" pitchFamily="34" charset="-120"/>
              </a:rPr>
              <a:t>2</a:t>
            </a:r>
            <a:endParaRPr lang="en-US" sz="1400" dirty="0"/>
          </a:p>
        </p:txBody>
      </p:sp>
      <p:sp>
        <p:nvSpPr>
          <p:cNvPr id="25" name="Text 23"/>
          <p:cNvSpPr txBox="1"/>
          <p:nvPr/>
        </p:nvSpPr>
        <p:spPr>
          <a:xfrm>
            <a:off x="8284464" y="3675888"/>
            <a:ext cx="3017520" cy="292608"/>
          </a:xfrm>
          <a:prstGeom prst="rect">
            <a:avLst/>
          </a:prstGeom>
          <a:noFill/>
          <a:ln/>
        </p:spPr>
        <p:txBody>
          <a:bodyPr wrap="square" lIns="0" tIns="0" rIns="0" bIns="0" rtlCol="0" anchor="ctr"/>
          <a:lstStyle/>
          <a:p>
            <a:pPr indent="0" marL="0">
              <a:buNone/>
            </a:pPr>
            <a:r>
              <a:rPr lang="en-US" sz="1400" b="1" dirty="0">
                <a:solidFill>
                  <a:srgbClr val="1A1A1A"/>
                </a:solidFill>
                <a:latin typeface="Spoqa Han Sans Neo" pitchFamily="34" charset="0"/>
                <a:ea typeface="Spoqa Han Sans Neo" pitchFamily="34" charset="-122"/>
                <a:cs typeface="Spoqa Han Sans Neo" pitchFamily="34" charset="-120"/>
              </a:rPr>
              <a:t>자동 검증</a:t>
            </a:r>
            <a:endParaRPr lang="en-US" sz="1400" dirty="0"/>
          </a:p>
        </p:txBody>
      </p:sp>
      <p:sp>
        <p:nvSpPr>
          <p:cNvPr id="26" name="Text 24"/>
          <p:cNvSpPr txBox="1"/>
          <p:nvPr/>
        </p:nvSpPr>
        <p:spPr>
          <a:xfrm>
            <a:off x="8284464" y="3986784"/>
            <a:ext cx="3017520" cy="786384"/>
          </a:xfrm>
          <a:prstGeom prst="rect">
            <a:avLst/>
          </a:prstGeom>
          <a:noFill/>
          <a:ln/>
        </p:spPr>
        <p:txBody>
          <a:bodyPr wrap="square" lIns="0" tIns="0" rIns="0" bIns="0" rtlCol="0" anchor="ctr"/>
          <a:lstStyle/>
          <a:p>
            <a:pPr indent="0" marL="0">
              <a:lnSpc>
                <a:spcPts val="1600"/>
              </a:lnSpc>
              <a:buNone/>
            </a:pPr>
            <a:r>
              <a:rPr lang="en-US" sz="1150" dirty="0">
                <a:solidFill>
                  <a:srgbClr val="3D3D3D"/>
                </a:solidFill>
                <a:latin typeface="Spoqa Han Sans Neo" pitchFamily="34" charset="0"/>
                <a:ea typeface="Spoqa Han Sans Neo" pitchFamily="34" charset="-122"/>
                <a:cs typeface="Spoqa Han Sans Neo" pitchFamily="34" charset="-120"/>
              </a:rPr>
              <a:t>스크립트 7종이 숫자·기준·중복·인쇄 맞춤을 판정하고, 어긋나면 발행을 멈춥니다.</a:t>
            </a:r>
            <a:endParaRPr lang="en-US" sz="1150" dirty="0"/>
          </a:p>
        </p:txBody>
      </p:sp>
      <p:sp>
        <p:nvSpPr>
          <p:cNvPr id="27" name="Shape 25"/>
          <p:cNvSpPr/>
          <p:nvPr/>
        </p:nvSpPr>
        <p:spPr>
          <a:xfrm>
            <a:off x="7735824" y="4901184"/>
            <a:ext cx="420624" cy="420624"/>
          </a:xfrm>
          <a:prstGeom prst="roundRect">
            <a:avLst>
              <a:gd name="adj" fmla="val 6522"/>
            </a:avLst>
          </a:prstGeom>
          <a:solidFill>
            <a:srgbClr val="043B72"/>
          </a:solidFill>
          <a:ln/>
        </p:spPr>
      </p:sp>
      <p:sp>
        <p:nvSpPr>
          <p:cNvPr id="28" name="Text 26"/>
          <p:cNvSpPr txBox="1"/>
          <p:nvPr/>
        </p:nvSpPr>
        <p:spPr>
          <a:xfrm>
            <a:off x="7735824" y="49011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Spoqa Han Sans Neo" pitchFamily="34" charset="0"/>
                <a:ea typeface="Spoqa Han Sans Neo" pitchFamily="34" charset="-122"/>
                <a:cs typeface="Spoqa Han Sans Neo" pitchFamily="34" charset="-120"/>
              </a:rPr>
              <a:t>3</a:t>
            </a:r>
            <a:endParaRPr lang="en-US" sz="1400" dirty="0"/>
          </a:p>
        </p:txBody>
      </p:sp>
      <p:sp>
        <p:nvSpPr>
          <p:cNvPr id="29" name="Text 27"/>
          <p:cNvSpPr txBox="1"/>
          <p:nvPr/>
        </p:nvSpPr>
        <p:spPr>
          <a:xfrm>
            <a:off x="8284464" y="4882896"/>
            <a:ext cx="3017520" cy="292608"/>
          </a:xfrm>
          <a:prstGeom prst="rect">
            <a:avLst/>
          </a:prstGeom>
          <a:noFill/>
          <a:ln/>
        </p:spPr>
        <p:txBody>
          <a:bodyPr wrap="square" lIns="0" tIns="0" rIns="0" bIns="0" rtlCol="0" anchor="ctr"/>
          <a:lstStyle/>
          <a:p>
            <a:pPr indent="0" marL="0">
              <a:buNone/>
            </a:pPr>
            <a:r>
              <a:rPr lang="en-US" sz="1400" b="1" dirty="0">
                <a:solidFill>
                  <a:srgbClr val="1A1A1A"/>
                </a:solidFill>
                <a:latin typeface="Spoqa Han Sans Neo" pitchFamily="34" charset="0"/>
                <a:ea typeface="Spoqa Han Sans Neo" pitchFamily="34" charset="-122"/>
                <a:cs typeface="Spoqa Han Sans Neo" pitchFamily="34" charset="-120"/>
              </a:rPr>
              <a:t>단일 파일 배포</a:t>
            </a:r>
            <a:endParaRPr lang="en-US" sz="1400" dirty="0"/>
          </a:p>
        </p:txBody>
      </p:sp>
      <p:sp>
        <p:nvSpPr>
          <p:cNvPr id="30" name="Text 28"/>
          <p:cNvSpPr txBox="1"/>
          <p:nvPr/>
        </p:nvSpPr>
        <p:spPr>
          <a:xfrm>
            <a:off x="8284464" y="5193792"/>
            <a:ext cx="3017520" cy="786384"/>
          </a:xfrm>
          <a:prstGeom prst="rect">
            <a:avLst/>
          </a:prstGeom>
          <a:noFill/>
          <a:ln/>
        </p:spPr>
        <p:txBody>
          <a:bodyPr wrap="square" lIns="0" tIns="0" rIns="0" bIns="0" rtlCol="0" anchor="ctr"/>
          <a:lstStyle/>
          <a:p>
            <a:pPr indent="0" marL="0">
              <a:lnSpc>
                <a:spcPts val="1600"/>
              </a:lnSpc>
              <a:buNone/>
            </a:pPr>
            <a:r>
              <a:rPr lang="en-US" sz="1150" dirty="0">
                <a:solidFill>
                  <a:srgbClr val="3D3D3D"/>
                </a:solidFill>
                <a:latin typeface="Spoqa Han Sans Neo" pitchFamily="34" charset="0"/>
                <a:ea typeface="Spoqa Han Sans Neo" pitchFamily="34" charset="-122"/>
                <a:cs typeface="Spoqa Han Sans Neo" pitchFamily="34" charset="-120"/>
              </a:rPr>
              <a:t>설치 없이 파일 하나를 브라우저로 열면 동작합니다. 외부가 막히면 저장된 값으로 그립니다.</a:t>
            </a:r>
            <a:endParaRPr lang="en-US" sz="1150" dirty="0"/>
          </a:p>
        </p:txBody>
      </p:sp>
      <p:sp>
        <p:nvSpPr>
          <p:cNvPr id="31" name="Text 29"/>
          <p:cNvSpPr txBox="1"/>
          <p:nvPr/>
        </p:nvSpPr>
        <p:spPr>
          <a:xfrm>
            <a:off x="548640" y="6345936"/>
            <a:ext cx="11064240" cy="310896"/>
          </a:xfrm>
          <a:prstGeom prst="rect">
            <a:avLst/>
          </a:prstGeom>
          <a:noFill/>
          <a:ln/>
        </p:spPr>
        <p:txBody>
          <a:bodyPr wrap="square" lIns="0" tIns="0" rIns="0" bIns="0" rtlCol="0" anchor="t"/>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구축·검증은 전부 Claude Code 세션에서 수행했고, 화면·수집 스크립트·작성 지침·자동화 설정이 모두 사내 저장소에 커밋되어 있어 담당자가 바뀌어도 그대로 인수됩니다.</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11064240" cy="11887"/>
          </a:xfrm>
          <a:prstGeom prst="rect">
            <a:avLst/>
          </a:prstGeom>
          <a:solidFill>
            <a:srgbClr val="F58220"/>
          </a:solidFill>
          <a:ln/>
        </p:spPr>
      </p:sp>
      <p:sp>
        <p:nvSpPr>
          <p:cNvPr id="3" name="Text 1"/>
          <p:cNvSpPr txBox="1"/>
          <p:nvPr/>
        </p:nvSpPr>
        <p:spPr>
          <a:xfrm>
            <a:off x="548640" y="548640"/>
            <a:ext cx="3657600" cy="256032"/>
          </a:xfrm>
          <a:prstGeom prst="rect">
            <a:avLst/>
          </a:prstGeom>
          <a:noFill/>
          <a:ln/>
        </p:spPr>
        <p:txBody>
          <a:bodyPr wrap="square" lIns="0" tIns="0" rIns="0" bIns="0" rtlCol="0" anchor="ctr"/>
          <a:lstStyle/>
          <a:p>
            <a:pPr indent="0" marL="0">
              <a:buNone/>
            </a:pPr>
            <a:r>
              <a:rPr lang="en-US" sz="1150" b="1" spc="120" kern="0" dirty="0">
                <a:solidFill>
                  <a:srgbClr val="F58220"/>
                </a:solidFill>
                <a:latin typeface="Spoqa Han Sans Neo" pitchFamily="34" charset="0"/>
                <a:ea typeface="Spoqa Han Sans Neo" pitchFamily="34" charset="-122"/>
                <a:cs typeface="Spoqa Han Sans Neo" pitchFamily="34" charset="-120"/>
              </a:rPr>
              <a:t>성과 ①</a:t>
            </a:r>
            <a:endParaRPr lang="en-US" sz="1150" dirty="0"/>
          </a:p>
        </p:txBody>
      </p:sp>
      <p:sp>
        <p:nvSpPr>
          <p:cNvPr id="4" name="Text 2"/>
          <p:cNvSpPr txBox="1"/>
          <p:nvPr/>
        </p:nvSpPr>
        <p:spPr>
          <a:xfrm>
            <a:off x="548640" y="804672"/>
            <a:ext cx="11064240" cy="566928"/>
          </a:xfrm>
          <a:prstGeom prst="rect">
            <a:avLst/>
          </a:prstGeom>
          <a:noFill/>
          <a:ln/>
        </p:spPr>
        <p:txBody>
          <a:bodyPr wrap="square" lIns="0" tIns="0" rIns="0" bIns="0" rtlCol="0" anchor="ctr"/>
          <a:lstStyle/>
          <a:p>
            <a:pPr indent="0" marL="0">
              <a:buNone/>
            </a:pPr>
            <a:r>
              <a:rPr lang="en-US" sz="2800" b="1" spc="-40" kern="0" dirty="0">
                <a:solidFill>
                  <a:srgbClr val="1A1A1A"/>
                </a:solidFill>
                <a:latin typeface="Spoqa Han Sans Neo" pitchFamily="34" charset="0"/>
                <a:ea typeface="Spoqa Han Sans Neo" pitchFamily="34" charset="-122"/>
                <a:cs typeface="Spoqa Han Sans Neo" pitchFamily="34" charset="-120"/>
              </a:rPr>
              <a:t>시황 브리핑 — 32일 연속 무인 발행</a:t>
            </a:r>
            <a:endParaRPr lang="en-US" sz="2800" dirty="0"/>
          </a:p>
        </p:txBody>
      </p:sp>
      <p:sp>
        <p:nvSpPr>
          <p:cNvPr id="5" name="Shape 3"/>
          <p:cNvSpPr/>
          <p:nvPr/>
        </p:nvSpPr>
        <p:spPr>
          <a:xfrm>
            <a:off x="548640" y="1591056"/>
            <a:ext cx="2615184" cy="1097280"/>
          </a:xfrm>
          <a:prstGeom prst="roundRect">
            <a:avLst>
              <a:gd name="adj" fmla="val 2500"/>
            </a:avLst>
          </a:prstGeom>
          <a:solidFill>
            <a:srgbClr val="F7F8FA"/>
          </a:solidFill>
          <a:ln w="9525">
            <a:solidFill>
              <a:srgbClr val="CDCECB"/>
            </a:solidFill>
            <a:prstDash val="solid"/>
          </a:ln>
        </p:spPr>
      </p:sp>
      <p:sp>
        <p:nvSpPr>
          <p:cNvPr id="6" name="Text 4"/>
          <p:cNvSpPr txBox="1"/>
          <p:nvPr/>
        </p:nvSpPr>
        <p:spPr>
          <a:xfrm>
            <a:off x="786384" y="1737360"/>
            <a:ext cx="2139696" cy="420624"/>
          </a:xfrm>
          <a:prstGeom prst="rect">
            <a:avLst/>
          </a:prstGeom>
          <a:noFill/>
          <a:ln/>
        </p:spPr>
        <p:txBody>
          <a:bodyPr wrap="square" lIns="0" tIns="0" rIns="0" bIns="0" rtlCol="0" anchor="ctr"/>
          <a:lstStyle/>
          <a:p>
            <a:pPr indent="0" marL="0">
              <a:buNone/>
            </a:pPr>
            <a:r>
              <a:rPr lang="en-US" sz="2700" b="1" dirty="0">
                <a:solidFill>
                  <a:srgbClr val="F58220"/>
                </a:solidFill>
                <a:latin typeface="Spoqa Han Sans Neo" pitchFamily="34" charset="0"/>
                <a:ea typeface="Spoqa Han Sans Neo" pitchFamily="34" charset="-122"/>
                <a:cs typeface="Spoqa Han Sans Neo" pitchFamily="34" charset="-120"/>
              </a:rPr>
              <a:t>60</a:t>
            </a:r>
            <a:pPr indent="0" marL="0">
              <a:buNone/>
            </a:pPr>
            <a:r>
              <a:rPr lang="en-US" sz="1300" b="1" dirty="0">
                <a:solidFill>
                  <a:srgbClr val="6C6C6C"/>
                </a:solidFill>
                <a:latin typeface="Spoqa Han Sans Neo" pitchFamily="34" charset="0"/>
                <a:ea typeface="Spoqa Han Sans Neo" pitchFamily="34" charset="-122"/>
                <a:cs typeface="Spoqa Han Sans Neo" pitchFamily="34" charset="-120"/>
              </a:rPr>
              <a:t> 판</a:t>
            </a:r>
            <a:endParaRPr lang="en-US" sz="2700" dirty="0"/>
          </a:p>
        </p:txBody>
      </p:sp>
      <p:sp>
        <p:nvSpPr>
          <p:cNvPr id="7" name="Text 5"/>
          <p:cNvSpPr txBox="1"/>
          <p:nvPr/>
        </p:nvSpPr>
        <p:spPr>
          <a:xfrm>
            <a:off x="786384" y="2194560"/>
            <a:ext cx="2139696" cy="384048"/>
          </a:xfrm>
          <a:prstGeom prst="rect">
            <a:avLst/>
          </a:prstGeom>
          <a:noFill/>
          <a:ln/>
        </p:spPr>
        <p:txBody>
          <a:bodyPr wrap="square" lIns="0" tIns="0" rIns="0" bIns="0" rtlCol="0" anchor="ctr"/>
          <a:lstStyle/>
          <a:p>
            <a:pPr indent="0" marL="0">
              <a:lnSpc>
                <a:spcPts val="1400"/>
              </a:lnSpc>
              <a:buNone/>
            </a:pPr>
            <a:r>
              <a:rPr lang="en-US" sz="1100" dirty="0">
                <a:solidFill>
                  <a:srgbClr val="6C6C6C"/>
                </a:solidFill>
                <a:latin typeface="Spoqa Han Sans Neo" pitchFamily="34" charset="0"/>
                <a:ea typeface="Spoqa Han Sans Neo" pitchFamily="34" charset="-122"/>
                <a:cs typeface="Spoqa Han Sans Neo" pitchFamily="34" charset="-120"/>
              </a:rPr>
              <a:t>8/6 ~ 9/9 누적 발행</a:t>
            </a:r>
            <a:endParaRPr lang="en-US" sz="1100" dirty="0"/>
          </a:p>
        </p:txBody>
      </p:sp>
      <p:sp>
        <p:nvSpPr>
          <p:cNvPr id="8" name="Shape 6"/>
          <p:cNvSpPr/>
          <p:nvPr/>
        </p:nvSpPr>
        <p:spPr>
          <a:xfrm>
            <a:off x="3360420" y="1591056"/>
            <a:ext cx="2615184" cy="1097280"/>
          </a:xfrm>
          <a:prstGeom prst="roundRect">
            <a:avLst>
              <a:gd name="adj" fmla="val 2500"/>
            </a:avLst>
          </a:prstGeom>
          <a:solidFill>
            <a:srgbClr val="F7F8FA"/>
          </a:solidFill>
          <a:ln w="9525">
            <a:solidFill>
              <a:srgbClr val="CDCECB"/>
            </a:solidFill>
            <a:prstDash val="solid"/>
          </a:ln>
        </p:spPr>
      </p:sp>
      <p:sp>
        <p:nvSpPr>
          <p:cNvPr id="9" name="Text 7"/>
          <p:cNvSpPr txBox="1"/>
          <p:nvPr/>
        </p:nvSpPr>
        <p:spPr>
          <a:xfrm>
            <a:off x="3598164" y="1737360"/>
            <a:ext cx="2139696" cy="420624"/>
          </a:xfrm>
          <a:prstGeom prst="rect">
            <a:avLst/>
          </a:prstGeom>
          <a:noFill/>
          <a:ln/>
        </p:spPr>
        <p:txBody>
          <a:bodyPr wrap="square" lIns="0" tIns="0" rIns="0" bIns="0" rtlCol="0" anchor="ctr"/>
          <a:lstStyle/>
          <a:p>
            <a:pPr indent="0" marL="0">
              <a:buNone/>
            </a:pPr>
            <a:r>
              <a:rPr lang="en-US" sz="2700" b="1" dirty="0">
                <a:solidFill>
                  <a:srgbClr val="043B72"/>
                </a:solidFill>
                <a:latin typeface="Spoqa Han Sans Neo" pitchFamily="34" charset="0"/>
                <a:ea typeface="Spoqa Han Sans Neo" pitchFamily="34" charset="-122"/>
                <a:cs typeface="Spoqa Han Sans Neo" pitchFamily="34" charset="-120"/>
              </a:rPr>
              <a:t>32</a:t>
            </a:r>
            <a:pPr indent="0" marL="0">
              <a:buNone/>
            </a:pPr>
            <a:r>
              <a:rPr lang="en-US" sz="1300" b="1" dirty="0">
                <a:solidFill>
                  <a:srgbClr val="6C6C6C"/>
                </a:solidFill>
                <a:latin typeface="Spoqa Han Sans Neo" pitchFamily="34" charset="0"/>
                <a:ea typeface="Spoqa Han Sans Neo" pitchFamily="34" charset="-122"/>
                <a:cs typeface="Spoqa Han Sans Neo" pitchFamily="34" charset="-120"/>
              </a:rPr>
              <a:t> 일</a:t>
            </a:r>
            <a:endParaRPr lang="en-US" sz="2700" dirty="0"/>
          </a:p>
        </p:txBody>
      </p:sp>
      <p:sp>
        <p:nvSpPr>
          <p:cNvPr id="10" name="Text 8"/>
          <p:cNvSpPr txBox="1"/>
          <p:nvPr/>
        </p:nvSpPr>
        <p:spPr>
          <a:xfrm>
            <a:off x="3598164" y="2194560"/>
            <a:ext cx="2139696" cy="384048"/>
          </a:xfrm>
          <a:prstGeom prst="rect">
            <a:avLst/>
          </a:prstGeom>
          <a:noFill/>
          <a:ln/>
        </p:spPr>
        <p:txBody>
          <a:bodyPr wrap="square" lIns="0" tIns="0" rIns="0" bIns="0" rtlCol="0" anchor="ctr"/>
          <a:lstStyle/>
          <a:p>
            <a:pPr indent="0" marL="0">
              <a:lnSpc>
                <a:spcPts val="1400"/>
              </a:lnSpc>
              <a:buNone/>
            </a:pPr>
            <a:r>
              <a:rPr lang="en-US" sz="1100" dirty="0">
                <a:solidFill>
                  <a:srgbClr val="6C6C6C"/>
                </a:solidFill>
                <a:latin typeface="Spoqa Han Sans Neo" pitchFamily="34" charset="0"/>
                <a:ea typeface="Spoqa Han Sans Neo" pitchFamily="34" charset="-122"/>
                <a:cs typeface="Spoqa Han Sans Neo" pitchFamily="34" charset="-120"/>
              </a:rPr>
              <a:t>휴장일 포함 연속 발행</a:t>
            </a:r>
            <a:endParaRPr lang="en-US" sz="1100" dirty="0"/>
          </a:p>
        </p:txBody>
      </p:sp>
      <p:sp>
        <p:nvSpPr>
          <p:cNvPr id="11" name="Shape 9"/>
          <p:cNvSpPr/>
          <p:nvPr/>
        </p:nvSpPr>
        <p:spPr>
          <a:xfrm>
            <a:off x="6172200" y="1591056"/>
            <a:ext cx="2615184" cy="1097280"/>
          </a:xfrm>
          <a:prstGeom prst="roundRect">
            <a:avLst>
              <a:gd name="adj" fmla="val 2500"/>
            </a:avLst>
          </a:prstGeom>
          <a:solidFill>
            <a:srgbClr val="F7F8FA"/>
          </a:solidFill>
          <a:ln w="9525">
            <a:solidFill>
              <a:srgbClr val="CDCECB"/>
            </a:solidFill>
            <a:prstDash val="solid"/>
          </a:ln>
        </p:spPr>
      </p:sp>
      <p:sp>
        <p:nvSpPr>
          <p:cNvPr id="12" name="Text 10"/>
          <p:cNvSpPr txBox="1"/>
          <p:nvPr/>
        </p:nvSpPr>
        <p:spPr>
          <a:xfrm>
            <a:off x="6409944" y="1737360"/>
            <a:ext cx="2139696" cy="420624"/>
          </a:xfrm>
          <a:prstGeom prst="rect">
            <a:avLst/>
          </a:prstGeom>
          <a:noFill/>
          <a:ln/>
        </p:spPr>
        <p:txBody>
          <a:bodyPr wrap="square" lIns="0" tIns="0" rIns="0" bIns="0" rtlCol="0" anchor="ctr"/>
          <a:lstStyle/>
          <a:p>
            <a:pPr indent="0" marL="0">
              <a:buNone/>
            </a:pPr>
            <a:r>
              <a:rPr lang="en-US" sz="2700" b="1" dirty="0">
                <a:solidFill>
                  <a:srgbClr val="043B72"/>
                </a:solidFill>
                <a:latin typeface="Spoqa Han Sans Neo" pitchFamily="34" charset="0"/>
                <a:ea typeface="Spoqa Han Sans Neo" pitchFamily="34" charset="-122"/>
                <a:cs typeface="Spoqa Han Sans Neo" pitchFamily="34" charset="-120"/>
              </a:rPr>
              <a:t>2</a:t>
            </a:r>
            <a:pPr indent="0" marL="0">
              <a:buNone/>
            </a:pPr>
            <a:r>
              <a:rPr lang="en-US" sz="1300" b="1" dirty="0">
                <a:solidFill>
                  <a:srgbClr val="6C6C6C"/>
                </a:solidFill>
                <a:latin typeface="Spoqa Han Sans Neo" pitchFamily="34" charset="0"/>
                <a:ea typeface="Spoqa Han Sans Neo" pitchFamily="34" charset="-122"/>
                <a:cs typeface="Spoqa Han Sans Neo" pitchFamily="34" charset="-120"/>
              </a:rPr>
              <a:t> 회</a:t>
            </a:r>
            <a:endParaRPr lang="en-US" sz="2700" dirty="0"/>
          </a:p>
        </p:txBody>
      </p:sp>
      <p:sp>
        <p:nvSpPr>
          <p:cNvPr id="13" name="Text 11"/>
          <p:cNvSpPr txBox="1"/>
          <p:nvPr/>
        </p:nvSpPr>
        <p:spPr>
          <a:xfrm>
            <a:off x="6409944" y="2194560"/>
            <a:ext cx="2139696" cy="384048"/>
          </a:xfrm>
          <a:prstGeom prst="rect">
            <a:avLst/>
          </a:prstGeom>
          <a:noFill/>
          <a:ln/>
        </p:spPr>
        <p:txBody>
          <a:bodyPr wrap="square" lIns="0" tIns="0" rIns="0" bIns="0" rtlCol="0" anchor="ctr"/>
          <a:lstStyle/>
          <a:p>
            <a:pPr indent="0" marL="0">
              <a:lnSpc>
                <a:spcPts val="1400"/>
              </a:lnSpc>
              <a:buNone/>
            </a:pPr>
            <a:r>
              <a:rPr lang="en-US" sz="1100" dirty="0">
                <a:solidFill>
                  <a:srgbClr val="6C6C6C"/>
                </a:solidFill>
                <a:latin typeface="Spoqa Han Sans Neo" pitchFamily="34" charset="0"/>
                <a:ea typeface="Spoqa Han Sans Neo" pitchFamily="34" charset="-122"/>
                <a:cs typeface="Spoqa Han Sans Neo" pitchFamily="34" charset="-120"/>
              </a:rPr>
              <a:t>하루 예약 (07:30 · 16:10)</a:t>
            </a:r>
            <a:endParaRPr lang="en-US" sz="1100" dirty="0"/>
          </a:p>
        </p:txBody>
      </p:sp>
      <p:sp>
        <p:nvSpPr>
          <p:cNvPr id="14" name="Shape 12"/>
          <p:cNvSpPr/>
          <p:nvPr/>
        </p:nvSpPr>
        <p:spPr>
          <a:xfrm>
            <a:off x="8983980" y="1591056"/>
            <a:ext cx="2615184" cy="1097280"/>
          </a:xfrm>
          <a:prstGeom prst="roundRect">
            <a:avLst>
              <a:gd name="adj" fmla="val 2500"/>
            </a:avLst>
          </a:prstGeom>
          <a:solidFill>
            <a:srgbClr val="F7F8FA"/>
          </a:solidFill>
          <a:ln w="9525">
            <a:solidFill>
              <a:srgbClr val="CDCECB"/>
            </a:solidFill>
            <a:prstDash val="solid"/>
          </a:ln>
        </p:spPr>
      </p:sp>
      <p:sp>
        <p:nvSpPr>
          <p:cNvPr id="15" name="Text 13"/>
          <p:cNvSpPr txBox="1"/>
          <p:nvPr/>
        </p:nvSpPr>
        <p:spPr>
          <a:xfrm>
            <a:off x="9221724" y="1737360"/>
            <a:ext cx="2139696" cy="420624"/>
          </a:xfrm>
          <a:prstGeom prst="rect">
            <a:avLst/>
          </a:prstGeom>
          <a:noFill/>
          <a:ln/>
        </p:spPr>
        <p:txBody>
          <a:bodyPr wrap="square" lIns="0" tIns="0" rIns="0" bIns="0" rtlCol="0" anchor="ctr"/>
          <a:lstStyle/>
          <a:p>
            <a:pPr indent="0" marL="0">
              <a:buNone/>
            </a:pPr>
            <a:r>
              <a:rPr lang="en-US" sz="2700" b="1" dirty="0">
                <a:solidFill>
                  <a:srgbClr val="043B72"/>
                </a:solidFill>
                <a:latin typeface="Spoqa Han Sans Neo" pitchFamily="34" charset="0"/>
                <a:ea typeface="Spoqa Han Sans Neo" pitchFamily="34" charset="-122"/>
                <a:cs typeface="Spoqa Han Sans Neo" pitchFamily="34" charset="-120"/>
              </a:rPr>
              <a:t>1,870</a:t>
            </a:r>
            <a:pPr indent="0" marL="0">
              <a:buNone/>
            </a:pPr>
            <a:r>
              <a:rPr lang="en-US" sz="1300" b="1" dirty="0">
                <a:solidFill>
                  <a:srgbClr val="6C6C6C"/>
                </a:solidFill>
                <a:latin typeface="Spoqa Han Sans Neo" pitchFamily="34" charset="0"/>
                <a:ea typeface="Spoqa Han Sans Neo" pitchFamily="34" charset="-122"/>
                <a:cs typeface="Spoqa Han Sans Neo" pitchFamily="34" charset="-120"/>
              </a:rPr>
              <a:t> 줄</a:t>
            </a:r>
            <a:endParaRPr lang="en-US" sz="2700" dirty="0"/>
          </a:p>
        </p:txBody>
      </p:sp>
      <p:sp>
        <p:nvSpPr>
          <p:cNvPr id="16" name="Text 14"/>
          <p:cNvSpPr txBox="1"/>
          <p:nvPr/>
        </p:nvSpPr>
        <p:spPr>
          <a:xfrm>
            <a:off x="9221724" y="2194560"/>
            <a:ext cx="2139696" cy="384048"/>
          </a:xfrm>
          <a:prstGeom prst="rect">
            <a:avLst/>
          </a:prstGeom>
          <a:noFill/>
          <a:ln/>
        </p:spPr>
        <p:txBody>
          <a:bodyPr wrap="square" lIns="0" tIns="0" rIns="0" bIns="0" rtlCol="0" anchor="ctr"/>
          <a:lstStyle/>
          <a:p>
            <a:pPr indent="0" marL="0">
              <a:lnSpc>
                <a:spcPts val="1400"/>
              </a:lnSpc>
              <a:buNone/>
            </a:pPr>
            <a:r>
              <a:rPr lang="en-US" sz="1100" dirty="0">
                <a:solidFill>
                  <a:srgbClr val="6C6C6C"/>
                </a:solidFill>
                <a:latin typeface="Spoqa Han Sans Neo" pitchFamily="34" charset="0"/>
                <a:ea typeface="Spoqa Han Sans Neo" pitchFamily="34" charset="-122"/>
                <a:cs typeface="Spoqa Han Sans Neo" pitchFamily="34" charset="-120"/>
              </a:rPr>
              <a:t>기계가 읽는 작성 지침</a:t>
            </a:r>
            <a:endParaRPr lang="en-US" sz="1100" dirty="0"/>
          </a:p>
        </p:txBody>
      </p:sp>
      <p:sp>
        <p:nvSpPr>
          <p:cNvPr id="17" name="Text 15"/>
          <p:cNvSpPr txBox="1"/>
          <p:nvPr/>
        </p:nvSpPr>
        <p:spPr>
          <a:xfrm>
            <a:off x="548640" y="2962656"/>
            <a:ext cx="6035040" cy="292608"/>
          </a:xfrm>
          <a:prstGeom prst="rect">
            <a:avLst/>
          </a:prstGeom>
          <a:noFill/>
          <a:ln/>
        </p:spPr>
        <p:txBody>
          <a:bodyPr wrap="square" lIns="0" tIns="0" rIns="0" bIns="0" rtlCol="0" anchor="ctr"/>
          <a:lstStyle/>
          <a:p>
            <a:pPr indent="0" marL="0">
              <a:buNone/>
            </a:pPr>
            <a:r>
              <a:rPr lang="en-US" sz="1400" b="1" dirty="0">
                <a:solidFill>
                  <a:srgbClr val="1A1A1A"/>
                </a:solidFill>
                <a:latin typeface="Spoqa Han Sans Neo" pitchFamily="34" charset="0"/>
                <a:ea typeface="Spoqa Han Sans Neo" pitchFamily="34" charset="-122"/>
                <a:cs typeface="Spoqa Han Sans Neo" pitchFamily="34" charset="-120"/>
              </a:rPr>
              <a:t>주차별 발행 판수</a:t>
            </a:r>
            <a:endParaRPr lang="en-US" sz="1400" dirty="0"/>
          </a:p>
        </p:txBody>
      </p:sp>
      <p:graphicFrame>
        <p:nvGraphicFramePr>
          <p:cNvPr id="18" name="Chart 0" descr=""/>
          <p:cNvGraphicFramePr/>
          <p:nvPr/>
        </p:nvGraphicFramePr>
        <p:xfrm>
          <a:off x="457200" y="3291840"/>
          <a:ext cx="6217920" cy="265176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48640" y="5980176"/>
            <a:ext cx="6217920" cy="274320"/>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8/31 주부터 핵심본·전체본 두 판을 함께 냅니다. 9/07 주는 3일치입니다.</a:t>
            </a:r>
            <a:endParaRPr lang="en-US" sz="1050" dirty="0"/>
          </a:p>
        </p:txBody>
      </p:sp>
      <p:sp>
        <p:nvSpPr>
          <p:cNvPr id="20" name="Text 17"/>
          <p:cNvSpPr txBox="1"/>
          <p:nvPr/>
        </p:nvSpPr>
        <p:spPr>
          <a:xfrm>
            <a:off x="7040880" y="2962656"/>
            <a:ext cx="4572000" cy="292608"/>
          </a:xfrm>
          <a:prstGeom prst="rect">
            <a:avLst/>
          </a:prstGeom>
          <a:noFill/>
          <a:ln/>
        </p:spPr>
        <p:txBody>
          <a:bodyPr wrap="square" lIns="0" tIns="0" rIns="0" bIns="0" rtlCol="0" anchor="ctr"/>
          <a:lstStyle/>
          <a:p>
            <a:pPr indent="0" marL="0">
              <a:buNone/>
            </a:pPr>
            <a:r>
              <a:rPr lang="en-US" sz="1400" b="1" dirty="0">
                <a:solidFill>
                  <a:srgbClr val="1A1A1A"/>
                </a:solidFill>
                <a:latin typeface="Spoqa Han Sans Neo" pitchFamily="34" charset="0"/>
                <a:ea typeface="Spoqa Han Sans Neo" pitchFamily="34" charset="-122"/>
                <a:cs typeface="Spoqa Han Sans Neo" pitchFamily="34" charset="-120"/>
              </a:rPr>
              <a:t>발행 전 자동 검증 장치</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040880" y="3291840"/>
          <a:ext cx="4572000" cy="914400"/>
        </p:xfrm>
        <a:graphic>
          <a:graphicData uri="http://schemas.openxmlformats.org/drawingml/2006/table">
            <a:tbl>
              <a:tblPr/>
              <a:tblGrid>
                <a:gridCol w="1572768"/>
                <a:gridCol w="2999232"/>
              </a:tblGrid>
              <a:tr h="384048">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검증 장치</a:t>
                      </a:r>
                      <a:endParaRPr lang="en-US" sz="1100" dirty="0">
                        <a:latin typeface="Spoqa Han Sans Neo" charset="0"/>
                        <a:ea typeface="Spoqa Han Sans Neo" charset="0"/>
                        <a:cs typeface="Spoqa Han Sans Neo" charset="0"/>
                      </a:endParaRPr>
                    </a:p>
                  </a:txBody>
                  <a:tcPr marL="91440" marR="91440" marT="45720" marB="4572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무엇을 막는가</a:t>
                      </a:r>
                      <a:endParaRPr lang="en-US" sz="1100" dirty="0">
                        <a:latin typeface="Spoqa Han Sans Neo" charset="0"/>
                        <a:ea typeface="Spoqa Han Sans Neo" charset="0"/>
                        <a:cs typeface="Spoqa Han Sans Neo" charset="0"/>
                      </a:endParaRPr>
                    </a:p>
                  </a:txBody>
                  <a:tcPr marL="91440" marR="91440" marT="45720" marB="4572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r>
              <a:tr h="402336">
                <a:tc>
                  <a:txBody>
                    <a:bodyPr/>
                    <a:lstStyle/>
                    <a:p>
                      <a:pPr indent="0" marL="0">
                        <a:buNone/>
                      </a:pPr>
                      <a:r>
                        <a:rPr lang="en-US" sz="1100" dirty="0">
                          <a:solidFill>
                            <a:srgbClr val="3D3D3D"/>
                          </a:solidFill>
                          <a:latin typeface="Spoqa Han Sans Neo" pitchFamily="34" charset="0"/>
                          <a:ea typeface="Spoqa Han Sans Neo" pitchFamily="34" charset="-122"/>
                          <a:cs typeface="Spoqa Han Sans Neo" pitchFamily="34" charset="-120"/>
                        </a:rPr>
                        <a:t>숫자 대장 검산</a:t>
                      </a:r>
                      <a:endParaRPr lang="en-US" sz="1100" dirty="0">
                        <a:latin typeface="Spoqa Han Sans Neo" charset="0"/>
                        <a:ea typeface="Spoqa Han Sans Neo" charset="0"/>
                        <a:cs typeface="Spoqa Han Sans Neo" charset="0"/>
                      </a:endParaRPr>
                    </a:p>
                  </a:txBody>
                  <a:tcPr marL="91440" marR="91440" marT="45720" marB="4572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100" dirty="0">
                          <a:solidFill>
                            <a:srgbClr val="3D3D3D"/>
                          </a:solidFill>
                          <a:latin typeface="Spoqa Han Sans Neo" pitchFamily="34" charset="0"/>
                          <a:ea typeface="Spoqa Han Sans Neo" pitchFamily="34" charset="-122"/>
                          <a:cs typeface="Spoqa Han Sans Neo" pitchFamily="34" charset="-120"/>
                        </a:rPr>
                        <a:t>표와 본문의 수치가 어긋난 채 발행</a:t>
                      </a:r>
                      <a:endParaRPr lang="en-US" sz="1100" dirty="0">
                        <a:latin typeface="Spoqa Han Sans Neo" charset="0"/>
                        <a:ea typeface="Spoqa Han Sans Neo" charset="0"/>
                        <a:cs typeface="Spoqa Han Sans Neo" charset="0"/>
                      </a:endParaRPr>
                    </a:p>
                  </a:txBody>
                  <a:tcPr marL="91440" marR="91440" marT="45720" marB="4572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402336">
                <a:tc>
                  <a:txBody>
                    <a:bodyPr/>
                    <a:lstStyle/>
                    <a:p>
                      <a:pPr indent="0" marL="0">
                        <a:buNone/>
                      </a:pPr>
                      <a:r>
                        <a:rPr lang="en-US" sz="1100" dirty="0">
                          <a:solidFill>
                            <a:srgbClr val="3D3D3D"/>
                          </a:solidFill>
                          <a:latin typeface="Spoqa Han Sans Neo" pitchFamily="34" charset="0"/>
                          <a:ea typeface="Spoqa Han Sans Neo" pitchFamily="34" charset="-122"/>
                          <a:cs typeface="Spoqa Han Sans Neo" pitchFamily="34" charset="-120"/>
                        </a:rPr>
                        <a:t>시세 신선도 확인</a:t>
                      </a:r>
                      <a:endParaRPr lang="en-US" sz="1100" dirty="0">
                        <a:latin typeface="Spoqa Han Sans Neo" charset="0"/>
                        <a:ea typeface="Spoqa Han Sans Neo" charset="0"/>
                        <a:cs typeface="Spoqa Han Sans Neo" charset="0"/>
                      </a:endParaRPr>
                    </a:p>
                  </a:txBody>
                  <a:tcPr marL="91440" marR="91440" marT="45720" marB="4572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100" dirty="0">
                          <a:solidFill>
                            <a:srgbClr val="3D3D3D"/>
                          </a:solidFill>
                          <a:latin typeface="Spoqa Han Sans Neo" pitchFamily="34" charset="0"/>
                          <a:ea typeface="Spoqa Han Sans Neo" pitchFamily="34" charset="-122"/>
                          <a:cs typeface="Spoqa Han Sans Neo" pitchFamily="34" charset="-120"/>
                        </a:rPr>
                        <a:t>지난 거래일 값으로 오늘 판을 작성</a:t>
                      </a:r>
                      <a:endParaRPr lang="en-US" sz="1100" dirty="0">
                        <a:latin typeface="Spoqa Han Sans Neo" charset="0"/>
                        <a:ea typeface="Spoqa Han Sans Neo" charset="0"/>
                        <a:cs typeface="Spoqa Han Sans Neo" charset="0"/>
                      </a:endParaRPr>
                    </a:p>
                  </a:txBody>
                  <a:tcPr marL="91440" marR="91440" marT="45720" marB="4572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402336">
                <a:tc>
                  <a:txBody>
                    <a:bodyPr/>
                    <a:lstStyle/>
                    <a:p>
                      <a:pPr indent="0" marL="0">
                        <a:buNone/>
                      </a:pPr>
                      <a:r>
                        <a:rPr lang="en-US" sz="1100" dirty="0">
                          <a:solidFill>
                            <a:srgbClr val="3D3D3D"/>
                          </a:solidFill>
                          <a:latin typeface="Spoqa Han Sans Neo" pitchFamily="34" charset="0"/>
                          <a:ea typeface="Spoqa Han Sans Neo" pitchFamily="34" charset="-122"/>
                          <a:cs typeface="Spoqa Han Sans Neo" pitchFamily="34" charset="-120"/>
                        </a:rPr>
                        <a:t>금리 기준 확인</a:t>
                      </a:r>
                      <a:endParaRPr lang="en-US" sz="1100" dirty="0">
                        <a:latin typeface="Spoqa Han Sans Neo" charset="0"/>
                        <a:ea typeface="Spoqa Han Sans Neo" charset="0"/>
                        <a:cs typeface="Spoqa Han Sans Neo" charset="0"/>
                      </a:endParaRPr>
                    </a:p>
                  </a:txBody>
                  <a:tcPr marL="91440" marR="91440" marT="45720" marB="4572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100" dirty="0">
                          <a:solidFill>
                            <a:srgbClr val="3D3D3D"/>
                          </a:solidFill>
                          <a:latin typeface="Spoqa Han Sans Neo" pitchFamily="34" charset="0"/>
                          <a:ea typeface="Spoqa Han Sans Neo" pitchFamily="34" charset="-122"/>
                          <a:cs typeface="Spoqa Han Sans Neo" pitchFamily="34" charset="-120"/>
                        </a:rPr>
                        <a:t>기사 추정치를 재무부 곡선처럼 표기</a:t>
                      </a:r>
                      <a:endParaRPr lang="en-US" sz="1100" dirty="0">
                        <a:latin typeface="Spoqa Han Sans Neo" charset="0"/>
                        <a:ea typeface="Spoqa Han Sans Neo" charset="0"/>
                        <a:cs typeface="Spoqa Han Sans Neo" charset="0"/>
                      </a:endParaRPr>
                    </a:p>
                  </a:txBody>
                  <a:tcPr marL="91440" marR="91440" marT="45720" marB="4572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402336">
                <a:tc>
                  <a:txBody>
                    <a:bodyPr/>
                    <a:lstStyle/>
                    <a:p>
                      <a:pPr indent="0" marL="0">
                        <a:buNone/>
                      </a:pPr>
                      <a:r>
                        <a:rPr lang="en-US" sz="1100" dirty="0">
                          <a:solidFill>
                            <a:srgbClr val="3D3D3D"/>
                          </a:solidFill>
                          <a:latin typeface="Spoqa Han Sans Neo" pitchFamily="34" charset="0"/>
                          <a:ea typeface="Spoqa Han Sans Neo" pitchFamily="34" charset="-122"/>
                          <a:cs typeface="Spoqa Han Sans Neo" pitchFamily="34" charset="-120"/>
                        </a:rPr>
                        <a:t>지난 판 중복 검사</a:t>
                      </a:r>
                      <a:endParaRPr lang="en-US" sz="1100" dirty="0">
                        <a:latin typeface="Spoqa Han Sans Neo" charset="0"/>
                        <a:ea typeface="Spoqa Han Sans Neo" charset="0"/>
                        <a:cs typeface="Spoqa Han Sans Neo" charset="0"/>
                      </a:endParaRPr>
                    </a:p>
                  </a:txBody>
                  <a:tcPr marL="91440" marR="91440" marT="45720" marB="4572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100" dirty="0">
                          <a:solidFill>
                            <a:srgbClr val="3D3D3D"/>
                          </a:solidFill>
                          <a:latin typeface="Spoqa Han Sans Neo" pitchFamily="34" charset="0"/>
                          <a:ea typeface="Spoqa Han Sans Neo" pitchFamily="34" charset="-122"/>
                          <a:cs typeface="Spoqa Han Sans Neo" pitchFamily="34" charset="-120"/>
                        </a:rPr>
                        <a:t>어제와 같은 문장·해석 반복</a:t>
                      </a:r>
                      <a:endParaRPr lang="en-US" sz="1100" dirty="0">
                        <a:latin typeface="Spoqa Han Sans Neo" charset="0"/>
                        <a:ea typeface="Spoqa Han Sans Neo" charset="0"/>
                        <a:cs typeface="Spoqa Han Sans Neo" charset="0"/>
                      </a:endParaRPr>
                    </a:p>
                  </a:txBody>
                  <a:tcPr marL="91440" marR="91440" marT="45720" marB="4572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402336">
                <a:tc>
                  <a:txBody>
                    <a:bodyPr/>
                    <a:lstStyle/>
                    <a:p>
                      <a:pPr indent="0" marL="0">
                        <a:buNone/>
                      </a:pPr>
                      <a:r>
                        <a:rPr lang="en-US" sz="1100" dirty="0">
                          <a:solidFill>
                            <a:srgbClr val="3D3D3D"/>
                          </a:solidFill>
                          <a:latin typeface="Spoqa Han Sans Neo" pitchFamily="34" charset="0"/>
                          <a:ea typeface="Spoqa Han Sans Neo" pitchFamily="34" charset="-122"/>
                          <a:cs typeface="Spoqa Han Sans Neo" pitchFamily="34" charset="-120"/>
                        </a:rPr>
                        <a:t>인쇄 맞춤 확인</a:t>
                      </a:r>
                      <a:endParaRPr lang="en-US" sz="1100" dirty="0">
                        <a:latin typeface="Spoqa Han Sans Neo" charset="0"/>
                        <a:ea typeface="Spoqa Han Sans Neo" charset="0"/>
                        <a:cs typeface="Spoqa Han Sans Neo" charset="0"/>
                      </a:endParaRPr>
                    </a:p>
                  </a:txBody>
                  <a:tcPr marL="91440" marR="91440" marT="45720" marB="4572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100" dirty="0">
                          <a:solidFill>
                            <a:srgbClr val="3D3D3D"/>
                          </a:solidFill>
                          <a:latin typeface="Spoqa Han Sans Neo" pitchFamily="34" charset="0"/>
                          <a:ea typeface="Spoqa Han Sans Neo" pitchFamily="34" charset="-122"/>
                          <a:cs typeface="Spoqa Han Sans Neo" pitchFamily="34" charset="-120"/>
                        </a:rPr>
                        <a:t>6쪽 규격 초과·표 잘림</a:t>
                      </a:r>
                      <a:endParaRPr lang="en-US" sz="1100" dirty="0">
                        <a:latin typeface="Spoqa Han Sans Neo" charset="0"/>
                        <a:ea typeface="Spoqa Han Sans Neo" charset="0"/>
                        <a:cs typeface="Spoqa Han Sans Neo" charset="0"/>
                      </a:endParaRPr>
                    </a:p>
                  </a:txBody>
                  <a:tcPr marL="91440" marR="91440" marT="45720" marB="4572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bl>
          </a:graphicData>
        </a:graphic>
      </p:graphicFrame>
      <p:sp>
        <p:nvSpPr>
          <p:cNvPr id="22" name="Text 18"/>
          <p:cNvSpPr txBox="1"/>
          <p:nvPr/>
        </p:nvSpPr>
        <p:spPr>
          <a:xfrm>
            <a:off x="7040880" y="5980176"/>
            <a:ext cx="4572000" cy="274320"/>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어느 하나라도 어긋나면 발행을 멈추고 사유를 남깁니다.</a:t>
            </a:r>
            <a:endParaRPr lang="en-US" sz="1050" dirty="0"/>
          </a:p>
        </p:txBody>
      </p:sp>
      <p:sp>
        <p:nvSpPr>
          <p:cNvPr id="23" name="Text 19"/>
          <p:cNvSpPr txBox="1"/>
          <p:nvPr/>
        </p:nvSpPr>
        <p:spPr>
          <a:xfrm>
            <a:off x="548640" y="6345936"/>
            <a:ext cx="11064240" cy="310896"/>
          </a:xfrm>
          <a:prstGeom prst="rect">
            <a:avLst/>
          </a:prstGeom>
          <a:noFill/>
          <a:ln/>
        </p:spPr>
        <p:txBody>
          <a:bodyPr wrap="square" lIns="0" tIns="0" rIns="0" bIns="0" rtlCol="0" anchor="t"/>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구성 — 모닝 24판 · 장마감 13판 · 핵심본 15판 · 해외 증시(주말·휴장일) 8판.  아침 예약은 휴장일에도 돌며, 국내 장이 없는 날은 「해외 증시 브리핑」으로 판을 바꿔 냅니다.</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11064240" cy="11887"/>
          </a:xfrm>
          <a:prstGeom prst="rect">
            <a:avLst/>
          </a:prstGeom>
          <a:solidFill>
            <a:srgbClr val="F58220"/>
          </a:solidFill>
          <a:ln/>
        </p:spPr>
      </p:sp>
      <p:sp>
        <p:nvSpPr>
          <p:cNvPr id="3" name="Text 1"/>
          <p:cNvSpPr txBox="1"/>
          <p:nvPr/>
        </p:nvSpPr>
        <p:spPr>
          <a:xfrm>
            <a:off x="548640" y="548640"/>
            <a:ext cx="3657600" cy="256032"/>
          </a:xfrm>
          <a:prstGeom prst="rect">
            <a:avLst/>
          </a:prstGeom>
          <a:noFill/>
          <a:ln/>
        </p:spPr>
        <p:txBody>
          <a:bodyPr wrap="square" lIns="0" tIns="0" rIns="0" bIns="0" rtlCol="0" anchor="ctr"/>
          <a:lstStyle/>
          <a:p>
            <a:pPr indent="0" marL="0">
              <a:buNone/>
            </a:pPr>
            <a:r>
              <a:rPr lang="en-US" sz="1150" b="1" spc="120" kern="0" dirty="0">
                <a:solidFill>
                  <a:srgbClr val="F58220"/>
                </a:solidFill>
                <a:latin typeface="Spoqa Han Sans Neo" pitchFamily="34" charset="0"/>
                <a:ea typeface="Spoqa Han Sans Neo" pitchFamily="34" charset="-122"/>
                <a:cs typeface="Spoqa Han Sans Neo" pitchFamily="34" charset="-120"/>
              </a:rPr>
              <a:t>성과 ②</a:t>
            </a:r>
            <a:endParaRPr lang="en-US" sz="1150" dirty="0"/>
          </a:p>
        </p:txBody>
      </p:sp>
      <p:sp>
        <p:nvSpPr>
          <p:cNvPr id="4" name="Text 2"/>
          <p:cNvSpPr txBox="1"/>
          <p:nvPr/>
        </p:nvSpPr>
        <p:spPr>
          <a:xfrm>
            <a:off x="548640" y="804672"/>
            <a:ext cx="11064240" cy="566928"/>
          </a:xfrm>
          <a:prstGeom prst="rect">
            <a:avLst/>
          </a:prstGeom>
          <a:noFill/>
          <a:ln/>
        </p:spPr>
        <p:txBody>
          <a:bodyPr wrap="square" lIns="0" tIns="0" rIns="0" bIns="0" rtlCol="0" anchor="ctr"/>
          <a:lstStyle/>
          <a:p>
            <a:pPr indent="0" marL="0">
              <a:buNone/>
            </a:pPr>
            <a:r>
              <a:rPr lang="en-US" sz="2800" b="1" spc="-40" kern="0" dirty="0">
                <a:solidFill>
                  <a:srgbClr val="1A1A1A"/>
                </a:solidFill>
                <a:latin typeface="Spoqa Han Sans Neo" pitchFamily="34" charset="0"/>
                <a:ea typeface="Spoqa Han Sans Neo" pitchFamily="34" charset="-122"/>
                <a:cs typeface="Spoqa Han Sans Neo" pitchFamily="34" charset="-120"/>
              </a:rPr>
              <a:t>업무 조회 화면 4종 — 설치 없이 파일 하나로</a:t>
            </a:r>
            <a:endParaRPr lang="en-US" sz="2800" dirty="0"/>
          </a:p>
        </p:txBody>
      </p:sp>
      <p:sp>
        <p:nvSpPr>
          <p:cNvPr id="5" name="Shape 3"/>
          <p:cNvSpPr/>
          <p:nvPr/>
        </p:nvSpPr>
        <p:spPr>
          <a:xfrm>
            <a:off x="548640" y="1737360"/>
            <a:ext cx="5303520" cy="1792224"/>
          </a:xfrm>
          <a:prstGeom prst="roundRect">
            <a:avLst>
              <a:gd name="adj" fmla="val 1531"/>
            </a:avLst>
          </a:prstGeom>
          <a:solidFill>
            <a:srgbClr val="FFFFFF"/>
          </a:solidFill>
          <a:ln w="9525">
            <a:solidFill>
              <a:srgbClr val="CDCECB"/>
            </a:solidFill>
            <a:prstDash val="solid"/>
          </a:ln>
        </p:spPr>
      </p:sp>
      <p:sp>
        <p:nvSpPr>
          <p:cNvPr id="6" name="Shape 4"/>
          <p:cNvSpPr/>
          <p:nvPr/>
        </p:nvSpPr>
        <p:spPr>
          <a:xfrm>
            <a:off x="822960" y="1993392"/>
            <a:ext cx="420624" cy="420624"/>
          </a:xfrm>
          <a:prstGeom prst="roundRect">
            <a:avLst>
              <a:gd name="adj" fmla="val 6522"/>
            </a:avLst>
          </a:prstGeom>
          <a:solidFill>
            <a:srgbClr val="F58220"/>
          </a:solidFill>
          <a:ln/>
        </p:spPr>
      </p:sp>
      <p:sp>
        <p:nvSpPr>
          <p:cNvPr id="7" name="Text 5"/>
          <p:cNvSpPr txBox="1"/>
          <p:nvPr/>
        </p:nvSpPr>
        <p:spPr>
          <a:xfrm>
            <a:off x="822960" y="19933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Spoqa Han Sans Neo" pitchFamily="34" charset="0"/>
                <a:ea typeface="Spoqa Han Sans Neo" pitchFamily="34" charset="-122"/>
                <a:cs typeface="Spoqa Han Sans Neo" pitchFamily="34" charset="-120"/>
              </a:rPr>
              <a:t>1</a:t>
            </a:r>
            <a:endParaRPr lang="en-US" sz="1400" dirty="0"/>
          </a:p>
        </p:txBody>
      </p:sp>
      <p:sp>
        <p:nvSpPr>
          <p:cNvPr id="8" name="Text 6"/>
          <p:cNvSpPr txBox="1"/>
          <p:nvPr/>
        </p:nvSpPr>
        <p:spPr>
          <a:xfrm>
            <a:off x="1371600" y="2011680"/>
            <a:ext cx="4206240" cy="329184"/>
          </a:xfrm>
          <a:prstGeom prst="rect">
            <a:avLst/>
          </a:prstGeom>
          <a:noFill/>
          <a:ln/>
        </p:spPr>
        <p:txBody>
          <a:bodyPr wrap="square" lIns="0" tIns="0" rIns="0" bIns="0" rtlCol="0" anchor="ctr"/>
          <a:lstStyle/>
          <a:p>
            <a:pPr indent="0" marL="0">
              <a:buNone/>
            </a:pPr>
            <a:r>
              <a:rPr lang="en-US" sz="1550" b="1" dirty="0">
                <a:solidFill>
                  <a:srgbClr val="1A1A1A"/>
                </a:solidFill>
                <a:latin typeface="Spoqa Han Sans Neo" pitchFamily="34" charset="0"/>
                <a:ea typeface="Spoqa Han Sans Neo" pitchFamily="34" charset="-122"/>
                <a:cs typeface="Spoqa Han Sans Neo" pitchFamily="34" charset="-120"/>
              </a:rPr>
              <a:t>미국 100대 기업 시세 조회</a:t>
            </a:r>
            <a:endParaRPr lang="en-US" sz="1550" dirty="0"/>
          </a:p>
        </p:txBody>
      </p:sp>
      <p:sp>
        <p:nvSpPr>
          <p:cNvPr id="9" name="Text 7"/>
          <p:cNvSpPr txBox="1"/>
          <p:nvPr/>
        </p:nvSpPr>
        <p:spPr>
          <a:xfrm>
            <a:off x="822960" y="2523744"/>
            <a:ext cx="4754880" cy="658368"/>
          </a:xfrm>
          <a:prstGeom prst="rect">
            <a:avLst/>
          </a:prstGeom>
          <a:noFill/>
          <a:ln/>
        </p:spPr>
        <p:txBody>
          <a:bodyPr wrap="square" lIns="0" tIns="0" rIns="0" bIns="0" rtlCol="0" anchor="ctr"/>
          <a:lstStyle/>
          <a:p>
            <a:pPr indent="0" marL="0">
              <a:lnSpc>
                <a:spcPts val="1600"/>
              </a:lnSpc>
              <a:buNone/>
            </a:pPr>
            <a:r>
              <a:rPr lang="en-US" sz="1150" dirty="0">
                <a:solidFill>
                  <a:srgbClr val="3D3D3D"/>
                </a:solidFill>
                <a:latin typeface="Spoqa Han Sans Neo" pitchFamily="34" charset="0"/>
                <a:ea typeface="Spoqa Han Sans Neo" pitchFamily="34" charset="-122"/>
                <a:cs typeface="Spoqa Han Sans Neo" pitchFamily="34" charset="-120"/>
              </a:rPr>
              <a:t>대형주 100개를 검색·비교·차트·컨센서스·실적 일정까지 10개 섹션으로. 장중 10분 주기로 가격이 스스로 갱신됩니다.</a:t>
            </a:r>
            <a:endParaRPr lang="en-US" sz="1150" dirty="0"/>
          </a:p>
        </p:txBody>
      </p:sp>
      <p:sp>
        <p:nvSpPr>
          <p:cNvPr id="10" name="Text 8"/>
          <p:cNvSpPr txBox="1"/>
          <p:nvPr/>
        </p:nvSpPr>
        <p:spPr>
          <a:xfrm>
            <a:off x="822960" y="3163824"/>
            <a:ext cx="4754880" cy="274320"/>
          </a:xfrm>
          <a:prstGeom prst="rect">
            <a:avLst/>
          </a:prstGeom>
          <a:noFill/>
          <a:ln/>
        </p:spPr>
        <p:txBody>
          <a:bodyPr wrap="square" lIns="0" tIns="0" rIns="0" bIns="0" rtlCol="0" anchor="ctr"/>
          <a:lstStyle/>
          <a:p>
            <a:pPr indent="0" marL="0">
              <a:buNone/>
            </a:pPr>
            <a:r>
              <a:rPr lang="en-US" sz="1100" b="1" dirty="0">
                <a:solidFill>
                  <a:srgbClr val="CB6015"/>
                </a:solidFill>
                <a:latin typeface="Spoqa Han Sans Neo" pitchFamily="34" charset="0"/>
                <a:ea typeface="Spoqa Han Sans Neo" pitchFamily="34" charset="-122"/>
                <a:cs typeface="Spoqa Han Sans Neo" pitchFamily="34" charset="-120"/>
              </a:rPr>
              <a:t>100개 기업 · 10개 섹션 · 4종목 동시 비교</a:t>
            </a:r>
            <a:endParaRPr lang="en-US" sz="1100" dirty="0"/>
          </a:p>
        </p:txBody>
      </p:sp>
      <p:sp>
        <p:nvSpPr>
          <p:cNvPr id="11" name="Shape 9"/>
          <p:cNvSpPr/>
          <p:nvPr/>
        </p:nvSpPr>
        <p:spPr>
          <a:xfrm>
            <a:off x="6309360" y="1737360"/>
            <a:ext cx="5303520" cy="1792224"/>
          </a:xfrm>
          <a:prstGeom prst="roundRect">
            <a:avLst>
              <a:gd name="adj" fmla="val 1531"/>
            </a:avLst>
          </a:prstGeom>
          <a:solidFill>
            <a:srgbClr val="FFFFFF"/>
          </a:solidFill>
          <a:ln w="9525">
            <a:solidFill>
              <a:srgbClr val="CDCECB"/>
            </a:solidFill>
            <a:prstDash val="solid"/>
          </a:ln>
        </p:spPr>
      </p:sp>
      <p:sp>
        <p:nvSpPr>
          <p:cNvPr id="12" name="Shape 10"/>
          <p:cNvSpPr/>
          <p:nvPr/>
        </p:nvSpPr>
        <p:spPr>
          <a:xfrm>
            <a:off x="6583680" y="1993392"/>
            <a:ext cx="420624" cy="420624"/>
          </a:xfrm>
          <a:prstGeom prst="roundRect">
            <a:avLst>
              <a:gd name="adj" fmla="val 6522"/>
            </a:avLst>
          </a:prstGeom>
          <a:solidFill>
            <a:srgbClr val="043B72"/>
          </a:solidFill>
          <a:ln/>
        </p:spPr>
      </p:sp>
      <p:sp>
        <p:nvSpPr>
          <p:cNvPr id="13" name="Text 11"/>
          <p:cNvSpPr txBox="1"/>
          <p:nvPr/>
        </p:nvSpPr>
        <p:spPr>
          <a:xfrm>
            <a:off x="6583680" y="19933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Spoqa Han Sans Neo" pitchFamily="34" charset="0"/>
                <a:ea typeface="Spoqa Han Sans Neo" pitchFamily="34" charset="-122"/>
                <a:cs typeface="Spoqa Han Sans Neo" pitchFamily="34" charset="-120"/>
              </a:rPr>
              <a:t>2</a:t>
            </a:r>
            <a:endParaRPr lang="en-US" sz="1400" dirty="0"/>
          </a:p>
        </p:txBody>
      </p:sp>
      <p:sp>
        <p:nvSpPr>
          <p:cNvPr id="14" name="Text 12"/>
          <p:cNvSpPr txBox="1"/>
          <p:nvPr/>
        </p:nvSpPr>
        <p:spPr>
          <a:xfrm>
            <a:off x="7132320" y="2011680"/>
            <a:ext cx="4206240" cy="329184"/>
          </a:xfrm>
          <a:prstGeom prst="rect">
            <a:avLst/>
          </a:prstGeom>
          <a:noFill/>
          <a:ln/>
        </p:spPr>
        <p:txBody>
          <a:bodyPr wrap="square" lIns="0" tIns="0" rIns="0" bIns="0" rtlCol="0" anchor="ctr"/>
          <a:lstStyle/>
          <a:p>
            <a:pPr indent="0" marL="0">
              <a:buNone/>
            </a:pPr>
            <a:r>
              <a:rPr lang="en-US" sz="1550" b="1" dirty="0">
                <a:solidFill>
                  <a:srgbClr val="1A1A1A"/>
                </a:solidFill>
                <a:latin typeface="Spoqa Han Sans Neo" pitchFamily="34" charset="0"/>
                <a:ea typeface="Spoqa Han Sans Neo" pitchFamily="34" charset="-122"/>
                <a:cs typeface="Spoqa Han Sans Neo" pitchFamily="34" charset="-120"/>
              </a:rPr>
              <a:t>ELS 상품 조회</a:t>
            </a:r>
            <a:endParaRPr lang="en-US" sz="1550" dirty="0"/>
          </a:p>
        </p:txBody>
      </p:sp>
      <p:sp>
        <p:nvSpPr>
          <p:cNvPr id="15" name="Text 13"/>
          <p:cNvSpPr txBox="1"/>
          <p:nvPr/>
        </p:nvSpPr>
        <p:spPr>
          <a:xfrm>
            <a:off x="6583680" y="2523744"/>
            <a:ext cx="4754880" cy="658368"/>
          </a:xfrm>
          <a:prstGeom prst="rect">
            <a:avLst/>
          </a:prstGeom>
          <a:noFill/>
          <a:ln/>
        </p:spPr>
        <p:txBody>
          <a:bodyPr wrap="square" lIns="0" tIns="0" rIns="0" bIns="0" rtlCol="0" anchor="ctr"/>
          <a:lstStyle/>
          <a:p>
            <a:pPr indent="0" marL="0">
              <a:lnSpc>
                <a:spcPts val="1600"/>
              </a:lnSpc>
              <a:buNone/>
            </a:pPr>
            <a:r>
              <a:rPr lang="en-US" sz="1150" dirty="0">
                <a:solidFill>
                  <a:srgbClr val="3D3D3D"/>
                </a:solidFill>
                <a:latin typeface="Spoqa Han Sans Neo" pitchFamily="34" charset="0"/>
                <a:ea typeface="Spoqa Han Sans Neo" pitchFamily="34" charset="-122"/>
                <a:cs typeface="Spoqa Han Sans Neo" pitchFamily="34" charset="-120"/>
              </a:rPr>
              <a:t>청약 진행 상품을 매일 자동 수집해 기초자산·조기상환 조건·수익 구조를 한 화면에. 만기 손익 시뮬레이터를 포함합니다.</a:t>
            </a:r>
            <a:endParaRPr lang="en-US" sz="1150" dirty="0"/>
          </a:p>
        </p:txBody>
      </p:sp>
      <p:sp>
        <p:nvSpPr>
          <p:cNvPr id="16" name="Text 14"/>
          <p:cNvSpPr txBox="1"/>
          <p:nvPr/>
        </p:nvSpPr>
        <p:spPr>
          <a:xfrm>
            <a:off x="6583680" y="3163824"/>
            <a:ext cx="4754880" cy="274320"/>
          </a:xfrm>
          <a:prstGeom prst="rect">
            <a:avLst/>
          </a:prstGeom>
          <a:noFill/>
          <a:ln/>
        </p:spPr>
        <p:txBody>
          <a:bodyPr wrap="square" lIns="0" tIns="0" rIns="0" bIns="0" rtlCol="0" anchor="ctr"/>
          <a:lstStyle/>
          <a:p>
            <a:pPr indent="0" marL="0">
              <a:buNone/>
            </a:pPr>
            <a:r>
              <a:rPr lang="en-US" sz="1100" b="1" dirty="0">
                <a:solidFill>
                  <a:srgbClr val="CB6015"/>
                </a:solidFill>
                <a:latin typeface="Spoqa Han Sans Neo" pitchFamily="34" charset="0"/>
                <a:ea typeface="Spoqa Han Sans Neo" pitchFamily="34" charset="-122"/>
                <a:cs typeface="Spoqa Han Sans Neo" pitchFamily="34" charset="-120"/>
              </a:rPr>
              <a:t>37개 상품 매일 자동 수집</a:t>
            </a:r>
            <a:endParaRPr lang="en-US" sz="1100" dirty="0"/>
          </a:p>
        </p:txBody>
      </p:sp>
      <p:sp>
        <p:nvSpPr>
          <p:cNvPr id="17" name="Shape 15"/>
          <p:cNvSpPr/>
          <p:nvPr/>
        </p:nvSpPr>
        <p:spPr>
          <a:xfrm>
            <a:off x="548640" y="3712464"/>
            <a:ext cx="5303520" cy="1792224"/>
          </a:xfrm>
          <a:prstGeom prst="roundRect">
            <a:avLst>
              <a:gd name="adj" fmla="val 1531"/>
            </a:avLst>
          </a:prstGeom>
          <a:solidFill>
            <a:srgbClr val="FFFFFF"/>
          </a:solidFill>
          <a:ln w="9525">
            <a:solidFill>
              <a:srgbClr val="CDCECB"/>
            </a:solidFill>
            <a:prstDash val="solid"/>
          </a:ln>
        </p:spPr>
      </p:sp>
      <p:sp>
        <p:nvSpPr>
          <p:cNvPr id="18" name="Shape 16"/>
          <p:cNvSpPr/>
          <p:nvPr/>
        </p:nvSpPr>
        <p:spPr>
          <a:xfrm>
            <a:off x="822960" y="3968496"/>
            <a:ext cx="420624" cy="420624"/>
          </a:xfrm>
          <a:prstGeom prst="roundRect">
            <a:avLst>
              <a:gd name="adj" fmla="val 6522"/>
            </a:avLst>
          </a:prstGeom>
          <a:solidFill>
            <a:srgbClr val="F58220"/>
          </a:solidFill>
          <a:ln/>
        </p:spPr>
      </p:sp>
      <p:sp>
        <p:nvSpPr>
          <p:cNvPr id="19" name="Text 17"/>
          <p:cNvSpPr txBox="1"/>
          <p:nvPr/>
        </p:nvSpPr>
        <p:spPr>
          <a:xfrm>
            <a:off x="822960" y="39684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Spoqa Han Sans Neo" pitchFamily="34" charset="0"/>
                <a:ea typeface="Spoqa Han Sans Neo" pitchFamily="34" charset="-122"/>
                <a:cs typeface="Spoqa Han Sans Neo" pitchFamily="34" charset="-120"/>
              </a:rPr>
              <a:t>3</a:t>
            </a:r>
            <a:endParaRPr lang="en-US" sz="1400" dirty="0"/>
          </a:p>
        </p:txBody>
      </p:sp>
      <p:sp>
        <p:nvSpPr>
          <p:cNvPr id="20" name="Text 18"/>
          <p:cNvSpPr txBox="1"/>
          <p:nvPr/>
        </p:nvSpPr>
        <p:spPr>
          <a:xfrm>
            <a:off x="1371600" y="3986784"/>
            <a:ext cx="4206240" cy="329184"/>
          </a:xfrm>
          <a:prstGeom prst="rect">
            <a:avLst/>
          </a:prstGeom>
          <a:noFill/>
          <a:ln/>
        </p:spPr>
        <p:txBody>
          <a:bodyPr wrap="square" lIns="0" tIns="0" rIns="0" bIns="0" rtlCol="0" anchor="ctr"/>
          <a:lstStyle/>
          <a:p>
            <a:pPr indent="0" marL="0">
              <a:buNone/>
            </a:pPr>
            <a:r>
              <a:rPr lang="en-US" sz="1550" b="1" dirty="0">
                <a:solidFill>
                  <a:srgbClr val="1A1A1A"/>
                </a:solidFill>
                <a:latin typeface="Spoqa Han Sans Neo" pitchFamily="34" charset="0"/>
                <a:ea typeface="Spoqa Han Sans Neo" pitchFamily="34" charset="-122"/>
                <a:cs typeface="Spoqa Han Sans Neo" pitchFamily="34" charset="-120"/>
              </a:rPr>
              <a:t>국내 종목 통합 리포트</a:t>
            </a:r>
            <a:endParaRPr lang="en-US" sz="1550" dirty="0"/>
          </a:p>
        </p:txBody>
      </p:sp>
      <p:sp>
        <p:nvSpPr>
          <p:cNvPr id="21" name="Text 19"/>
          <p:cNvSpPr txBox="1"/>
          <p:nvPr/>
        </p:nvSpPr>
        <p:spPr>
          <a:xfrm>
            <a:off x="822960" y="4498848"/>
            <a:ext cx="4754880" cy="658368"/>
          </a:xfrm>
          <a:prstGeom prst="rect">
            <a:avLst/>
          </a:prstGeom>
          <a:noFill/>
          <a:ln/>
        </p:spPr>
        <p:txBody>
          <a:bodyPr wrap="square" lIns="0" tIns="0" rIns="0" bIns="0" rtlCol="0" anchor="ctr"/>
          <a:lstStyle/>
          <a:p>
            <a:pPr indent="0" marL="0">
              <a:lnSpc>
                <a:spcPts val="1600"/>
              </a:lnSpc>
              <a:buNone/>
            </a:pPr>
            <a:r>
              <a:rPr lang="en-US" sz="1150" dirty="0">
                <a:solidFill>
                  <a:srgbClr val="3D3D3D"/>
                </a:solidFill>
                <a:latin typeface="Spoqa Han Sans Neo" pitchFamily="34" charset="0"/>
                <a:ea typeface="Spoqa Han Sans Neo" pitchFamily="34" charset="-122"/>
                <a:cs typeface="Spoqa Han Sans Neo" pitchFamily="34" charset="-120"/>
              </a:rPr>
              <a:t>종목명만 넣으면 시세·기술적지표·외국인/기관 수급·증권사 목표주가·뉴스·재무제표를 한 장의 리포트로 묶어 보여줍니다.</a:t>
            </a:r>
            <a:endParaRPr lang="en-US" sz="1150" dirty="0"/>
          </a:p>
        </p:txBody>
      </p:sp>
      <p:sp>
        <p:nvSpPr>
          <p:cNvPr id="22" name="Text 20"/>
          <p:cNvSpPr txBox="1"/>
          <p:nvPr/>
        </p:nvSpPr>
        <p:spPr>
          <a:xfrm>
            <a:off x="822960" y="5138928"/>
            <a:ext cx="4754880" cy="274320"/>
          </a:xfrm>
          <a:prstGeom prst="rect">
            <a:avLst/>
          </a:prstGeom>
          <a:noFill/>
          <a:ln/>
        </p:spPr>
        <p:txBody>
          <a:bodyPr wrap="square" lIns="0" tIns="0" rIns="0" bIns="0" rtlCol="0" anchor="ctr"/>
          <a:lstStyle/>
          <a:p>
            <a:pPr indent="0" marL="0">
              <a:buNone/>
            </a:pPr>
            <a:r>
              <a:rPr lang="en-US" sz="1100" b="1" dirty="0">
                <a:solidFill>
                  <a:srgbClr val="CB6015"/>
                </a:solidFill>
                <a:latin typeface="Spoqa Han Sans Neo" pitchFamily="34" charset="0"/>
                <a:ea typeface="Spoqa Han Sans Neo" pitchFamily="34" charset="-122"/>
                <a:cs typeface="Spoqa Han Sans Neo" pitchFamily="34" charset="-120"/>
              </a:rPr>
              <a:t>6개 섹션 · PDF 저장 · 최대 4종목 비교</a:t>
            </a:r>
            <a:endParaRPr lang="en-US" sz="1100" dirty="0"/>
          </a:p>
        </p:txBody>
      </p:sp>
      <p:sp>
        <p:nvSpPr>
          <p:cNvPr id="23" name="Shape 21"/>
          <p:cNvSpPr/>
          <p:nvPr/>
        </p:nvSpPr>
        <p:spPr>
          <a:xfrm>
            <a:off x="6309360" y="3712464"/>
            <a:ext cx="5303520" cy="1792224"/>
          </a:xfrm>
          <a:prstGeom prst="roundRect">
            <a:avLst>
              <a:gd name="adj" fmla="val 1531"/>
            </a:avLst>
          </a:prstGeom>
          <a:solidFill>
            <a:srgbClr val="FFFFFF"/>
          </a:solidFill>
          <a:ln w="9525">
            <a:solidFill>
              <a:srgbClr val="CDCECB"/>
            </a:solidFill>
            <a:prstDash val="solid"/>
          </a:ln>
        </p:spPr>
      </p:sp>
      <p:sp>
        <p:nvSpPr>
          <p:cNvPr id="24" name="Shape 22"/>
          <p:cNvSpPr/>
          <p:nvPr/>
        </p:nvSpPr>
        <p:spPr>
          <a:xfrm>
            <a:off x="6583680" y="3968496"/>
            <a:ext cx="420624" cy="420624"/>
          </a:xfrm>
          <a:prstGeom prst="roundRect">
            <a:avLst>
              <a:gd name="adj" fmla="val 6522"/>
            </a:avLst>
          </a:prstGeom>
          <a:solidFill>
            <a:srgbClr val="043B72"/>
          </a:solidFill>
          <a:ln/>
        </p:spPr>
      </p:sp>
      <p:sp>
        <p:nvSpPr>
          <p:cNvPr id="25" name="Text 23"/>
          <p:cNvSpPr txBox="1"/>
          <p:nvPr/>
        </p:nvSpPr>
        <p:spPr>
          <a:xfrm>
            <a:off x="6583680" y="39684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Spoqa Han Sans Neo" pitchFamily="34" charset="0"/>
                <a:ea typeface="Spoqa Han Sans Neo" pitchFamily="34" charset="-122"/>
                <a:cs typeface="Spoqa Han Sans Neo" pitchFamily="34" charset="-120"/>
              </a:rPr>
              <a:t>4</a:t>
            </a:r>
            <a:endParaRPr lang="en-US" sz="1400" dirty="0"/>
          </a:p>
        </p:txBody>
      </p:sp>
      <p:sp>
        <p:nvSpPr>
          <p:cNvPr id="26" name="Text 24"/>
          <p:cNvSpPr txBox="1"/>
          <p:nvPr/>
        </p:nvSpPr>
        <p:spPr>
          <a:xfrm>
            <a:off x="7132320" y="3986784"/>
            <a:ext cx="4206240" cy="329184"/>
          </a:xfrm>
          <a:prstGeom prst="rect">
            <a:avLst/>
          </a:prstGeom>
          <a:noFill/>
          <a:ln/>
        </p:spPr>
        <p:txBody>
          <a:bodyPr wrap="square" lIns="0" tIns="0" rIns="0" bIns="0" rtlCol="0" anchor="ctr"/>
          <a:lstStyle/>
          <a:p>
            <a:pPr indent="0" marL="0">
              <a:buNone/>
            </a:pPr>
            <a:r>
              <a:rPr lang="en-US" sz="1550" b="1" dirty="0">
                <a:solidFill>
                  <a:srgbClr val="1A1A1A"/>
                </a:solidFill>
                <a:latin typeface="Spoqa Han Sans Neo" pitchFamily="34" charset="0"/>
                <a:ea typeface="Spoqa Han Sans Neo" pitchFamily="34" charset="-122"/>
                <a:cs typeface="Spoqa Han Sans Neo" pitchFamily="34" charset="-120"/>
              </a:rPr>
              <a:t>마포WM 모바일 창구</a:t>
            </a:r>
            <a:endParaRPr lang="en-US" sz="1550" dirty="0"/>
          </a:p>
        </p:txBody>
      </p:sp>
      <p:sp>
        <p:nvSpPr>
          <p:cNvPr id="27" name="Text 25"/>
          <p:cNvSpPr txBox="1"/>
          <p:nvPr/>
        </p:nvSpPr>
        <p:spPr>
          <a:xfrm>
            <a:off x="6583680" y="4498848"/>
            <a:ext cx="4754880" cy="658368"/>
          </a:xfrm>
          <a:prstGeom prst="rect">
            <a:avLst/>
          </a:prstGeom>
          <a:noFill/>
          <a:ln/>
        </p:spPr>
        <p:txBody>
          <a:bodyPr wrap="square" lIns="0" tIns="0" rIns="0" bIns="0" rtlCol="0" anchor="ctr"/>
          <a:lstStyle/>
          <a:p>
            <a:pPr indent="0" marL="0">
              <a:lnSpc>
                <a:spcPts val="1600"/>
              </a:lnSpc>
              <a:buNone/>
            </a:pPr>
            <a:r>
              <a:rPr lang="en-US" sz="1150" dirty="0">
                <a:solidFill>
                  <a:srgbClr val="3D3D3D"/>
                </a:solidFill>
                <a:latin typeface="Spoqa Han Sans Neo" pitchFamily="34" charset="0"/>
                <a:ea typeface="Spoqa Han Sans Neo" pitchFamily="34" charset="-122"/>
                <a:cs typeface="Spoqa Han Sans Neo" pitchFamily="34" charset="-120"/>
              </a:rPr>
              <a:t>전단의 QR 13개를 링크 한 개로 옮겨, 고객이 문자로 받은 주소를 누르면 해당 업무가 바로 열립니다. 배포는 자동입니다.</a:t>
            </a:r>
            <a:endParaRPr lang="en-US" sz="1150" dirty="0"/>
          </a:p>
        </p:txBody>
      </p:sp>
      <p:sp>
        <p:nvSpPr>
          <p:cNvPr id="28" name="Text 26"/>
          <p:cNvSpPr txBox="1"/>
          <p:nvPr/>
        </p:nvSpPr>
        <p:spPr>
          <a:xfrm>
            <a:off x="6583680" y="5138928"/>
            <a:ext cx="4754880" cy="274320"/>
          </a:xfrm>
          <a:prstGeom prst="rect">
            <a:avLst/>
          </a:prstGeom>
          <a:noFill/>
          <a:ln/>
        </p:spPr>
        <p:txBody>
          <a:bodyPr wrap="square" lIns="0" tIns="0" rIns="0" bIns="0" rtlCol="0" anchor="ctr"/>
          <a:lstStyle/>
          <a:p>
            <a:pPr indent="0" marL="0">
              <a:buNone/>
            </a:pPr>
            <a:r>
              <a:rPr lang="en-US" sz="1100" b="1" dirty="0">
                <a:solidFill>
                  <a:srgbClr val="CB6015"/>
                </a:solidFill>
                <a:latin typeface="Spoqa Han Sans Neo" pitchFamily="34" charset="0"/>
                <a:ea typeface="Spoqa Han Sans Neo" pitchFamily="34" charset="-122"/>
                <a:cs typeface="Spoqa Han Sans Neo" pitchFamily="34" charset="-120"/>
              </a:rPr>
              <a:t>13개 업무 · QR 스캔 단계 제거</a:t>
            </a:r>
            <a:endParaRPr lang="en-US" sz="1100" dirty="0"/>
          </a:p>
        </p:txBody>
      </p:sp>
      <p:sp>
        <p:nvSpPr>
          <p:cNvPr id="29" name="Shape 27"/>
          <p:cNvSpPr/>
          <p:nvPr/>
        </p:nvSpPr>
        <p:spPr>
          <a:xfrm>
            <a:off x="548640" y="5687568"/>
            <a:ext cx="11064240" cy="749808"/>
          </a:xfrm>
          <a:prstGeom prst="roundRect">
            <a:avLst>
              <a:gd name="adj" fmla="val 3659"/>
            </a:avLst>
          </a:prstGeom>
          <a:solidFill>
            <a:srgbClr val="F58220"/>
          </a:solidFill>
          <a:ln/>
        </p:spPr>
      </p:sp>
      <p:sp>
        <p:nvSpPr>
          <p:cNvPr id="30" name="Text 28"/>
          <p:cNvSpPr txBox="1"/>
          <p:nvPr/>
        </p:nvSpPr>
        <p:spPr>
          <a:xfrm>
            <a:off x="822960" y="5797296"/>
            <a:ext cx="10515600" cy="548640"/>
          </a:xfrm>
          <a:prstGeom prst="rect">
            <a:avLst/>
          </a:prstGeom>
          <a:noFill/>
          <a:ln/>
        </p:spPr>
        <p:txBody>
          <a:bodyPr wrap="square" lIns="0" tIns="0" rIns="0" bIns="0" rtlCol="0" anchor="ctr"/>
          <a:lstStyle/>
          <a:p>
            <a:pPr indent="0" marL="0">
              <a:lnSpc>
                <a:spcPts val="1600"/>
              </a:lnSpc>
              <a:buNone/>
            </a:pPr>
            <a:r>
              <a:rPr lang="en-US" sz="1400" b="1" dirty="0">
                <a:solidFill>
                  <a:srgbClr val="FFFFFF"/>
                </a:solidFill>
                <a:latin typeface="Spoqa Han Sans Neo" pitchFamily="34" charset="0"/>
                <a:ea typeface="Spoqa Han Sans Neo" pitchFamily="34" charset="-122"/>
                <a:cs typeface="Spoqa Han Sans Neo" pitchFamily="34" charset="-120"/>
              </a:rPr>
              <a:t>사내망에서도 열립니다   </a:t>
            </a:r>
            <a:pPr indent="0" marL="0">
              <a:lnSpc>
                <a:spcPts val="1600"/>
              </a:lnSpc>
              <a:buNone/>
            </a:pPr>
            <a:r>
              <a:rPr lang="en-US" sz="1150" dirty="0">
                <a:solidFill>
                  <a:srgbClr val="FFF0E2"/>
                </a:solidFill>
                <a:latin typeface="Spoqa Han Sans Neo" pitchFamily="34" charset="0"/>
                <a:ea typeface="Spoqa Han Sans Neo" pitchFamily="34" charset="-122"/>
                <a:cs typeface="Spoqa Han Sans Neo" pitchFamily="34" charset="-120"/>
              </a:rPr>
              <a:t>외부가 막히면 저장된 값으로 그리고(경로 4중 폴백), 어느 경로가 막혔는지 화면에서 진단해 담당자에게 보낼 요약을 만들어 줍니다. 인터넷이 없는 PC 용 오프라인 단일 파일도 매일 자동 생성됩니다.</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43B72"/>
        </a:solidFill>
      </p:bgPr>
    </p:bg>
    <p:spTree>
      <p:nvGrpSpPr>
        <p:cNvPr id="1" name=""/>
        <p:cNvGrpSpPr/>
        <p:nvPr/>
      </p:nvGrpSpPr>
      <p:grpSpPr>
        <a:xfrm>
          <a:off x="0" y="0"/>
          <a:ext cx="0" cy="0"/>
          <a:chOff x="0" y="0"/>
          <a:chExt cx="0" cy="0"/>
        </a:xfrm>
      </p:grpSpPr>
      <p:sp>
        <p:nvSpPr>
          <p:cNvPr id="2" name="Shape 0"/>
          <p:cNvSpPr/>
          <p:nvPr/>
        </p:nvSpPr>
        <p:spPr>
          <a:xfrm>
            <a:off x="548640" y="475488"/>
            <a:ext cx="11064240" cy="11887"/>
          </a:xfrm>
          <a:prstGeom prst="rect">
            <a:avLst/>
          </a:prstGeom>
          <a:solidFill>
            <a:srgbClr val="F58220"/>
          </a:solidFill>
          <a:ln/>
        </p:spPr>
      </p:sp>
      <p:sp>
        <p:nvSpPr>
          <p:cNvPr id="3" name="Text 1"/>
          <p:cNvSpPr txBox="1"/>
          <p:nvPr/>
        </p:nvSpPr>
        <p:spPr>
          <a:xfrm>
            <a:off x="548640" y="548640"/>
            <a:ext cx="3657600" cy="256032"/>
          </a:xfrm>
          <a:prstGeom prst="rect">
            <a:avLst/>
          </a:prstGeom>
          <a:noFill/>
          <a:ln/>
        </p:spPr>
        <p:txBody>
          <a:bodyPr wrap="square" lIns="0" tIns="0" rIns="0" bIns="0" rtlCol="0" anchor="ctr"/>
          <a:lstStyle/>
          <a:p>
            <a:pPr indent="0" marL="0">
              <a:buNone/>
            </a:pPr>
            <a:r>
              <a:rPr lang="en-US" sz="1150" b="1" spc="120" kern="0" dirty="0">
                <a:solidFill>
                  <a:srgbClr val="FAB072"/>
                </a:solidFill>
                <a:latin typeface="Spoqa Han Sans Neo" pitchFamily="34" charset="0"/>
                <a:ea typeface="Spoqa Han Sans Neo" pitchFamily="34" charset="-122"/>
                <a:cs typeface="Spoqa Han Sans Neo" pitchFamily="34" charset="-120"/>
              </a:rPr>
              <a:t>마무리</a:t>
            </a:r>
            <a:endParaRPr lang="en-US" sz="1150" dirty="0"/>
          </a:p>
        </p:txBody>
      </p:sp>
      <p:sp>
        <p:nvSpPr>
          <p:cNvPr id="4" name="Text 2"/>
          <p:cNvSpPr txBox="1"/>
          <p:nvPr/>
        </p:nvSpPr>
        <p:spPr>
          <a:xfrm>
            <a:off x="548640" y="804672"/>
            <a:ext cx="11064240" cy="566928"/>
          </a:xfrm>
          <a:prstGeom prst="rect">
            <a:avLst/>
          </a:prstGeom>
          <a:noFill/>
          <a:ln/>
        </p:spPr>
        <p:txBody>
          <a:bodyPr wrap="square" lIns="0" tIns="0" rIns="0" bIns="0" rtlCol="0" anchor="ctr"/>
          <a:lstStyle/>
          <a:p>
            <a:pPr indent="0" marL="0">
              <a:buNone/>
            </a:pPr>
            <a:r>
              <a:rPr lang="en-US" sz="2800" b="1" spc="-40" kern="0" dirty="0">
                <a:solidFill>
                  <a:srgbClr val="FFFFFF"/>
                </a:solidFill>
                <a:latin typeface="Spoqa Han Sans Neo" pitchFamily="34" charset="0"/>
                <a:ea typeface="Spoqa Han Sans Neo" pitchFamily="34" charset="-122"/>
                <a:cs typeface="Spoqa Han Sans Neo" pitchFamily="34" charset="-120"/>
              </a:rPr>
              <a:t>정량 성과와 다음 단계</a:t>
            </a:r>
            <a:endParaRPr lang="en-US" sz="2800" dirty="0"/>
          </a:p>
        </p:txBody>
      </p:sp>
      <p:sp>
        <p:nvSpPr>
          <p:cNvPr id="5" name="Text 3"/>
          <p:cNvSpPr txBox="1"/>
          <p:nvPr/>
        </p:nvSpPr>
        <p:spPr>
          <a:xfrm>
            <a:off x="548640" y="1664208"/>
            <a:ext cx="5760720" cy="292608"/>
          </a:xfrm>
          <a:prstGeom prst="rect">
            <a:avLst/>
          </a:prstGeom>
          <a:noFill/>
          <a:ln/>
        </p:spPr>
        <p:txBody>
          <a:bodyPr wrap="square" lIns="0" tIns="0" rIns="0" bIns="0" rtlCol="0" anchor="ctr"/>
          <a:lstStyle/>
          <a:p>
            <a:pPr indent="0" marL="0">
              <a:buNone/>
            </a:pPr>
            <a:r>
              <a:rPr lang="en-US" sz="1500" b="1" dirty="0">
                <a:solidFill>
                  <a:srgbClr val="FAB072"/>
                </a:solidFill>
                <a:latin typeface="Spoqa Han Sans Neo" pitchFamily="34" charset="0"/>
                <a:ea typeface="Spoqa Han Sans Neo" pitchFamily="34" charset="-122"/>
                <a:cs typeface="Spoqa Han Sans Neo" pitchFamily="34" charset="-120"/>
              </a:rPr>
              <a:t>정량 성과</a:t>
            </a:r>
            <a:endParaRPr lang="en-US" sz="1500" dirty="0"/>
          </a:p>
        </p:txBody>
      </p:sp>
      <p:sp>
        <p:nvSpPr>
          <p:cNvPr id="6" name="Text 4"/>
          <p:cNvSpPr txBox="1"/>
          <p:nvPr/>
        </p:nvSpPr>
        <p:spPr>
          <a:xfrm>
            <a:off x="548640" y="2103120"/>
            <a:ext cx="2103120" cy="603504"/>
          </a:xfrm>
          <a:prstGeom prst="rect">
            <a:avLst/>
          </a:prstGeom>
          <a:noFill/>
          <a:ln/>
        </p:spPr>
        <p:txBody>
          <a:bodyPr wrap="square" lIns="0" tIns="0" rIns="0" bIns="0" rtlCol="0" anchor="ctr"/>
          <a:lstStyle/>
          <a:p>
            <a:pPr indent="0" marL="0">
              <a:buNone/>
            </a:pPr>
            <a:r>
              <a:rPr lang="en-US" sz="1700" b="1" dirty="0">
                <a:solidFill>
                  <a:srgbClr val="FAB072"/>
                </a:solidFill>
                <a:latin typeface="Spoqa Han Sans Neo" pitchFamily="34" charset="0"/>
                <a:ea typeface="Spoqa Han Sans Neo" pitchFamily="34" charset="-122"/>
                <a:cs typeface="Spoqa Han Sans Neo" pitchFamily="34" charset="-120"/>
              </a:rPr>
              <a:t>60판 / 32일</a:t>
            </a:r>
            <a:endParaRPr lang="en-US" sz="1700" dirty="0"/>
          </a:p>
        </p:txBody>
      </p:sp>
      <p:sp>
        <p:nvSpPr>
          <p:cNvPr id="7" name="Text 5"/>
          <p:cNvSpPr txBox="1"/>
          <p:nvPr/>
        </p:nvSpPr>
        <p:spPr>
          <a:xfrm>
            <a:off x="2724912" y="2103120"/>
            <a:ext cx="3931920" cy="603504"/>
          </a:xfrm>
          <a:prstGeom prst="rect">
            <a:avLst/>
          </a:prstGeom>
          <a:noFill/>
          <a:ln/>
        </p:spPr>
        <p:txBody>
          <a:bodyPr wrap="square" lIns="0" tIns="0" rIns="0" bIns="0" rtlCol="0" anchor="ctr"/>
          <a:lstStyle/>
          <a:p>
            <a:pPr indent="0" marL="0">
              <a:lnSpc>
                <a:spcPts val="1600"/>
              </a:lnSpc>
              <a:buNone/>
            </a:pPr>
            <a:r>
              <a:rPr lang="en-US" sz="1150" dirty="0">
                <a:solidFill>
                  <a:srgbClr val="C6D6E8"/>
                </a:solidFill>
                <a:latin typeface="Spoqa Han Sans Neo" pitchFamily="34" charset="0"/>
                <a:ea typeface="Spoqa Han Sans Neo" pitchFamily="34" charset="-122"/>
                <a:cs typeface="Spoqa Han Sans Neo" pitchFamily="34" charset="-120"/>
              </a:rPr>
              <a:t>시황 브리핑 무인 발행 — 휴장일 포함 무결점 연속</a:t>
            </a:r>
            <a:endParaRPr lang="en-US" sz="1150" dirty="0"/>
          </a:p>
        </p:txBody>
      </p:sp>
      <p:sp>
        <p:nvSpPr>
          <p:cNvPr id="8" name="Shape 6"/>
          <p:cNvSpPr/>
          <p:nvPr/>
        </p:nvSpPr>
        <p:spPr>
          <a:xfrm>
            <a:off x="548640" y="2706624"/>
            <a:ext cx="5715000" cy="9144"/>
          </a:xfrm>
          <a:prstGeom prst="rect">
            <a:avLst/>
          </a:prstGeom>
          <a:solidFill>
            <a:srgbClr val="1E5288"/>
          </a:solidFill>
          <a:ln/>
        </p:spPr>
      </p:sp>
      <p:sp>
        <p:nvSpPr>
          <p:cNvPr id="9" name="Text 7"/>
          <p:cNvSpPr txBox="1"/>
          <p:nvPr/>
        </p:nvSpPr>
        <p:spPr>
          <a:xfrm>
            <a:off x="548640" y="2907792"/>
            <a:ext cx="2103120" cy="603504"/>
          </a:xfrm>
          <a:prstGeom prst="rect">
            <a:avLst/>
          </a:prstGeom>
          <a:noFill/>
          <a:ln/>
        </p:spPr>
        <p:txBody>
          <a:bodyPr wrap="square" lIns="0" tIns="0" rIns="0" bIns="0" rtlCol="0" anchor="ctr"/>
          <a:lstStyle/>
          <a:p>
            <a:pPr indent="0" marL="0">
              <a:buNone/>
            </a:pPr>
            <a:r>
              <a:rPr lang="en-US" sz="1700" b="1" dirty="0">
                <a:solidFill>
                  <a:srgbClr val="FAB072"/>
                </a:solidFill>
                <a:latin typeface="Spoqa Han Sans Neo" pitchFamily="34" charset="0"/>
                <a:ea typeface="Spoqa Han Sans Neo" pitchFamily="34" charset="-122"/>
                <a:cs typeface="Spoqa Han Sans Neo" pitchFamily="34" charset="-120"/>
              </a:rPr>
              <a:t>약 60시간</a:t>
            </a:r>
            <a:endParaRPr lang="en-US" sz="1700" dirty="0"/>
          </a:p>
        </p:txBody>
      </p:sp>
      <p:sp>
        <p:nvSpPr>
          <p:cNvPr id="10" name="Text 8"/>
          <p:cNvSpPr txBox="1"/>
          <p:nvPr/>
        </p:nvSpPr>
        <p:spPr>
          <a:xfrm>
            <a:off x="2724912" y="2907792"/>
            <a:ext cx="3931920" cy="603504"/>
          </a:xfrm>
          <a:prstGeom prst="rect">
            <a:avLst/>
          </a:prstGeom>
          <a:noFill/>
          <a:ln/>
        </p:spPr>
        <p:txBody>
          <a:bodyPr wrap="square" lIns="0" tIns="0" rIns="0" bIns="0" rtlCol="0" anchor="ctr"/>
          <a:lstStyle/>
          <a:p>
            <a:pPr indent="0" marL="0">
              <a:lnSpc>
                <a:spcPts val="1600"/>
              </a:lnSpc>
              <a:buNone/>
            </a:pPr>
            <a:r>
              <a:rPr lang="en-US" sz="1150" dirty="0">
                <a:solidFill>
                  <a:srgbClr val="C6D6E8"/>
                </a:solidFill>
                <a:latin typeface="Spoqa Han Sans Neo" pitchFamily="34" charset="0"/>
                <a:ea typeface="Spoqa Han Sans Neo" pitchFamily="34" charset="-122"/>
                <a:cs typeface="Spoqa Han Sans Neo" pitchFamily="34" charset="-120"/>
              </a:rPr>
              <a:t>브리핑 작성 시간 절감 (추정 · 판당 60분 기준)</a:t>
            </a:r>
            <a:endParaRPr lang="en-US" sz="1150" dirty="0"/>
          </a:p>
        </p:txBody>
      </p:sp>
      <p:sp>
        <p:nvSpPr>
          <p:cNvPr id="11" name="Shape 9"/>
          <p:cNvSpPr/>
          <p:nvPr/>
        </p:nvSpPr>
        <p:spPr>
          <a:xfrm>
            <a:off x="548640" y="3511296"/>
            <a:ext cx="5715000" cy="9144"/>
          </a:xfrm>
          <a:prstGeom prst="rect">
            <a:avLst/>
          </a:prstGeom>
          <a:solidFill>
            <a:srgbClr val="1E5288"/>
          </a:solidFill>
          <a:ln/>
        </p:spPr>
      </p:sp>
      <p:sp>
        <p:nvSpPr>
          <p:cNvPr id="12" name="Text 10"/>
          <p:cNvSpPr txBox="1"/>
          <p:nvPr/>
        </p:nvSpPr>
        <p:spPr>
          <a:xfrm>
            <a:off x="548640" y="3712464"/>
            <a:ext cx="2103120" cy="603504"/>
          </a:xfrm>
          <a:prstGeom prst="rect">
            <a:avLst/>
          </a:prstGeom>
          <a:noFill/>
          <a:ln/>
        </p:spPr>
        <p:txBody>
          <a:bodyPr wrap="square" lIns="0" tIns="0" rIns="0" bIns="0" rtlCol="0" anchor="ctr"/>
          <a:lstStyle/>
          <a:p>
            <a:pPr indent="0" marL="0">
              <a:buNone/>
            </a:pPr>
            <a:r>
              <a:rPr lang="en-US" sz="1700" b="1" dirty="0">
                <a:solidFill>
                  <a:srgbClr val="FAB072"/>
                </a:solidFill>
                <a:latin typeface="Spoqa Han Sans Neo" pitchFamily="34" charset="0"/>
                <a:ea typeface="Spoqa Han Sans Neo" pitchFamily="34" charset="-122"/>
                <a:cs typeface="Spoqa Han Sans Neo" pitchFamily="34" charset="-120"/>
              </a:rPr>
              <a:t>7종</a:t>
            </a:r>
            <a:endParaRPr lang="en-US" sz="1700" dirty="0"/>
          </a:p>
        </p:txBody>
      </p:sp>
      <p:sp>
        <p:nvSpPr>
          <p:cNvPr id="13" name="Text 11"/>
          <p:cNvSpPr txBox="1"/>
          <p:nvPr/>
        </p:nvSpPr>
        <p:spPr>
          <a:xfrm>
            <a:off x="2724912" y="3712464"/>
            <a:ext cx="3931920" cy="603504"/>
          </a:xfrm>
          <a:prstGeom prst="rect">
            <a:avLst/>
          </a:prstGeom>
          <a:noFill/>
          <a:ln/>
        </p:spPr>
        <p:txBody>
          <a:bodyPr wrap="square" lIns="0" tIns="0" rIns="0" bIns="0" rtlCol="0" anchor="ctr"/>
          <a:lstStyle/>
          <a:p>
            <a:pPr indent="0" marL="0">
              <a:lnSpc>
                <a:spcPts val="1600"/>
              </a:lnSpc>
              <a:buNone/>
            </a:pPr>
            <a:r>
              <a:rPr lang="en-US" sz="1150" dirty="0">
                <a:solidFill>
                  <a:srgbClr val="C6D6E8"/>
                </a:solidFill>
                <a:latin typeface="Spoqa Han Sans Neo" pitchFamily="34" charset="0"/>
                <a:ea typeface="Spoqa Han Sans Neo" pitchFamily="34" charset="-122"/>
                <a:cs typeface="Spoqa Han Sans Neo" pitchFamily="34" charset="-120"/>
              </a:rPr>
              <a:t>무인 운영 워크플로 — 하루 최대 60여 회 자동 실행</a:t>
            </a:r>
            <a:endParaRPr lang="en-US" sz="1150" dirty="0"/>
          </a:p>
        </p:txBody>
      </p:sp>
      <p:sp>
        <p:nvSpPr>
          <p:cNvPr id="14" name="Shape 12"/>
          <p:cNvSpPr/>
          <p:nvPr/>
        </p:nvSpPr>
        <p:spPr>
          <a:xfrm>
            <a:off x="548640" y="4315968"/>
            <a:ext cx="5715000" cy="9144"/>
          </a:xfrm>
          <a:prstGeom prst="rect">
            <a:avLst/>
          </a:prstGeom>
          <a:solidFill>
            <a:srgbClr val="1E5288"/>
          </a:solidFill>
          <a:ln/>
        </p:spPr>
      </p:sp>
      <p:sp>
        <p:nvSpPr>
          <p:cNvPr id="15" name="Text 13"/>
          <p:cNvSpPr txBox="1"/>
          <p:nvPr/>
        </p:nvSpPr>
        <p:spPr>
          <a:xfrm>
            <a:off x="548640" y="4517136"/>
            <a:ext cx="2103120" cy="603504"/>
          </a:xfrm>
          <a:prstGeom prst="rect">
            <a:avLst/>
          </a:prstGeom>
          <a:noFill/>
          <a:ln/>
        </p:spPr>
        <p:txBody>
          <a:bodyPr wrap="square" lIns="0" tIns="0" rIns="0" bIns="0" rtlCol="0" anchor="ctr"/>
          <a:lstStyle/>
          <a:p>
            <a:pPr indent="0" marL="0">
              <a:buNone/>
            </a:pPr>
            <a:r>
              <a:rPr lang="en-US" sz="1700" b="1" dirty="0">
                <a:solidFill>
                  <a:srgbClr val="FAB072"/>
                </a:solidFill>
                <a:latin typeface="Spoqa Han Sans Neo" pitchFamily="34" charset="0"/>
                <a:ea typeface="Spoqa Han Sans Neo" pitchFamily="34" charset="-122"/>
                <a:cs typeface="Spoqa Han Sans Neo" pitchFamily="34" charset="-120"/>
              </a:rPr>
              <a:t>100 · 37 · 35</a:t>
            </a:r>
            <a:endParaRPr lang="en-US" sz="1700" dirty="0"/>
          </a:p>
        </p:txBody>
      </p:sp>
      <p:sp>
        <p:nvSpPr>
          <p:cNvPr id="16" name="Text 14"/>
          <p:cNvSpPr txBox="1"/>
          <p:nvPr/>
        </p:nvSpPr>
        <p:spPr>
          <a:xfrm>
            <a:off x="2724912" y="4517136"/>
            <a:ext cx="3931920" cy="603504"/>
          </a:xfrm>
          <a:prstGeom prst="rect">
            <a:avLst/>
          </a:prstGeom>
          <a:noFill/>
          <a:ln/>
        </p:spPr>
        <p:txBody>
          <a:bodyPr wrap="square" lIns="0" tIns="0" rIns="0" bIns="0" rtlCol="0" anchor="ctr"/>
          <a:lstStyle/>
          <a:p>
            <a:pPr indent="0" marL="0">
              <a:lnSpc>
                <a:spcPts val="1600"/>
              </a:lnSpc>
              <a:buNone/>
            </a:pPr>
            <a:r>
              <a:rPr lang="en-US" sz="1150" dirty="0">
                <a:solidFill>
                  <a:srgbClr val="C6D6E8"/>
                </a:solidFill>
                <a:latin typeface="Spoqa Han Sans Neo" pitchFamily="34" charset="0"/>
                <a:ea typeface="Spoqa Han Sans Neo" pitchFamily="34" charset="-122"/>
                <a:cs typeface="Spoqa Han Sans Neo" pitchFamily="34" charset="-120"/>
              </a:rPr>
              <a:t>커버리지 — 미국 기업 100개, ELS 37개 상품, 데이터 35계열</a:t>
            </a:r>
            <a:endParaRPr lang="en-US" sz="1150" dirty="0"/>
          </a:p>
        </p:txBody>
      </p:sp>
      <p:sp>
        <p:nvSpPr>
          <p:cNvPr id="17" name="Shape 15"/>
          <p:cNvSpPr/>
          <p:nvPr/>
        </p:nvSpPr>
        <p:spPr>
          <a:xfrm>
            <a:off x="548640" y="5120640"/>
            <a:ext cx="5715000" cy="9144"/>
          </a:xfrm>
          <a:prstGeom prst="rect">
            <a:avLst/>
          </a:prstGeom>
          <a:solidFill>
            <a:srgbClr val="1E5288"/>
          </a:solidFill>
          <a:ln/>
        </p:spPr>
      </p:sp>
      <p:sp>
        <p:nvSpPr>
          <p:cNvPr id="18" name="Text 16"/>
          <p:cNvSpPr txBox="1"/>
          <p:nvPr/>
        </p:nvSpPr>
        <p:spPr>
          <a:xfrm>
            <a:off x="548640" y="5321808"/>
            <a:ext cx="2103120" cy="603504"/>
          </a:xfrm>
          <a:prstGeom prst="rect">
            <a:avLst/>
          </a:prstGeom>
          <a:noFill/>
          <a:ln/>
        </p:spPr>
        <p:txBody>
          <a:bodyPr wrap="square" lIns="0" tIns="0" rIns="0" bIns="0" rtlCol="0" anchor="ctr"/>
          <a:lstStyle/>
          <a:p>
            <a:pPr indent="0" marL="0">
              <a:buNone/>
            </a:pPr>
            <a:r>
              <a:rPr lang="en-US" sz="1700" b="1" dirty="0">
                <a:solidFill>
                  <a:srgbClr val="FAB072"/>
                </a:solidFill>
                <a:latin typeface="Spoqa Han Sans Neo" pitchFamily="34" charset="0"/>
                <a:ea typeface="Spoqa Han Sans Neo" pitchFamily="34" charset="-122"/>
                <a:cs typeface="Spoqa Han Sans Neo" pitchFamily="34" charset="-120"/>
              </a:rPr>
              <a:t>25,400줄</a:t>
            </a:r>
            <a:endParaRPr lang="en-US" sz="1700" dirty="0"/>
          </a:p>
        </p:txBody>
      </p:sp>
      <p:sp>
        <p:nvSpPr>
          <p:cNvPr id="19" name="Text 17"/>
          <p:cNvSpPr txBox="1"/>
          <p:nvPr/>
        </p:nvSpPr>
        <p:spPr>
          <a:xfrm>
            <a:off x="2724912" y="5321808"/>
            <a:ext cx="3931920" cy="603504"/>
          </a:xfrm>
          <a:prstGeom prst="rect">
            <a:avLst/>
          </a:prstGeom>
          <a:noFill/>
          <a:ln/>
        </p:spPr>
        <p:txBody>
          <a:bodyPr wrap="square" lIns="0" tIns="0" rIns="0" bIns="0" rtlCol="0" anchor="ctr"/>
          <a:lstStyle/>
          <a:p>
            <a:pPr indent="0" marL="0">
              <a:lnSpc>
                <a:spcPts val="1600"/>
              </a:lnSpc>
              <a:buNone/>
            </a:pPr>
            <a:r>
              <a:rPr lang="en-US" sz="1150" dirty="0">
                <a:solidFill>
                  <a:srgbClr val="C6D6E8"/>
                </a:solidFill>
                <a:latin typeface="Spoqa Han Sans Neo" pitchFamily="34" charset="0"/>
                <a:ea typeface="Spoqa Han Sans Neo" pitchFamily="34" charset="-122"/>
                <a:cs typeface="Spoqa Han Sans Neo" pitchFamily="34" charset="-120"/>
              </a:rPr>
              <a:t>화면 14,592줄 + 수집·검증 10,808줄</a:t>
            </a:r>
            <a:endParaRPr lang="en-US" sz="1150" dirty="0"/>
          </a:p>
        </p:txBody>
      </p:sp>
      <p:sp>
        <p:nvSpPr>
          <p:cNvPr id="20" name="Shape 18"/>
          <p:cNvSpPr/>
          <p:nvPr/>
        </p:nvSpPr>
        <p:spPr>
          <a:xfrm>
            <a:off x="6766560" y="1664208"/>
            <a:ext cx="4846320" cy="4443984"/>
          </a:xfrm>
          <a:prstGeom prst="roundRect">
            <a:avLst>
              <a:gd name="adj" fmla="val 617"/>
            </a:avLst>
          </a:prstGeom>
          <a:solidFill>
            <a:srgbClr val="FFFFFF"/>
          </a:solidFill>
          <a:ln/>
        </p:spPr>
      </p:sp>
      <p:sp>
        <p:nvSpPr>
          <p:cNvPr id="21" name="Text 19"/>
          <p:cNvSpPr txBox="1"/>
          <p:nvPr/>
        </p:nvSpPr>
        <p:spPr>
          <a:xfrm>
            <a:off x="7095744" y="1920240"/>
            <a:ext cx="4206240" cy="292608"/>
          </a:xfrm>
          <a:prstGeom prst="rect">
            <a:avLst/>
          </a:prstGeom>
          <a:noFill/>
          <a:ln/>
        </p:spPr>
        <p:txBody>
          <a:bodyPr wrap="square" lIns="0" tIns="0" rIns="0" bIns="0" rtlCol="0" anchor="ctr"/>
          <a:lstStyle/>
          <a:p>
            <a:pPr indent="0" marL="0">
              <a:buNone/>
            </a:pPr>
            <a:r>
              <a:rPr lang="en-US" sz="1500" b="1" dirty="0">
                <a:solidFill>
                  <a:srgbClr val="043B72"/>
                </a:solidFill>
                <a:latin typeface="Spoqa Han Sans Neo" pitchFamily="34" charset="0"/>
                <a:ea typeface="Spoqa Han Sans Neo" pitchFamily="34" charset="-122"/>
                <a:cs typeface="Spoqa Han Sans Neo" pitchFamily="34" charset="-120"/>
              </a:rPr>
              <a:t>다음 단계</a:t>
            </a:r>
            <a:endParaRPr lang="en-US" sz="1500" dirty="0"/>
          </a:p>
        </p:txBody>
      </p:sp>
      <p:sp>
        <p:nvSpPr>
          <p:cNvPr id="22" name="Shape 20"/>
          <p:cNvSpPr/>
          <p:nvPr/>
        </p:nvSpPr>
        <p:spPr>
          <a:xfrm>
            <a:off x="7095744" y="2414016"/>
            <a:ext cx="420624" cy="420624"/>
          </a:xfrm>
          <a:prstGeom prst="roundRect">
            <a:avLst>
              <a:gd name="adj" fmla="val 6522"/>
            </a:avLst>
          </a:prstGeom>
          <a:solidFill>
            <a:srgbClr val="F58220"/>
          </a:solidFill>
          <a:ln/>
        </p:spPr>
      </p:sp>
      <p:sp>
        <p:nvSpPr>
          <p:cNvPr id="23" name="Text 21"/>
          <p:cNvSpPr txBox="1"/>
          <p:nvPr/>
        </p:nvSpPr>
        <p:spPr>
          <a:xfrm>
            <a:off x="7095744" y="241401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Spoqa Han Sans Neo" pitchFamily="34" charset="0"/>
                <a:ea typeface="Spoqa Han Sans Neo" pitchFamily="34" charset="-122"/>
                <a:cs typeface="Spoqa Han Sans Neo" pitchFamily="34" charset="-120"/>
              </a:rPr>
              <a:t>1</a:t>
            </a:r>
            <a:endParaRPr lang="en-US" sz="1400" dirty="0"/>
          </a:p>
        </p:txBody>
      </p:sp>
      <p:sp>
        <p:nvSpPr>
          <p:cNvPr id="24" name="Text 22"/>
          <p:cNvSpPr txBox="1"/>
          <p:nvPr/>
        </p:nvSpPr>
        <p:spPr>
          <a:xfrm>
            <a:off x="7644384" y="2395728"/>
            <a:ext cx="3657600" cy="292608"/>
          </a:xfrm>
          <a:prstGeom prst="rect">
            <a:avLst/>
          </a:prstGeom>
          <a:noFill/>
          <a:ln/>
        </p:spPr>
        <p:txBody>
          <a:bodyPr wrap="square" lIns="0" tIns="0" rIns="0" bIns="0" rtlCol="0" anchor="ctr"/>
          <a:lstStyle/>
          <a:p>
            <a:pPr indent="0" marL="0">
              <a:buNone/>
            </a:pPr>
            <a:r>
              <a:rPr lang="en-US" sz="1400" b="1" dirty="0">
                <a:solidFill>
                  <a:srgbClr val="1A1A1A"/>
                </a:solidFill>
                <a:latin typeface="Spoqa Han Sans Neo" pitchFamily="34" charset="0"/>
                <a:ea typeface="Spoqa Han Sans Neo" pitchFamily="34" charset="-122"/>
                <a:cs typeface="Spoqa Han Sans Neo" pitchFamily="34" charset="-120"/>
              </a:rPr>
              <a:t>사내 프록시 연결</a:t>
            </a:r>
            <a:endParaRPr lang="en-US" sz="1400" dirty="0"/>
          </a:p>
        </p:txBody>
      </p:sp>
      <p:sp>
        <p:nvSpPr>
          <p:cNvPr id="25" name="Text 23"/>
          <p:cNvSpPr txBox="1"/>
          <p:nvPr/>
        </p:nvSpPr>
        <p:spPr>
          <a:xfrm>
            <a:off x="7644384" y="2706624"/>
            <a:ext cx="3657600" cy="658368"/>
          </a:xfrm>
          <a:prstGeom prst="rect">
            <a:avLst/>
          </a:prstGeom>
          <a:noFill/>
          <a:ln/>
        </p:spPr>
        <p:txBody>
          <a:bodyPr wrap="square" lIns="0" tIns="0" rIns="0" bIns="0" rtlCol="0" anchor="ctr"/>
          <a:lstStyle/>
          <a:p>
            <a:pPr indent="0" marL="0">
              <a:lnSpc>
                <a:spcPts val="1600"/>
              </a:lnSpc>
              <a:buNone/>
            </a:pPr>
            <a:r>
              <a:rPr lang="en-US" sz="1150" dirty="0">
                <a:solidFill>
                  <a:srgbClr val="3D3D3D"/>
                </a:solidFill>
                <a:latin typeface="Spoqa Han Sans Neo" pitchFamily="34" charset="0"/>
                <a:ea typeface="Spoqa Han Sans Neo" pitchFamily="34" charset="-122"/>
                <a:cs typeface="Spoqa Han Sans Neo" pitchFamily="34" charset="-120"/>
              </a:rPr>
              <a:t>주소 한 줄만 등록하면 조회 화면이 지연 없는 실시간으로 전환됩니다. 전산 협의가 필요합니다.</a:t>
            </a:r>
            <a:endParaRPr lang="en-US" sz="1150" dirty="0"/>
          </a:p>
        </p:txBody>
      </p:sp>
      <p:sp>
        <p:nvSpPr>
          <p:cNvPr id="26" name="Shape 24"/>
          <p:cNvSpPr/>
          <p:nvPr/>
        </p:nvSpPr>
        <p:spPr>
          <a:xfrm>
            <a:off x="7095744" y="3493008"/>
            <a:ext cx="420624" cy="420624"/>
          </a:xfrm>
          <a:prstGeom prst="roundRect">
            <a:avLst>
              <a:gd name="adj" fmla="val 6522"/>
            </a:avLst>
          </a:prstGeom>
          <a:solidFill>
            <a:srgbClr val="F58220"/>
          </a:solidFill>
          <a:ln/>
        </p:spPr>
      </p:sp>
      <p:sp>
        <p:nvSpPr>
          <p:cNvPr id="27" name="Text 25"/>
          <p:cNvSpPr txBox="1"/>
          <p:nvPr/>
        </p:nvSpPr>
        <p:spPr>
          <a:xfrm>
            <a:off x="7095744" y="34930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Spoqa Han Sans Neo" pitchFamily="34" charset="0"/>
                <a:ea typeface="Spoqa Han Sans Neo" pitchFamily="34" charset="-122"/>
                <a:cs typeface="Spoqa Han Sans Neo" pitchFamily="34" charset="-120"/>
              </a:rPr>
              <a:t>2</a:t>
            </a:r>
            <a:endParaRPr lang="en-US" sz="1400" dirty="0"/>
          </a:p>
        </p:txBody>
      </p:sp>
      <p:sp>
        <p:nvSpPr>
          <p:cNvPr id="28" name="Text 26"/>
          <p:cNvSpPr txBox="1"/>
          <p:nvPr/>
        </p:nvSpPr>
        <p:spPr>
          <a:xfrm>
            <a:off x="7644384" y="3474720"/>
            <a:ext cx="3657600" cy="292608"/>
          </a:xfrm>
          <a:prstGeom prst="rect">
            <a:avLst/>
          </a:prstGeom>
          <a:noFill/>
          <a:ln/>
        </p:spPr>
        <p:txBody>
          <a:bodyPr wrap="square" lIns="0" tIns="0" rIns="0" bIns="0" rtlCol="0" anchor="ctr"/>
          <a:lstStyle/>
          <a:p>
            <a:pPr indent="0" marL="0">
              <a:buNone/>
            </a:pPr>
            <a:r>
              <a:rPr lang="en-US" sz="1400" b="1" dirty="0">
                <a:solidFill>
                  <a:srgbClr val="1A1A1A"/>
                </a:solidFill>
                <a:latin typeface="Spoqa Han Sans Neo" pitchFamily="34" charset="0"/>
                <a:ea typeface="Spoqa Han Sans Neo" pitchFamily="34" charset="-122"/>
                <a:cs typeface="Spoqa Han Sans Neo" pitchFamily="34" charset="-120"/>
              </a:rPr>
              <a:t>지점 내 공유</a:t>
            </a:r>
            <a:endParaRPr lang="en-US" sz="1400" dirty="0"/>
          </a:p>
        </p:txBody>
      </p:sp>
      <p:sp>
        <p:nvSpPr>
          <p:cNvPr id="29" name="Text 27"/>
          <p:cNvSpPr txBox="1"/>
          <p:nvPr/>
        </p:nvSpPr>
        <p:spPr>
          <a:xfrm>
            <a:off x="7644384" y="3785616"/>
            <a:ext cx="3657600" cy="658368"/>
          </a:xfrm>
          <a:prstGeom prst="rect">
            <a:avLst/>
          </a:prstGeom>
          <a:noFill/>
          <a:ln/>
        </p:spPr>
        <p:txBody>
          <a:bodyPr wrap="square" lIns="0" tIns="0" rIns="0" bIns="0" rtlCol="0" anchor="ctr"/>
          <a:lstStyle/>
          <a:p>
            <a:pPr indent="0" marL="0">
              <a:lnSpc>
                <a:spcPts val="1600"/>
              </a:lnSpc>
              <a:buNone/>
            </a:pPr>
            <a:r>
              <a:rPr lang="en-US" sz="1150" dirty="0">
                <a:solidFill>
                  <a:srgbClr val="3D3D3D"/>
                </a:solidFill>
                <a:latin typeface="Spoqa Han Sans Neo" pitchFamily="34" charset="0"/>
                <a:ea typeface="Spoqa Han Sans Neo" pitchFamily="34" charset="-122"/>
                <a:cs typeface="Spoqa Han Sans Neo" pitchFamily="34" charset="-120"/>
              </a:rPr>
              <a:t>브리핑 목록 주소와 조회 화면을 지점에 열어 사용 의견을 받고, 요청 항목을 화면에 반영합니다.</a:t>
            </a:r>
            <a:endParaRPr lang="en-US" sz="1150" dirty="0"/>
          </a:p>
        </p:txBody>
      </p:sp>
      <p:sp>
        <p:nvSpPr>
          <p:cNvPr id="30" name="Shape 28"/>
          <p:cNvSpPr/>
          <p:nvPr/>
        </p:nvSpPr>
        <p:spPr>
          <a:xfrm>
            <a:off x="7095744" y="4572000"/>
            <a:ext cx="420624" cy="420624"/>
          </a:xfrm>
          <a:prstGeom prst="roundRect">
            <a:avLst>
              <a:gd name="adj" fmla="val 6522"/>
            </a:avLst>
          </a:prstGeom>
          <a:solidFill>
            <a:srgbClr val="F58220"/>
          </a:solidFill>
          <a:ln/>
        </p:spPr>
      </p:sp>
      <p:sp>
        <p:nvSpPr>
          <p:cNvPr id="31" name="Text 29"/>
          <p:cNvSpPr txBox="1"/>
          <p:nvPr/>
        </p:nvSpPr>
        <p:spPr>
          <a:xfrm>
            <a:off x="7095744" y="45720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Spoqa Han Sans Neo" pitchFamily="34" charset="0"/>
                <a:ea typeface="Spoqa Han Sans Neo" pitchFamily="34" charset="-122"/>
                <a:cs typeface="Spoqa Han Sans Neo" pitchFamily="34" charset="-120"/>
              </a:rPr>
              <a:t>3</a:t>
            </a:r>
            <a:endParaRPr lang="en-US" sz="1400" dirty="0"/>
          </a:p>
        </p:txBody>
      </p:sp>
      <p:sp>
        <p:nvSpPr>
          <p:cNvPr id="32" name="Text 30"/>
          <p:cNvSpPr txBox="1"/>
          <p:nvPr/>
        </p:nvSpPr>
        <p:spPr>
          <a:xfrm>
            <a:off x="7644384" y="4553712"/>
            <a:ext cx="3657600" cy="292608"/>
          </a:xfrm>
          <a:prstGeom prst="rect">
            <a:avLst/>
          </a:prstGeom>
          <a:noFill/>
          <a:ln/>
        </p:spPr>
        <p:txBody>
          <a:bodyPr wrap="square" lIns="0" tIns="0" rIns="0" bIns="0" rtlCol="0" anchor="ctr"/>
          <a:lstStyle/>
          <a:p>
            <a:pPr indent="0" marL="0">
              <a:buNone/>
            </a:pPr>
            <a:r>
              <a:rPr lang="en-US" sz="1400" b="1" dirty="0">
                <a:solidFill>
                  <a:srgbClr val="1A1A1A"/>
                </a:solidFill>
                <a:latin typeface="Spoqa Han Sans Neo" pitchFamily="34" charset="0"/>
                <a:ea typeface="Spoqa Han Sans Neo" pitchFamily="34" charset="-122"/>
                <a:cs typeface="Spoqa Han Sans Neo" pitchFamily="34" charset="-120"/>
              </a:rPr>
              <a:t>다른 업무로 확장</a:t>
            </a:r>
            <a:endParaRPr lang="en-US" sz="1400" dirty="0"/>
          </a:p>
        </p:txBody>
      </p:sp>
      <p:sp>
        <p:nvSpPr>
          <p:cNvPr id="33" name="Text 31"/>
          <p:cNvSpPr txBox="1"/>
          <p:nvPr/>
        </p:nvSpPr>
        <p:spPr>
          <a:xfrm>
            <a:off x="7644384" y="4864608"/>
            <a:ext cx="3657600" cy="658368"/>
          </a:xfrm>
          <a:prstGeom prst="rect">
            <a:avLst/>
          </a:prstGeom>
          <a:noFill/>
          <a:ln/>
        </p:spPr>
        <p:txBody>
          <a:bodyPr wrap="square" lIns="0" tIns="0" rIns="0" bIns="0" rtlCol="0" anchor="ctr"/>
          <a:lstStyle/>
          <a:p>
            <a:pPr indent="0" marL="0">
              <a:lnSpc>
                <a:spcPts val="1600"/>
              </a:lnSpc>
              <a:buNone/>
            </a:pPr>
            <a:r>
              <a:rPr lang="en-US" sz="1150" dirty="0">
                <a:solidFill>
                  <a:srgbClr val="3D3D3D"/>
                </a:solidFill>
                <a:latin typeface="Spoqa Han Sans Neo" pitchFamily="34" charset="0"/>
                <a:ea typeface="Spoqa Han Sans Neo" pitchFamily="34" charset="-122"/>
                <a:cs typeface="Spoqa Han Sans Neo" pitchFamily="34" charset="-120"/>
              </a:rPr>
              <a:t>같은 구조(예약 수집 → 자동 검증 → 단일 파일)를 연금·해외주식 안내 등 다른 반복 업무에 적용합니다.</a:t>
            </a:r>
            <a:endParaRPr lang="en-US" sz="1150" dirty="0"/>
          </a:p>
        </p:txBody>
      </p:sp>
      <p:sp>
        <p:nvSpPr>
          <p:cNvPr id="34" name="Shape 32"/>
          <p:cNvSpPr/>
          <p:nvPr/>
        </p:nvSpPr>
        <p:spPr>
          <a:xfrm>
            <a:off x="7095744" y="5614416"/>
            <a:ext cx="4206240" cy="9144"/>
          </a:xfrm>
          <a:prstGeom prst="rect">
            <a:avLst/>
          </a:prstGeom>
          <a:solidFill>
            <a:srgbClr val="E5E4E1"/>
          </a:solidFill>
          <a:ln/>
        </p:spPr>
      </p:sp>
      <p:sp>
        <p:nvSpPr>
          <p:cNvPr id="35" name="Text 33"/>
          <p:cNvSpPr txBox="1"/>
          <p:nvPr/>
        </p:nvSpPr>
        <p:spPr>
          <a:xfrm>
            <a:off x="7095744" y="5705856"/>
            <a:ext cx="4206240" cy="329184"/>
          </a:xfrm>
          <a:prstGeom prst="rect">
            <a:avLst/>
          </a:prstGeom>
          <a:noFill/>
          <a:ln/>
        </p:spPr>
        <p:txBody>
          <a:bodyPr wrap="square" lIns="0" tIns="0" rIns="0" bIns="0" rtlCol="0" anchor="ctr"/>
          <a:lstStyle/>
          <a:p>
            <a:pPr indent="0" marL="0">
              <a:lnSpc>
                <a:spcPts val="1300"/>
              </a:lnSpc>
              <a:buNone/>
            </a:pPr>
            <a:r>
              <a:rPr lang="en-US" sz="1000" dirty="0">
                <a:solidFill>
                  <a:srgbClr val="6C6C6C"/>
                </a:solidFill>
                <a:latin typeface="Spoqa Han Sans Neo" pitchFamily="34" charset="0"/>
                <a:ea typeface="Spoqa Han Sans Neo" pitchFamily="34" charset="-122"/>
                <a:cs typeface="Spoqa Han Sans Neo" pitchFamily="34" charset="-120"/>
              </a:rPr>
              <a:t>유의 — 조회 화면은 정보 제공용 사내 참고 자료입니다. 고객 대외 배포 시 준법감시 확인이 필요합니다.</a:t>
            </a:r>
            <a:endParaRPr lang="en-US" sz="1000" dirty="0"/>
          </a:p>
        </p:txBody>
      </p:sp>
      <p:sp>
        <p:nvSpPr>
          <p:cNvPr id="36" name="Text 34"/>
          <p:cNvSpPr txBox="1"/>
          <p:nvPr/>
        </p:nvSpPr>
        <p:spPr>
          <a:xfrm>
            <a:off x="548640" y="6345936"/>
            <a:ext cx="11064240" cy="310896"/>
          </a:xfrm>
          <a:prstGeom prst="rect">
            <a:avLst/>
          </a:prstGeom>
          <a:noFill/>
          <a:ln/>
        </p:spPr>
        <p:txBody>
          <a:bodyPr wrap="square" lIns="0" tIns="0" rIns="0" bIns="0" rtlCol="0" anchor="ctr"/>
          <a:lstStyle/>
          <a:p>
            <a:pPr indent="0" marL="0">
              <a:buNone/>
            </a:pPr>
            <a:r>
              <a:rPr lang="en-US" sz="1000" dirty="0">
                <a:solidFill>
                  <a:srgbClr val="8FAAC6"/>
                </a:solidFill>
                <a:latin typeface="Spoqa Han Sans Neo" pitchFamily="34" charset="0"/>
                <a:ea typeface="Spoqa Han Sans Neo" pitchFamily="34" charset="-122"/>
                <a:cs typeface="Spoqa Han Sans Neo" pitchFamily="34" charset="-120"/>
              </a:rPr>
              <a:t>절감 시간 산정 기준 — 시세 취합·작성·검증을 사람이 할 때 판당 60분으로 보고 발행 60판에 곱한 추정치이며, 실측값이 아닙니다.  그 외 수치는 저장소 산출물에서 직접 집계했습니다.</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Code 기반 업무 자동화 구축 결과 보고</dc:title>
  <dc:subject>PptxGenJS Presentation</dc:subject>
  <dc:creator>마포WM</dc:creator>
  <cp:lastModifiedBy>마포WM</cp:lastModifiedBy>
  <cp:revision>1</cp:revision>
  <dcterms:created xsi:type="dcterms:W3CDTF">2026-09-09T01:14:15Z</dcterms:created>
  <dcterms:modified xsi:type="dcterms:W3CDTF">2026-09-09T01:14:15Z</dcterms:modified>
</cp:coreProperties>
</file>