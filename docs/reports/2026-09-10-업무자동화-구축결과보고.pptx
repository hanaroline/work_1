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발행 판수</c:v>
                </c:pt>
              </c:strCache>
            </c:strRef>
          </c:tx>
          <c:spPr>
            <a:solidFill>
              <a:srgbClr val="F58220"/>
            </a:solidFill>
            <a:effectLst/>
          </c:spPr>
          <c:invertIfNegative val="0"/>
          <c:dLbls>
            <c:numFmt formatCode="#,##0" sourceLinked="0"/>
            <c:txPr>
              <a:bodyPr/>
              <a:lstStyle/>
              <a:p>
                <a:pPr>
                  <a:defRPr b="1" i="0" strike="noStrike" sz="1000" u="none">
                    <a:solidFill>
                      <a:srgbClr val="3D3D3D"/>
                    </a:solidFill>
                    <a:latin typeface="Spoqa Han Sans Neo"/>
                  </a:defRPr>
                </a:pPr>
              </a:p>
            </c:txPr>
            <c:showLegendKey val="0"/>
            <c:showVal val="1"/>
            <c:showCatName val="0"/>
            <c:showSerName val="0"/>
            <c:showPercent val="0"/>
            <c:showBubbleSize val="0"/>
            <c:showLeaderLines val="0"/>
          </c:dLbls>
          <c:cat>
            <c:multiLvlStrRef>
              <c:f>Sheet1!$A$2:$A$7</c:f>
              <c:multiLvlStrCache>
                <c:ptCount val="6"/>
                <c:lvl>
                  <c:pt idx="0">
                    <c:v>8/06~</c:v>
                  </c:pt>
                  <c:pt idx="1">
                    <c:v>8/10~</c:v>
                  </c:pt>
                  <c:pt idx="2">
                    <c:v>8/17~</c:v>
                  </c:pt>
                  <c:pt idx="3">
                    <c:v>8/24~</c:v>
                  </c:pt>
                  <c:pt idx="4">
                    <c:v>8/31~</c:v>
                  </c:pt>
                  <c:pt idx="5">
                    <c:v>9/07~</c:v>
                  </c:pt>
                </c:lvl>
              </c:multiLvlStrCache>
            </c:multiLvlStrRef>
          </c:cat>
          <c:val>
            <c:numRef>
              <c:f>Sheet1!$B$2:$B$7</c:f>
              <c:numCache>
                <c:formatCode>General</c:formatCode>
                <c:ptCount val="6"/>
                <c:pt idx="0">
                  <c:v>4</c:v>
                </c:pt>
                <c:pt idx="1">
                  <c:v>7</c:v>
                </c:pt>
                <c:pt idx="2">
                  <c:v>9</c:v>
                </c:pt>
                <c:pt idx="3">
                  <c:v>10</c:v>
                </c:pt>
                <c:pt idx="4">
                  <c:v>20</c:v>
                </c:pt>
                <c:pt idx="5">
                  <c:v>14</c:v>
                </c:pt>
              </c:numCache>
            </c:numRef>
          </c:val>
        </c:ser>
        <c:dLbls>
          <c:numFmt formatCode="#,##0" sourceLinked="0"/>
          <c:txPr>
            <a:bodyPr/>
            <a:lstStyle/>
            <a:p>
              <a:pPr>
                <a:defRPr b="1" i="0" strike="noStrike" sz="1000" u="none">
                  <a:solidFill>
                    <a:srgbClr val="3D3D3D"/>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6월부터 9월까지 약 4개월간 Claude Code 로 수행한 업무 자동화 구축 결과입니다. 작업은 세션 48회, 저장소 작업 브랜치 39개로 남아 있습니다. 성과는 세 갈래입니다 — (1) 매일·매주 스스로 도는 자동 산출물 4종, (2) 상품 판매와 고객 잔고를 다루는 현장 업무 화면 4종, (3) 시세·상품 조회 화면 6종. 전부 지금 쓰고 있는 것들입니다. 지난 이틀 사이에도 국내 100대 기업 화면과 증시 일정 캘린더가 붙었고, 완전판매는 펀드까지 넓혔습니다.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달을 세 단계로 나눠 보면 성격이 분명히 갈립니다. 6~7월은 들어오는 일을 하나씩 처리하며 도구를 익힌 시기이고, 8월부터 '매일 반복되는 일'을 예약으로 넘겼습니다. 8월 말부터 9월까지는 상품 판매와 고객 잔고를 다루는 현장 화면을 만들었습니다. 6월은 세션 기록이 남아 있지 않아 도입기로만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모두 사람이 손대지 않아도 정해진 시각에 산출물이 나옵니다. 가장 큰 성과는 '거르지 않는다'는 점입니다 — 32일 동안 주말·휴장일을 포함해 매일 나왔습니다. 증권사 리포트 다이제스트는 하루 두 번 돌며, 요약은 모델이 새로 쓴 문장이 아니라 리포트 원문에서 고른 여섯 줄입니다. 지어낸 요약이 리포트 자리에 앉는 것보다 원문이 안전하다고 보았습니다.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화면은 성격이 다릅니다. 완전판매 스크립트는 '규정을 어기지 않게' 돕는 화면이고, ETF·펀드 조회는 '고객에게 설명할 근거를 찾는' 화면, 보유자산 통합 브리핑은 '내 고객 자산을 한 장으로 보는' 화면입니다. 완전판매에서 특히 신경 쓴 것은 자동 계산의 한계를 인정한 부분입니다 — 지급률처럼 상품마다 표기기준이 다른 값은 일부러 비워 두고 빨간색으로 '투자설명서에서 옮겨 적으세요'라고 표시합니다. 16조합 모두 Check Point 를 전부 이행하면 정확히 103점이 나오는 것을 브라우저 테스트로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갈래는 '흩어진 조회를 한 곳으로' 묶은 것입니다. 마포WM 창구 페이지의 13개 링크는 전단 QR 을 직접 디코딩해 옮긴 값이고, 추측해 만든 주소는 없습니다. 아래 단건 산출물은 그때그때 요청으로 만든 것들인데, 이것들이 쌓이면서 위의 상시 화면으로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이 보고의 핵심입니다. 화면을 만드는 것보다 어려운 것은 '업무에 쓸 수 있게' 만드는 것이었습니다. 두 가지가 필요했습니다. 첫째, 사내망에서 열려야 합니다 — 업무용 PC 에서 외부 금융 사이트가 막히므로 수집은 사내망 밖에서 하고 화면은 저장된 값을 읽게 했습니다. 둘째, 숫자가 맞아야 합니다 — 예를 들어 원천이 어떤 단기채권 펀드의 1개월 수익률을 +244% 로 주는데, 이는 결산으로 기준가를 되돌린 계단 때문입니다. 계단이 있다고 무조건 비우면 실제 값도 사라지므로, 화면에 실릴 그 숫자가 계단을 먹었는지만 판정해 그 칸만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정량 성과에서 유일한 추정치는 절감 시간입니다. 판당 60분으로 보수적으로 잡아 약 64시간이며, 실측이 아니라고 명시했습니다. 나머지는 저장소와 세션 기록에서 직접 집계한 값입니다. 다음 단계에서 효과가 가장 큰 것은 사내 프록시 연결입니다 — 주소 한 줄 등록으로 조회 화면 전체가 실시간이 되므로 전산 부서 협의를 요청드립니다. 그리고 지금은 대부분 개인 단위로 쓰고 있어, 지점·부서로 넓히면 같은 구축 비용으로 쓰는 사람만 늘어납니다.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8220"/>
        </a:solidFill>
      </p:bgPr>
    </p:bg>
    <p:spTree>
      <p:nvGrpSpPr>
        <p:cNvPr id="1" name=""/>
        <p:cNvGrpSpPr/>
        <p:nvPr/>
      </p:nvGrpSpPr>
      <p:grpSpPr>
        <a:xfrm>
          <a:off x="0" y="0"/>
          <a:ext cx="0" cy="0"/>
          <a:chOff x="0" y="0"/>
          <a:chExt cx="0" cy="0"/>
        </a:xfrm>
      </p:grpSpPr>
      <p:sp>
        <p:nvSpPr>
          <p:cNvPr id="2" name="Text 0"/>
          <p:cNvSpPr txBox="1"/>
          <p:nvPr/>
        </p:nvSpPr>
        <p:spPr>
          <a:xfrm>
            <a:off x="548640" y="475488"/>
            <a:ext cx="4572000" cy="274320"/>
          </a:xfrm>
          <a:prstGeom prst="rect">
            <a:avLst/>
          </a:prstGeom>
          <a:noFill/>
          <a:ln/>
        </p:spPr>
        <p:txBody>
          <a:bodyPr wrap="square" lIns="0" tIns="0" rIns="0" bIns="0" rtlCol="0" anchor="ctr"/>
          <a:lstStyle/>
          <a:p>
            <a:pPr indent="0" marL="0">
              <a:buNone/>
            </a:pPr>
            <a:r>
              <a:rPr lang="en-US" sz="1200" b="1" spc="160" kern="0" dirty="0">
                <a:solidFill>
                  <a:srgbClr val="FFE7D1"/>
                </a:solidFill>
                <a:latin typeface="Spoqa Han Sans Neo" pitchFamily="34" charset="0"/>
                <a:ea typeface="Spoqa Han Sans Neo" pitchFamily="34" charset="-122"/>
                <a:cs typeface="Spoqa Han Sans Neo" pitchFamily="34" charset="-120"/>
              </a:rPr>
              <a:t>[ 사내한 ]   업무 보고</a:t>
            </a:r>
            <a:endParaRPr lang="en-US" sz="1200" dirty="0"/>
          </a:p>
        </p:txBody>
      </p:sp>
      <p:sp>
        <p:nvSpPr>
          <p:cNvPr id="3" name="Text 1"/>
          <p:cNvSpPr txBox="1"/>
          <p:nvPr/>
        </p:nvSpPr>
        <p:spPr>
          <a:xfrm>
            <a:off x="548640" y="1115568"/>
            <a:ext cx="6675120" cy="1920240"/>
          </a:xfrm>
          <a:prstGeom prst="rect">
            <a:avLst/>
          </a:prstGeom>
          <a:noFill/>
          <a:ln/>
        </p:spPr>
        <p:txBody>
          <a:bodyPr wrap="square" lIns="0" tIns="0" rIns="0" bIns="0" rtlCol="0" anchor="ctr"/>
          <a:lstStyle/>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Claude Code 로 만든</a:t>
            </a:r>
            <a:endParaRPr lang="en-US" sz="4000" dirty="0"/>
          </a:p>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영업 현장 업무 자동화</a:t>
            </a:r>
            <a:endParaRPr lang="en-US" sz="4000" dirty="0"/>
          </a:p>
        </p:txBody>
      </p:sp>
      <p:sp>
        <p:nvSpPr>
          <p:cNvPr id="4" name="Text 2"/>
          <p:cNvSpPr txBox="1"/>
          <p:nvPr/>
        </p:nvSpPr>
        <p:spPr>
          <a:xfrm>
            <a:off x="548640" y="3200400"/>
            <a:ext cx="6675120" cy="786384"/>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Spoqa Han Sans Neo" pitchFamily="34" charset="0"/>
                <a:ea typeface="Spoqa Han Sans Neo" pitchFamily="34" charset="-122"/>
                <a:cs typeface="Spoqa Han Sans Neo" pitchFamily="34" charset="-120"/>
              </a:rPr>
              <a:t>매일·매주 도는 자동 산출물 4종 · 현장 업무 화면 10종 · 자동화 워크플로 35종</a:t>
            </a:r>
            <a:endParaRPr lang="en-US" sz="1600" dirty="0"/>
          </a:p>
        </p:txBody>
      </p:sp>
      <p:sp>
        <p:nvSpPr>
          <p:cNvPr id="5" name="Text 3"/>
          <p:cNvSpPr txBox="1"/>
          <p:nvPr/>
        </p:nvSpPr>
        <p:spPr>
          <a:xfrm>
            <a:off x="548640" y="4443984"/>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구축 기간</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2026.06 – 09.10  (약 4개월, 운영 계속)</a:t>
            </a:r>
            <a:endParaRPr lang="en-US" sz="1300" dirty="0"/>
          </a:p>
        </p:txBody>
      </p:sp>
      <p:sp>
        <p:nvSpPr>
          <p:cNvPr id="6" name="Text 4"/>
          <p:cNvSpPr txBox="1"/>
          <p:nvPr/>
        </p:nvSpPr>
        <p:spPr>
          <a:xfrm>
            <a:off x="548640" y="4791456"/>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수행 방식</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Claude Code 세션 48회 + GitHub Actions 예약 실행</a:t>
            </a:r>
            <a:endParaRPr lang="en-US" sz="1300" dirty="0"/>
          </a:p>
        </p:txBody>
      </p:sp>
      <p:sp>
        <p:nvSpPr>
          <p:cNvPr id="7" name="Text 5"/>
          <p:cNvSpPr txBox="1"/>
          <p:nvPr/>
        </p:nvSpPr>
        <p:spPr>
          <a:xfrm>
            <a:off x="548640" y="5138928"/>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산출물 위치</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사내 저장소 work_1 — 작업 브랜치 39개</a:t>
            </a:r>
            <a:endParaRPr lang="en-US" sz="1300" dirty="0"/>
          </a:p>
        </p:txBody>
      </p:sp>
      <p:sp>
        <p:nvSpPr>
          <p:cNvPr id="8" name="Shape 6"/>
          <p:cNvSpPr/>
          <p:nvPr/>
        </p:nvSpPr>
        <p:spPr>
          <a:xfrm>
            <a:off x="7680960" y="1115568"/>
            <a:ext cx="3931920" cy="4626864"/>
          </a:xfrm>
          <a:prstGeom prst="roundRect">
            <a:avLst>
              <a:gd name="adj" fmla="val 465"/>
            </a:avLst>
          </a:prstGeom>
          <a:solidFill>
            <a:srgbClr val="FFFFFF"/>
          </a:solidFill>
          <a:ln/>
        </p:spPr>
      </p:sp>
      <p:sp>
        <p:nvSpPr>
          <p:cNvPr id="9" name="Text 7"/>
          <p:cNvSpPr txBox="1"/>
          <p:nvPr/>
        </p:nvSpPr>
        <p:spPr>
          <a:xfrm>
            <a:off x="8028432" y="1371600"/>
            <a:ext cx="3291840" cy="274320"/>
          </a:xfrm>
          <a:prstGeom prst="rect">
            <a:avLst/>
          </a:prstGeom>
          <a:noFill/>
          <a:ln/>
        </p:spPr>
        <p:txBody>
          <a:bodyPr wrap="square" lIns="0" tIns="0" rIns="0" bIns="0" rtlCol="0" anchor="ctr"/>
          <a:lstStyle/>
          <a:p>
            <a:pPr indent="0" marL="0">
              <a:buNone/>
            </a:pPr>
            <a:r>
              <a:rPr lang="en-US" sz="1200" b="1" spc="140" kern="0" dirty="0">
                <a:solidFill>
                  <a:srgbClr val="F58220"/>
                </a:solidFill>
                <a:latin typeface="Spoqa Han Sans Neo" pitchFamily="34" charset="0"/>
                <a:ea typeface="Spoqa Han Sans Neo" pitchFamily="34" charset="-122"/>
                <a:cs typeface="Spoqa Han Sans Neo" pitchFamily="34" charset="-120"/>
              </a:rPr>
              <a:t>한눈에</a:t>
            </a:r>
            <a:endParaRPr lang="en-US" sz="1200" dirty="0"/>
          </a:p>
        </p:txBody>
      </p:sp>
      <p:sp>
        <p:nvSpPr>
          <p:cNvPr id="10" name="Text 8"/>
          <p:cNvSpPr txBox="1"/>
          <p:nvPr/>
        </p:nvSpPr>
        <p:spPr>
          <a:xfrm>
            <a:off x="8028432" y="1783080"/>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14</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2900" dirty="0"/>
          </a:p>
        </p:txBody>
      </p:sp>
      <p:sp>
        <p:nvSpPr>
          <p:cNvPr id="11" name="Text 9"/>
          <p:cNvSpPr txBox="1"/>
          <p:nvPr/>
        </p:nvSpPr>
        <p:spPr>
          <a:xfrm>
            <a:off x="8028432" y="2203704"/>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현장에서 쓰고 있는 화면·자동 산출물</a:t>
            </a:r>
            <a:endParaRPr lang="en-US" sz="1100" dirty="0"/>
          </a:p>
        </p:txBody>
      </p:sp>
      <p:sp>
        <p:nvSpPr>
          <p:cNvPr id="12" name="Shape 10"/>
          <p:cNvSpPr/>
          <p:nvPr/>
        </p:nvSpPr>
        <p:spPr>
          <a:xfrm>
            <a:off x="8028432" y="2651760"/>
            <a:ext cx="3291840" cy="9144"/>
          </a:xfrm>
          <a:prstGeom prst="rect">
            <a:avLst/>
          </a:prstGeom>
          <a:solidFill>
            <a:srgbClr val="E5E4E1"/>
          </a:solidFill>
          <a:ln/>
        </p:spPr>
      </p:sp>
      <p:sp>
        <p:nvSpPr>
          <p:cNvPr id="13" name="Text 11"/>
          <p:cNvSpPr txBox="1"/>
          <p:nvPr/>
        </p:nvSpPr>
        <p:spPr>
          <a:xfrm>
            <a:off x="8028432" y="2761488"/>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35</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2900" dirty="0"/>
          </a:p>
        </p:txBody>
      </p:sp>
      <p:sp>
        <p:nvSpPr>
          <p:cNvPr id="14" name="Text 12"/>
          <p:cNvSpPr txBox="1"/>
          <p:nvPr/>
        </p:nvSpPr>
        <p:spPr>
          <a:xfrm>
            <a:off x="8028432" y="3182112"/>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무인 운영 중인 수집·검증 워크플로</a:t>
            </a:r>
            <a:endParaRPr lang="en-US" sz="1100" dirty="0"/>
          </a:p>
        </p:txBody>
      </p:sp>
      <p:sp>
        <p:nvSpPr>
          <p:cNvPr id="15" name="Shape 13"/>
          <p:cNvSpPr/>
          <p:nvPr/>
        </p:nvSpPr>
        <p:spPr>
          <a:xfrm>
            <a:off x="8028432" y="3630168"/>
            <a:ext cx="3291840" cy="9144"/>
          </a:xfrm>
          <a:prstGeom prst="rect">
            <a:avLst/>
          </a:prstGeom>
          <a:solidFill>
            <a:srgbClr val="E5E4E1"/>
          </a:solidFill>
          <a:ln/>
        </p:spPr>
      </p:sp>
      <p:sp>
        <p:nvSpPr>
          <p:cNvPr id="16" name="Text 14"/>
          <p:cNvSpPr txBox="1"/>
          <p:nvPr/>
        </p:nvSpPr>
        <p:spPr>
          <a:xfrm>
            <a:off x="8028432" y="3739896"/>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64</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판</a:t>
            </a:r>
            <a:endParaRPr lang="en-US" sz="2900" dirty="0"/>
          </a:p>
        </p:txBody>
      </p:sp>
      <p:sp>
        <p:nvSpPr>
          <p:cNvPr id="17" name="Text 15"/>
          <p:cNvSpPr txBox="1"/>
          <p:nvPr/>
        </p:nvSpPr>
        <p:spPr>
          <a:xfrm>
            <a:off x="8028432" y="4160520"/>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자동 발행한 시황 브리핑 (33일 연속)</a:t>
            </a:r>
            <a:endParaRPr lang="en-US" sz="1100" dirty="0"/>
          </a:p>
        </p:txBody>
      </p:sp>
      <p:sp>
        <p:nvSpPr>
          <p:cNvPr id="18" name="Shape 16"/>
          <p:cNvSpPr/>
          <p:nvPr/>
        </p:nvSpPr>
        <p:spPr>
          <a:xfrm>
            <a:off x="8028432" y="4608576"/>
            <a:ext cx="3291840" cy="9144"/>
          </a:xfrm>
          <a:prstGeom prst="rect">
            <a:avLst/>
          </a:prstGeom>
          <a:solidFill>
            <a:srgbClr val="E5E4E1"/>
          </a:solidFill>
          <a:ln/>
        </p:spPr>
      </p:sp>
      <p:sp>
        <p:nvSpPr>
          <p:cNvPr id="19" name="Text 17"/>
          <p:cNvSpPr txBox="1"/>
          <p:nvPr/>
        </p:nvSpPr>
        <p:spPr>
          <a:xfrm>
            <a:off x="8028432" y="4718304"/>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4,700</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여</a:t>
            </a:r>
            <a:endParaRPr lang="en-US" sz="2900" dirty="0"/>
          </a:p>
        </p:txBody>
      </p:sp>
      <p:sp>
        <p:nvSpPr>
          <p:cNvPr id="20" name="Text 18"/>
          <p:cNvSpPr txBox="1"/>
          <p:nvPr/>
        </p:nvSpPr>
        <p:spPr>
          <a:xfrm>
            <a:off x="8028432" y="5138928"/>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조회 가능한 상품·종목 (펀드·ETF·ELS·주식)</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작업 지도</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네 달 동안 무엇을 만들었나</a:t>
            </a:r>
            <a:endParaRPr lang="en-US" sz="2600" dirty="0"/>
          </a:p>
        </p:txBody>
      </p:sp>
      <p:sp>
        <p:nvSpPr>
          <p:cNvPr id="5" name="Shape 3"/>
          <p:cNvSpPr/>
          <p:nvPr/>
        </p:nvSpPr>
        <p:spPr>
          <a:xfrm>
            <a:off x="548640" y="1554480"/>
            <a:ext cx="3529584" cy="1920240"/>
          </a:xfrm>
          <a:prstGeom prst="roundRect">
            <a:avLst>
              <a:gd name="adj" fmla="val 1429"/>
            </a:avLst>
          </a:prstGeom>
          <a:solidFill>
            <a:srgbClr val="F7F8FA"/>
          </a:solidFill>
          <a:ln w="9525">
            <a:solidFill>
              <a:srgbClr val="CDCECB"/>
            </a:solidFill>
            <a:prstDash val="solid"/>
          </a:ln>
        </p:spPr>
      </p:sp>
      <p:sp>
        <p:nvSpPr>
          <p:cNvPr id="6" name="Text 4"/>
          <p:cNvSpPr txBox="1"/>
          <p:nvPr/>
        </p:nvSpPr>
        <p:spPr>
          <a:xfrm>
            <a:off x="786384" y="1773936"/>
            <a:ext cx="658368" cy="256032"/>
          </a:xfrm>
          <a:prstGeom prst="rect">
            <a:avLst/>
          </a:prstGeom>
          <a:solidFill>
            <a:srgbClr val="043B72"/>
          </a:solid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1단계</a:t>
            </a:r>
            <a:endParaRPr lang="en-US" sz="1050" dirty="0"/>
          </a:p>
        </p:txBody>
      </p:sp>
      <p:sp>
        <p:nvSpPr>
          <p:cNvPr id="7" name="Text 5"/>
          <p:cNvSpPr txBox="1"/>
          <p:nvPr/>
        </p:nvSpPr>
        <p:spPr>
          <a:xfrm>
            <a:off x="1536192" y="1773936"/>
            <a:ext cx="2286000" cy="256032"/>
          </a:xfrm>
          <a:prstGeom prst="rect">
            <a:avLst/>
          </a:prstGeom>
          <a:noFill/>
          <a:ln/>
        </p:spPr>
        <p:txBody>
          <a:bodyPr wrap="square" lIns="0" tIns="0" rIns="0" bIns="0" rtlCol="0" anchor="ctr"/>
          <a:lstStyle/>
          <a:p>
            <a:pPr indent="0" marL="0">
              <a:buNone/>
            </a:pPr>
            <a:r>
              <a:rPr lang="en-US" sz="1150" b="1" dirty="0">
                <a:solidFill>
                  <a:srgbClr val="6C6C6C"/>
                </a:solidFill>
                <a:latin typeface="Spoqa Han Sans Neo" pitchFamily="34" charset="0"/>
                <a:ea typeface="Spoqa Han Sans Neo" pitchFamily="34" charset="-122"/>
                <a:cs typeface="Spoqa Han Sans Neo" pitchFamily="34" charset="-120"/>
              </a:rPr>
              <a:t>6 ~ 7월</a:t>
            </a:r>
            <a:endParaRPr lang="en-US" sz="1150" dirty="0"/>
          </a:p>
        </p:txBody>
      </p:sp>
      <p:sp>
        <p:nvSpPr>
          <p:cNvPr id="8" name="Text 6"/>
          <p:cNvSpPr txBox="1"/>
          <p:nvPr/>
        </p:nvSpPr>
        <p:spPr>
          <a:xfrm>
            <a:off x="786384" y="2139696"/>
            <a:ext cx="3054096"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도입 · 개별 요청 처리</a:t>
            </a:r>
            <a:endParaRPr lang="en-US" sz="1450" dirty="0"/>
          </a:p>
        </p:txBody>
      </p:sp>
      <p:sp>
        <p:nvSpPr>
          <p:cNvPr id="9" name="Text 7"/>
          <p:cNvSpPr txBox="1"/>
          <p:nvPr/>
        </p:nvSpPr>
        <p:spPr>
          <a:xfrm>
            <a:off x="786384" y="2523744"/>
            <a:ext cx="3054096" cy="822960"/>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자료 검증, 고객 제안서, 세미나 강의안, 세금 계산기 등 그때그때 들어오는 일을 처리하며 도구를 익혔습니다.</a:t>
            </a:r>
            <a:endParaRPr lang="en-US" sz="1100" dirty="0"/>
          </a:p>
        </p:txBody>
      </p:sp>
      <p:sp>
        <p:nvSpPr>
          <p:cNvPr id="10" name="Shape 8"/>
          <p:cNvSpPr/>
          <p:nvPr/>
        </p:nvSpPr>
        <p:spPr>
          <a:xfrm>
            <a:off x="4279392" y="1554480"/>
            <a:ext cx="3529584" cy="1920240"/>
          </a:xfrm>
          <a:prstGeom prst="roundRect">
            <a:avLst>
              <a:gd name="adj" fmla="val 1429"/>
            </a:avLst>
          </a:prstGeom>
          <a:solidFill>
            <a:srgbClr val="ECEFF4"/>
          </a:solidFill>
          <a:ln w="9525">
            <a:solidFill>
              <a:srgbClr val="CDCECB"/>
            </a:solidFill>
            <a:prstDash val="solid"/>
          </a:ln>
        </p:spPr>
      </p:sp>
      <p:sp>
        <p:nvSpPr>
          <p:cNvPr id="11" name="Text 9"/>
          <p:cNvSpPr txBox="1"/>
          <p:nvPr/>
        </p:nvSpPr>
        <p:spPr>
          <a:xfrm>
            <a:off x="4517136" y="1773936"/>
            <a:ext cx="658368" cy="256032"/>
          </a:xfrm>
          <a:prstGeom prst="rect">
            <a:avLst/>
          </a:prstGeom>
          <a:solidFill>
            <a:srgbClr val="F58220"/>
          </a:solid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2단계</a:t>
            </a:r>
            <a:endParaRPr lang="en-US" sz="1050" dirty="0"/>
          </a:p>
        </p:txBody>
      </p:sp>
      <p:sp>
        <p:nvSpPr>
          <p:cNvPr id="12" name="Text 10"/>
          <p:cNvSpPr txBox="1"/>
          <p:nvPr/>
        </p:nvSpPr>
        <p:spPr>
          <a:xfrm>
            <a:off x="5266944" y="1773936"/>
            <a:ext cx="2286000" cy="256032"/>
          </a:xfrm>
          <a:prstGeom prst="rect">
            <a:avLst/>
          </a:prstGeom>
          <a:noFill/>
          <a:ln/>
        </p:spPr>
        <p:txBody>
          <a:bodyPr wrap="square" lIns="0" tIns="0" rIns="0" bIns="0" rtlCol="0" anchor="ctr"/>
          <a:lstStyle/>
          <a:p>
            <a:pPr indent="0" marL="0">
              <a:buNone/>
            </a:pPr>
            <a:r>
              <a:rPr lang="en-US" sz="1150" b="1" dirty="0">
                <a:solidFill>
                  <a:srgbClr val="6C6C6C"/>
                </a:solidFill>
                <a:latin typeface="Spoqa Han Sans Neo" pitchFamily="34" charset="0"/>
                <a:ea typeface="Spoqa Han Sans Neo" pitchFamily="34" charset="-122"/>
                <a:cs typeface="Spoqa Han Sans Neo" pitchFamily="34" charset="-120"/>
              </a:rPr>
              <a:t>8월</a:t>
            </a:r>
            <a:endParaRPr lang="en-US" sz="1150" dirty="0"/>
          </a:p>
        </p:txBody>
      </p:sp>
      <p:sp>
        <p:nvSpPr>
          <p:cNvPr id="13" name="Text 11"/>
          <p:cNvSpPr txBox="1"/>
          <p:nvPr/>
        </p:nvSpPr>
        <p:spPr>
          <a:xfrm>
            <a:off x="4517136" y="2139696"/>
            <a:ext cx="3054096"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매일 도는 자동 산출물</a:t>
            </a:r>
            <a:endParaRPr lang="en-US" sz="1450" dirty="0"/>
          </a:p>
        </p:txBody>
      </p:sp>
      <p:sp>
        <p:nvSpPr>
          <p:cNvPr id="14" name="Text 12"/>
          <p:cNvSpPr txBox="1"/>
          <p:nvPr/>
        </p:nvSpPr>
        <p:spPr>
          <a:xfrm>
            <a:off x="4517136" y="2523744"/>
            <a:ext cx="3054096" cy="822960"/>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사람이 매일 하던 일을 예약으로 옮겼습니다 — 시황 브리핑, 증권사 리포트 요약, 상품 데이터 수집.</a:t>
            </a:r>
            <a:endParaRPr lang="en-US" sz="1100" dirty="0"/>
          </a:p>
        </p:txBody>
      </p:sp>
      <p:sp>
        <p:nvSpPr>
          <p:cNvPr id="15" name="Shape 13"/>
          <p:cNvSpPr/>
          <p:nvPr/>
        </p:nvSpPr>
        <p:spPr>
          <a:xfrm>
            <a:off x="8010144" y="1554480"/>
            <a:ext cx="3529584" cy="1920240"/>
          </a:xfrm>
          <a:prstGeom prst="roundRect">
            <a:avLst>
              <a:gd name="adj" fmla="val 1429"/>
            </a:avLst>
          </a:prstGeom>
          <a:solidFill>
            <a:srgbClr val="F7F8FA"/>
          </a:solidFill>
          <a:ln w="9525">
            <a:solidFill>
              <a:srgbClr val="CDCECB"/>
            </a:solidFill>
            <a:prstDash val="solid"/>
          </a:ln>
        </p:spPr>
      </p:sp>
      <p:sp>
        <p:nvSpPr>
          <p:cNvPr id="16" name="Text 14"/>
          <p:cNvSpPr txBox="1"/>
          <p:nvPr/>
        </p:nvSpPr>
        <p:spPr>
          <a:xfrm>
            <a:off x="8247888" y="1773936"/>
            <a:ext cx="658368" cy="256032"/>
          </a:xfrm>
          <a:prstGeom prst="rect">
            <a:avLst/>
          </a:prstGeom>
          <a:solidFill>
            <a:srgbClr val="043B72"/>
          </a:solidFill>
          <a:ln/>
        </p:spPr>
        <p:txBody>
          <a:bodyPr wrap="square" lIns="0" tIns="0" rIns="0" bIns="0" rtlCol="0" anchor="ctr"/>
          <a:lstStyle/>
          <a:p>
            <a:pPr algn="ctr" indent="0" marL="0">
              <a:buNone/>
            </a:pPr>
            <a:r>
              <a:rPr lang="en-US" sz="1050" b="1" dirty="0">
                <a:solidFill>
                  <a:srgbClr val="FFFFFF"/>
                </a:solidFill>
                <a:latin typeface="Spoqa Han Sans Neo" pitchFamily="34" charset="0"/>
                <a:ea typeface="Spoqa Han Sans Neo" pitchFamily="34" charset="-122"/>
                <a:cs typeface="Spoqa Han Sans Neo" pitchFamily="34" charset="-120"/>
              </a:rPr>
              <a:t>3단계</a:t>
            </a:r>
            <a:endParaRPr lang="en-US" sz="1050" dirty="0"/>
          </a:p>
        </p:txBody>
      </p:sp>
      <p:sp>
        <p:nvSpPr>
          <p:cNvPr id="17" name="Text 15"/>
          <p:cNvSpPr txBox="1"/>
          <p:nvPr/>
        </p:nvSpPr>
        <p:spPr>
          <a:xfrm>
            <a:off x="8997696" y="1773936"/>
            <a:ext cx="2286000" cy="256032"/>
          </a:xfrm>
          <a:prstGeom prst="rect">
            <a:avLst/>
          </a:prstGeom>
          <a:noFill/>
          <a:ln/>
        </p:spPr>
        <p:txBody>
          <a:bodyPr wrap="square" lIns="0" tIns="0" rIns="0" bIns="0" rtlCol="0" anchor="ctr"/>
          <a:lstStyle/>
          <a:p>
            <a:pPr indent="0" marL="0">
              <a:buNone/>
            </a:pPr>
            <a:r>
              <a:rPr lang="en-US" sz="1150" b="1" dirty="0">
                <a:solidFill>
                  <a:srgbClr val="6C6C6C"/>
                </a:solidFill>
                <a:latin typeface="Spoqa Han Sans Neo" pitchFamily="34" charset="0"/>
                <a:ea typeface="Spoqa Han Sans Neo" pitchFamily="34" charset="-122"/>
                <a:cs typeface="Spoqa Han Sans Neo" pitchFamily="34" charset="-120"/>
              </a:rPr>
              <a:t>8 ~ 9월</a:t>
            </a:r>
            <a:endParaRPr lang="en-US" sz="1150" dirty="0"/>
          </a:p>
        </p:txBody>
      </p:sp>
      <p:sp>
        <p:nvSpPr>
          <p:cNvPr id="18" name="Text 16"/>
          <p:cNvSpPr txBox="1"/>
          <p:nvPr/>
        </p:nvSpPr>
        <p:spPr>
          <a:xfrm>
            <a:off x="8247888" y="2139696"/>
            <a:ext cx="3054096"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현장 업무 화면 구축</a:t>
            </a:r>
            <a:endParaRPr lang="en-US" sz="1450" dirty="0"/>
          </a:p>
        </p:txBody>
      </p:sp>
      <p:sp>
        <p:nvSpPr>
          <p:cNvPr id="19" name="Text 17"/>
          <p:cNvSpPr txBox="1"/>
          <p:nvPr/>
        </p:nvSpPr>
        <p:spPr>
          <a:xfrm>
            <a:off x="8247888" y="2523744"/>
            <a:ext cx="3054096" cy="822960"/>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상품 판매·고객 잔고·시세 조회를 설치 없는 단일 화면으로 묶었습니다. 지금도 화면이 늘고 있습니다.</a:t>
            </a:r>
            <a:endParaRPr lang="en-US" sz="1100" dirty="0"/>
          </a:p>
        </p:txBody>
      </p:sp>
      <p:sp>
        <p:nvSpPr>
          <p:cNvPr id="20" name="Text 18"/>
          <p:cNvSpPr txBox="1"/>
          <p:nvPr/>
        </p:nvSpPr>
        <p:spPr>
          <a:xfrm>
            <a:off x="548640" y="3712464"/>
            <a:ext cx="54864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갈래별 산출물</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4059936"/>
          <a:ext cx="11064240" cy="914400"/>
        </p:xfrm>
        <a:graphic>
          <a:graphicData uri="http://schemas.openxmlformats.org/drawingml/2006/table">
            <a:tbl>
              <a:tblPr/>
              <a:tblGrid>
                <a:gridCol w="1417320"/>
                <a:gridCol w="7452360"/>
                <a:gridCol w="2194560"/>
              </a:tblGrid>
              <a:tr h="329184">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갈래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산출물</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돌아가는 방식</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457200">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자동 산출물</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모닝 시황 브리핑 · 장마감 시황 브리핑 · 증권사 리포트 다이제스트 · ELS 주간 분석</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예약 무인 실행</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57200">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판매·잔고 업무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완전판매 스크립트 자동완성 · ETF 편입종목 조회 · 국내 공모펀드 조회 · 보유자산 통합 브리핑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화면 + 매일 수집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57200">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시세·상품 조회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미국 100대 기업 · 국내 100대 기업 · 증시 일정 캘린더 · ELS 상품 조회 · 국내 종목 통합 리포트 · 마포WM 모바일 창구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단일 파일 배포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457200">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그 외 단건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부동산 세금 계산기 · 고객 상품 제안서 · 반도체 세미나 강의안 · 데이터센터 밸류체인 맵 등</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요청 시 제작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22" name="Text 19"/>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세션 기록으로 확인되는 작업은 7월 9일부터 48회입니다. 6월은 도구를 익히던 시기로 별도 산출물 기록이 남아 있지 않습니다. 9월 9~10일에 국내 100대 기업·증시 일정 캘린더가 더해졌습니다.</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①</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사람 없이 매일 나오는 산출물 4종</a:t>
            </a:r>
            <a:endParaRPr lang="en-US" sz="2600" dirty="0"/>
          </a:p>
        </p:txBody>
      </p:sp>
      <p:sp>
        <p:nvSpPr>
          <p:cNvPr id="5" name="Shape 3"/>
          <p:cNvSpPr/>
          <p:nvPr/>
        </p:nvSpPr>
        <p:spPr>
          <a:xfrm>
            <a:off x="548640" y="1481328"/>
            <a:ext cx="1298448" cy="566928"/>
          </a:xfrm>
          <a:prstGeom prst="roundRect">
            <a:avLst>
              <a:gd name="adj" fmla="val 4839"/>
            </a:avLst>
          </a:prstGeom>
          <a:solidFill>
            <a:srgbClr val="F58220"/>
          </a:solidFill>
          <a:ln/>
        </p:spPr>
      </p:sp>
      <p:sp>
        <p:nvSpPr>
          <p:cNvPr id="6" name="Text 4"/>
          <p:cNvSpPr txBox="1"/>
          <p:nvPr/>
        </p:nvSpPr>
        <p:spPr>
          <a:xfrm>
            <a:off x="548640" y="153619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07:30</a:t>
            </a:r>
            <a:endParaRPr lang="en-US" sz="1300" dirty="0"/>
          </a:p>
        </p:txBody>
      </p:sp>
      <p:sp>
        <p:nvSpPr>
          <p:cNvPr id="7" name="Text 5"/>
          <p:cNvSpPr txBox="1"/>
          <p:nvPr/>
        </p:nvSpPr>
        <p:spPr>
          <a:xfrm>
            <a:off x="548640" y="1783080"/>
            <a:ext cx="1298448" cy="219456"/>
          </a:xfrm>
          <a:prstGeom prst="rect">
            <a:avLst/>
          </a:prstGeom>
          <a:noFill/>
          <a:ln/>
        </p:spPr>
        <p:txBody>
          <a:bodyPr wrap="square" lIns="0" tIns="0" rIns="0" bIns="0" rtlCol="0" anchor="ctr"/>
          <a:lstStyle/>
          <a:p>
            <a:pPr algn="ctr" indent="0" marL="0">
              <a:buNone/>
            </a:pPr>
            <a:r>
              <a:rPr lang="en-US" sz="950" dirty="0">
                <a:solidFill>
                  <a:srgbClr val="FFE7D1"/>
                </a:solidFill>
                <a:latin typeface="Spoqa Han Sans Neo" pitchFamily="34" charset="0"/>
                <a:ea typeface="Spoqa Han Sans Neo" pitchFamily="34" charset="-122"/>
                <a:cs typeface="Spoqa Han Sans Neo" pitchFamily="34" charset="-120"/>
              </a:rPr>
              <a:t>매일</a:t>
            </a:r>
            <a:endParaRPr lang="en-US" sz="950" dirty="0"/>
          </a:p>
        </p:txBody>
      </p:sp>
      <p:sp>
        <p:nvSpPr>
          <p:cNvPr id="8" name="Text 6"/>
          <p:cNvSpPr txBox="1"/>
          <p:nvPr/>
        </p:nvSpPr>
        <p:spPr>
          <a:xfrm>
            <a:off x="2011680" y="146304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모닝 시황 브리핑</a:t>
            </a:r>
            <a:endParaRPr lang="en-US" sz="1500" dirty="0"/>
          </a:p>
        </p:txBody>
      </p:sp>
      <p:sp>
        <p:nvSpPr>
          <p:cNvPr id="9" name="Text 7"/>
          <p:cNvSpPr txBox="1"/>
          <p:nvPr/>
        </p:nvSpPr>
        <p:spPr>
          <a:xfrm>
            <a:off x="2011680" y="179222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전 거래일 국내 마감 + 간밤 미국 마감 + 오늘 일정. 휴장일에는 「해외 증시 브리핑」으로 판을 바꿔 냅니다.</a:t>
            </a:r>
            <a:endParaRPr lang="en-US" sz="1100" dirty="0"/>
          </a:p>
        </p:txBody>
      </p:sp>
      <p:sp>
        <p:nvSpPr>
          <p:cNvPr id="10" name="Shape 8"/>
          <p:cNvSpPr/>
          <p:nvPr/>
        </p:nvSpPr>
        <p:spPr>
          <a:xfrm>
            <a:off x="548640" y="2670048"/>
            <a:ext cx="1298448" cy="566928"/>
          </a:xfrm>
          <a:prstGeom prst="roundRect">
            <a:avLst>
              <a:gd name="adj" fmla="val 4839"/>
            </a:avLst>
          </a:prstGeom>
          <a:solidFill>
            <a:srgbClr val="F58220"/>
          </a:solidFill>
          <a:ln/>
        </p:spPr>
      </p:sp>
      <p:sp>
        <p:nvSpPr>
          <p:cNvPr id="11" name="Text 9"/>
          <p:cNvSpPr txBox="1"/>
          <p:nvPr/>
        </p:nvSpPr>
        <p:spPr>
          <a:xfrm>
            <a:off x="548640" y="272491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16:10</a:t>
            </a:r>
            <a:endParaRPr lang="en-US" sz="1300" dirty="0"/>
          </a:p>
        </p:txBody>
      </p:sp>
      <p:sp>
        <p:nvSpPr>
          <p:cNvPr id="12" name="Text 10"/>
          <p:cNvSpPr txBox="1"/>
          <p:nvPr/>
        </p:nvSpPr>
        <p:spPr>
          <a:xfrm>
            <a:off x="548640" y="2971800"/>
            <a:ext cx="1298448" cy="219456"/>
          </a:xfrm>
          <a:prstGeom prst="rect">
            <a:avLst/>
          </a:prstGeom>
          <a:noFill/>
          <a:ln/>
        </p:spPr>
        <p:txBody>
          <a:bodyPr wrap="square" lIns="0" tIns="0" rIns="0" bIns="0" rtlCol="0" anchor="ctr"/>
          <a:lstStyle/>
          <a:p>
            <a:pPr algn="ctr" indent="0" marL="0">
              <a:buNone/>
            </a:pPr>
            <a:r>
              <a:rPr lang="en-US" sz="950" dirty="0">
                <a:solidFill>
                  <a:srgbClr val="FFE7D1"/>
                </a:solidFill>
                <a:latin typeface="Spoqa Han Sans Neo" pitchFamily="34" charset="0"/>
                <a:ea typeface="Spoqa Han Sans Neo" pitchFamily="34" charset="-122"/>
                <a:cs typeface="Spoqa Han Sans Neo" pitchFamily="34" charset="-120"/>
              </a:rPr>
              <a:t>거래일</a:t>
            </a:r>
            <a:endParaRPr lang="en-US" sz="950" dirty="0"/>
          </a:p>
        </p:txBody>
      </p:sp>
      <p:sp>
        <p:nvSpPr>
          <p:cNvPr id="13" name="Text 11"/>
          <p:cNvSpPr txBox="1"/>
          <p:nvPr/>
        </p:nvSpPr>
        <p:spPr>
          <a:xfrm>
            <a:off x="2011680" y="265176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장마감 시황 브리핑</a:t>
            </a:r>
            <a:endParaRPr lang="en-US" sz="1500" dirty="0"/>
          </a:p>
        </p:txBody>
      </p:sp>
      <p:sp>
        <p:nvSpPr>
          <p:cNvPr id="14" name="Text 12"/>
          <p:cNvSpPr txBox="1"/>
          <p:nvPr/>
        </p:nvSpPr>
        <p:spPr>
          <a:xfrm>
            <a:off x="2011680" y="298094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그날 국내 장을 지수·수급·업종·종목으로 정리합니다. 국내 장이 없으면 돌지 않습니다.</a:t>
            </a:r>
            <a:endParaRPr lang="en-US" sz="1100" dirty="0"/>
          </a:p>
        </p:txBody>
      </p:sp>
      <p:sp>
        <p:nvSpPr>
          <p:cNvPr id="15" name="Shape 13"/>
          <p:cNvSpPr/>
          <p:nvPr/>
        </p:nvSpPr>
        <p:spPr>
          <a:xfrm>
            <a:off x="548640" y="3858768"/>
            <a:ext cx="1298448" cy="566928"/>
          </a:xfrm>
          <a:prstGeom prst="roundRect">
            <a:avLst>
              <a:gd name="adj" fmla="val 4839"/>
            </a:avLst>
          </a:prstGeom>
          <a:solidFill>
            <a:srgbClr val="043B72"/>
          </a:solidFill>
          <a:ln/>
        </p:spPr>
      </p:sp>
      <p:sp>
        <p:nvSpPr>
          <p:cNvPr id="16" name="Text 14"/>
          <p:cNvSpPr txBox="1"/>
          <p:nvPr/>
        </p:nvSpPr>
        <p:spPr>
          <a:xfrm>
            <a:off x="548640" y="3913632"/>
            <a:ext cx="12984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Spoqa Han Sans Neo" pitchFamily="34" charset="0"/>
                <a:ea typeface="Spoqa Han Sans Neo" pitchFamily="34" charset="-122"/>
                <a:cs typeface="Spoqa Han Sans Neo" pitchFamily="34" charset="-120"/>
              </a:rPr>
              <a:t>08:40 · 17:10</a:t>
            </a:r>
            <a:endParaRPr lang="en-US" sz="1000" dirty="0"/>
          </a:p>
        </p:txBody>
      </p:sp>
      <p:sp>
        <p:nvSpPr>
          <p:cNvPr id="17" name="Text 15"/>
          <p:cNvSpPr txBox="1"/>
          <p:nvPr/>
        </p:nvSpPr>
        <p:spPr>
          <a:xfrm>
            <a:off x="548640" y="4160520"/>
            <a:ext cx="1298448" cy="219456"/>
          </a:xfrm>
          <a:prstGeom prst="rect">
            <a:avLst/>
          </a:prstGeom>
          <a:noFill/>
          <a:ln/>
        </p:spPr>
        <p:txBody>
          <a:bodyPr wrap="square" lIns="0" tIns="0" rIns="0" bIns="0" rtlCol="0" anchor="ctr"/>
          <a:lstStyle/>
          <a:p>
            <a:pPr algn="ctr" indent="0" marL="0">
              <a:buNone/>
            </a:pPr>
            <a:r>
              <a:rPr lang="en-US" sz="950" dirty="0">
                <a:solidFill>
                  <a:srgbClr val="C6D6E8"/>
                </a:solidFill>
                <a:latin typeface="Spoqa Han Sans Neo" pitchFamily="34" charset="0"/>
                <a:ea typeface="Spoqa Han Sans Neo" pitchFamily="34" charset="-122"/>
                <a:cs typeface="Spoqa Han Sans Neo" pitchFamily="34" charset="-120"/>
              </a:rPr>
              <a:t>매일</a:t>
            </a:r>
            <a:endParaRPr lang="en-US" sz="950" dirty="0"/>
          </a:p>
        </p:txBody>
      </p:sp>
      <p:sp>
        <p:nvSpPr>
          <p:cNvPr id="18" name="Text 16"/>
          <p:cNvSpPr txBox="1"/>
          <p:nvPr/>
        </p:nvSpPr>
        <p:spPr>
          <a:xfrm>
            <a:off x="2011680" y="384048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증권사 리포트 다이제스트</a:t>
            </a:r>
            <a:endParaRPr lang="en-US" sz="1500" dirty="0"/>
          </a:p>
        </p:txBody>
      </p:sp>
      <p:sp>
        <p:nvSpPr>
          <p:cNvPr id="19" name="Text 17"/>
          <p:cNvSpPr txBox="1"/>
          <p:nvPr/>
        </p:nvSpPr>
        <p:spPr>
          <a:xfrm>
            <a:off x="2011680" y="416966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네이버 리서치 6판 + 미래에셋·하나 리서치를 모아 원문 문장으로 요약하고 목표주가 변경을 뽑습니다.</a:t>
            </a:r>
            <a:endParaRPr lang="en-US" sz="1100" dirty="0"/>
          </a:p>
        </p:txBody>
      </p:sp>
      <p:sp>
        <p:nvSpPr>
          <p:cNvPr id="20" name="Shape 18"/>
          <p:cNvSpPr/>
          <p:nvPr/>
        </p:nvSpPr>
        <p:spPr>
          <a:xfrm>
            <a:off x="548640" y="5047488"/>
            <a:ext cx="1298448" cy="566928"/>
          </a:xfrm>
          <a:prstGeom prst="roundRect">
            <a:avLst>
              <a:gd name="adj" fmla="val 4839"/>
            </a:avLst>
          </a:prstGeom>
          <a:solidFill>
            <a:srgbClr val="043B72"/>
          </a:solidFill>
          <a:ln/>
        </p:spPr>
      </p:sp>
      <p:sp>
        <p:nvSpPr>
          <p:cNvPr id="21" name="Text 19"/>
          <p:cNvSpPr txBox="1"/>
          <p:nvPr/>
        </p:nvSpPr>
        <p:spPr>
          <a:xfrm>
            <a:off x="548640" y="510235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주간</a:t>
            </a:r>
            <a:endParaRPr lang="en-US" sz="1300" dirty="0"/>
          </a:p>
        </p:txBody>
      </p:sp>
      <p:sp>
        <p:nvSpPr>
          <p:cNvPr id="22" name="Text 20"/>
          <p:cNvSpPr txBox="1"/>
          <p:nvPr/>
        </p:nvSpPr>
        <p:spPr>
          <a:xfrm>
            <a:off x="548640" y="5349240"/>
            <a:ext cx="1298448" cy="219456"/>
          </a:xfrm>
          <a:prstGeom prst="rect">
            <a:avLst/>
          </a:prstGeom>
          <a:noFill/>
          <a:ln/>
        </p:spPr>
        <p:txBody>
          <a:bodyPr wrap="square" lIns="0" tIns="0" rIns="0" bIns="0" rtlCol="0" anchor="ctr"/>
          <a:lstStyle/>
          <a:p>
            <a:pPr algn="ctr" indent="0" marL="0">
              <a:buNone/>
            </a:pPr>
            <a:r>
              <a:rPr lang="en-US" sz="950" dirty="0">
                <a:solidFill>
                  <a:srgbClr val="C6D6E8"/>
                </a:solidFill>
                <a:latin typeface="Spoqa Han Sans Neo" pitchFamily="34" charset="0"/>
                <a:ea typeface="Spoqa Han Sans Neo" pitchFamily="34" charset="-122"/>
                <a:cs typeface="Spoqa Han Sans Neo" pitchFamily="34" charset="-120"/>
              </a:rPr>
              <a:t>매주</a:t>
            </a:r>
            <a:endParaRPr lang="en-US" sz="950" dirty="0"/>
          </a:p>
        </p:txBody>
      </p:sp>
      <p:sp>
        <p:nvSpPr>
          <p:cNvPr id="23" name="Text 21"/>
          <p:cNvSpPr txBox="1"/>
          <p:nvPr/>
        </p:nvSpPr>
        <p:spPr>
          <a:xfrm>
            <a:off x="2011680" y="502920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ELS 상품 분석</a:t>
            </a:r>
            <a:endParaRPr lang="en-US" sz="1500" dirty="0"/>
          </a:p>
        </p:txBody>
      </p:sp>
      <p:sp>
        <p:nvSpPr>
          <p:cNvPr id="24" name="Text 22"/>
          <p:cNvSpPr txBox="1"/>
          <p:nvPr/>
        </p:nvSpPr>
        <p:spPr>
          <a:xfrm>
            <a:off x="2011680" y="535838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청약 진행 상품을 모아 기초자산·조기상환 조건·수익 구조를 비교하고 DART 투자설명서를 붙입니다.</a:t>
            </a:r>
            <a:endParaRPr lang="en-US" sz="1100" dirty="0"/>
          </a:p>
        </p:txBody>
      </p:sp>
      <p:sp>
        <p:nvSpPr>
          <p:cNvPr id="25" name="Text 23"/>
          <p:cNvSpPr txBox="1"/>
          <p:nvPr/>
        </p:nvSpPr>
        <p:spPr>
          <a:xfrm>
            <a:off x="6858000" y="1444752"/>
            <a:ext cx="4754880"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시황 브리핑 발행 실적 (주차별 판수)</a:t>
            </a:r>
            <a:endParaRPr lang="en-US" sz="1350" dirty="0"/>
          </a:p>
        </p:txBody>
      </p:sp>
      <p:graphicFrame>
        <p:nvGraphicFramePr>
          <p:cNvPr id="26" name="Chart 0" descr=""/>
          <p:cNvGraphicFramePr/>
          <p:nvPr/>
        </p:nvGraphicFramePr>
        <p:xfrm>
          <a:off x="6729984" y="1737360"/>
          <a:ext cx="5029200" cy="2121408"/>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6858000" y="3877056"/>
            <a:ext cx="4754880" cy="274320"/>
          </a:xfrm>
          <a:prstGeom prst="rect">
            <a:avLst/>
          </a:prstGeom>
          <a:noFill/>
          <a:ln/>
        </p:spPr>
        <p:txBody>
          <a:bodyPr wrap="square" lIns="0" tIns="0" rIns="0" bIns="0" rtlCol="0" anchor="ctr"/>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8/31 주부터 핵심본·전체본 두 판을 함께 냅니다. 9/07 주는 4일치입니다.</a:t>
            </a:r>
            <a:endParaRPr lang="en-US" sz="1000" dirty="0"/>
          </a:p>
        </p:txBody>
      </p:sp>
      <p:sp>
        <p:nvSpPr>
          <p:cNvPr id="28" name="Text 25"/>
          <p:cNvSpPr txBox="1"/>
          <p:nvPr/>
        </p:nvSpPr>
        <p:spPr>
          <a:xfrm>
            <a:off x="6858000" y="4261104"/>
            <a:ext cx="4754880" cy="274320"/>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발행 전 자동 검증 5종</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0" y="4553712"/>
          <a:ext cx="4754880" cy="914400"/>
        </p:xfrm>
        <a:graphic>
          <a:graphicData uri="http://schemas.openxmlformats.org/drawingml/2006/table">
            <a:tbl>
              <a:tblPr/>
              <a:tblGrid>
                <a:gridCol w="1627632"/>
                <a:gridCol w="3127248"/>
              </a:tblGrid>
              <a:tr h="274320">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검증 장치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무엇을 막는가</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숫자 대장 검산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표와 본문 수치가 어긋난 채 발행</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시세 신선도 확인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지난 거래일 값 · 덩어리째 빠진 스냅숏</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금리 기준 확인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기사 추정치를 재무부 곡선처럼 표기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지난 판 중복 검사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어제와 같은 문장·해석 반복</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인쇄 맞춤 확인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6쪽 규격 초과 · 표 잘림</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30" name="Text 26"/>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브리핑 64판 구성 — 모닝 25판 · 장마감 14판 · 핵심본 17판 · 해외 증시(주말·휴장일) 8판. 검증 중 하나라도 어긋나면 발행을 멈추고 사유를 남깁니다.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②</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상품 판매와 고객 잔고를 다루는 화면 4종</a:t>
            </a:r>
            <a:endParaRPr lang="en-US" sz="2600" dirty="0"/>
          </a:p>
        </p:txBody>
      </p:sp>
      <p:sp>
        <p:nvSpPr>
          <p:cNvPr id="5" name="Shape 3"/>
          <p:cNvSpPr/>
          <p:nvPr/>
        </p:nvSpPr>
        <p:spPr>
          <a:xfrm>
            <a:off x="548640" y="1481328"/>
            <a:ext cx="5303520" cy="2029968"/>
          </a:xfrm>
          <a:prstGeom prst="roundRect">
            <a:avLst>
              <a:gd name="adj" fmla="val 1351"/>
            </a:avLst>
          </a:prstGeom>
          <a:solidFill>
            <a:srgbClr val="FFFFFF"/>
          </a:solidFill>
          <a:ln w="9525">
            <a:solidFill>
              <a:srgbClr val="CDCECB"/>
            </a:solidFill>
            <a:prstDash val="solid"/>
          </a:ln>
        </p:spPr>
      </p:sp>
      <p:sp>
        <p:nvSpPr>
          <p:cNvPr id="6" name="Shape 4"/>
          <p:cNvSpPr/>
          <p:nvPr/>
        </p:nvSpPr>
        <p:spPr>
          <a:xfrm>
            <a:off x="786384" y="1700784"/>
            <a:ext cx="402336" cy="402336"/>
          </a:xfrm>
          <a:prstGeom prst="roundRect">
            <a:avLst>
              <a:gd name="adj" fmla="val 6818"/>
            </a:avLst>
          </a:prstGeom>
          <a:solidFill>
            <a:srgbClr val="F58220"/>
          </a:solidFill>
          <a:ln/>
        </p:spPr>
      </p:sp>
      <p:sp>
        <p:nvSpPr>
          <p:cNvPr id="7" name="Text 5"/>
          <p:cNvSpPr txBox="1"/>
          <p:nvPr/>
        </p:nvSpPr>
        <p:spPr>
          <a:xfrm>
            <a:off x="78638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8" name="Text 6"/>
          <p:cNvSpPr txBox="1"/>
          <p:nvPr/>
        </p:nvSpPr>
        <p:spPr>
          <a:xfrm>
            <a:off x="1298448" y="1719072"/>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완전판매 스크립트 자동완성</a:t>
            </a:r>
            <a:endParaRPr lang="en-US" sz="1450" dirty="0"/>
          </a:p>
        </p:txBody>
      </p:sp>
      <p:sp>
        <p:nvSpPr>
          <p:cNvPr id="9" name="Text 7"/>
          <p:cNvSpPr txBox="1"/>
          <p:nvPr/>
        </p:nvSpPr>
        <p:spPr>
          <a:xfrm>
            <a:off x="786384" y="2176272"/>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미스터리쇼퍼 대응용 스크립트를 상품별로 자동 완성합니다. 상품을 고르면 투자설명서 항목이 문장에 주입되고, 큰 글씨 프롬프터로 읽으며 셀프 채점까지 이어집니다. 설명의무만 남긴 전용판을 9월에 더했고, ELS 에 이어 펀드까지 넓혔습니다.</a:t>
            </a:r>
            <a:endParaRPr lang="en-US" sz="1100" dirty="0"/>
          </a:p>
        </p:txBody>
      </p:sp>
      <p:sp>
        <p:nvSpPr>
          <p:cNvPr id="10" name="Text 8"/>
          <p:cNvSpPr txBox="1"/>
          <p:nvPr/>
        </p:nvSpPr>
        <p:spPr>
          <a:xfrm>
            <a:off x="786384" y="305409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평가표 8종 × 16조합 · 펀드 설명서 3,019건 판독 · 매일 10:10 갱신</a:t>
            </a:r>
            <a:endParaRPr lang="en-US" sz="1050" dirty="0"/>
          </a:p>
        </p:txBody>
      </p:sp>
      <p:sp>
        <p:nvSpPr>
          <p:cNvPr id="11" name="Shape 9"/>
          <p:cNvSpPr/>
          <p:nvPr/>
        </p:nvSpPr>
        <p:spPr>
          <a:xfrm>
            <a:off x="6309360" y="1481328"/>
            <a:ext cx="5303520" cy="2029968"/>
          </a:xfrm>
          <a:prstGeom prst="roundRect">
            <a:avLst>
              <a:gd name="adj" fmla="val 1351"/>
            </a:avLst>
          </a:prstGeom>
          <a:solidFill>
            <a:srgbClr val="FFFFFF"/>
          </a:solidFill>
          <a:ln w="9525">
            <a:solidFill>
              <a:srgbClr val="CDCECB"/>
            </a:solidFill>
            <a:prstDash val="solid"/>
          </a:ln>
        </p:spPr>
      </p:sp>
      <p:sp>
        <p:nvSpPr>
          <p:cNvPr id="12" name="Shape 10"/>
          <p:cNvSpPr/>
          <p:nvPr/>
        </p:nvSpPr>
        <p:spPr>
          <a:xfrm>
            <a:off x="6547104" y="1700784"/>
            <a:ext cx="402336" cy="402336"/>
          </a:xfrm>
          <a:prstGeom prst="roundRect">
            <a:avLst>
              <a:gd name="adj" fmla="val 6818"/>
            </a:avLst>
          </a:prstGeom>
          <a:solidFill>
            <a:srgbClr val="043B72"/>
          </a:solidFill>
          <a:ln/>
        </p:spPr>
      </p:sp>
      <p:sp>
        <p:nvSpPr>
          <p:cNvPr id="13" name="Text 11"/>
          <p:cNvSpPr txBox="1"/>
          <p:nvPr/>
        </p:nvSpPr>
        <p:spPr>
          <a:xfrm>
            <a:off x="654710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14" name="Text 12"/>
          <p:cNvSpPr txBox="1"/>
          <p:nvPr/>
        </p:nvSpPr>
        <p:spPr>
          <a:xfrm>
            <a:off x="7059168" y="1719072"/>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ETF 편입종목 조회</a:t>
            </a:r>
            <a:endParaRPr lang="en-US" sz="1450" dirty="0"/>
          </a:p>
        </p:txBody>
      </p:sp>
      <p:sp>
        <p:nvSpPr>
          <p:cNvPr id="15" name="Text 13"/>
          <p:cNvSpPr txBox="1"/>
          <p:nvPr/>
        </p:nvSpPr>
        <p:spPr>
          <a:xfrm>
            <a:off x="6547104" y="2176272"/>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국내·해외 ETF의 상위 편입종목과 비중을 봅니다. 여러 ETF를 겹쳐 중복 편입 비율을 매트릭스로 보고, 「삼성전자를 담은 ETF」처럼 종목에서 거꾸로도 찾습니다.</a:t>
            </a:r>
            <a:endParaRPr lang="en-US" sz="1100" dirty="0"/>
          </a:p>
        </p:txBody>
      </p:sp>
      <p:sp>
        <p:nvSpPr>
          <p:cNvPr id="16" name="Text 14"/>
          <p:cNvSpPr txBox="1"/>
          <p:nvPr/>
        </p:nvSpPr>
        <p:spPr>
          <a:xfrm>
            <a:off x="6547104" y="305409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ETF 1,348개 (국내 1,163 · 해외 185) · 최대 8개 중복도 비교</a:t>
            </a:r>
            <a:endParaRPr lang="en-US" sz="1050" dirty="0"/>
          </a:p>
        </p:txBody>
      </p:sp>
      <p:sp>
        <p:nvSpPr>
          <p:cNvPr id="17" name="Shape 15"/>
          <p:cNvSpPr/>
          <p:nvPr/>
        </p:nvSpPr>
        <p:spPr>
          <a:xfrm>
            <a:off x="548640" y="3657600"/>
            <a:ext cx="5303520" cy="2029968"/>
          </a:xfrm>
          <a:prstGeom prst="roundRect">
            <a:avLst>
              <a:gd name="adj" fmla="val 1351"/>
            </a:avLst>
          </a:prstGeom>
          <a:solidFill>
            <a:srgbClr val="FFFFFF"/>
          </a:solidFill>
          <a:ln w="9525">
            <a:solidFill>
              <a:srgbClr val="CDCECB"/>
            </a:solidFill>
            <a:prstDash val="solid"/>
          </a:ln>
        </p:spPr>
      </p:sp>
      <p:sp>
        <p:nvSpPr>
          <p:cNvPr id="18" name="Shape 16"/>
          <p:cNvSpPr/>
          <p:nvPr/>
        </p:nvSpPr>
        <p:spPr>
          <a:xfrm>
            <a:off x="786384" y="3877056"/>
            <a:ext cx="402336" cy="402336"/>
          </a:xfrm>
          <a:prstGeom prst="roundRect">
            <a:avLst>
              <a:gd name="adj" fmla="val 6818"/>
            </a:avLst>
          </a:prstGeom>
          <a:solidFill>
            <a:srgbClr val="F58220"/>
          </a:solidFill>
          <a:ln/>
        </p:spPr>
      </p:sp>
      <p:sp>
        <p:nvSpPr>
          <p:cNvPr id="19" name="Text 17"/>
          <p:cNvSpPr txBox="1"/>
          <p:nvPr/>
        </p:nvSpPr>
        <p:spPr>
          <a:xfrm>
            <a:off x="786384"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20" name="Text 18"/>
          <p:cNvSpPr txBox="1"/>
          <p:nvPr/>
        </p:nvSpPr>
        <p:spPr>
          <a:xfrm>
            <a:off x="1298448" y="38953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국내 공모펀드 조회</a:t>
            </a:r>
            <a:endParaRPr lang="en-US" sz="1450" dirty="0"/>
          </a:p>
        </p:txBody>
      </p:sp>
      <p:sp>
        <p:nvSpPr>
          <p:cNvPr id="21" name="Text 19"/>
          <p:cNvSpPr txBox="1"/>
          <p:nvPr/>
        </p:nvSpPr>
        <p:spPr>
          <a:xfrm>
            <a:off x="786384" y="4352544"/>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국내 설정 공모펀드를 보유종목 전체와 벤치마크 대비 성과로 봅니다. 총보수는 클래스마다 달라 하나로 줄이지 않고 최저~최고 범위와 클래스표를 함께 싣습니다.</a:t>
            </a:r>
            <a:endParaRPr lang="en-US" sz="1100" dirty="0"/>
          </a:p>
        </p:txBody>
      </p:sp>
      <p:sp>
        <p:nvSpPr>
          <p:cNvPr id="22" name="Text 20"/>
          <p:cNvSpPr txBox="1"/>
          <p:nvPr/>
        </p:nvSpPr>
        <p:spPr>
          <a:xfrm>
            <a:off x="786384" y="5230368"/>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펀드 3,192개 · 클래스 19,092개 · 보유종목 전건 수집</a:t>
            </a:r>
            <a:endParaRPr lang="en-US" sz="1050" dirty="0"/>
          </a:p>
        </p:txBody>
      </p:sp>
      <p:sp>
        <p:nvSpPr>
          <p:cNvPr id="23" name="Shape 21"/>
          <p:cNvSpPr/>
          <p:nvPr/>
        </p:nvSpPr>
        <p:spPr>
          <a:xfrm>
            <a:off x="6309360" y="3657600"/>
            <a:ext cx="5303520" cy="2029968"/>
          </a:xfrm>
          <a:prstGeom prst="roundRect">
            <a:avLst>
              <a:gd name="adj" fmla="val 1351"/>
            </a:avLst>
          </a:prstGeom>
          <a:solidFill>
            <a:srgbClr val="FFFFFF"/>
          </a:solidFill>
          <a:ln w="9525">
            <a:solidFill>
              <a:srgbClr val="CDCECB"/>
            </a:solidFill>
            <a:prstDash val="solid"/>
          </a:ln>
        </p:spPr>
      </p:sp>
      <p:sp>
        <p:nvSpPr>
          <p:cNvPr id="24" name="Shape 22"/>
          <p:cNvSpPr/>
          <p:nvPr/>
        </p:nvSpPr>
        <p:spPr>
          <a:xfrm>
            <a:off x="6547104" y="3877056"/>
            <a:ext cx="402336" cy="402336"/>
          </a:xfrm>
          <a:prstGeom prst="roundRect">
            <a:avLst>
              <a:gd name="adj" fmla="val 6818"/>
            </a:avLst>
          </a:prstGeom>
          <a:solidFill>
            <a:srgbClr val="043B72"/>
          </a:solidFill>
          <a:ln/>
        </p:spPr>
      </p:sp>
      <p:sp>
        <p:nvSpPr>
          <p:cNvPr id="25" name="Text 23"/>
          <p:cNvSpPr txBox="1"/>
          <p:nvPr/>
        </p:nvSpPr>
        <p:spPr>
          <a:xfrm>
            <a:off x="6547104"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26" name="Text 24"/>
          <p:cNvSpPr txBox="1"/>
          <p:nvPr/>
        </p:nvSpPr>
        <p:spPr>
          <a:xfrm>
            <a:off x="7059168" y="38953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보유자산 통합 브리핑</a:t>
            </a:r>
            <a:endParaRPr lang="en-US" sz="1450" dirty="0"/>
          </a:p>
        </p:txBody>
      </p:sp>
      <p:sp>
        <p:nvSpPr>
          <p:cNvPr id="27" name="Text 25"/>
          <p:cNvSpPr txBox="1"/>
          <p:nvPr/>
        </p:nvSpPr>
        <p:spPr>
          <a:xfrm>
            <a:off x="6547104" y="4352544"/>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고객 보유 종목을 넣으면 주식·채권·ETF·펀드를 자산군별로 브리핑합니다. 채권은 만기 보유·중도매도 시뮬레이션까지 붙습니다. 사내 PC 에서 실행 파일로 열고 태블릿으로도 봅니다.</a:t>
            </a:r>
            <a:endParaRPr lang="en-US" sz="1100" dirty="0"/>
          </a:p>
        </p:txBody>
      </p:sp>
      <p:sp>
        <p:nvSpPr>
          <p:cNvPr id="28" name="Text 26"/>
          <p:cNvSpPr txBox="1"/>
          <p:nvPr/>
        </p:nvSpPr>
        <p:spPr>
          <a:xfrm>
            <a:off x="6547104" y="5230368"/>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4개 자산군 · Python 없이 도는 로컬 서버 + 태블릿 열람</a:t>
            </a:r>
            <a:endParaRPr lang="en-US" sz="1050" dirty="0"/>
          </a:p>
        </p:txBody>
      </p:sp>
      <p:sp>
        <p:nvSpPr>
          <p:cNvPr id="29" name="Text 27"/>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9월 갱신 — 펀드 투자설명서 판독기를 다시 써 3,014건을 재판독했습니다. 수수료율을 못 읽던 펀드 479건 → 84건, 근거 없는 「환매수수료 부과」 문구 222건 → 0건.</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③</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시세·상품 조회 화면 6종 — 설치 없이 파일 하나로</a:t>
            </a:r>
            <a:endParaRPr lang="en-US" sz="2600" dirty="0"/>
          </a:p>
        </p:txBody>
      </p:sp>
      <p:sp>
        <p:nvSpPr>
          <p:cNvPr id="5" name="Shape 3"/>
          <p:cNvSpPr/>
          <p:nvPr/>
        </p:nvSpPr>
        <p:spPr>
          <a:xfrm>
            <a:off x="548640" y="1481328"/>
            <a:ext cx="3502152" cy="1810512"/>
          </a:xfrm>
          <a:prstGeom prst="roundRect">
            <a:avLst>
              <a:gd name="adj" fmla="val 1515"/>
            </a:avLst>
          </a:prstGeom>
          <a:solidFill>
            <a:srgbClr val="FFFFFF"/>
          </a:solidFill>
          <a:ln w="9525">
            <a:solidFill>
              <a:srgbClr val="CDCECB"/>
            </a:solidFill>
            <a:prstDash val="solid"/>
          </a:ln>
        </p:spPr>
      </p:sp>
      <p:sp>
        <p:nvSpPr>
          <p:cNvPr id="6" name="Shape 4"/>
          <p:cNvSpPr/>
          <p:nvPr/>
        </p:nvSpPr>
        <p:spPr>
          <a:xfrm>
            <a:off x="749808" y="1664208"/>
            <a:ext cx="347472" cy="347472"/>
          </a:xfrm>
          <a:prstGeom prst="roundRect">
            <a:avLst>
              <a:gd name="adj" fmla="val 7895"/>
            </a:avLst>
          </a:prstGeom>
          <a:solidFill>
            <a:srgbClr val="F58220"/>
          </a:solidFill>
          <a:ln/>
        </p:spPr>
      </p:sp>
      <p:sp>
        <p:nvSpPr>
          <p:cNvPr id="7" name="Text 5"/>
          <p:cNvSpPr txBox="1"/>
          <p:nvPr/>
        </p:nvSpPr>
        <p:spPr>
          <a:xfrm>
            <a:off x="749808"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8" name="Text 6"/>
          <p:cNvSpPr txBox="1"/>
          <p:nvPr/>
        </p:nvSpPr>
        <p:spPr>
          <a:xfrm>
            <a:off x="1207008"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미국 100대 기업</a:t>
            </a:r>
            <a:endParaRPr lang="en-US" sz="1250" dirty="0"/>
          </a:p>
        </p:txBody>
      </p:sp>
      <p:sp>
        <p:nvSpPr>
          <p:cNvPr id="9" name="Text 7"/>
          <p:cNvSpPr txBox="1"/>
          <p:nvPr/>
        </p:nvSpPr>
        <p:spPr>
          <a:xfrm>
            <a:off x="749808"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대형주 100개를 검색·비교·차트·컨센서스·실적 일정까지 10개 섹션으로. 장중 10분 주기로 가격이 스스로 갱신됩니다.</a:t>
            </a:r>
            <a:endParaRPr lang="en-US" sz="1000" dirty="0"/>
          </a:p>
        </p:txBody>
      </p:sp>
      <p:sp>
        <p:nvSpPr>
          <p:cNvPr id="10" name="Text 8"/>
          <p:cNvSpPr txBox="1"/>
          <p:nvPr/>
        </p:nvSpPr>
        <p:spPr>
          <a:xfrm>
            <a:off x="749808"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100개 기업 · 10개 섹션 · 4종목 비교</a:t>
            </a:r>
            <a:endParaRPr lang="en-US" sz="950" dirty="0"/>
          </a:p>
        </p:txBody>
      </p:sp>
      <p:sp>
        <p:nvSpPr>
          <p:cNvPr id="11" name="Shape 9"/>
          <p:cNvSpPr/>
          <p:nvPr/>
        </p:nvSpPr>
        <p:spPr>
          <a:xfrm>
            <a:off x="4325112" y="1481328"/>
            <a:ext cx="3502152" cy="1810512"/>
          </a:xfrm>
          <a:prstGeom prst="roundRect">
            <a:avLst>
              <a:gd name="adj" fmla="val 1515"/>
            </a:avLst>
          </a:prstGeom>
          <a:solidFill>
            <a:srgbClr val="FFFFFF"/>
          </a:solidFill>
          <a:ln w="9525">
            <a:solidFill>
              <a:srgbClr val="CDCECB"/>
            </a:solidFill>
            <a:prstDash val="solid"/>
          </a:ln>
        </p:spPr>
      </p:sp>
      <p:sp>
        <p:nvSpPr>
          <p:cNvPr id="12" name="Shape 10"/>
          <p:cNvSpPr/>
          <p:nvPr/>
        </p:nvSpPr>
        <p:spPr>
          <a:xfrm>
            <a:off x="4526280" y="1664208"/>
            <a:ext cx="347472" cy="347472"/>
          </a:xfrm>
          <a:prstGeom prst="roundRect">
            <a:avLst>
              <a:gd name="adj" fmla="val 7895"/>
            </a:avLst>
          </a:prstGeom>
          <a:solidFill>
            <a:srgbClr val="043B72"/>
          </a:solidFill>
          <a:ln/>
        </p:spPr>
      </p:sp>
      <p:sp>
        <p:nvSpPr>
          <p:cNvPr id="13" name="Text 11"/>
          <p:cNvSpPr txBox="1"/>
          <p:nvPr/>
        </p:nvSpPr>
        <p:spPr>
          <a:xfrm>
            <a:off x="4526280"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14" name="Text 12"/>
          <p:cNvSpPr txBox="1"/>
          <p:nvPr/>
        </p:nvSpPr>
        <p:spPr>
          <a:xfrm>
            <a:off x="4983480"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국내 100대 기업</a:t>
            </a:r>
            <a:endParaRPr lang="en-US" sz="1250" dirty="0"/>
          </a:p>
        </p:txBody>
      </p:sp>
      <p:sp>
        <p:nvSpPr>
          <p:cNvPr id="15" name="Text 13"/>
          <p:cNvSpPr txBox="1"/>
          <p:nvPr/>
        </p:nvSpPr>
        <p:spPr>
          <a:xfrm>
            <a:off x="4526280"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유가증권 94 · 코스닥 6. 미국 화면과 같은 구조·조작으로 만들어 두 시장을 같은 눈으로 봅니다. 오프라인 판을 따로 냅니다.</a:t>
            </a:r>
            <a:endParaRPr lang="en-US" sz="1000" dirty="0"/>
          </a:p>
        </p:txBody>
      </p:sp>
      <p:sp>
        <p:nvSpPr>
          <p:cNvPr id="16" name="Text 14"/>
          <p:cNvSpPr txBox="1"/>
          <p:nvPr/>
        </p:nvSpPr>
        <p:spPr>
          <a:xfrm>
            <a:off x="4526280"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100개 기업 · 실시간판 + 오프라인판</a:t>
            </a:r>
            <a:endParaRPr lang="en-US" sz="950" dirty="0"/>
          </a:p>
        </p:txBody>
      </p:sp>
      <p:sp>
        <p:nvSpPr>
          <p:cNvPr id="17" name="Shape 15"/>
          <p:cNvSpPr/>
          <p:nvPr/>
        </p:nvSpPr>
        <p:spPr>
          <a:xfrm>
            <a:off x="8101584" y="1481328"/>
            <a:ext cx="3502152" cy="1810512"/>
          </a:xfrm>
          <a:prstGeom prst="roundRect">
            <a:avLst>
              <a:gd name="adj" fmla="val 1515"/>
            </a:avLst>
          </a:prstGeom>
          <a:solidFill>
            <a:srgbClr val="FFFFFF"/>
          </a:solidFill>
          <a:ln w="9525">
            <a:solidFill>
              <a:srgbClr val="CDCECB"/>
            </a:solidFill>
            <a:prstDash val="solid"/>
          </a:ln>
        </p:spPr>
      </p:sp>
      <p:sp>
        <p:nvSpPr>
          <p:cNvPr id="18" name="Shape 16"/>
          <p:cNvSpPr/>
          <p:nvPr/>
        </p:nvSpPr>
        <p:spPr>
          <a:xfrm>
            <a:off x="8302752" y="1664208"/>
            <a:ext cx="347472" cy="347472"/>
          </a:xfrm>
          <a:prstGeom prst="roundRect">
            <a:avLst>
              <a:gd name="adj" fmla="val 7895"/>
            </a:avLst>
          </a:prstGeom>
          <a:solidFill>
            <a:srgbClr val="F58220"/>
          </a:solidFill>
          <a:ln/>
        </p:spPr>
      </p:sp>
      <p:sp>
        <p:nvSpPr>
          <p:cNvPr id="19" name="Text 17"/>
          <p:cNvSpPr txBox="1"/>
          <p:nvPr/>
        </p:nvSpPr>
        <p:spPr>
          <a:xfrm>
            <a:off x="8302752"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20" name="Text 18"/>
          <p:cNvSpPr txBox="1"/>
          <p:nvPr/>
        </p:nvSpPr>
        <p:spPr>
          <a:xfrm>
            <a:off x="8759952"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증시 일정 캘린더</a:t>
            </a:r>
            <a:endParaRPr lang="en-US" sz="1250" dirty="0"/>
          </a:p>
        </p:txBody>
      </p:sp>
      <p:sp>
        <p:nvSpPr>
          <p:cNvPr id="21" name="Text 19"/>
          <p:cNvSpPr txBox="1"/>
          <p:nvPr/>
        </p:nvSpPr>
        <p:spPr>
          <a:xfrm>
            <a:off x="8302752"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경제지표 발표·중앙은행 결정·실적발표·제약바이오 학회·파생 만기·휴장일을 한 화면에. 관심 일정은 ICS 로 내려받아 캘린더에 담습니다.</a:t>
            </a:r>
            <a:endParaRPr lang="en-US" sz="1000" dirty="0"/>
          </a:p>
        </p:txBody>
      </p:sp>
      <p:sp>
        <p:nvSpPr>
          <p:cNvPr id="22" name="Text 20"/>
          <p:cNvSpPr txBox="1"/>
          <p:nvPr/>
        </p:nvSpPr>
        <p:spPr>
          <a:xfrm>
            <a:off x="8302752"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10개 섹션 · 547건 · ICS·CSV 내보내기</a:t>
            </a:r>
            <a:endParaRPr lang="en-US" sz="950" dirty="0"/>
          </a:p>
        </p:txBody>
      </p:sp>
      <p:sp>
        <p:nvSpPr>
          <p:cNvPr id="23" name="Shape 21"/>
          <p:cNvSpPr/>
          <p:nvPr/>
        </p:nvSpPr>
        <p:spPr>
          <a:xfrm>
            <a:off x="548640" y="3456432"/>
            <a:ext cx="3502152" cy="1810512"/>
          </a:xfrm>
          <a:prstGeom prst="roundRect">
            <a:avLst>
              <a:gd name="adj" fmla="val 1515"/>
            </a:avLst>
          </a:prstGeom>
          <a:solidFill>
            <a:srgbClr val="FFFFFF"/>
          </a:solidFill>
          <a:ln w="9525">
            <a:solidFill>
              <a:srgbClr val="CDCECB"/>
            </a:solidFill>
            <a:prstDash val="solid"/>
          </a:ln>
        </p:spPr>
      </p:sp>
      <p:sp>
        <p:nvSpPr>
          <p:cNvPr id="24" name="Shape 22"/>
          <p:cNvSpPr/>
          <p:nvPr/>
        </p:nvSpPr>
        <p:spPr>
          <a:xfrm>
            <a:off x="749808" y="3639312"/>
            <a:ext cx="347472" cy="347472"/>
          </a:xfrm>
          <a:prstGeom prst="roundRect">
            <a:avLst>
              <a:gd name="adj" fmla="val 7895"/>
            </a:avLst>
          </a:prstGeom>
          <a:solidFill>
            <a:srgbClr val="043B72"/>
          </a:solidFill>
          <a:ln/>
        </p:spPr>
      </p:sp>
      <p:sp>
        <p:nvSpPr>
          <p:cNvPr id="25" name="Text 23"/>
          <p:cNvSpPr txBox="1"/>
          <p:nvPr/>
        </p:nvSpPr>
        <p:spPr>
          <a:xfrm>
            <a:off x="749808"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26" name="Text 24"/>
          <p:cNvSpPr txBox="1"/>
          <p:nvPr/>
        </p:nvSpPr>
        <p:spPr>
          <a:xfrm>
            <a:off x="1207008"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ELS 상품 조회</a:t>
            </a:r>
            <a:endParaRPr lang="en-US" sz="1250" dirty="0"/>
          </a:p>
        </p:txBody>
      </p:sp>
      <p:sp>
        <p:nvSpPr>
          <p:cNvPr id="27" name="Text 25"/>
          <p:cNvSpPr txBox="1"/>
          <p:nvPr/>
        </p:nvSpPr>
        <p:spPr>
          <a:xfrm>
            <a:off x="749808"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청약 진행 상품을 매일 자동 수집해 기초자산·조기상환 조건·수익 구조를 한 화면에 놓고, 만기 손익을 시뮬레이션합니다.</a:t>
            </a:r>
            <a:endParaRPr lang="en-US" sz="1000" dirty="0"/>
          </a:p>
        </p:txBody>
      </p:sp>
      <p:sp>
        <p:nvSpPr>
          <p:cNvPr id="28" name="Text 26"/>
          <p:cNvSpPr txBox="1"/>
          <p:nvPr/>
        </p:nvSpPr>
        <p:spPr>
          <a:xfrm>
            <a:off x="749808"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37개 상품 매일 수집 · 손익 시뮬레이터</a:t>
            </a:r>
            <a:endParaRPr lang="en-US" sz="950" dirty="0"/>
          </a:p>
        </p:txBody>
      </p:sp>
      <p:sp>
        <p:nvSpPr>
          <p:cNvPr id="29" name="Shape 27"/>
          <p:cNvSpPr/>
          <p:nvPr/>
        </p:nvSpPr>
        <p:spPr>
          <a:xfrm>
            <a:off x="4325112" y="3456432"/>
            <a:ext cx="3502152" cy="1810512"/>
          </a:xfrm>
          <a:prstGeom prst="roundRect">
            <a:avLst>
              <a:gd name="adj" fmla="val 1515"/>
            </a:avLst>
          </a:prstGeom>
          <a:solidFill>
            <a:srgbClr val="FFFFFF"/>
          </a:solidFill>
          <a:ln w="9525">
            <a:solidFill>
              <a:srgbClr val="CDCECB"/>
            </a:solidFill>
            <a:prstDash val="solid"/>
          </a:ln>
        </p:spPr>
      </p:sp>
      <p:sp>
        <p:nvSpPr>
          <p:cNvPr id="30" name="Shape 28"/>
          <p:cNvSpPr/>
          <p:nvPr/>
        </p:nvSpPr>
        <p:spPr>
          <a:xfrm>
            <a:off x="4526280" y="3639312"/>
            <a:ext cx="347472" cy="347472"/>
          </a:xfrm>
          <a:prstGeom prst="roundRect">
            <a:avLst>
              <a:gd name="adj" fmla="val 7895"/>
            </a:avLst>
          </a:prstGeom>
          <a:solidFill>
            <a:srgbClr val="F58220"/>
          </a:solidFill>
          <a:ln/>
        </p:spPr>
      </p:sp>
      <p:sp>
        <p:nvSpPr>
          <p:cNvPr id="31" name="Text 29"/>
          <p:cNvSpPr txBox="1"/>
          <p:nvPr/>
        </p:nvSpPr>
        <p:spPr>
          <a:xfrm>
            <a:off x="4526280"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5</a:t>
            </a:r>
            <a:endParaRPr lang="en-US" sz="1300" dirty="0"/>
          </a:p>
        </p:txBody>
      </p:sp>
      <p:sp>
        <p:nvSpPr>
          <p:cNvPr id="32" name="Text 30"/>
          <p:cNvSpPr txBox="1"/>
          <p:nvPr/>
        </p:nvSpPr>
        <p:spPr>
          <a:xfrm>
            <a:off x="4983480"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국내 종목 통합 리포트</a:t>
            </a:r>
            <a:endParaRPr lang="en-US" sz="1250" dirty="0"/>
          </a:p>
        </p:txBody>
      </p:sp>
      <p:sp>
        <p:nvSpPr>
          <p:cNvPr id="33" name="Text 31"/>
          <p:cNvSpPr txBox="1"/>
          <p:nvPr/>
        </p:nvSpPr>
        <p:spPr>
          <a:xfrm>
            <a:off x="4526280"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종목명만 넣으면 시세·기술적지표·외국인/기관 수급·증권사 목표주가·뉴스·재무제표를 한 장으로 묶어 보여줍니다.</a:t>
            </a:r>
            <a:endParaRPr lang="en-US" sz="1000" dirty="0"/>
          </a:p>
        </p:txBody>
      </p:sp>
      <p:sp>
        <p:nvSpPr>
          <p:cNvPr id="34" name="Text 32"/>
          <p:cNvSpPr txBox="1"/>
          <p:nvPr/>
        </p:nvSpPr>
        <p:spPr>
          <a:xfrm>
            <a:off x="4526280"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6개 섹션 · PDF 저장 · 최대 4종목 비교</a:t>
            </a:r>
            <a:endParaRPr lang="en-US" sz="950" dirty="0"/>
          </a:p>
        </p:txBody>
      </p:sp>
      <p:sp>
        <p:nvSpPr>
          <p:cNvPr id="35" name="Shape 33"/>
          <p:cNvSpPr/>
          <p:nvPr/>
        </p:nvSpPr>
        <p:spPr>
          <a:xfrm>
            <a:off x="8101584" y="3456432"/>
            <a:ext cx="3502152" cy="1810512"/>
          </a:xfrm>
          <a:prstGeom prst="roundRect">
            <a:avLst>
              <a:gd name="adj" fmla="val 1515"/>
            </a:avLst>
          </a:prstGeom>
          <a:solidFill>
            <a:srgbClr val="FFFFFF"/>
          </a:solidFill>
          <a:ln w="9525">
            <a:solidFill>
              <a:srgbClr val="CDCECB"/>
            </a:solidFill>
            <a:prstDash val="solid"/>
          </a:ln>
        </p:spPr>
      </p:sp>
      <p:sp>
        <p:nvSpPr>
          <p:cNvPr id="36" name="Shape 34"/>
          <p:cNvSpPr/>
          <p:nvPr/>
        </p:nvSpPr>
        <p:spPr>
          <a:xfrm>
            <a:off x="8302752" y="3639312"/>
            <a:ext cx="347472" cy="347472"/>
          </a:xfrm>
          <a:prstGeom prst="roundRect">
            <a:avLst>
              <a:gd name="adj" fmla="val 7895"/>
            </a:avLst>
          </a:prstGeom>
          <a:solidFill>
            <a:srgbClr val="043B72"/>
          </a:solidFill>
          <a:ln/>
        </p:spPr>
      </p:sp>
      <p:sp>
        <p:nvSpPr>
          <p:cNvPr id="37" name="Text 35"/>
          <p:cNvSpPr txBox="1"/>
          <p:nvPr/>
        </p:nvSpPr>
        <p:spPr>
          <a:xfrm>
            <a:off x="8302752"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6</a:t>
            </a:r>
            <a:endParaRPr lang="en-US" sz="1300" dirty="0"/>
          </a:p>
        </p:txBody>
      </p:sp>
      <p:sp>
        <p:nvSpPr>
          <p:cNvPr id="38" name="Text 36"/>
          <p:cNvSpPr txBox="1"/>
          <p:nvPr/>
        </p:nvSpPr>
        <p:spPr>
          <a:xfrm>
            <a:off x="8759952"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마포WM 모바일 창구</a:t>
            </a:r>
            <a:endParaRPr lang="en-US" sz="1250" dirty="0"/>
          </a:p>
        </p:txBody>
      </p:sp>
      <p:sp>
        <p:nvSpPr>
          <p:cNvPr id="39" name="Text 37"/>
          <p:cNvSpPr txBox="1"/>
          <p:nvPr/>
        </p:nvSpPr>
        <p:spPr>
          <a:xfrm>
            <a:off x="8302752"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전단의 QR 13개를 링크 한 개로 옮겨, 고객이 문자로 받은 주소를 누르면 해당 업무가 바로 열립니다. 배포는 자동입니다.</a:t>
            </a:r>
            <a:endParaRPr lang="en-US" sz="1000" dirty="0"/>
          </a:p>
        </p:txBody>
      </p:sp>
      <p:sp>
        <p:nvSpPr>
          <p:cNvPr id="40" name="Text 38"/>
          <p:cNvSpPr txBox="1"/>
          <p:nvPr/>
        </p:nvSpPr>
        <p:spPr>
          <a:xfrm>
            <a:off x="8302752"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13개 업무 · QR 스캔 단계 제거</a:t>
            </a:r>
            <a:endParaRPr lang="en-US" sz="950" dirty="0"/>
          </a:p>
        </p:txBody>
      </p:sp>
      <p:sp>
        <p:nvSpPr>
          <p:cNvPr id="41" name="Shape 39"/>
          <p:cNvSpPr/>
          <p:nvPr/>
        </p:nvSpPr>
        <p:spPr>
          <a:xfrm>
            <a:off x="548640" y="5449824"/>
            <a:ext cx="11064240" cy="749808"/>
          </a:xfrm>
          <a:prstGeom prst="roundRect">
            <a:avLst>
              <a:gd name="adj" fmla="val 3659"/>
            </a:avLst>
          </a:prstGeom>
          <a:solidFill>
            <a:srgbClr val="ECEFF4"/>
          </a:solidFill>
          <a:ln/>
        </p:spPr>
      </p:sp>
      <p:sp>
        <p:nvSpPr>
          <p:cNvPr id="42" name="Text 40"/>
          <p:cNvSpPr txBox="1"/>
          <p:nvPr/>
        </p:nvSpPr>
        <p:spPr>
          <a:xfrm>
            <a:off x="822960" y="5541264"/>
            <a:ext cx="10515600" cy="585216"/>
          </a:xfrm>
          <a:prstGeom prst="rect">
            <a:avLst/>
          </a:prstGeom>
          <a:noFill/>
          <a:ln/>
        </p:spPr>
        <p:txBody>
          <a:bodyPr wrap="square" lIns="0" tIns="0" rIns="0" bIns="0" rtlCol="0" anchor="ctr"/>
          <a:lstStyle/>
          <a:p>
            <a:pPr indent="0" marL="0">
              <a:lnSpc>
                <a:spcPts val="1500"/>
              </a:lnSpc>
              <a:buNone/>
            </a:pPr>
            <a:r>
              <a:rPr lang="en-US" sz="1300" b="1" dirty="0">
                <a:solidFill>
                  <a:srgbClr val="043B72"/>
                </a:solidFill>
                <a:latin typeface="Spoqa Han Sans Neo" pitchFamily="34" charset="0"/>
                <a:ea typeface="Spoqa Han Sans Neo" pitchFamily="34" charset="-122"/>
                <a:cs typeface="Spoqa Han Sans Neo" pitchFamily="34" charset="-120"/>
              </a:rPr>
              <a:t>그 외 단건 산출물   </a:t>
            </a:r>
            <a:pPr indent="0" marL="0">
              <a:lnSpc>
                <a:spcPts val="1500"/>
              </a:lnSpc>
              <a:buNone/>
            </a:pPr>
            <a:r>
              <a:rPr lang="en-US" sz="1100" dirty="0">
                <a:solidFill>
                  <a:srgbClr val="3D3D3D"/>
                </a:solidFill>
                <a:latin typeface="Spoqa Han Sans Neo" pitchFamily="34" charset="0"/>
                <a:ea typeface="Spoqa Han Sans Neo" pitchFamily="34" charset="-122"/>
                <a:cs typeface="Spoqa Han Sans Neo" pitchFamily="34" charset="-120"/>
              </a:rPr>
              <a:t>부동산 세금 계산기 · 고객 상품 제안서 생성 도구 · 은퇴자산 설계 제안서 · IRP 상품 제안 · 반도체 세미나 강의안 · 데이터센터 밸류체인 맵 · 블룸버그 브리핑 자동 번역 · 부서 공유 저장소 · 내부망 파일 공유 사이트</a:t>
            </a:r>
            <a:endParaRPr lang="en-US" sz="1300" dirty="0"/>
          </a:p>
        </p:txBody>
      </p:sp>
      <p:sp>
        <p:nvSpPr>
          <p:cNvPr id="43" name="Text 4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여섯 화면 모두 빌드 도구도 설치도 없이 파일 하나로 동작합니다. 국내 100대 기업과 증시 일정 캘린더는 9월 9~10일에 더한 것입니다.</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공통 설계</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업무에 쓸 수 있게 만든 두 가지 장치</a:t>
            </a:r>
            <a:endParaRPr lang="en-US" sz="2600" dirty="0"/>
          </a:p>
        </p:txBody>
      </p:sp>
      <p:sp>
        <p:nvSpPr>
          <p:cNvPr id="5" name="Shape 3"/>
          <p:cNvSpPr/>
          <p:nvPr/>
        </p:nvSpPr>
        <p:spPr>
          <a:xfrm>
            <a:off x="548640" y="1481328"/>
            <a:ext cx="5303520" cy="4023360"/>
          </a:xfrm>
          <a:prstGeom prst="roundRect">
            <a:avLst>
              <a:gd name="adj" fmla="val 682"/>
            </a:avLst>
          </a:prstGeom>
          <a:solidFill>
            <a:srgbClr val="F7F8FA"/>
          </a:solidFill>
          <a:ln w="9525">
            <a:solidFill>
              <a:srgbClr val="CDCECB"/>
            </a:solidFill>
            <a:prstDash val="solid"/>
          </a:ln>
        </p:spPr>
      </p:sp>
      <p:sp>
        <p:nvSpPr>
          <p:cNvPr id="6" name="Shape 4"/>
          <p:cNvSpPr/>
          <p:nvPr/>
        </p:nvSpPr>
        <p:spPr>
          <a:xfrm>
            <a:off x="822960" y="1737360"/>
            <a:ext cx="475488" cy="475488"/>
          </a:xfrm>
          <a:prstGeom prst="roundRect">
            <a:avLst>
              <a:gd name="adj" fmla="val 5769"/>
            </a:avLst>
          </a:prstGeom>
          <a:solidFill>
            <a:srgbClr val="F58220"/>
          </a:solidFill>
          <a:ln/>
        </p:spPr>
      </p:sp>
      <p:sp>
        <p:nvSpPr>
          <p:cNvPr id="7" name="Text 5"/>
          <p:cNvSpPr txBox="1"/>
          <p:nvPr/>
        </p:nvSpPr>
        <p:spPr>
          <a:xfrm>
            <a:off x="822960" y="1737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1</a:t>
            </a:r>
            <a:endParaRPr lang="en-US" sz="1500" dirty="0"/>
          </a:p>
        </p:txBody>
      </p:sp>
      <p:sp>
        <p:nvSpPr>
          <p:cNvPr id="8" name="Text 6"/>
          <p:cNvSpPr txBox="1"/>
          <p:nvPr/>
        </p:nvSpPr>
        <p:spPr>
          <a:xfrm>
            <a:off x="1426464" y="1755648"/>
            <a:ext cx="42062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사내망에서도 열리게</a:t>
            </a:r>
            <a:endParaRPr lang="en-US" sz="1600" dirty="0"/>
          </a:p>
        </p:txBody>
      </p:sp>
      <p:sp>
        <p:nvSpPr>
          <p:cNvPr id="9" name="Text 7"/>
          <p:cNvSpPr txBox="1"/>
          <p:nvPr/>
        </p:nvSpPr>
        <p:spPr>
          <a:xfrm>
            <a:off x="822960" y="2231136"/>
            <a:ext cx="4754880" cy="60350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업무용 PC 에서 외부 금융 사이트가 방화벽·CORS 로 막히는 것을 전제로 만들었습니다. 수집은 사내망 밖(러너)에서 하고, 화면은 저장된 값을 읽어 그립니다.</a:t>
            </a:r>
            <a:endParaRPr lang="en-US" sz="1100" dirty="0"/>
          </a:p>
        </p:txBody>
      </p:sp>
      <p:sp>
        <p:nvSpPr>
          <p:cNvPr id="10" name="Text 8"/>
          <p:cNvSpPr txBox="1"/>
          <p:nvPr/>
        </p:nvSpPr>
        <p:spPr>
          <a:xfrm>
            <a:off x="822960" y="292608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1" name="Text 9"/>
          <p:cNvSpPr txBox="1"/>
          <p:nvPr/>
        </p:nvSpPr>
        <p:spPr>
          <a:xfrm>
            <a:off x="1005840" y="292608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경로 4중 폴백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실시간 스트리밍 → 10분 주기 가격 파일 → 브라우저 직접 조회 → 저장 스냅샷</a:t>
            </a:r>
            <a:endParaRPr lang="en-US" sz="1050" dirty="0"/>
          </a:p>
        </p:txBody>
      </p:sp>
      <p:sp>
        <p:nvSpPr>
          <p:cNvPr id="12" name="Text 10"/>
          <p:cNvSpPr txBox="1"/>
          <p:nvPr/>
        </p:nvSpPr>
        <p:spPr>
          <a:xfrm>
            <a:off x="822960" y="356616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3" name="Text 11"/>
          <p:cNvSpPr txBox="1"/>
          <p:nvPr/>
        </p:nvSpPr>
        <p:spPr>
          <a:xfrm>
            <a:off x="1005840" y="356616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연결 점검 진단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어느 경로가 왜 막혔는지 화면에서 판정하고, 담당자에게 보낼 요약을 만들어 줍니다</a:t>
            </a:r>
            <a:endParaRPr lang="en-US" sz="1050" dirty="0"/>
          </a:p>
        </p:txBody>
      </p:sp>
      <p:sp>
        <p:nvSpPr>
          <p:cNvPr id="14" name="Text 12"/>
          <p:cNvSpPr txBox="1"/>
          <p:nvPr/>
        </p:nvSpPr>
        <p:spPr>
          <a:xfrm>
            <a:off x="822960" y="420624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5" name="Text 13"/>
          <p:cNvSpPr txBox="1"/>
          <p:nvPr/>
        </p:nvSpPr>
        <p:spPr>
          <a:xfrm>
            <a:off x="1005840" y="420624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오프라인 단일 파일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인터넷 없는 PC 용으로 데이터를 파일 안에 넣은 판을 매일 자동 생성합니다</a:t>
            </a:r>
            <a:endParaRPr lang="en-US" sz="1050" dirty="0"/>
          </a:p>
        </p:txBody>
      </p:sp>
      <p:sp>
        <p:nvSpPr>
          <p:cNvPr id="16" name="Text 14"/>
          <p:cNvSpPr txBox="1"/>
          <p:nvPr/>
        </p:nvSpPr>
        <p:spPr>
          <a:xfrm>
            <a:off x="822960" y="484632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7" name="Text 15"/>
          <p:cNvSpPr txBox="1"/>
          <p:nvPr/>
        </p:nvSpPr>
        <p:spPr>
          <a:xfrm>
            <a:off x="1005840" y="484632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로컬 실행 런처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설치 권한이 없는 PC 에서도 실행 파일 하나로 열립니다 (Python 불필요)</a:t>
            </a:r>
            <a:endParaRPr lang="en-US" sz="1050" dirty="0"/>
          </a:p>
        </p:txBody>
      </p:sp>
      <p:sp>
        <p:nvSpPr>
          <p:cNvPr id="18" name="Shape 16"/>
          <p:cNvSpPr/>
          <p:nvPr/>
        </p:nvSpPr>
        <p:spPr>
          <a:xfrm>
            <a:off x="6309360" y="1481328"/>
            <a:ext cx="5303520" cy="4023360"/>
          </a:xfrm>
          <a:prstGeom prst="roundRect">
            <a:avLst>
              <a:gd name="adj" fmla="val 682"/>
            </a:avLst>
          </a:prstGeom>
          <a:solidFill>
            <a:srgbClr val="F7F8FA"/>
          </a:solidFill>
          <a:ln w="9525">
            <a:solidFill>
              <a:srgbClr val="CDCECB"/>
            </a:solidFill>
            <a:prstDash val="solid"/>
          </a:ln>
        </p:spPr>
      </p:sp>
      <p:sp>
        <p:nvSpPr>
          <p:cNvPr id="19" name="Shape 17"/>
          <p:cNvSpPr/>
          <p:nvPr/>
        </p:nvSpPr>
        <p:spPr>
          <a:xfrm>
            <a:off x="6583680" y="1737360"/>
            <a:ext cx="475488" cy="475488"/>
          </a:xfrm>
          <a:prstGeom prst="roundRect">
            <a:avLst>
              <a:gd name="adj" fmla="val 5769"/>
            </a:avLst>
          </a:prstGeom>
          <a:solidFill>
            <a:srgbClr val="043B72"/>
          </a:solidFill>
          <a:ln/>
        </p:spPr>
      </p:sp>
      <p:sp>
        <p:nvSpPr>
          <p:cNvPr id="20" name="Text 18"/>
          <p:cNvSpPr txBox="1"/>
          <p:nvPr/>
        </p:nvSpPr>
        <p:spPr>
          <a:xfrm>
            <a:off x="6583680" y="1737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2</a:t>
            </a:r>
            <a:endParaRPr lang="en-US" sz="1500" dirty="0"/>
          </a:p>
        </p:txBody>
      </p:sp>
      <p:sp>
        <p:nvSpPr>
          <p:cNvPr id="21" name="Text 19"/>
          <p:cNvSpPr txBox="1"/>
          <p:nvPr/>
        </p:nvSpPr>
        <p:spPr>
          <a:xfrm>
            <a:off x="7187184" y="1755648"/>
            <a:ext cx="42062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틀린 숫자가 조용히 나가지 않게</a:t>
            </a:r>
            <a:endParaRPr lang="en-US" sz="1600" dirty="0"/>
          </a:p>
        </p:txBody>
      </p:sp>
      <p:sp>
        <p:nvSpPr>
          <p:cNvPr id="22" name="Text 20"/>
          <p:cNvSpPr txBox="1"/>
          <p:nvPr/>
        </p:nvSpPr>
        <p:spPr>
          <a:xfrm>
            <a:off x="6583680" y="2231136"/>
            <a:ext cx="4754880" cy="60350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자동 산출에서 가장 위험한 것은 사람이 검토하지 않은 숫자입니다. 원천이 주는 값을 그대로 싣지 않고, 판정에 걸리면 비우거나 멈춥니다.</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2889504"/>
          <a:ext cx="4754880" cy="914400"/>
        </p:xfrm>
        <a:graphic>
          <a:graphicData uri="http://schemas.openxmlformats.org/drawingml/2006/table">
            <a:tbl>
              <a:tblPr/>
              <a:tblGrid>
                <a:gridCol w="1700784"/>
                <a:gridCol w="3054096"/>
              </a:tblGrid>
              <a:tr h="292608">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위험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막은 방법</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펀드 수익률 +244%</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기준가 재산정 계단을 먹은 칸만 골라 비움</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ELS 지급률 오설명</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표기기준이 갈리는 값은 자동 계산하지 않음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기초자산 누락</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변동성·상관계수 개수가 어긋나면 수집 중단</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총보수 단일값 왜곡</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클래스별 최저~최고 범위로 표기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환매수수료 오판독</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판독기 재작성 후 근거 없는 문구 0건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지어낸 요약</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리포트 원문 문장만 골라 실음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24" name="Text 2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두 장치 덕분에 산출물을 그대로 업무에 쓸 수 있습니다. 값이 확실하지 않을 때는 빈칸으로 두고 그 사유를 화면에 적어, 읽는 사람이 무엇을 확인해야 하는지 알 수 있게 했습니다.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3657600" cy="237744"/>
          </a:xfrm>
          <a:prstGeom prst="rect">
            <a:avLst/>
          </a:prstGeom>
          <a:noFill/>
          <a:ln/>
        </p:spPr>
        <p:txBody>
          <a:bodyPr wrap="square" lIns="0" tIns="0" rIns="0" bIns="0" rtlCol="0" anchor="ctr"/>
          <a:lstStyle/>
          <a:p>
            <a:pPr indent="0" marL="0">
              <a:buNone/>
            </a:pPr>
            <a:r>
              <a:rPr lang="en-US" sz="1100" b="1" spc="120" kern="0" dirty="0">
                <a:solidFill>
                  <a:srgbClr val="FAB072"/>
                </a:solidFill>
                <a:latin typeface="Spoqa Han Sans Neo" pitchFamily="34" charset="0"/>
                <a:ea typeface="Spoqa Han Sans Neo" pitchFamily="34" charset="-122"/>
                <a:cs typeface="Spoqa Han Sans Neo" pitchFamily="34" charset="-120"/>
              </a:rPr>
              <a:t>마무리</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FFFFFF"/>
                </a:solidFill>
                <a:latin typeface="Spoqa Han Sans Neo" pitchFamily="34" charset="0"/>
                <a:ea typeface="Spoqa Han Sans Neo" pitchFamily="34" charset="-122"/>
                <a:cs typeface="Spoqa Han Sans Neo" pitchFamily="34" charset="-120"/>
              </a:rPr>
              <a:t>정량 성과와 다음 단계</a:t>
            </a:r>
            <a:endParaRPr lang="en-US" sz="2600" dirty="0"/>
          </a:p>
        </p:txBody>
      </p:sp>
      <p:sp>
        <p:nvSpPr>
          <p:cNvPr id="5" name="Text 3"/>
          <p:cNvSpPr txBox="1"/>
          <p:nvPr/>
        </p:nvSpPr>
        <p:spPr>
          <a:xfrm>
            <a:off x="548640" y="1572768"/>
            <a:ext cx="5760720" cy="274320"/>
          </a:xfrm>
          <a:prstGeom prst="rect">
            <a:avLst/>
          </a:prstGeom>
          <a:noFill/>
          <a:ln/>
        </p:spPr>
        <p:txBody>
          <a:bodyPr wrap="square" lIns="0" tIns="0" rIns="0" bIns="0" rtlCol="0" anchor="ctr"/>
          <a:lstStyle/>
          <a:p>
            <a:pPr indent="0" marL="0">
              <a:buNone/>
            </a:pPr>
            <a:r>
              <a:rPr lang="en-US" sz="1400" b="1" dirty="0">
                <a:solidFill>
                  <a:srgbClr val="FAB072"/>
                </a:solidFill>
                <a:latin typeface="Spoqa Han Sans Neo" pitchFamily="34" charset="0"/>
                <a:ea typeface="Spoqa Han Sans Neo" pitchFamily="34" charset="-122"/>
                <a:cs typeface="Spoqa Han Sans Neo" pitchFamily="34" charset="-120"/>
              </a:rPr>
              <a:t>정량 성과</a:t>
            </a:r>
            <a:endParaRPr lang="en-US" sz="1400" dirty="0"/>
          </a:p>
        </p:txBody>
      </p:sp>
      <p:sp>
        <p:nvSpPr>
          <p:cNvPr id="6" name="Text 4"/>
          <p:cNvSpPr txBox="1"/>
          <p:nvPr/>
        </p:nvSpPr>
        <p:spPr>
          <a:xfrm>
            <a:off x="548640" y="1956816"/>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14종</a:t>
            </a:r>
            <a:endParaRPr lang="en-US" sz="1600" dirty="0"/>
          </a:p>
        </p:txBody>
      </p:sp>
      <p:sp>
        <p:nvSpPr>
          <p:cNvPr id="7" name="Text 5"/>
          <p:cNvSpPr txBox="1"/>
          <p:nvPr/>
        </p:nvSpPr>
        <p:spPr>
          <a:xfrm>
            <a:off x="2724912" y="1956816"/>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현장에서 쓰고 있는 화면·자동 산출물 (그 외 단건 다수)</a:t>
            </a:r>
            <a:endParaRPr lang="en-US" sz="1100" dirty="0"/>
          </a:p>
        </p:txBody>
      </p:sp>
      <p:sp>
        <p:nvSpPr>
          <p:cNvPr id="8" name="Shape 6"/>
          <p:cNvSpPr/>
          <p:nvPr/>
        </p:nvSpPr>
        <p:spPr>
          <a:xfrm>
            <a:off x="548640" y="2487168"/>
            <a:ext cx="5715000" cy="9144"/>
          </a:xfrm>
          <a:prstGeom prst="rect">
            <a:avLst/>
          </a:prstGeom>
          <a:solidFill>
            <a:srgbClr val="1E5288"/>
          </a:solidFill>
          <a:ln/>
        </p:spPr>
      </p:sp>
      <p:sp>
        <p:nvSpPr>
          <p:cNvPr id="9" name="Text 7"/>
          <p:cNvSpPr txBox="1"/>
          <p:nvPr/>
        </p:nvSpPr>
        <p:spPr>
          <a:xfrm>
            <a:off x="548640" y="2633472"/>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35종</a:t>
            </a:r>
            <a:endParaRPr lang="en-US" sz="1600" dirty="0"/>
          </a:p>
        </p:txBody>
      </p:sp>
      <p:sp>
        <p:nvSpPr>
          <p:cNvPr id="10" name="Text 8"/>
          <p:cNvSpPr txBox="1"/>
          <p:nvPr/>
        </p:nvSpPr>
        <p:spPr>
          <a:xfrm>
            <a:off x="2724912" y="2633472"/>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무인 운영 워크플로 — 예약 20종 · 장중 10분 주기 갱신</a:t>
            </a:r>
            <a:endParaRPr lang="en-US" sz="1100" dirty="0"/>
          </a:p>
        </p:txBody>
      </p:sp>
      <p:sp>
        <p:nvSpPr>
          <p:cNvPr id="11" name="Shape 9"/>
          <p:cNvSpPr/>
          <p:nvPr/>
        </p:nvSpPr>
        <p:spPr>
          <a:xfrm>
            <a:off x="548640" y="3163824"/>
            <a:ext cx="5715000" cy="9144"/>
          </a:xfrm>
          <a:prstGeom prst="rect">
            <a:avLst/>
          </a:prstGeom>
          <a:solidFill>
            <a:srgbClr val="1E5288"/>
          </a:solidFill>
          <a:ln/>
        </p:spPr>
      </p:sp>
      <p:sp>
        <p:nvSpPr>
          <p:cNvPr id="12" name="Text 10"/>
          <p:cNvSpPr txBox="1"/>
          <p:nvPr/>
        </p:nvSpPr>
        <p:spPr>
          <a:xfrm>
            <a:off x="548640" y="3310128"/>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64판 / 33일</a:t>
            </a:r>
            <a:endParaRPr lang="en-US" sz="1600" dirty="0"/>
          </a:p>
        </p:txBody>
      </p:sp>
      <p:sp>
        <p:nvSpPr>
          <p:cNvPr id="13" name="Text 11"/>
          <p:cNvSpPr txBox="1"/>
          <p:nvPr/>
        </p:nvSpPr>
        <p:spPr>
          <a:xfrm>
            <a:off x="2724912" y="3310128"/>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시황 브리핑 무인 발행 — 휴장일 포함 무결점 연속</a:t>
            </a:r>
            <a:endParaRPr lang="en-US" sz="1100" dirty="0"/>
          </a:p>
        </p:txBody>
      </p:sp>
      <p:sp>
        <p:nvSpPr>
          <p:cNvPr id="14" name="Shape 12"/>
          <p:cNvSpPr/>
          <p:nvPr/>
        </p:nvSpPr>
        <p:spPr>
          <a:xfrm>
            <a:off x="548640" y="3840480"/>
            <a:ext cx="5715000" cy="9144"/>
          </a:xfrm>
          <a:prstGeom prst="rect">
            <a:avLst/>
          </a:prstGeom>
          <a:solidFill>
            <a:srgbClr val="1E5288"/>
          </a:solidFill>
          <a:ln/>
        </p:spPr>
      </p:sp>
      <p:sp>
        <p:nvSpPr>
          <p:cNvPr id="15" name="Text 13"/>
          <p:cNvSpPr txBox="1"/>
          <p:nvPr/>
        </p:nvSpPr>
        <p:spPr>
          <a:xfrm>
            <a:off x="548640" y="3986784"/>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약 64시간</a:t>
            </a:r>
            <a:endParaRPr lang="en-US" sz="1600" dirty="0"/>
          </a:p>
        </p:txBody>
      </p:sp>
      <p:sp>
        <p:nvSpPr>
          <p:cNvPr id="16" name="Text 14"/>
          <p:cNvSpPr txBox="1"/>
          <p:nvPr/>
        </p:nvSpPr>
        <p:spPr>
          <a:xfrm>
            <a:off x="2724912" y="3986784"/>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브리핑 작성 시간 절감 (추정 · 판당 60분 기준)</a:t>
            </a:r>
            <a:endParaRPr lang="en-US" sz="1100" dirty="0"/>
          </a:p>
        </p:txBody>
      </p:sp>
      <p:sp>
        <p:nvSpPr>
          <p:cNvPr id="17" name="Shape 15"/>
          <p:cNvSpPr/>
          <p:nvPr/>
        </p:nvSpPr>
        <p:spPr>
          <a:xfrm>
            <a:off x="548640" y="4517136"/>
            <a:ext cx="5715000" cy="9144"/>
          </a:xfrm>
          <a:prstGeom prst="rect">
            <a:avLst/>
          </a:prstGeom>
          <a:solidFill>
            <a:srgbClr val="1E5288"/>
          </a:solidFill>
          <a:ln/>
        </p:spPr>
      </p:sp>
      <p:sp>
        <p:nvSpPr>
          <p:cNvPr id="18" name="Text 16"/>
          <p:cNvSpPr txBox="1"/>
          <p:nvPr/>
        </p:nvSpPr>
        <p:spPr>
          <a:xfrm>
            <a:off x="548640" y="4663440"/>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4,777</a:t>
            </a:r>
            <a:endParaRPr lang="en-US" sz="1600" dirty="0"/>
          </a:p>
        </p:txBody>
      </p:sp>
      <p:sp>
        <p:nvSpPr>
          <p:cNvPr id="19" name="Text 17"/>
          <p:cNvSpPr txBox="1"/>
          <p:nvPr/>
        </p:nvSpPr>
        <p:spPr>
          <a:xfrm>
            <a:off x="2724912" y="4663440"/>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커버리지 — 펀드 3,192 · ETF 1,348 · 미국 100 · 국내 100 · ELS 37</a:t>
            </a:r>
            <a:endParaRPr lang="en-US" sz="1100" dirty="0"/>
          </a:p>
        </p:txBody>
      </p:sp>
      <p:sp>
        <p:nvSpPr>
          <p:cNvPr id="20" name="Shape 18"/>
          <p:cNvSpPr/>
          <p:nvPr/>
        </p:nvSpPr>
        <p:spPr>
          <a:xfrm>
            <a:off x="548640" y="5193792"/>
            <a:ext cx="5715000" cy="9144"/>
          </a:xfrm>
          <a:prstGeom prst="rect">
            <a:avLst/>
          </a:prstGeom>
          <a:solidFill>
            <a:srgbClr val="1E5288"/>
          </a:solidFill>
          <a:ln/>
        </p:spPr>
      </p:sp>
      <p:sp>
        <p:nvSpPr>
          <p:cNvPr id="21" name="Text 19"/>
          <p:cNvSpPr txBox="1"/>
          <p:nvPr/>
        </p:nvSpPr>
        <p:spPr>
          <a:xfrm>
            <a:off x="548640" y="5340096"/>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39개</a:t>
            </a:r>
            <a:endParaRPr lang="en-US" sz="1600" dirty="0"/>
          </a:p>
        </p:txBody>
      </p:sp>
      <p:sp>
        <p:nvSpPr>
          <p:cNvPr id="22" name="Text 20"/>
          <p:cNvSpPr txBox="1"/>
          <p:nvPr/>
        </p:nvSpPr>
        <p:spPr>
          <a:xfrm>
            <a:off x="2724912" y="5340096"/>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작업 브랜치 — 산출물·수집·검증이 저장소에 남음</a:t>
            </a:r>
            <a:endParaRPr lang="en-US" sz="1100" dirty="0"/>
          </a:p>
        </p:txBody>
      </p:sp>
      <p:sp>
        <p:nvSpPr>
          <p:cNvPr id="23" name="Shape 21"/>
          <p:cNvSpPr/>
          <p:nvPr/>
        </p:nvSpPr>
        <p:spPr>
          <a:xfrm>
            <a:off x="6766560" y="1572768"/>
            <a:ext cx="4846320" cy="4553712"/>
          </a:xfrm>
          <a:prstGeom prst="roundRect">
            <a:avLst>
              <a:gd name="adj" fmla="val 602"/>
            </a:avLst>
          </a:prstGeom>
          <a:solidFill>
            <a:srgbClr val="FFFFFF"/>
          </a:solidFill>
          <a:ln/>
        </p:spPr>
      </p:sp>
      <p:sp>
        <p:nvSpPr>
          <p:cNvPr id="24" name="Text 22"/>
          <p:cNvSpPr txBox="1"/>
          <p:nvPr/>
        </p:nvSpPr>
        <p:spPr>
          <a:xfrm>
            <a:off x="7095744" y="1828800"/>
            <a:ext cx="420624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다음 단계</a:t>
            </a:r>
            <a:endParaRPr lang="en-US" sz="1400" dirty="0"/>
          </a:p>
        </p:txBody>
      </p:sp>
      <p:sp>
        <p:nvSpPr>
          <p:cNvPr id="25" name="Shape 23"/>
          <p:cNvSpPr/>
          <p:nvPr/>
        </p:nvSpPr>
        <p:spPr>
          <a:xfrm>
            <a:off x="7095744" y="2194560"/>
            <a:ext cx="365760" cy="365760"/>
          </a:xfrm>
          <a:prstGeom prst="roundRect">
            <a:avLst>
              <a:gd name="adj" fmla="val 7500"/>
            </a:avLst>
          </a:prstGeom>
          <a:solidFill>
            <a:srgbClr val="F58220"/>
          </a:solidFill>
          <a:ln/>
        </p:spPr>
      </p:sp>
      <p:sp>
        <p:nvSpPr>
          <p:cNvPr id="26" name="Text 24"/>
          <p:cNvSpPr txBox="1"/>
          <p:nvPr/>
        </p:nvSpPr>
        <p:spPr>
          <a:xfrm>
            <a:off x="7095744" y="2194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27" name="Text 25"/>
          <p:cNvSpPr txBox="1"/>
          <p:nvPr/>
        </p:nvSpPr>
        <p:spPr>
          <a:xfrm>
            <a:off x="7589520" y="2167128"/>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사내 프록시 연결</a:t>
            </a:r>
            <a:endParaRPr lang="en-US" sz="1300" dirty="0"/>
          </a:p>
        </p:txBody>
      </p:sp>
      <p:sp>
        <p:nvSpPr>
          <p:cNvPr id="28" name="Text 26"/>
          <p:cNvSpPr txBox="1"/>
          <p:nvPr/>
        </p:nvSpPr>
        <p:spPr>
          <a:xfrm>
            <a:off x="7589520" y="2450592"/>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주소 한 줄만 등록하면 조회 화면이 지연 없는 실시간으로 바뀝니다. 전산 협의가 필요합니다.</a:t>
            </a:r>
            <a:endParaRPr lang="en-US" sz="1050" dirty="0"/>
          </a:p>
        </p:txBody>
      </p:sp>
      <p:sp>
        <p:nvSpPr>
          <p:cNvPr id="29" name="Shape 27"/>
          <p:cNvSpPr/>
          <p:nvPr/>
        </p:nvSpPr>
        <p:spPr>
          <a:xfrm>
            <a:off x="7095744" y="3072384"/>
            <a:ext cx="365760" cy="365760"/>
          </a:xfrm>
          <a:prstGeom prst="roundRect">
            <a:avLst>
              <a:gd name="adj" fmla="val 7500"/>
            </a:avLst>
          </a:prstGeom>
          <a:solidFill>
            <a:srgbClr val="F58220"/>
          </a:solidFill>
          <a:ln/>
        </p:spPr>
      </p:sp>
      <p:sp>
        <p:nvSpPr>
          <p:cNvPr id="30" name="Text 28"/>
          <p:cNvSpPr txBox="1"/>
          <p:nvPr/>
        </p:nvSpPr>
        <p:spPr>
          <a:xfrm>
            <a:off x="7095744"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31" name="Text 29"/>
          <p:cNvSpPr txBox="1"/>
          <p:nvPr/>
        </p:nvSpPr>
        <p:spPr>
          <a:xfrm>
            <a:off x="7589520" y="3044952"/>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지점·부서 공유</a:t>
            </a:r>
            <a:endParaRPr lang="en-US" sz="1300" dirty="0"/>
          </a:p>
        </p:txBody>
      </p:sp>
      <p:sp>
        <p:nvSpPr>
          <p:cNvPr id="32" name="Text 30"/>
          <p:cNvSpPr txBox="1"/>
          <p:nvPr/>
        </p:nvSpPr>
        <p:spPr>
          <a:xfrm>
            <a:off x="7589520" y="3328416"/>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지금은 개인 단위로 쓰고 있습니다. 브리핑 목록과 조회 화면을 열어 사용 의견을 받고 반영합니다.</a:t>
            </a:r>
            <a:endParaRPr lang="en-US" sz="1050" dirty="0"/>
          </a:p>
        </p:txBody>
      </p:sp>
      <p:sp>
        <p:nvSpPr>
          <p:cNvPr id="33" name="Shape 31"/>
          <p:cNvSpPr/>
          <p:nvPr/>
        </p:nvSpPr>
        <p:spPr>
          <a:xfrm>
            <a:off x="7095744" y="3950208"/>
            <a:ext cx="365760" cy="365760"/>
          </a:xfrm>
          <a:prstGeom prst="roundRect">
            <a:avLst>
              <a:gd name="adj" fmla="val 7500"/>
            </a:avLst>
          </a:prstGeom>
          <a:solidFill>
            <a:srgbClr val="F58220"/>
          </a:solidFill>
          <a:ln/>
        </p:spPr>
      </p:sp>
      <p:sp>
        <p:nvSpPr>
          <p:cNvPr id="34" name="Text 32"/>
          <p:cNvSpPr txBox="1"/>
          <p:nvPr/>
        </p:nvSpPr>
        <p:spPr>
          <a:xfrm>
            <a:off x="7095744" y="39502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35" name="Text 33"/>
          <p:cNvSpPr txBox="1"/>
          <p:nvPr/>
        </p:nvSpPr>
        <p:spPr>
          <a:xfrm>
            <a:off x="7589520" y="3922776"/>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완전판매 — 채권·IRP 남음</a:t>
            </a:r>
            <a:endParaRPr lang="en-US" sz="1300" dirty="0"/>
          </a:p>
        </p:txBody>
      </p:sp>
      <p:sp>
        <p:nvSpPr>
          <p:cNvPr id="36" name="Text 34"/>
          <p:cNvSpPr txBox="1"/>
          <p:nvPr/>
        </p:nvSpPr>
        <p:spPr>
          <a:xfrm>
            <a:off x="7589520" y="4206240"/>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ELS 에 이어 펀드까지 붙였습니다(9월). 채권·IRP 설명서를 마치면 전 상품군이 자동완성됩니다.</a:t>
            </a:r>
            <a:endParaRPr lang="en-US" sz="1050" dirty="0"/>
          </a:p>
        </p:txBody>
      </p:sp>
      <p:sp>
        <p:nvSpPr>
          <p:cNvPr id="37" name="Shape 35"/>
          <p:cNvSpPr/>
          <p:nvPr/>
        </p:nvSpPr>
        <p:spPr>
          <a:xfrm>
            <a:off x="7095744" y="4828032"/>
            <a:ext cx="365760" cy="365760"/>
          </a:xfrm>
          <a:prstGeom prst="roundRect">
            <a:avLst>
              <a:gd name="adj" fmla="val 7500"/>
            </a:avLst>
          </a:prstGeom>
          <a:solidFill>
            <a:srgbClr val="F58220"/>
          </a:solidFill>
          <a:ln/>
        </p:spPr>
      </p:sp>
      <p:sp>
        <p:nvSpPr>
          <p:cNvPr id="38" name="Text 36"/>
          <p:cNvSpPr txBox="1"/>
          <p:nvPr/>
        </p:nvSpPr>
        <p:spPr>
          <a:xfrm>
            <a:off x="7095744"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39" name="Text 37"/>
          <p:cNvSpPr txBox="1"/>
          <p:nvPr/>
        </p:nvSpPr>
        <p:spPr>
          <a:xfrm>
            <a:off x="7589520" y="4800600"/>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다른 반복 업무로</a:t>
            </a:r>
            <a:endParaRPr lang="en-US" sz="1300" dirty="0"/>
          </a:p>
        </p:txBody>
      </p:sp>
      <p:sp>
        <p:nvSpPr>
          <p:cNvPr id="40" name="Text 38"/>
          <p:cNvSpPr txBox="1"/>
          <p:nvPr/>
        </p:nvSpPr>
        <p:spPr>
          <a:xfrm>
            <a:off x="7589520" y="5084064"/>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같은 구조(예약 수집 → 자동 검증 → 단일 파일)를 연금·해외주식 안내로 옮깁니다.</a:t>
            </a:r>
            <a:endParaRPr lang="en-US" sz="1050" dirty="0"/>
          </a:p>
        </p:txBody>
      </p:sp>
      <p:sp>
        <p:nvSpPr>
          <p:cNvPr id="41" name="Shape 39"/>
          <p:cNvSpPr/>
          <p:nvPr/>
        </p:nvSpPr>
        <p:spPr>
          <a:xfrm>
            <a:off x="7095744" y="5577840"/>
            <a:ext cx="4206240" cy="9144"/>
          </a:xfrm>
          <a:prstGeom prst="rect">
            <a:avLst/>
          </a:prstGeom>
          <a:solidFill>
            <a:srgbClr val="E5E4E1"/>
          </a:solidFill>
          <a:ln/>
        </p:spPr>
      </p:sp>
      <p:sp>
        <p:nvSpPr>
          <p:cNvPr id="42" name="Text 40"/>
          <p:cNvSpPr txBox="1"/>
          <p:nvPr/>
        </p:nvSpPr>
        <p:spPr>
          <a:xfrm>
            <a:off x="7095744" y="5669280"/>
            <a:ext cx="4206240" cy="365760"/>
          </a:xfrm>
          <a:prstGeom prst="rect">
            <a:avLst/>
          </a:prstGeom>
          <a:noFill/>
          <a:ln/>
        </p:spPr>
        <p:txBody>
          <a:bodyPr wrap="square" lIns="0" tIns="0" rIns="0" bIns="0" rtlCol="0" anchor="ctr"/>
          <a:lstStyle/>
          <a:p>
            <a:pPr indent="0" marL="0">
              <a:lnSpc>
                <a:spcPts val="1250"/>
              </a:lnSpc>
              <a:buNone/>
            </a:pPr>
            <a:r>
              <a:rPr lang="en-US" sz="950" dirty="0">
                <a:solidFill>
                  <a:srgbClr val="6C6C6C"/>
                </a:solidFill>
                <a:latin typeface="Spoqa Han Sans Neo" pitchFamily="34" charset="0"/>
                <a:ea typeface="Spoqa Han Sans Neo" pitchFamily="34" charset="-122"/>
                <a:cs typeface="Spoqa Han Sans Neo" pitchFamily="34" charset="-120"/>
              </a:rPr>
              <a:t>유의 — 조회 화면은 정보 제공용 사내 참고 자료입니다. 고객 대외 배포 시 준법감시 확인이 필요합니다.</a:t>
            </a:r>
            <a:endParaRPr lang="en-US" sz="950" dirty="0"/>
          </a:p>
        </p:txBody>
      </p:sp>
      <p:sp>
        <p:nvSpPr>
          <p:cNvPr id="43" name="Text 4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8FAAC6"/>
                </a:solidFill>
                <a:latin typeface="Spoqa Han Sans Neo" pitchFamily="34" charset="0"/>
                <a:ea typeface="Spoqa Han Sans Neo" pitchFamily="34" charset="-122"/>
                <a:cs typeface="Spoqa Han Sans Neo" pitchFamily="34" charset="-120"/>
              </a:rPr>
              <a:t>기준일 2026.09.10.  절감 시간은 시세 취합·작성·검증을 사람이 할 때 판당 60분으로 보고 발행 64판에 곱한 추정치이며, 실측값이 아닙니다. 그 외 수치는 저장소 산출물과 세션 기록에서 직접 집계했습니다.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기반 업무 자동화 구축 결과 보고</dc:title>
  <dc:subject>PptxGenJS Presentation</dc:subject>
  <dc:creator>마포WM</dc:creator>
  <cp:lastModifiedBy>마포WM</cp:lastModifiedBy>
  <cp:revision>1</cp:revision>
  <dcterms:created xsi:type="dcterms:W3CDTF">2026-09-10T23:21:31Z</dcterms:created>
  <dcterms:modified xsi:type="dcterms:W3CDTF">2026-09-10T23:21:31Z</dcterms:modified>
</cp:coreProperties>
</file>