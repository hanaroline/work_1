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비중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8220"/>
              </a:solidFill>
              <a:effectLst/>
            </c:spPr>
          </c:dPt>
          <c:dPt>
            <c:idx val="1"/>
            <c:bubble3D val="0"/>
            <c:spPr>
              <a:solidFill>
                <a:srgbClr val="043B72"/>
              </a:solidFill>
              <a:effectLst/>
            </c:spPr>
          </c:dPt>
          <c:dPt>
            <c:idx val="2"/>
            <c:bubble3D val="0"/>
            <c:spPr>
              <a:solidFill>
                <a:srgbClr val="FAB072"/>
              </a:solidFill>
              <a:effectLst/>
            </c:spPr>
          </c:dPt>
          <c:dPt>
            <c:idx val="3"/>
            <c:bubble3D val="0"/>
            <c:spPr>
              <a:solidFill>
                <a:srgbClr val="0086B8"/>
              </a:solidFill>
              <a:effectLst/>
            </c:spPr>
          </c:dPt>
          <c:dPt>
            <c:idx val="4"/>
            <c:bubble3D val="0"/>
            <c:spPr>
              <a:solidFill>
                <a:srgbClr val="AD624E"/>
              </a:solidFill>
              <a:effectLst/>
            </c:spPr>
          </c:dPt>
          <c:dPt>
            <c:idx val="5"/>
            <c:bubble3D val="0"/>
            <c:spPr>
              <a:solidFill>
                <a:srgbClr val="84888B"/>
              </a:solidFill>
              <a:effectLst/>
            </c:spPr>
          </c:dPt>
          <c:dLbls>
            <c:dLbl>
              <c:idx val="0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0.0&quot;%&quot;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Spoqa Han Sans Neo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국내주식</c:v>
                </c:pt>
                <c:pt idx="1">
                  <c:v>해외주식</c:v>
                </c:pt>
                <c:pt idx="2">
                  <c:v>국내ETF</c:v>
                </c:pt>
                <c:pt idx="3">
                  <c:v>국내펀드</c:v>
                </c:pt>
                <c:pt idx="4">
                  <c:v>해외펀드</c:v>
                </c:pt>
                <c:pt idx="5">
                  <c:v>현금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35</c:v>
                </c:pt>
                <c:pt idx="5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D3D3D"/>
              </a:solidFill>
              <a:latin typeface="Spoqa Han Sans Neo"/>
              <a:cs typeface="Spoqa Han Sans Ne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C6C6C"/>
                </a:solidFill>
                <a:latin typeface="Spoqa Han Sans Neo"/>
              </a:defRPr>
            </a:pPr>
            <a:r>
              <a:rPr sz="1200" b="0" i="0" u="none" strike="noStrike">
                <a:solidFill>
                  <a:srgbClr val="6C6C6C"/>
                </a:solidFill>
                <a:latin typeface="Spoqa Han Sans Neo"/>
              </a:rPr>
              <a:t>자산군별 변동성 (중앙값) — 펀드는 산출 불가로 제외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변동성(중앙)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3D3D"/>
                    </a:solidFill>
                    <a:latin typeface="Spoqa Han Sans Ne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국내ETF</c:v>
                  </c:pt>
                  <c:pt idx="1">
                    <c:v>국내주식</c:v>
                  </c:pt>
                  <c:pt idx="2">
                    <c:v>해외주식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16.4</c:v>
                </c:pt>
                <c:pt idx="1">
                  <c:v>57.3</c:v>
                </c:pt>
                <c:pt idx="2">
                  <c:v>29.1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D3D3D"/>
                  </a:solidFill>
                  <a:latin typeface="Spoqa Han Sans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3D3D"/>
                </a:solidFill>
                <a:latin typeface="Spoqa Han Sans Ne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C6C6C"/>
                </a:solidFill>
                <a:latin typeface="Spoqa Han Sans Ne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고객명·성향·기간·금액은 build_proposal_pptx.py 인자로 바뀝니다.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도넛과 표는 네이티브라 고객 앞에서 숫자를 고칠 수 있습니다. 「과거 1년」은 지나간 실적이며 미래 수익률이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덮은 비중을 반드시 함께 설명하십시오. 펀드가 섞이면 변동성은 일부만 덮습니다.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출처와 기준일을 반드시 함께 보여 주십시오. 기준일 없는 수치는 자료가 남는 순간 거짓이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고객 제안용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자산배분 제안서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017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위험중립형  ·  5년 초과  ·  1억 원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미래에셋증권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0" y="59436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2026-09-19 08:55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제안 배분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2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51560"/>
          <a:ext cx="4937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143000"/>
          <a:ext cx="5943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463040"/>
                <a:gridCol w="1097280"/>
                <a:gridCol w="10972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자산군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비중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금액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국내주식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35.8%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57.3%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1,000만원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10.5%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29.1%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국내ETF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1,500만원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21.2%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16.4%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국내펀드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2,000만원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해외펀드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3,500만원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11.7%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현금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15.0%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1,500만원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합계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100.0%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1억 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14.3%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8.2%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7D7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5년 초과 — 성향 그대로 담습니다  ·  해외ETF 는 지금 자료가 없어 제안에서 뺐습니다 — 그 몫 15%p 를 해외펀드 로 옮겼습니다.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포트폴리오 지표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26700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과거 1년 실적 (가중)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14.3%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95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미래 수익률이 아닙니다.  실적을 덮은 비중 85%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01568" y="1188720"/>
            <a:ext cx="26700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0168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변동성 (가중합)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8.2%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2395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분산효과 제외 — 실제보다 높게 나옵니다.  덮은 비중 30%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54496" y="1188720"/>
            <a:ext cx="26700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83096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최대낙폭 (가중합)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83096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43B72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-11.0%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83096" y="2395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덮은 비중 30%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107424" y="1188720"/>
            <a:ext cx="267004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36024" y="13716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현금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336024" y="169164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15.0%</a:t>
            </a:r>
            <a:endParaRPr lang="en-US" sz="3400" dirty="0"/>
          </a:p>
        </p:txBody>
      </p:sp>
      <p:sp>
        <p:nvSpPr>
          <p:cNvPr id="20" name="Text 18"/>
          <p:cNvSpPr txBox="1"/>
          <p:nvPr/>
        </p:nvSpPr>
        <p:spPr>
          <a:xfrm>
            <a:off x="9336024" y="2395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1,500만원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474720"/>
            <a:ext cx="11064240" cy="868680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611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변동성은 이 배분의 30%만 덮습니다. 나머지 70%(주로 펀드)는 기준가 이력이 7 거래일뿐이라 셈하지 않았습니다. 위 숫자를 포트폴리오 전체의 값으로 읽지 마십시오.</a:t>
            </a:r>
            <a:endParaRPr lang="en-US" sz="12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548640" y="4526280"/>
          <a:ext cx="1106424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변동성은 자산군 사이 상관관계를 셈하지 않은 가중합입니다. 낮게 보이게 만드는 것보다 높게 두는 편이 안전합니다.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제안 상품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국내주식 — 5.0% · 500만원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9903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시가총액 상위 종목입니다 — 종목 추천이 아닙니다.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삼성전자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반도체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1,714조원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272.3%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57.9%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SK하이닉스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반도체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1,318조원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599.4%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73.4%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SK스퀘어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지주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142조원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622.2%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80.8%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삼성전기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전기전자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105조원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678.0%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71.1%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현대차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자동차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96조원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64.8%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53.4%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703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해외주식 — 10.0% · 1,000만원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0050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시가총액 상위 종목입니다 — 종목 추천이 아닙니다.</a:t>
            </a:r>
            <a:endParaRPr lang="en-US" sz="9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70248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엔비디아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IT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7,326조원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44.4%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애플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IT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6,803조원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40.4%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28.8%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알파벳(구글)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커뮤니케이션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5,875조원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36.3%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31.7%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마이크로소프트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IT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5,112조원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-4.9%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28.7%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아마존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경기소비재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3,748조원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6.3%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33.7%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규모와 보수로 고릅니다. 수익률 순으로 고르지 않습니다 — 지난해 제일 많이 오른 것을 권하는 습관이 고객에게 가장 비쌉니다.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제안 상품 (이어서)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국내ETF — 15.0% · 1,500만원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TIGER 미국S&amp;P500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미래에셋자산운용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21조원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17.8%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14.6%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TIGER 미국나스닥100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미래에셋자산운용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12조원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24.3%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KODEX 미국S&amp;P500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삼성자산운용(ETF)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14.7%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KODEX 미국나스닥100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삼성자산운용(ETF)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KODEX 머니마켓액티브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일반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삼성자산운용(ETF)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1.5%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0.05%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703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국내펀드 — 20.0% · 2,000만원</a:t>
            </a:r>
            <a:endParaRPr lang="en-US" sz="15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삼성MMF법인 1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삼성자산운용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11조원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0.05~0.09%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우리큰만족법인MMF 1(국공채)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우리자산운용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0.08~0.10%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IBK그랑프리국공채MMF법인투자신탁 1[국공채]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아이비케이자산운용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8조원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0.09~0.17%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KB법인용MMF I-1(운용)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케이비자산운용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8조원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3.0%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0.06~0.09%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우리큰만족신종MMF3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MMF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우리자산운용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7조원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3.1%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0.09~0.11%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규모와 보수로 고릅니다. 수익률 순으로 고르지 않습니다 — 지난해 제일 많이 오른 것을 권하는 습관이 고객에게 가장 비쌉니다.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제안 상품 (이어서)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155680" y="4114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97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해외펀드 — 35.0% · 3,500만원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828800"/>
                <a:gridCol w="1280160"/>
                <a:gridCol w="1005840"/>
                <a:gridCol w="914400"/>
                <a:gridCol w="914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상품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유형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운용/발행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규모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과거 1년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변동성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보수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피델리티글로벌테크놀로지증권자투자신탁(주식-재간접형)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9,218억원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20.4%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0.16~1.36%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피델리티월지급식아시아하이일드증권자투자신탁[채권-재간접…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해외채권형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7,365억원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5.2%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0.37~1.17%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피델리티글로벌배당인컴증권자투자신탁(주식-재간접형)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피델리티자산운용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5,716억원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0.16~1.36%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AB월지급글로벌고수익증권투자신탁[채권-재간접형]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해외채권형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얼라이언스번스틴자산운용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5,462억원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0.17~0.71%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한국투자글로벌전기차&amp;자율주행증권투자신탁(주식)(모)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해외주식형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한국투자신탁운용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4,762억원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17.8%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C6C6C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0.77~2.07%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규모와 보수로 고릅니다. 수익률 순으로 고르지 않습니다 — 지난해 제일 많이 오른 것을 권하는 습관이 고객에게 가장 비쌉니다.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자료 출처와 유의사항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"/>
            <a:ext cx="11064240" cy="0"/>
          </a:xfrm>
          <a:prstGeom prst="line">
            <a:avLst/>
          </a:prstGeom>
          <a:noFill/>
          <a:ln w="12700">
            <a:solidFill>
              <a:srgbClr val="F5822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675120"/>
                <a:gridCol w="1005840"/>
                <a:gridCol w="2011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자산군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원천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종목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기준일</a:t>
                      </a:r>
                      <a:endParaRPr lang="en-US" sz="12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펀드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네이버 Npay 증권 + 금융투자협회 전자공시(투자지역)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1051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2026-09-14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국내주식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야후 파이낸스 일봉 (자료 가지 kr100-data)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2026-09-18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해외주식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야후 파이낸스 일봉 (자료 가지 us100-data)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100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2026-09-16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국내ETF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네이버 금융 일봉 + 야후 차트 일봉(close, 배당 미보정) + ETFCHECK (https://www.e…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247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2026-09-18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해외ETF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0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Spoqa Han Sans Neo" pitchFamily="34" charset="0"/>
                          <a:ea typeface="Spoqa Han Sans Neo" pitchFamily="34" charset="-122"/>
                          <a:cs typeface="Spoqa Han Sans Neo" pitchFamily="34" charset="-120"/>
                        </a:rPr>
                        <a:t>—</a:t>
                      </a:r>
                      <a:endParaRPr lang="en-US" sz="1100" dirty="0">
                        <a:latin typeface="Spoqa Han Sans Neo" charset="0"/>
                        <a:ea typeface="Spoqa Han Sans Neo" charset="0"/>
                        <a:cs typeface="Spoqa Han Sans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29184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「과거 1년」은 원천에서 실제로 잰 값이며 미래 수익률이 아닙니다. 최근 1년이 그랬다는 것과 앞으로 그러리라는 것은 다른 말입니다.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빈칸(—)은 원천에 없어 셈하지 않은 값입니다. 만들어 넣지 않았습니다.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펀드는 기준가 이력이 7 거래일뿐이라 변동성·최대낙폭을 셈하지 않고 위험등급을 씁니다.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펀드 보수는 클래스마다 달라 하나로 줄이지 않고 범위로 싣습니다.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해외 시가총액은 USD/KRW 1383.17 (data/us100/latest.json) 로 환산했습니다.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「해외펀드」는 해외에 설정된 뮤추얼펀드가 아니라 해외에 투자하는 국내 설정 공모펀드입니다.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D3D3D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이 자료는 참고용이며 투자 권유가 아닙니다. 실제 제안 전 준법감시 검토를 받으십시오.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6C6C"/>
                </a:solidFill>
                <a:latin typeface="Spoqa Han Sans Neo" pitchFamily="34" charset="0"/>
                <a:ea typeface="Spoqa Han Sans Neo" pitchFamily="34" charset="-122"/>
                <a:cs typeface="Spoqa Han Sans Neo" pitchFamily="34" charset="-120"/>
              </a:rPr>
              <a:t>유니버스 2026-09-19 08:55:38 · 문서 2026-09-19 08:55 (KST)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자산배분 제안서</dc:title>
  <dc:subject>PptxGenJS Presentation</dc:subject>
  <dc:creator>미래에셋증권</dc:creator>
  <cp:lastModifiedBy>미래에셋증권</cp:lastModifiedBy>
  <cp:revision>1</cp:revision>
  <dcterms:created xsi:type="dcterms:W3CDTF">2026-09-18T23:55:38Z</dcterms:created>
  <dcterms:modified xsi:type="dcterms:W3CDTF">2026-09-18T23:55:38Z</dcterms:modified>
</cp:coreProperties>
</file>