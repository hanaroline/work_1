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오프닝: 최근 반도체 주가가 크게 흔들렸지만, 오늘 목적은 '공포'가 아니라 '판단'이다. 세 질문(왜 흔들렸나·그래도 반도체인가·집중이 맞나)에 답하는 자리라고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로드맵: Q1(3~6p) 변동성 원인, Q2(7~9p) 펀더멘털, Q3(10~15p) 종목·판단, 마무리(16~18p) 대응·요약.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조정폭은 크지만 연초 급등(하이닉스 한때 +340%)의 되돌림 성격. 원인을 매크로·업황·국내수급으로 분해.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요인 모두 '외부·거시'로 기업 이익창출력과 직접 관련이 적다 → 변동성의 상당 부분은 매크로 노이즈.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모건스탠리 윌슨의 '칩→하이퍼스케일러 로테이션'(7/6)이 메모리주 베어마켓 진입의 직접 트리거. 단 MS의 과거 오판 전력과 골드만·UBS 강세론을 함께 제시해 균형을 잡는다.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차별적인 슬라이드. 단일종목 레버리지 ETF(5/27)가 삼성 4.4→6.8%, 하이닉스 5.1→7.8%로 장중 변동성을 키웠고, 외국인 14거래일 연속 순매도와 예탁금 급감이 겹쳤다. 즉 국내 변동성의 상당 부분은 펀더멘털이 아닌 구조·수급 요인.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빅테크는 이미 돈을 쓰고 있다(가이던스=확정 지출). 메타 유휴 대여·정점 논쟁은 모니터링 리스크이나, 자체칩도 HBM을 대량 쓰므로 HBM 총수요가 준다는 근거는 약하다 — 위협은 엔비디아 GPU 점유율에 국한.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슈퍼사이클은 유효(골드만·UBS 강세). 단 상승률 둔화는 정점 근접 신호이기도 하다 — 강세·신중 균형 전달.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HBM은 슈퍼사이클의 심장. SK 압도적 1위이나 삼성·마이크론 추격으로 경쟁 심화 → HBM 가격·점유율이 최대 변수.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HBM 순수 수혜주, 업계 최고 수익성(OPM 72%)·순현금 35조. 다만 메모리 사이클 민감도(변동성)도 가장 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목표가는 5월 대비 대폭 상향돼 현재 400만원대(iM 350·SK 400·KB/미래에셋 420·한화 430), 현재가 208만원 대비 상승여력 큼. 저평가 매력과 메모리 집중·고점 리스크를 균형있게. ADR 이벤트는 다음 장에서 별도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ADR 공모는 7배 초과청약·앵커 $7B로 흥행 신호가 강하다. 차익거래가 제한돼 TSMC처럼 ADR 프리미엄이 유지되면 본주까지 리레이팅되는 순유입 효과가 기대된다. 반대로 흥행이 식으면 희석+역유입+고점조정이 겹쳐 본주 하락 압력. 최종 공모가는 7/9 오후 확정, 상장 첫날은 7/10 — 발표 시점에 결과를 업데이트 권장.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 대비 HBM 후발이나 HBM4 첫 양산·AMD 확보·파운드리 흑전이라는 '반등 카드' 보유. 실적 개선 속도가 빠르다.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저평가+반등 옵션(HBM4·파운드리)이 매력이나 HBM 열위·파운드리 수율이 관건. Bull/Bear 균형, 판단은 고객 몫.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'집중은 타당하나 무조건은 아니다'. 두 종목을 하나로 보지 말고 역할 분담 — SK=업사이드 코어, 삼성=저평가·턴어라운드.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슬라이드: 지친 고객 심리를 다독이는 파트. 변동성은 슈퍼사이클의 정상 비용, 원칙(분할·리밸런싱·지표확인) 강조, 그리고 '함께 관리하겠다'는 관계 메시지로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메시지: 방향은 맞다(비중 유지·확대), 실행이 성패 — 분할·역할분담·신호관리. 고액자산가는 비중상한·헤지·세제까지 포트 차원 관리.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줄 요약 후 Disclaimer 낭독 — 정보제공 목적, 판단·책임은 고객, 수치 재확인 필요, 과거·전망은 미래 보장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097280"/>
            <a:ext cx="3291840" cy="3291840"/>
          </a:xfrm>
          <a:prstGeom prst="ellipse">
            <a:avLst/>
          </a:prstGeom>
          <a:solidFill>
            <a:srgbClr val="14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4297680"/>
            <a:ext cx="2468880" cy="2468880"/>
          </a:xfrm>
          <a:prstGeom prst="ellipse">
            <a:avLst/>
          </a:prstGeom>
          <a:solidFill>
            <a:srgbClr val="12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44200" y="1234440"/>
            <a:ext cx="822960" cy="822960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93B"/>
                </a:solidFill>
                <a:latin typeface="맑은 고딕"/>
                <a:ea typeface="맑은 고딕"/>
              </a:rPr>
              <a:t>MIRAE ASSET  ·  고객 세미나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596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맑은 고딕"/>
                <a:ea typeface="맑은 고딕"/>
              </a:rPr>
              <a:t>AI 슈퍼사이클의 변곡점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맑은 고딕"/>
                <a:ea typeface="맑은 고딕"/>
              </a:rPr>
              <a:t>반도체, 지금 어떻게 볼 것인가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7D6EC"/>
                </a:solidFill>
                <a:latin typeface="맑은 고딕"/>
                <a:ea typeface="맑은 고딕"/>
              </a:rPr>
              <a:t>삼성전자 · SK하이닉스 집중 분석 — 변동성의 정체와 냉정한 투자 판단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892040"/>
            <a:ext cx="2926080" cy="18288"/>
          </a:xfrm>
          <a:prstGeom prst="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074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2026년 7월 13일</a:t>
            </a:r>
            <a:r>
              <a:rPr sz="1400" b="0" i="0">
                <a:solidFill>
                  <a:srgbClr val="AEC1DD"/>
                </a:solidFill>
                <a:latin typeface="맑은 고딕"/>
                <a:ea typeface="맑은 고딕"/>
              </a:rPr>
              <a:t>      |      미래에셋증권 리서치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172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E90AC"/>
                </a:solidFill>
                <a:latin typeface="맑은 고딕"/>
                <a:ea typeface="맑은 고딕"/>
              </a:rPr>
              <a:t>※ 본 자료의 주가·실적·목표주가는 2026.7.13 기준 보도 및 컨센서스를 종합한 것으로, 실제와 차이가 있을 수 있으며 발표 전 최신 IR/컨센서스 재확인이 필요합니다.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오늘 다룰 세 가지 질문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3456432" cy="356616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2377440"/>
            <a:ext cx="457200" cy="457200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3591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063240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왜 이렇게 흔들렸나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703320"/>
            <a:ext cx="28163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36174"/>
                </a:solidFill>
                <a:latin typeface="맑은 고딕"/>
                <a:ea typeface="맑은 고딕"/>
              </a:rPr>
              <a:t>6월 고점 대비 20~30% 조정.
매크로·업황·국내 수급까지
변동성의 정체를 분해한다.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2011680"/>
            <a:ext cx="3456432" cy="356616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9431" y="2377440"/>
            <a:ext cx="457200" cy="457200"/>
          </a:xfrm>
          <a:prstGeom prst="ellipse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3591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3063240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그래도 반도체인가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3703320"/>
            <a:ext cx="28163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36174"/>
                </a:solidFill>
                <a:latin typeface="맑은 고딕"/>
                <a:ea typeface="맑은 고딕"/>
              </a:rPr>
              <a:t>AI 수요·메모리 슈퍼사이클의
펀더멘털을 데이터로 점검하고
주가 하락과 대조한다.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5" y="2011680"/>
            <a:ext cx="3456432" cy="356616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11895" y="23774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5" y="23591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5" y="3063240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집중이 맞는가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5" y="3703320"/>
            <a:ext cx="28163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36174"/>
                </a:solidFill>
                <a:latin typeface="맑은 고딕"/>
                <a:ea typeface="맑은 고딕"/>
              </a:rPr>
              <a:t>삼성·SK하이닉스 집중 투자의
논리·리스크를 저울질하고
전략과 대응을 제시한다.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01 · 변동성의 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무슨 일이 있었나 — 6월 고점, 7월 급락</a:t>
            </a:r>
          </a:p>
        </p:txBody>
      </p:sp>
      <p:pic>
        <p:nvPicPr>
          <p:cNvPr id="5" name="Picture 4" descr="s3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5623560" cy="35994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37960" y="1874519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93992" y="19933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맑은 고딕"/>
                <a:ea typeface="맑은 고딕"/>
              </a:rPr>
              <a:t>SK하이닉스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3992" y="23591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4"/>
                </a:solidFill>
                <a:latin typeface="맑은 고딕"/>
                <a:ea typeface="맑은 고딕"/>
              </a:rPr>
              <a:t>6/25 고점 후 약 -25%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1892807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64545"/>
                </a:solidFill>
                <a:latin typeface="맑은 고딕"/>
                <a:ea typeface="맑은 고딕"/>
              </a:rPr>
              <a:t>298.7만 → 223만원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89864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30175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맑은 고딕"/>
                <a:ea typeface="맑은 고딕"/>
              </a:rPr>
              <a:t>삼성전자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33832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4"/>
                </a:solidFill>
                <a:latin typeface="맑은 고딕"/>
                <a:ea typeface="맑은 고딕"/>
              </a:rPr>
              <a:t>6/19 고점 후 -22%, 7/10 +5% 반등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916936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64545"/>
                </a:solidFill>
                <a:latin typeface="맑은 고딕"/>
                <a:ea typeface="맑은 고딕"/>
              </a:rPr>
              <a:t>37.5만 → 29.2만원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922776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40416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1F3A"/>
                </a:solidFill>
                <a:latin typeface="맑은 고딕"/>
                <a:ea typeface="맑은 고딕"/>
              </a:rPr>
              <a:t>SOX 지수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44074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4"/>
                </a:solidFill>
                <a:latin typeface="맑은 고딕"/>
                <a:ea typeface="맑은 고딕"/>
              </a:rPr>
              <a:t>6/22 사상최고 후 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941063"/>
            <a:ext cx="21488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64545"/>
                </a:solidFill>
                <a:latin typeface="맑은 고딕"/>
                <a:ea typeface="맑은 고딕"/>
              </a:rPr>
              <a:t>14,655 → 13,104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974336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4974336"/>
            <a:ext cx="4526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A93B"/>
                </a:solidFill>
                <a:latin typeface="맑은 고딕"/>
                <a:ea typeface="맑은 고딕"/>
              </a:rPr>
              <a:t>핵심: </a:t>
            </a:r>
            <a:r>
              <a:rPr sz="1350" b="0" i="0">
                <a:solidFill>
                  <a:srgbClr val="FFFFFF"/>
                </a:solidFill>
                <a:latin typeface="맑은 고딕"/>
                <a:ea typeface="맑은 고딕"/>
              </a:rPr>
              <a:t>가격이 아니라 </a:t>
            </a: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심리·수급</a:t>
            </a:r>
            <a:r>
              <a:rPr sz="1350" b="0" i="0">
                <a:solidFill>
                  <a:srgbClr val="FFFFFF"/>
                </a:solidFill>
                <a:latin typeface="맑은 고딕"/>
                <a:ea typeface="맑은 고딕"/>
              </a:rPr>
              <a:t>이 흔들렸다. 급락 = 펀더멘털 훼손인지 확인이 먼저.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01 · 변동성의 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변동성의 원인 ① — 매크로 삼중고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9536" y="2194560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185416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</a:rPr>
              <a:t>금리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7889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맑은 고딕"/>
                <a:ea typeface="맑은 고딕"/>
              </a:rPr>
              <a:t>연준 매파 재부각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429000"/>
            <a:ext cx="299923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36174"/>
                </a:solidFill>
                <a:latin typeface="맑은 고딕"/>
                <a:ea typeface="맑은 고딕"/>
              </a:rPr>
              <a:t>6/5 예상 상회 고용지표 → 금리인상 우려.
나스닥 주간 -4.7%(1년래 최악).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74519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2194560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185416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1F3A"/>
                </a:solidFill>
                <a:latin typeface="맑은 고딕"/>
                <a:ea typeface="맑은 고딕"/>
              </a:rPr>
              <a:t>관세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7889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맑은 고딕"/>
                <a:ea typeface="맑은 고딕"/>
              </a:rPr>
              <a:t>Section 232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429000"/>
            <a:ext cx="299923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36174"/>
                </a:solidFill>
                <a:latin typeface="맑은 고딕"/>
                <a:ea typeface="맑은 고딕"/>
              </a:rPr>
              <a:t>1/14 첨단 컴퓨팅칩 25% 관세(1/15 발효).
생태계 상당수 면제되나 심리엔 부담.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7" y="1874519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57615" y="2194560"/>
            <a:ext cx="626364" cy="32918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5" y="2185416"/>
            <a:ext cx="6263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</a:rPr>
              <a:t>미·중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27889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1F3A"/>
                </a:solidFill>
                <a:latin typeface="맑은 고딕"/>
                <a:ea typeface="맑은 고딕"/>
              </a:rPr>
              <a:t>수출규제 재편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3429000"/>
            <a:ext cx="299923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36174"/>
                </a:solidFill>
                <a:latin typeface="맑은 고딕"/>
                <a:ea typeface="맑은 고딕"/>
              </a:rPr>
              <a:t>1/15 BIS, 대중국 AI칩 '건별 심사'로 전환.
지정학 리스크가 밸류에이션 할인.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01 · 변동성의 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B1F3A"/>
                </a:solidFill>
                <a:latin typeface="맑은 고딕"/>
                <a:ea typeface="맑은 고딕"/>
              </a:rPr>
              <a:t>변동성의 원인 ② — 'AI 버블' 논쟁과 모건스탠리 경고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11064240" cy="150876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192024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11096"/>
            <a:ext cx="2651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F3A"/>
                </a:solidFill>
                <a:latin typeface="맑은 고딕"/>
                <a:ea typeface="맑은 고딕"/>
              </a:rPr>
              <a:t>MORGAN STANLEY · 7/6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“칩을 팔고 하이퍼스케일러로 갈아타라”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1635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6EC"/>
                </a:solidFill>
                <a:latin typeface="맑은 고딕"/>
                <a:ea typeface="맑은 고딕"/>
              </a:rPr>
              <a:t>마이클 윌슨 — 반도체 실적 상향 속도 둔화 = 정점 신호, 메모리는 범용재로 추가 조정 가능. MS·아마존·메타 선호. (메모리주 베어마켓 진입의 직접 트리거)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29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D64545"/>
                </a:solidFill>
                <a:latin typeface="맑은 고딕"/>
                <a:ea typeface="맑은 고딕"/>
              </a:rPr>
              <a:t>밸류에이션 부담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87368"/>
            <a:ext cx="3090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엔비디아 등 fwd P/E가 역사적 평균 크게 상회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3429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6118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D64545"/>
                </a:solidFill>
                <a:latin typeface="맑은 고딕"/>
                <a:ea typeface="맑은 고딕"/>
              </a:rPr>
              <a:t>마이크론 -13%(1일)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087368"/>
            <a:ext cx="3090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시총 약 1,380억달러 증발, 섹터 하락 주도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7" y="3429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36118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D64545"/>
                </a:solidFill>
                <a:latin typeface="맑은 고딕"/>
                <a:ea typeface="맑은 고딕"/>
              </a:rPr>
              <a:t>피크아웃 우려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4087368"/>
            <a:ext cx="3090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수출단가 소폭 하락 + Rubin 감산설이 트리거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7492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074920"/>
            <a:ext cx="10424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냉정하게: </a:t>
            </a:r>
            <a:r>
              <a:rPr sz="1300" b="0" i="0">
                <a:solidFill>
                  <a:srgbClr val="1B2A41"/>
                </a:solidFill>
                <a:latin typeface="맑은 고딕"/>
                <a:ea typeface="맑은 고딕"/>
              </a:rPr>
              <a:t>모건스탠리는 2024년 SK하이닉스 목표가를 반토막(26만→12만) 낸 뒤 '오판'을 정정한 전력이 있다. 골드만·UBS는 여전히 강세 (→ 다음 장). </a:t>
            </a: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이번 조정은 '심리 위축'이지 '수요 붕괴'가 아니다.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01 · 변동성의 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1F3A"/>
                </a:solidFill>
                <a:latin typeface="맑은 고딕"/>
                <a:ea typeface="맑은 고딕"/>
              </a:rPr>
              <a:t>변동성의 원인 ③ — 국내 증시 특수 요인</a:t>
            </a:r>
          </a:p>
        </p:txBody>
      </p:sp>
      <p:pic>
        <p:nvPicPr>
          <p:cNvPr id="5" name="Picture 4" descr="s_etf_v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5440680" cy="36394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4892040"/>
            <a:ext cx="5440680" cy="96012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49377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E8A93B"/>
                </a:solidFill>
                <a:latin typeface="맑은 고딕"/>
                <a:ea typeface="맑은 고딕"/>
              </a:rPr>
              <a:t>펀더멘털이 아닌 ‘구조·수급’이 변동성을 증폭.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C7D6EC"/>
                </a:solidFill>
                <a:latin typeface="맑은 고딕"/>
                <a:ea typeface="맑은 고딕"/>
              </a:rPr>
              <a:t>특히 국내 개인투자자에게 체감 변동성이 크게 확대.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783080"/>
            <a:ext cx="5166360" cy="129844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84264" y="2057400"/>
            <a:ext cx="310896" cy="310896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9752" y="1947672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단일종목 레버리지 ETF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359152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4"/>
                </a:solidFill>
                <a:latin typeface="맑은 고딕"/>
                <a:ea typeface="맑은 고딕"/>
              </a:rPr>
              <a:t>5/27 삼성·SK하이닉스 레버리지·인버스 18종 상장(국내 최초). 마감 동시호가 쏠림 → 7/13(오늘) 금감원·운용사 CEO 간담회서 대책 논의.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154680"/>
            <a:ext cx="5166360" cy="129844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84264" y="3429000"/>
            <a:ext cx="310896" cy="310896"/>
          </a:xfrm>
          <a:prstGeom prst="ellipse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3319272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외국인 매도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730752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4"/>
                </a:solidFill>
                <a:latin typeface="맑은 고딕"/>
                <a:ea typeface="맑은 고딕"/>
              </a:rPr>
              <a:t>상반기 삼성·하이닉스 129.7조 순매도(전체의 87%). 6/19~7/8 14거래일 연속 → 7/9~10 순매수 전환. 7/10 ADR 흥행에 기관 1.1조 순매수·코스피 +2.5% 급등.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526280"/>
            <a:ext cx="5166360" cy="129844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4264" y="480060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9752" y="4690872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고객예탁금 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5102352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36174"/>
                </a:solidFill>
                <a:latin typeface="맑은 고딕"/>
                <a:ea typeface="맑은 고딕"/>
              </a:rPr>
              <a:t>6/4 사상최대 139.7조 → 7월 초 약 112조(한 달 -27.5조). 개인 '실탄' 소진과 변동성 회피.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한국거래소, 한국은행, 금융감독원, 코스콤·언론보도 종합 (기준일 2026.7.13)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02 · 펀더멘털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그러나 수요는 실재한다 — 빅테크 투자 폭증</a:t>
            </a:r>
          </a:p>
        </p:txBody>
      </p:sp>
      <p:pic>
        <p:nvPicPr>
          <p:cNvPr id="5" name="Picture 4" descr="s6_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5532120" cy="33321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37960" y="178308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93992" y="1783080"/>
            <a:ext cx="1920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E8A93B"/>
                </a:solidFill>
                <a:latin typeface="맑은 고딕"/>
                <a:ea typeface="맑은 고딕"/>
              </a:rPr>
              <a:t>$725B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606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2026 빅4 합산 CAPEX (+77% YoY)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7889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2788920"/>
            <a:ext cx="1920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3E6FB0"/>
                </a:solidFill>
                <a:latin typeface="맑은 고딕"/>
                <a:ea typeface="맑은 고딕"/>
              </a:rPr>
              <a:t>+92%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788920"/>
            <a:ext cx="2606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엔비디아 데이터센터 매출 YoY ($75.2B)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79476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3794760"/>
            <a:ext cx="1920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2A9D8F"/>
                </a:solidFill>
                <a:latin typeface="맑은 고딕"/>
                <a:ea typeface="맑은 고딕"/>
              </a:rPr>
              <a:t>3~4배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794760"/>
            <a:ext cx="2606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AI 최적화 메모리, 단위당 캐파 소요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4818888"/>
            <a:ext cx="5074920" cy="1417320"/>
          </a:xfrm>
          <a:prstGeom prst="roundRect">
            <a:avLst>
              <a:gd name="adj" fmla="val 7000"/>
            </a:avLst>
          </a:prstGeom>
          <a:solidFill>
            <a:srgbClr val="FB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4928616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D64545"/>
                </a:solidFill>
                <a:latin typeface="맑은 고딕"/>
                <a:ea typeface="맑은 고딕"/>
              </a:rPr>
              <a:t>모니터링 리스크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530352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B2A41"/>
                </a:solidFill>
                <a:latin typeface="맑은 고딕"/>
                <a:ea typeface="맑은 고딕"/>
              </a:rPr>
              <a:t>메타 ‘유휴 AI컴퓨팅 대여’(블룸버그 7/1)·CAPEX 정점 논쟁. 단, 자체칩(TPU·Trainium)도 HBM을 대량 탑재 → </a:t>
            </a:r>
            <a:r>
              <a:rPr sz="1100" b="1" i="0">
                <a:solidFill>
                  <a:srgbClr val="0B1F3A"/>
                </a:solidFill>
                <a:latin typeface="맑은 고딕"/>
                <a:ea typeface="맑은 고딕"/>
              </a:rPr>
              <a:t>HBM 총수요 감소 근거는 약함.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02 · 펀더멘털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메모리 슈퍼사이클 — 여전히 상승, 속도는 둔화</a:t>
            </a:r>
          </a:p>
        </p:txBody>
      </p:sp>
      <p:pic>
        <p:nvPicPr>
          <p:cNvPr id="5" name="Picture 4" descr="s7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5532120" cy="33252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37960" y="1783080"/>
            <a:ext cx="5074920" cy="1371600"/>
          </a:xfrm>
          <a:prstGeom prst="roundRect">
            <a:avLst>
              <a:gd name="adj" fmla="val 7000"/>
            </a:avLst>
          </a:prstGeom>
          <a:solidFill>
            <a:srgbClr val="EC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93992" y="1874519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9D8F"/>
                </a:solidFill>
                <a:latin typeface="맑은 고딕"/>
                <a:ea typeface="맑은 고딕"/>
              </a:rPr>
              <a:t>강세론 (IB 우세)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3992" y="2267712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2A41"/>
                </a:solidFill>
                <a:latin typeface="맑은 고딕"/>
                <a:ea typeface="맑은 고딕"/>
              </a:rPr>
              <a:t>BofA ‘1990년대급 슈퍼사이클’(DRAM +51%). 골드만·UBS 강세 유지 — HBM 가격 상향, SK 하이닉스 Rubin 물량 우위.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337560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1" i="0">
                <a:solidFill>
                  <a:srgbClr val="E8A93B"/>
                </a:solidFill>
                <a:latin typeface="맑은 고딕"/>
                <a:ea typeface="맑은 고딕"/>
              </a:rPr>
              <a:t>●  </a:t>
            </a:r>
            <a:r>
              <a:rPr sz="1300" b="1" i="0">
                <a:solidFill>
                  <a:srgbClr val="1B2A41"/>
                </a:solidFill>
                <a:latin typeface="맑은 고딕"/>
                <a:ea typeface="맑은 고딕"/>
              </a:rPr>
              <a:t>출하량 아닌 가격(ASP)이 견인 — </a:t>
            </a:r>
            <a:r>
              <a:rPr sz="1300" b="0" i="0">
                <a:solidFill>
                  <a:srgbClr val="1B2A41"/>
                </a:solidFill>
                <a:latin typeface="맑은 고딕"/>
                <a:ea typeface="맑은 고딕"/>
              </a:rPr>
              <a:t>HBM·DDR5 우선 배분으로 범용까지 품귀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1" i="0">
                <a:solidFill>
                  <a:srgbClr val="E8A93B"/>
                </a:solidFill>
                <a:latin typeface="맑은 고딕"/>
                <a:ea typeface="맑은 고딕"/>
              </a:rPr>
              <a:t>●  </a:t>
            </a:r>
            <a:r>
              <a:rPr sz="1300" b="1" i="0">
                <a:solidFill>
                  <a:srgbClr val="1B2A41"/>
                </a:solidFill>
                <a:latin typeface="맑은 고딕"/>
                <a:ea typeface="맑은 고딕"/>
              </a:rPr>
              <a:t>자본 규율 강화 — </a:t>
            </a:r>
            <a:r>
              <a:rPr sz="1300" b="0" i="0">
                <a:solidFill>
                  <a:srgbClr val="1B2A41"/>
                </a:solidFill>
                <a:latin typeface="맑은 고딕"/>
                <a:ea typeface="맑은 고딕"/>
              </a:rPr>
              <a:t>3사 모두 무리한 증설 자제, 공급 통제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1" i="0">
                <a:solidFill>
                  <a:srgbClr val="E8A93B"/>
                </a:solidFill>
                <a:latin typeface="맑은 고딕"/>
                <a:ea typeface="맑은 고딕"/>
              </a:rPr>
              <a:t>●  </a:t>
            </a:r>
            <a:r>
              <a:rPr sz="1300" b="1" i="0">
                <a:solidFill>
                  <a:srgbClr val="1B2A41"/>
                </a:solidFill>
                <a:latin typeface="맑은 고딕"/>
                <a:ea typeface="맑은 고딕"/>
              </a:rPr>
              <a:t>주의 신호 — </a:t>
            </a:r>
            <a:r>
              <a:rPr sz="1300" b="0" i="0">
                <a:solidFill>
                  <a:srgbClr val="1B2A41"/>
                </a:solidFill>
                <a:latin typeface="맑은 고딕"/>
                <a:ea typeface="맑은 고딕"/>
              </a:rPr>
              <a:t>상승률 둔화(Q1 +95%→Q3 +18%)는 정점 근접 시사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02 · 펀더멘털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HBM 시장 지형 — SK 리더십, 삼성 추격</a:t>
            </a:r>
          </a:p>
        </p:txBody>
      </p:sp>
      <p:pic>
        <p:nvPicPr>
          <p:cNvPr id="5" name="Picture 4" descr="s8_h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5394960" cy="39208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46520" y="1874519"/>
            <a:ext cx="5166360" cy="93268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84264" y="2185415"/>
            <a:ext cx="310896" cy="310896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9752" y="200253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HBM4 전환기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2377439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536174"/>
                </a:solidFill>
                <a:latin typeface="맑은 고딕"/>
                <a:ea typeface="맑은 고딕"/>
              </a:rPr>
              <a:t>2026 하반기 본격화. 출하의 2/3는 아직 HBM3E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898648"/>
            <a:ext cx="5166360" cy="93268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84264" y="3209544"/>
            <a:ext cx="310896" cy="310896"/>
          </a:xfrm>
          <a:prstGeom prst="ellipse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9752" y="3026664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엔비디아 Rubin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3401568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536174"/>
                </a:solidFill>
                <a:latin typeface="맑은 고딕"/>
                <a:ea typeface="맑은 고딕"/>
              </a:rPr>
              <a:t>차세대 HBM4 물량 약 70%를 SK하이닉스 확보(UBS)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922776"/>
            <a:ext cx="5166360" cy="93268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84264" y="4233672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4050791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삼성의 반격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442569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536174"/>
                </a:solidFill>
                <a:latin typeface="맑은 고딕"/>
                <a:ea typeface="맑은 고딕"/>
              </a:rPr>
              <a:t>HBM4 업계 최초 양산·AMD 주공급, 캐파 50% 증설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946904"/>
            <a:ext cx="5166360" cy="932688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84264" y="5257800"/>
            <a:ext cx="310896" cy="310896"/>
          </a:xfrm>
          <a:prstGeom prst="ellipse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2" y="5074920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마이크론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5449824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536174"/>
                </a:solidFill>
                <a:latin typeface="맑은 고딕"/>
                <a:ea typeface="맑은 고딕"/>
              </a:rPr>
              <a:t>2026 HBM 캐파 완판(sold out), 3위권 경쟁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93B"/>
                </a:solidFill>
                <a:latin typeface="맑은 고딕"/>
                <a:ea typeface="맑은 고딕"/>
              </a:rPr>
              <a:t>03 · 종목분석  |  SK하이닉스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SK하이닉스 ① — HBM 1위, 최고 수익성</a:t>
            </a:r>
          </a:p>
        </p:txBody>
      </p:sp>
      <p:pic>
        <p:nvPicPr>
          <p:cNvPr id="5" name="Picture 4" descr="s9_sk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23560" cy="35570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828800"/>
            <a:ext cx="2423160" cy="1188720"/>
          </a:xfrm>
          <a:prstGeom prst="roundRect">
            <a:avLst>
              <a:gd name="adj" fmla="val 9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03136" y="197510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A93B"/>
                </a:solidFill>
                <a:latin typeface="맑은 고딕"/>
                <a:ea typeface="맑은 고딕"/>
              </a:rPr>
              <a:t>52.6조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3136" y="2578608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1Q26 매출 (분기 첫 50조 돌파)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1828800"/>
            <a:ext cx="2423160" cy="1188720"/>
          </a:xfrm>
          <a:prstGeom prst="roundRect">
            <a:avLst>
              <a:gd name="adj" fmla="val 9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09176" y="197510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A93B"/>
                </a:solidFill>
                <a:latin typeface="맑은 고딕"/>
                <a:ea typeface="맑은 고딕"/>
              </a:rPr>
              <a:t>37.6조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9176" y="2578608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1Q26 영업이익 (OPM 72%)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154680"/>
            <a:ext cx="2423160" cy="1188720"/>
          </a:xfrm>
          <a:prstGeom prst="roundRect">
            <a:avLst>
              <a:gd name="adj" fmla="val 9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03136" y="330098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A93B"/>
                </a:solidFill>
                <a:latin typeface="맑은 고딕"/>
                <a:ea typeface="맑은 고딕"/>
              </a:rPr>
              <a:t>35조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3904488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순현금 — 견고한 재무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3154680"/>
            <a:ext cx="2423160" cy="1188720"/>
          </a:xfrm>
          <a:prstGeom prst="roundRect">
            <a:avLst>
              <a:gd name="adj" fmla="val 9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9176" y="3300984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E8A93B"/>
                </a:solidFill>
                <a:latin typeface="맑은 고딕"/>
                <a:ea typeface="맑은 고딕"/>
              </a:rPr>
              <a:t>58%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9176" y="3904488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HBM 시장 점유율 (1위)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526280"/>
            <a:ext cx="5029200" cy="96012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526280"/>
            <a:ext cx="44805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A93B"/>
                </a:solidFill>
                <a:latin typeface="맑은 고딕"/>
                <a:ea typeface="맑은 고딕"/>
              </a:rPr>
              <a:t>메모리 최강 순수 플레이.</a:t>
            </a:r>
            <a:r>
              <a:rPr sz="1350" b="0" i="0">
                <a:solidFill>
                  <a:srgbClr val="FFFFFF"/>
                </a:solidFill>
                <a:latin typeface="맑은 고딕"/>
                <a:ea typeface="맑은 고딕"/>
              </a:rPr>
              <a:t> HBM 프리미엄이 실적·수익성으로 직결.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93B"/>
                </a:solidFill>
                <a:latin typeface="맑은 고딕"/>
                <a:ea typeface="맑은 고딕"/>
              </a:rPr>
              <a:t>03 · 종목분석  |  SK하이닉스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SK하이닉스 ② — 밸류에이션 &amp; 리스크</a:t>
            </a:r>
          </a:p>
        </p:txBody>
      </p:sp>
      <p:pic>
        <p:nvPicPr>
          <p:cNvPr id="5" name="Picture 4" descr="s10_skh_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5532120" cy="33688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4892040"/>
            <a:ext cx="5532120" cy="960120"/>
          </a:xfrm>
          <a:prstGeom prst="roundRect">
            <a:avLst>
              <a:gd name="adj" fmla="val 7000"/>
            </a:avLst>
          </a:prstGeom>
          <a:solidFill>
            <a:srgbClr val="EC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5074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A9D8F"/>
                </a:solidFill>
                <a:latin typeface="맑은 고딕"/>
                <a:ea typeface="맑은 고딕"/>
              </a:rPr>
              <a:t>투자의견 전원 매수(BUY) · 목표가 400만원대로 상향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36174"/>
                </a:solidFill>
                <a:latin typeface="맑은 고딕"/>
                <a:ea typeface="맑은 고딕"/>
              </a:rPr>
              <a:t>12M fwd P/E 5배대, 현재가(약 223만원) 대비 큰 상승여력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783080"/>
            <a:ext cx="4937760" cy="1600200"/>
          </a:xfrm>
          <a:prstGeom prst="roundRect">
            <a:avLst>
              <a:gd name="adj" fmla="val 7000"/>
            </a:avLst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31152" y="190195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1F3A"/>
                </a:solidFill>
                <a:latin typeface="맑은 고딕"/>
                <a:ea typeface="맑은 고딕"/>
              </a:rPr>
              <a:t>역사적 저평가 구간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6" y="2304288"/>
            <a:ext cx="4526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3E6FB0"/>
                </a:solidFill>
                <a:latin typeface="맑은 고딕"/>
                <a:ea typeface="맑은 고딕"/>
              </a:rPr>
              <a:t>●  </a:t>
            </a:r>
            <a:r>
              <a:rPr sz="1200" b="0" i="0">
                <a:solidFill>
                  <a:srgbClr val="1B2A41"/>
                </a:solidFill>
                <a:latin typeface="맑은 고딕"/>
                <a:ea typeface="맑은 고딕"/>
              </a:rPr>
              <a:t>12M fwd PER 5배대 (마이크론 ~7배 대비 저평가)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3E6FB0"/>
                </a:solidFill>
                <a:latin typeface="맑은 고딕"/>
                <a:ea typeface="맑은 고딕"/>
              </a:rPr>
              <a:t>●  </a:t>
            </a:r>
            <a:r>
              <a:rPr sz="1200" b="0" i="0">
                <a:solidFill>
                  <a:srgbClr val="1B2A41"/>
                </a:solidFill>
                <a:latin typeface="맑은 고딕"/>
                <a:ea typeface="맑은 고딕"/>
              </a:rPr>
              <a:t>순현금 35조 + 사상 최대 주주환원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520440"/>
            <a:ext cx="4937760" cy="2331720"/>
          </a:xfrm>
          <a:prstGeom prst="roundRect">
            <a:avLst>
              <a:gd name="adj" fmla="val 7000"/>
            </a:avLst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12864" y="36393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D64545"/>
                </a:solidFill>
                <a:latin typeface="맑은 고딕"/>
                <a:ea typeface="맑은 고딕"/>
              </a:rPr>
              <a:t>핵심 리스크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4041648"/>
            <a:ext cx="455371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200" b="0" i="0">
                <a:solidFill>
                  <a:srgbClr val="1B2A41"/>
                </a:solidFill>
                <a:latin typeface="맑은 고딕"/>
                <a:ea typeface="맑은 고딕"/>
              </a:rPr>
              <a:t>HBM 증설 속도 논란 (공급과잉 우려)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200" b="0" i="0">
                <a:solidFill>
                  <a:srgbClr val="1B2A41"/>
                </a:solidFill>
                <a:latin typeface="맑은 고딕"/>
                <a:ea typeface="맑은 고딕"/>
              </a:rPr>
              <a:t>메모리 집중도 — 다운사이클 낙폭 최대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200" b="0" i="0">
                <a:solidFill>
                  <a:srgbClr val="1B2A41"/>
                </a:solidFill>
                <a:latin typeface="맑은 고딕"/>
                <a:ea typeface="맑은 고딕"/>
              </a:rPr>
              <a:t>AI CAPEX 지속성 의문 · 고점 논쟁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200" b="0" i="0">
                <a:solidFill>
                  <a:srgbClr val="1B2A41"/>
                </a:solidFill>
                <a:latin typeface="맑은 고딕"/>
                <a:ea typeface="맑은 고딕"/>
              </a:rPr>
              <a:t>단기 급등 후 밸류 · 수급 부담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93B"/>
                </a:solidFill>
                <a:latin typeface="맑은 고딕"/>
                <a:ea typeface="맑은 고딕"/>
              </a:rPr>
              <a:t>03 · 종목분석  |  SK하이닉스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0B1F3A"/>
                </a:solidFill>
                <a:latin typeface="맑은 고딕"/>
                <a:ea typeface="맑은 고딕"/>
              </a:rPr>
              <a:t>SK하이닉스 ③ — 나스닥 ADR: 흥행 신호와 본주 영향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① 미국 IPO 대흥행  (7/10 상장 +13%, 7/13 티커 SKHY 정식거래)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2642615" cy="11430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6537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E8A93B"/>
                </a:solidFill>
                <a:latin typeface="맑은 고딕"/>
                <a:ea typeface="맑은 고딕"/>
              </a:rPr>
              <a:t>7배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40864"/>
            <a:ext cx="23225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36174"/>
                </a:solidFill>
                <a:latin typeface="맑은 고딕"/>
                <a:ea typeface="맑은 고딕"/>
              </a:rPr>
              <a:t>모집물량 대비 초과청약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1737360"/>
            <a:ext cx="2642615" cy="11430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186537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3E6FB0"/>
                </a:solidFill>
                <a:latin typeface="맑은 고딕"/>
                <a:ea typeface="맑은 고딕"/>
              </a:rPr>
              <a:t>$171.5B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2340864"/>
            <a:ext cx="23225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36174"/>
                </a:solidFill>
                <a:latin typeface="맑은 고딕"/>
                <a:ea typeface="맑은 고딕"/>
              </a:rPr>
              <a:t>총 주문 규모 (블룸버그)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37360"/>
            <a:ext cx="2642615" cy="11430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86537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2A9D8F"/>
                </a:solidFill>
                <a:latin typeface="맑은 고딕"/>
                <a:ea typeface="맑은 고딕"/>
              </a:rPr>
              <a:t>$7B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340864"/>
            <a:ext cx="23225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36174"/>
                </a:solidFill>
                <a:latin typeface="맑은 고딕"/>
                <a:ea typeface="맑은 고딕"/>
              </a:rPr>
              <a:t>앵커 수요 (베일리기포드·코튜 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8551" y="1737360"/>
            <a:ext cx="2642615" cy="11430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1" y="186537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D64545"/>
                </a:solidFill>
                <a:latin typeface="맑은 고딕"/>
                <a:ea typeface="맑은 고딕"/>
              </a:rPr>
              <a:t>+13% 데뷔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1" y="2340864"/>
            <a:ext cx="23225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36174"/>
                </a:solidFill>
                <a:latin typeface="맑은 고딕"/>
                <a:ea typeface="맑은 고딕"/>
              </a:rPr>
              <a:t>공모가 $149·조달 $265억, 美 IPO 사상 2위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127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② 왜 본주까지 움직이나 — 전이 메커니즘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657600"/>
            <a:ext cx="5074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880" b="1" i="0">
                <a:solidFill>
                  <a:srgbClr val="E8A93B"/>
                </a:solidFill>
                <a:latin typeface="맑은 고딕"/>
                <a:ea typeface="맑은 고딕"/>
              </a:rPr>
              <a:t>●  </a:t>
            </a:r>
            <a:r>
              <a:rPr sz="1180" b="1" i="0">
                <a:solidFill>
                  <a:srgbClr val="1B2A41"/>
                </a:solidFill>
                <a:latin typeface="맑은 고딕"/>
                <a:ea typeface="맑은 고딕"/>
              </a:rPr>
              <a:t>ADR 프리미엄 —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대만 TSMC ADR은 본주 대비 +5~8%(한때 +25%)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880" b="1" i="0">
                <a:solidFill>
                  <a:srgbClr val="E8A93B"/>
                </a:solidFill>
                <a:latin typeface="맑은 고딕"/>
                <a:ea typeface="맑은 고딕"/>
              </a:rPr>
              <a:t>●  </a:t>
            </a:r>
            <a:r>
              <a:rPr sz="1180" b="1" i="0">
                <a:solidFill>
                  <a:srgbClr val="1B2A41"/>
                </a:solidFill>
                <a:latin typeface="맑은 고딕"/>
                <a:ea typeface="맑은 고딕"/>
              </a:rPr>
              <a:t>차익거래 제한 —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한국도 실시간 재정거래 곤란 → 프리미엄 유지(UBS)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880" b="1" i="0">
                <a:solidFill>
                  <a:srgbClr val="E8A93B"/>
                </a:solidFill>
                <a:latin typeface="맑은 고딕"/>
                <a:ea typeface="맑은 고딕"/>
              </a:rPr>
              <a:t>●  </a:t>
            </a:r>
            <a:r>
              <a:rPr sz="1180" b="1" i="0">
                <a:solidFill>
                  <a:srgbClr val="1B2A41"/>
                </a:solidFill>
                <a:latin typeface="맑은 고딕"/>
                <a:ea typeface="맑은 고딕"/>
              </a:rPr>
              <a:t>지수 편입 —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나스닥100 12월 편입 유력 → 패시브 자금 기대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880" b="1" i="0">
                <a:solidFill>
                  <a:srgbClr val="E8A93B"/>
                </a:solidFill>
                <a:latin typeface="맑은 고딕"/>
                <a:ea typeface="맑은 고딕"/>
              </a:rPr>
              <a:t>●  </a:t>
            </a:r>
            <a:r>
              <a:rPr sz="1180" b="1" i="0">
                <a:solidFill>
                  <a:srgbClr val="1B2A41"/>
                </a:solidFill>
                <a:latin typeface="맑은 고딕"/>
                <a:ea typeface="맑은 고딕"/>
              </a:rPr>
              <a:t>밸류 갭 축소 —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글로벌 기관 접근성↑, 선행 PER 할인 완화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27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③ 본주(000660) 영향 시나리오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493008"/>
            <a:ext cx="5166360" cy="1115568"/>
          </a:xfrm>
          <a:prstGeom prst="roundRect">
            <a:avLst>
              <a:gd name="adj" fmla="val 6000"/>
            </a:avLst>
          </a:prstGeom>
          <a:solidFill>
            <a:srgbClr val="EC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35844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9D8F"/>
                </a:solidFill>
                <a:latin typeface="맑은 고딕"/>
                <a:ea typeface="맑은 고딕"/>
              </a:rPr>
              <a:t>흥행 시  </a:t>
            </a: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본주 리레이팅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3968496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ADR 프리미엄→순유입, 밸류 할인 완화. KB ‘본주·ADR 동시 재평가’ 목표 420만 (7/10 본주 반등·코스피 급등으로 현실화 조짐)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4727448"/>
            <a:ext cx="5166360" cy="1115568"/>
          </a:xfrm>
          <a:prstGeom prst="roundRect">
            <a:avLst>
              <a:gd name="adj" fmla="val 6000"/>
            </a:avLst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48188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64545"/>
                </a:solidFill>
                <a:latin typeface="맑은 고딕"/>
                <a:ea typeface="맑은 고딕"/>
              </a:rPr>
              <a:t>부진 시  </a:t>
            </a: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본주 하락 압력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5202936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36174"/>
                </a:solidFill>
                <a:latin typeface="맑은 고딕"/>
                <a:ea typeface="맑은 고딕"/>
              </a:rPr>
              <a:t>신주 2.5% 희석 + 역유입(본주 전환·매도) + 반도체 고점 조정 중첩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블룸버그, KB·한국투자·UBS 리포트, 언론보도 종합 (기준일 2026.7.13)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03 · 종목분석  |  삼성전자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삼성전자 ① — 실적 개선 + 반등 카드</a:t>
            </a:r>
          </a:p>
        </p:txBody>
      </p:sp>
      <p:pic>
        <p:nvPicPr>
          <p:cNvPr id="5" name="Picture 4" descr="s11_s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23560" cy="34034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82880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39712" y="2029968"/>
            <a:ext cx="1120140" cy="329184"/>
          </a:xfrm>
          <a:prstGeom prst="roundRect">
            <a:avLst>
              <a:gd name="adj" fmla="val 50000"/>
            </a:avLst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9712" y="2020824"/>
            <a:ext cx="11201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2Q26 잠정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9712" y="2487168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36174"/>
                </a:solidFill>
                <a:latin typeface="맑은 고딕"/>
                <a:ea typeface="맑은 고딕"/>
              </a:rPr>
              <a:t>매출 171조 · 영업익 89.4조 (사상 최대, DS 견인)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081528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39712" y="3282696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3273552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F3A"/>
                </a:solidFill>
                <a:latin typeface="맑은 고딕"/>
                <a:ea typeface="맑은 고딕"/>
              </a:rPr>
              <a:t>HBM4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3739896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36174"/>
                </a:solidFill>
                <a:latin typeface="맑은 고딕"/>
                <a:ea typeface="맑은 고딕"/>
              </a:rPr>
              <a:t>업계 최초 양산 출하 + AMD MI455X 주공급 확정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334256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39712" y="4535424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4526280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파운드리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4992624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36174"/>
                </a:solidFill>
                <a:latin typeface="맑은 고딕"/>
                <a:ea typeface="맑은 고딕"/>
              </a:rPr>
              <a:t>2나노 흑자전환 앞당김 + 테슬라 22.8조 수주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03 · 종목분석  |  삼성전자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1F3A"/>
                </a:solidFill>
                <a:latin typeface="맑은 고딕"/>
                <a:ea typeface="맑은 고딕"/>
              </a:rPr>
              <a:t>삼성전자 ② — 밸류에이션 &amp; Bull vs Bear</a:t>
            </a:r>
          </a:p>
        </p:txBody>
      </p:sp>
      <p:pic>
        <p:nvPicPr>
          <p:cNvPr id="5" name="Picture 4" descr="s12_sec_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23560" cy="34482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828800"/>
            <a:ext cx="5029200" cy="1051560"/>
          </a:xfrm>
          <a:prstGeom prst="roundRect">
            <a:avLst>
              <a:gd name="adj" fmla="val 8000"/>
            </a:avLst>
          </a:prstGeom>
          <a:solidFill>
            <a:srgbClr val="E9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480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1F3A"/>
                </a:solidFill>
                <a:latin typeface="맑은 고딕"/>
                <a:ea typeface="맑은 고딕"/>
              </a:rPr>
              <a:t>투자의견 ‘적극 매수’ · 평균 목표가 ~43만원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최고 61만(SK증권)·미래에셋 55만, 2026E P/E 5~6배 저평가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063240"/>
            <a:ext cx="2423160" cy="2468880"/>
          </a:xfrm>
          <a:prstGeom prst="roundRect">
            <a:avLst>
              <a:gd name="adj" fmla="val 7000"/>
            </a:avLst>
          </a:prstGeom>
          <a:solidFill>
            <a:srgbClr val="EC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4848" y="320040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맑은 고딕"/>
                <a:ea typeface="맑은 고딕"/>
              </a:rPr>
              <a:t>BULL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3611880"/>
            <a:ext cx="2148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2A9D8F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실적 개선 가속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2A9D8F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HBM4·AMD 신규 모멘텀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2A9D8F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파운드리 흑전 옵션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2A9D8F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저평가 매력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19" y="3063240"/>
            <a:ext cx="2423160" cy="2468880"/>
          </a:xfrm>
          <a:prstGeom prst="roundRect">
            <a:avLst>
              <a:gd name="adj" fmla="val 7000"/>
            </a:avLst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0888" y="320040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D64545"/>
                </a:solidFill>
                <a:latin typeface="맑은 고딕"/>
                <a:ea typeface="맑은 고딕"/>
              </a:rPr>
              <a:t>BEAR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4311" y="3611880"/>
            <a:ext cx="2148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HBM 점유율 열위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파운드리 수율(60% vs 70%)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외국인 수급 부담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8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180" b="0" i="0">
                <a:solidFill>
                  <a:srgbClr val="1B2A41"/>
                </a:solidFill>
                <a:latin typeface="맑은 고딕"/>
                <a:ea typeface="맑은 고딕"/>
              </a:rPr>
              <a:t>단기 급등 후 밸류 부담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04 · 판단 &amp;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냉정한 판단 — 두 종목 집중이 맞는가?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394959" cy="2331720"/>
          </a:xfrm>
          <a:prstGeom prst="roundRect">
            <a:avLst>
              <a:gd name="adj" fmla="val 6000"/>
            </a:avLst>
          </a:prstGeom>
          <a:solidFill>
            <a:srgbClr val="ECF3EC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3852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A9D8F"/>
                </a:solidFill>
                <a:latin typeface="맑은 고딕"/>
                <a:ea typeface="맑은 고딕"/>
              </a:rPr>
              <a:t>집중 투자의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95728"/>
            <a:ext cx="493775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2A9D8F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1B2A41"/>
                </a:solidFill>
                <a:latin typeface="맑은 고딕"/>
                <a:ea typeface="맑은 고딕"/>
              </a:rPr>
              <a:t>국내 유일한 AI·HBM 실적 레버리지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2A9D8F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1B2A41"/>
                </a:solidFill>
                <a:latin typeface="맑은 고딕"/>
                <a:ea typeface="맑은 고딕"/>
              </a:rPr>
              <a:t>다년치 HBM 쇼티지 + 견고한 재무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2A9D8F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1B2A41"/>
                </a:solidFill>
                <a:latin typeface="맑은 고딕"/>
                <a:ea typeface="맑은 고딕"/>
              </a:rPr>
              <a:t>목표가 대비 큰 상승여력·저평가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7" y="1828800"/>
            <a:ext cx="5394959" cy="2331720"/>
          </a:xfrm>
          <a:prstGeom prst="roundRect">
            <a:avLst>
              <a:gd name="adj" fmla="val 6000"/>
            </a:avLst>
          </a:prstGeom>
          <a:solidFill>
            <a:srgbClr val="F6ECEC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7" y="193852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64545"/>
                </a:solidFill>
                <a:latin typeface="맑은 고딕"/>
                <a:ea typeface="맑은 고딕"/>
              </a:rPr>
              <a:t>반드시 유의할 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395728"/>
            <a:ext cx="493775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1B2A41"/>
                </a:solidFill>
                <a:latin typeface="맑은 고딕"/>
                <a:ea typeface="맑은 고딕"/>
              </a:rPr>
              <a:t>메모리 편중·높은 상관 → 분산효과 낮음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1B2A41"/>
                </a:solidFill>
                <a:latin typeface="맑은 고딕"/>
                <a:ea typeface="맑은 고딕"/>
              </a:rPr>
              <a:t>사이클 정점 근접 + 상승률 둔화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D64545"/>
                </a:solidFill>
                <a:latin typeface="맑은 고딕"/>
                <a:ea typeface="맑은 고딕"/>
              </a:rPr>
              <a:t>●  </a:t>
            </a:r>
            <a:r>
              <a:rPr sz="1350" b="0" i="0">
                <a:solidFill>
                  <a:srgbClr val="1B2A41"/>
                </a:solidFill>
                <a:latin typeface="맑은 고딕"/>
                <a:ea typeface="맑은 고딕"/>
              </a:rPr>
              <a:t>레버리지 ETF·수급發 극심한 변동성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389120"/>
            <a:ext cx="5394959" cy="16002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4526280"/>
            <a:ext cx="996696" cy="329184"/>
          </a:xfrm>
          <a:prstGeom prst="roundRect">
            <a:avLst>
              <a:gd name="adj" fmla="val 50000"/>
            </a:avLst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17136"/>
            <a:ext cx="99669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1F3A"/>
                </a:solidFill>
                <a:latin typeface="맑은 고딕"/>
                <a:ea typeface="맑은 고딕"/>
              </a:rPr>
              <a:t>SK하이닉스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HBM 순수 리더 · 최고 수익성.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업사이드 극대화 코어, 변동성 감내형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4389120"/>
            <a:ext cx="5394959" cy="16002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452628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517136"/>
            <a:ext cx="749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</a:rPr>
              <a:t>삼성전자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8348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1F3A"/>
                </a:solidFill>
                <a:latin typeface="맑은 고딕"/>
                <a:ea typeface="맑은 고딕"/>
              </a:rPr>
              <a:t>저평가 + 반등 옵션(HBM4·파운드리).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안정+턴어라운드형, 상대적 방어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AA5B4"/>
                </a:solidFill>
                <a:latin typeface="맑은 고딕"/>
                <a:ea typeface="맑은 고딕"/>
              </a:rPr>
              <a:t>자료: 각 사 IR, TrendForce·WSTS, 국내외 증권사 리포트 및 언론보도 종합 (기준일 2026.7.13)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04 · 판단 &amp;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B1F3A"/>
                </a:solidFill>
                <a:latin typeface="맑은 고딕"/>
                <a:ea typeface="맑은 고딕"/>
              </a:rPr>
              <a:t>지친 투자자를 위한 관점 — 변동성과 마주하는 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A41"/>
                </a:solidFill>
                <a:latin typeface="맑은 고딕"/>
                <a:ea typeface="맑은 고딕"/>
              </a:rPr>
              <a:t>연초 이후 롤러코스터 장세로 지치셨을 겁니다. </a:t>
            </a:r>
            <a:r>
              <a:rPr sz="1400" b="1" i="0">
                <a:solidFill>
                  <a:srgbClr val="0B1F3A"/>
                </a:solidFill>
                <a:latin typeface="맑은 고딕"/>
                <a:ea typeface="맑은 고딕"/>
              </a:rPr>
              <a:t>그러나 흔들릴수록 필요한 건 감정이 아니라 원칙입니다.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03120"/>
            <a:ext cx="3566160" cy="269748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2395727"/>
            <a:ext cx="457200" cy="457200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3774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432303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맑은 고딕"/>
                <a:ea typeface="맑은 고딕"/>
              </a:rPr>
              <a:t>변동성은 정상 비용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154679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36174"/>
                </a:solidFill>
                <a:latin typeface="맑은 고딕"/>
                <a:ea typeface="맑은 고딕"/>
              </a:rPr>
              <a:t>큰 상승에는 큰 흔들림이 따른다.
급락은 스토리 훼손이 아니라
사이클의 자연스러운 호흡.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103120"/>
            <a:ext cx="3566160" cy="269748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576" y="2395727"/>
            <a:ext cx="457200" cy="457200"/>
          </a:xfrm>
          <a:prstGeom prst="ellipse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3774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432303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맑은 고딕"/>
                <a:ea typeface="맑은 고딕"/>
              </a:rPr>
              <a:t>감정 아닌 원칙으로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154679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36174"/>
                </a:solidFill>
                <a:latin typeface="맑은 고딕"/>
                <a:ea typeface="맑은 고딕"/>
              </a:rPr>
              <a:t>공포에 팔지 않기.
뉴스 헤드라인보다 지표
(계약가·CAPEX·수출단가)로 확인.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7" y="2103120"/>
            <a:ext cx="3566160" cy="269748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>
            <a:outerShdw blurRad="90000" dist="28000" dir="5400000" rotWithShape="0">
              <a:srgbClr val="1B2A4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57615" y="2395727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23774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7" y="2432303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1F3A"/>
                </a:solidFill>
                <a:latin typeface="맑은 고딕"/>
                <a:ea typeface="맑은 고딕"/>
              </a:rPr>
              <a:t>시간 분산이 방어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3" y="3154679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36174"/>
                </a:solidFill>
                <a:latin typeface="맑은 고딕"/>
                <a:ea typeface="맑은 고딕"/>
              </a:rPr>
              <a:t>한 번에가 아니라 나눠서.
현금 비중으로 심리적
여유를 확보하고 리밸런싱.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7492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074920"/>
            <a:ext cx="11064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</a:rPr>
              <a:t>변동성은 저희가 함께 모니터링하고, 매수·리밸런싱 신호를 그때그때 안내드리겠습니다.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914400"/>
            <a:ext cx="2926080" cy="2926080"/>
          </a:xfrm>
          <a:prstGeom prst="ellipse">
            <a:avLst/>
          </a:prstGeom>
          <a:solidFill>
            <a:srgbClr val="14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93B"/>
                </a:solidFill>
                <a:latin typeface="맑은 고딕"/>
                <a:ea typeface="맑은 고딕"/>
              </a:rPr>
              <a:t>04 · 결론 &amp;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코어 자산으로 비중 유지·확대,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단 ‘몰빵’이 아닌 </a:t>
            </a:r>
            <a:r>
              <a:rPr sz="2500" b="1" i="0">
                <a:solidFill>
                  <a:srgbClr val="E8A93B"/>
                </a:solidFill>
                <a:latin typeface="맑은 고딕"/>
                <a:ea typeface="맑은 고딕"/>
              </a:rPr>
              <a:t>분할 · 역할분담 · 리스크관리</a:t>
            </a: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 전제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402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514600"/>
            <a:ext cx="411480" cy="411480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963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532888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분할 매수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089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 i="0">
                <a:solidFill>
                  <a:srgbClr val="C7D6EC"/>
                </a:solidFill>
                <a:latin typeface="맑은 고딕"/>
                <a:ea typeface="맑은 고딕"/>
              </a:rPr>
              <a:t>고점 부담·변동성 구간 → 나눠서, 조정을 기회로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2402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0288" y="2514600"/>
            <a:ext cx="411480" cy="411480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4963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2532888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역할 분담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1089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 i="0">
                <a:solidFill>
                  <a:srgbClr val="C7D6EC"/>
                </a:solidFill>
                <a:latin typeface="맑은 고딕"/>
                <a:ea typeface="맑은 고딕"/>
              </a:rPr>
              <a:t>SK=업사이드 코어 / 삼성=저평가·턴어라운드 방어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7" y="22402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13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7" y="2514600"/>
            <a:ext cx="411480" cy="411480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4963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7" y="2532888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신호 모니터링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31089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 i="0">
                <a:solidFill>
                  <a:srgbClr val="C7D6EC"/>
                </a:solidFill>
                <a:latin typeface="맑은 고딕"/>
                <a:ea typeface="맑은 고딕"/>
              </a:rPr>
              <a:t>수출단가·계약가 상승률·빅테크 CAPEX 가이던스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9768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1A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434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93B"/>
                </a:solidFill>
                <a:latin typeface="맑은 고딕"/>
                <a:ea typeface="맑은 고딕"/>
              </a:rPr>
              <a:t>고액자산가 관점</a:t>
            </a:r>
            <a:r>
              <a:rPr sz="1250" b="0" i="0">
                <a:solidFill>
                  <a:srgbClr val="AEC1DD"/>
                </a:solidFill>
                <a:latin typeface="맑은 고딕"/>
                <a:ea typeface="맑은 고딕"/>
              </a:rPr>
              <a:t>   |   포트폴리오 차원의 정교한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89204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FFFFFF"/>
                </a:solidFill>
                <a:latin typeface="맑은 고딕"/>
                <a:ea typeface="맑은 고딕"/>
              </a:rPr>
              <a:t>① 단일종목 비중 상한 설정  </a:t>
            </a:r>
            <a:r>
              <a:rPr sz="1280" b="0" i="0">
                <a:solidFill>
                  <a:srgbClr val="FFFFFF"/>
                </a:solidFill>
                <a:latin typeface="맑은 고딕"/>
                <a:ea typeface="맑은 고딕"/>
              </a:rPr>
              <a:t>② 변동성 헤지(인버스·풋 활용)  </a:t>
            </a:r>
            <a:r>
              <a:rPr sz="1280" b="0" i="0">
                <a:solidFill>
                  <a:srgbClr val="FFFFFF"/>
                </a:solidFill>
                <a:latin typeface="맑은 고딕"/>
                <a:ea typeface="맑은 고딕"/>
              </a:rPr>
              <a:t>③ 분할·리밸런싱 규칙화  </a:t>
            </a:r>
            <a:r>
              <a:rPr sz="1280" b="0" i="0">
                <a:solidFill>
                  <a:srgbClr val="FFFFFF"/>
                </a:solidFill>
                <a:latin typeface="맑은 고딕"/>
                <a:ea typeface="맑은 고딕"/>
              </a:rPr>
              <a:t>④ 세제(양도·배당) 및 절세계좌 고려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C"/>
                </a:solidFill>
                <a:latin typeface="맑은 고딕"/>
                <a:ea typeface="맑은 고딕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6FB0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1F3A"/>
                </a:solidFill>
                <a:latin typeface="맑은 고딕"/>
                <a:ea typeface="맑은 고딕"/>
              </a:rPr>
              <a:t>요약 &amp; 유의사항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112263"/>
            <a:ext cx="457200" cy="457200"/>
          </a:xfrm>
          <a:prstGeom prst="ellipse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9397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B1F3A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993391"/>
            <a:ext cx="29260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B1F3A"/>
                </a:solidFill>
                <a:latin typeface="맑은 고딕"/>
                <a:ea typeface="맑은 고딕"/>
              </a:rPr>
              <a:t>변동성의 정체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993391"/>
            <a:ext cx="6766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매크로 노이즈 + 모건스탠리發 심리 + 국내 레버리지 ETF·수급. 수요 붕괴 아님.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16935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3154679"/>
            <a:ext cx="457200" cy="457200"/>
          </a:xfrm>
          <a:prstGeom prst="ellipse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13639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035807"/>
            <a:ext cx="29260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B1F3A"/>
                </a:solidFill>
                <a:latin typeface="맑은 고딕"/>
                <a:ea typeface="맑은 고딕"/>
              </a:rPr>
              <a:t>펀더멘털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035807"/>
            <a:ext cx="6766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빅테크 CAPEX $725B·HBM 슈퍼사이클 지속(골드만·UBS 강세). 상승률 둔화는 모니터링.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59351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7" y="4197095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17880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078223"/>
            <a:ext cx="29260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B1F3A"/>
                </a:solidFill>
                <a:latin typeface="맑은 고딕"/>
                <a:ea typeface="맑은 고딕"/>
              </a:rPr>
              <a:t>투자 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078223"/>
            <a:ext cx="6766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36174"/>
                </a:solidFill>
                <a:latin typeface="맑은 고딕"/>
                <a:ea typeface="맑은 고딕"/>
              </a:rPr>
              <a:t>삼성·SK 집중은 타당하나 분할·역할분담·리스크관리가 전제. 최종 판단은 고객 몫.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7492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5193792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D64545"/>
                </a:solidFill>
                <a:latin typeface="맑은 고딕"/>
                <a:ea typeface="맑은 고딕"/>
              </a:rPr>
              <a:t>유의사항(Disclaimer)  </a:t>
            </a:r>
            <a:r>
              <a:rPr sz="1050" b="0" i="0">
                <a:solidFill>
                  <a:srgbClr val="536174"/>
                </a:solidFill>
                <a:latin typeface="맑은 고딕"/>
                <a:ea typeface="맑은 고딕"/>
              </a:rPr>
              <a:t>본 자료는 정보 제공 목적이며 특정 종목의 매매를 권유하지 않습니다. 투자에 대한 최종 판단과 책임은 투자자 본인에게 있습니다. 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36174"/>
                </a:solidFill>
                <a:latin typeface="맑은 고딕"/>
                <a:ea typeface="맑은 고딕"/>
              </a:rPr>
              <a:t>수치는 2026.7.13 기준 언론보도·증권사 컨센서스를 종합한 것으로 실제와 다를 수 있어 발표 전 최신 IR/FnGuide 재확인이 필요하며, 과거 성과·전망은 미래 수익을 보장하지 않습니다.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5B4"/>
                </a:solidFill>
                <a:latin typeface="맑은 고딕"/>
                <a:ea typeface="맑은 고딕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