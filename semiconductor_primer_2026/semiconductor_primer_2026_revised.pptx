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점유율</c:v>
                </c:pt>
              </c:strCache>
            </c:strRef>
          </c:tx>
          <c:spPr>
            <a:solidFill>
              <a:srgbClr val="F58220"/>
            </a:solidFill>
            <a:effectLst/>
          </c:spPr>
          <c:invertIfNegative val="0"/>
          <c:dLbls>
            <c:numFmt formatCode="0.0&quot;%&quot;" sourceLinked="0"/>
            <c:txPr>
              <a:bodyPr/>
              <a:lstStyle/>
              <a:p>
                <a:pPr>
                  <a:defRPr b="1" i="0" strike="noStrike" sz="1050" u="none">
                    <a:solidFill>
                      <a:srgbClr val="1A1A1A"/>
                    </a:solidFill>
                    <a:latin typeface="Spoqa Han Sans Neo"/>
                  </a:defRPr>
                </a:pPr>
              </a:p>
            </c:txPr>
            <c:showLegendKey val="0"/>
            <c:showVal val="1"/>
            <c:showCatName val="0"/>
            <c:showSerName val="0"/>
            <c:showPercent val="0"/>
            <c:showBubbleSize val="0"/>
            <c:showLeaderLines val="0"/>
          </c:dLbls>
          <c:dPt>
            <c:idx val="0"/>
            <c:invertIfNegative val="0"/>
            <c:bubble3D val="0"/>
            <c:spPr>
              <a:solidFill>
                <a:srgbClr val="F58220"/>
              </a:solidFill>
              <a:effectLst/>
            </c:spPr>
          </c:dPt>
          <c:dPt>
            <c:idx val="1"/>
            <c:invertIfNegative val="0"/>
            <c:bubble3D val="0"/>
            <c:spPr>
              <a:solidFill>
                <a:srgbClr val="043B72"/>
              </a:solidFill>
              <a:effectLst/>
            </c:spPr>
          </c:dPt>
          <c:dPt>
            <c:idx val="2"/>
            <c:invertIfNegative val="0"/>
            <c:bubble3D val="0"/>
            <c:spPr>
              <a:solidFill>
                <a:srgbClr val="84888B"/>
              </a:solidFill>
              <a:effectLst/>
            </c:spPr>
          </c:dPt>
          <c:dPt>
            <c:idx val="3"/>
            <c:invertIfNegative val="0"/>
            <c:bubble3D val="0"/>
            <c:spPr>
              <a:solidFill>
                <a:srgbClr val="84888B"/>
              </a:solidFill>
              <a:effectLst/>
            </c:spPr>
          </c:dPt>
          <c:dPt>
            <c:idx val="4"/>
            <c:invertIfNegative val="0"/>
            <c:bubble3D val="0"/>
            <c:spPr>
              <a:solidFill>
                <a:srgbClr val="84888B"/>
              </a:solidFill>
              <a:effectLst/>
            </c:spPr>
          </c:dPt>
          <c:dPt>
            <c:idx val="5"/>
            <c:invertIfNegative val="0"/>
            <c:bubble3D val="0"/>
            <c:spPr>
              <a:solidFill>
                <a:srgbClr val="CDCECB"/>
              </a:solidFill>
              <a:effectLst/>
            </c:spPr>
          </c:dPt>
          <c:cat>
            <c:multiLvlStrRef>
              <c:f>Sheet1!$A$2:$A$7</c:f>
              <c:multiLvlStrCache>
                <c:ptCount val="6"/>
                <c:lvl>
                  <c:pt idx="0">
                    <c:v>TSMC</c:v>
                  </c:pt>
                  <c:pt idx="1">
                    <c:v>삼성전자</c:v>
                  </c:pt>
                  <c:pt idx="2">
                    <c:v>SMIC</c:v>
                  </c:pt>
                  <c:pt idx="3">
                    <c:v>UMC</c:v>
                  </c:pt>
                  <c:pt idx="4">
                    <c:v>GlobalFoundries</c:v>
                  </c:pt>
                  <c:pt idx="5">
                    <c:v>기타</c:v>
                  </c:pt>
                </c:lvl>
              </c:multiLvlStrCache>
            </c:multiLvlStrRef>
          </c:cat>
          <c:val>
            <c:numRef>
              <c:f>Sheet1!$B$2:$B$7</c:f>
              <c:numCache>
                <c:formatCode>General</c:formatCode>
                <c:ptCount val="6"/>
                <c:pt idx="0">
                  <c:v>72.3</c:v>
                </c:pt>
                <c:pt idx="1">
                  <c:v>6.5</c:v>
                </c:pt>
                <c:pt idx="2">
                  <c:v>5.1</c:v>
                </c:pt>
                <c:pt idx="3">
                  <c:v>3.9</c:v>
                </c:pt>
                <c:pt idx="4">
                  <c:v>3.3</c:v>
                </c:pt>
                <c:pt idx="5">
                  <c:v>8.9</c:v>
                </c:pt>
              </c:numCache>
            </c:numRef>
          </c:val>
        </c:ser>
        <c:dLbls>
          <c:numFmt formatCode="0.0&quot;%&quot;" sourceLinked="0"/>
          <c:txPr>
            <a:bodyPr/>
            <a:lstStyle/>
            <a:p>
              <a:pPr>
                <a:defRPr b="1" i="0" strike="noStrike" sz="1050" u="none">
                  <a:solidFill>
                    <a:srgbClr val="1A1A1A"/>
                  </a:solidFill>
                  <a:latin typeface="Spoqa Han Sans Ne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6C6C6C"/>
                </a:solidFill>
                <a:latin typeface="Spoqa Han Sans Neo"/>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noFill/>
            <a:prstDash val="solid"/>
            <a:round/>
          </a:ln>
        </c:spPr>
        <c:txPr>
          <a:bodyPr/>
          <a:lstStyle/>
          <a:p>
            <a:pPr>
              <a:defRPr sz="950" b="0" i="0" u="none" strike="noStrike">
                <a:solidFill>
                  <a:srgbClr val="6C6C6C"/>
                </a:solidFill>
                <a:latin typeface="Spoqa Han Sans Neo"/>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D램 점유율</c:v>
                </c:pt>
              </c:strCache>
            </c:strRef>
          </c:tx>
          <c:spPr>
            <a:solidFill>
              <a:schemeClr val="accent1"/>
            </a:solidFill>
            <a:ln w="9525" cap="flat">
              <a:solidFill>
                <a:srgbClr val="F9F9F9"/>
              </a:solidFill>
              <a:prstDash val="solid"/>
              <a:round/>
            </a:ln>
            <a:effectLst/>
          </c:spPr>
          <c:dPt>
            <c:idx val="0"/>
            <c:bubble3D val="0"/>
            <c:spPr>
              <a:solidFill>
                <a:srgbClr val="F58220"/>
              </a:solidFill>
              <a:ln w="19050" cap="flat">
                <a:solidFill>
                  <a:srgbClr val="FFFFFF"/>
                </a:solidFill>
                <a:prstDash val="solid"/>
                <a:round/>
              </a:ln>
              <a:effectLst/>
            </c:spPr>
          </c:dPt>
          <c:dPt>
            <c:idx val="1"/>
            <c:bubble3D val="0"/>
            <c:spPr>
              <a:solidFill>
                <a:srgbClr val="043B72"/>
              </a:solidFill>
              <a:ln w="19050" cap="flat">
                <a:solidFill>
                  <a:srgbClr val="FFFFFF"/>
                </a:solidFill>
                <a:prstDash val="solid"/>
                <a:round/>
              </a:ln>
              <a:effectLst/>
            </c:spPr>
          </c:dPt>
          <c:dPt>
            <c:idx val="2"/>
            <c:bubble3D val="0"/>
            <c:spPr>
              <a:solidFill>
                <a:srgbClr val="FAB072"/>
              </a:solidFill>
              <a:ln w="19050" cap="flat">
                <a:solidFill>
                  <a:srgbClr val="FFFFFF"/>
                </a:solidFill>
                <a:prstDash val="solid"/>
                <a:round/>
              </a:ln>
              <a:effectLst/>
            </c:spPr>
          </c:dPt>
          <c:dPt>
            <c:idx val="3"/>
            <c:bubble3D val="0"/>
            <c:spPr>
              <a:solidFill>
                <a:srgbClr val="0086B8"/>
              </a:solidFill>
              <a:ln w="19050" cap="flat">
                <a:solidFill>
                  <a:srgbClr val="FFFFFF"/>
                </a:solidFill>
                <a:prstDash val="solid"/>
                <a:round/>
              </a:ln>
              <a:effectLst/>
            </c:spPr>
          </c:dPt>
          <c:dPt>
            <c:idx val="4"/>
            <c:bubble3D val="0"/>
            <c:spPr>
              <a:solidFill>
                <a:srgbClr val="84888B"/>
              </a:solidFill>
              <a:ln w="19050" cap="flat">
                <a:solidFill>
                  <a:srgbClr val="FFFFFF"/>
                </a:solidFill>
                <a:prstDash val="solid"/>
                <a:round/>
              </a:ln>
              <a:effectLst/>
            </c:spPr>
          </c:dPt>
          <c:dLbls>
            <c:dLbl>
              <c:idx val="0"/>
              <c:numFmt formatCode="0&quot;%&quot;" sourceLinked="0"/>
              <c:spPr/>
              <c:txPr>
                <a:bodyPr/>
                <a:lstStyle/>
                <a:p>
                  <a:pPr>
                    <a:defRPr sz="1100" b="1" i="0" u="none" strike="noStrike">
                      <a:solidFill>
                        <a:srgbClr val="1A1A1A"/>
                      </a:solidFill>
                      <a:latin typeface="Spoqa Han Sans Neo"/>
                    </a:defRPr>
                  </a:pPr>
                </a:p>
              </c:txPr>
              <c:showLegendKey val="0"/>
              <c:showVal val="1"/>
              <c:showCatName val="0"/>
              <c:showSerName val="0"/>
              <c:showPercent val="0"/>
              <c:showBubbleSize val="0"/>
            </c:dLbl>
            <c:dLbl>
              <c:idx val="1"/>
              <c:numFmt formatCode="0&quot;%&quot;" sourceLinked="0"/>
              <c:spPr/>
              <c:txPr>
                <a:bodyPr/>
                <a:lstStyle/>
                <a:p>
                  <a:pPr>
                    <a:defRPr sz="1100" b="1" i="0" u="none" strike="noStrike">
                      <a:solidFill>
                        <a:srgbClr val="1A1A1A"/>
                      </a:solidFill>
                      <a:latin typeface="Spoqa Han Sans Neo"/>
                    </a:defRPr>
                  </a:pPr>
                </a:p>
              </c:txPr>
              <c:showLegendKey val="0"/>
              <c:showVal val="1"/>
              <c:showCatName val="0"/>
              <c:showSerName val="0"/>
              <c:showPercent val="0"/>
              <c:showBubbleSize val="0"/>
            </c:dLbl>
            <c:dLbl>
              <c:idx val="2"/>
              <c:numFmt formatCode="0&quot;%&quot;" sourceLinked="0"/>
              <c:spPr/>
              <c:txPr>
                <a:bodyPr/>
                <a:lstStyle/>
                <a:p>
                  <a:pPr>
                    <a:defRPr sz="1100" b="1" i="0" u="none" strike="noStrike">
                      <a:solidFill>
                        <a:srgbClr val="1A1A1A"/>
                      </a:solidFill>
                      <a:latin typeface="Spoqa Han Sans Neo"/>
                    </a:defRPr>
                  </a:pPr>
                </a:p>
              </c:txPr>
              <c:showLegendKey val="0"/>
              <c:showVal val="1"/>
              <c:showCatName val="0"/>
              <c:showSerName val="0"/>
              <c:showPercent val="0"/>
              <c:showBubbleSize val="0"/>
            </c:dLbl>
            <c:dLbl>
              <c:idx val="3"/>
              <c:numFmt formatCode="0&quot;%&quot;" sourceLinked="0"/>
              <c:spPr/>
              <c:txPr>
                <a:bodyPr/>
                <a:lstStyle/>
                <a:p>
                  <a:pPr>
                    <a:defRPr sz="1100" b="1" i="0" u="none" strike="noStrike">
                      <a:solidFill>
                        <a:srgbClr val="1A1A1A"/>
                      </a:solidFill>
                      <a:latin typeface="Spoqa Han Sans Neo"/>
                    </a:defRPr>
                  </a:pPr>
                </a:p>
              </c:txPr>
              <c:showLegendKey val="0"/>
              <c:showVal val="1"/>
              <c:showCatName val="0"/>
              <c:showSerName val="0"/>
              <c:showPercent val="0"/>
              <c:showBubbleSize val="0"/>
            </c:dLbl>
            <c:dLbl>
              <c:idx val="4"/>
              <c:numFmt formatCode="0&quot;%&quot;" sourceLinked="0"/>
              <c:spPr/>
              <c:txPr>
                <a:bodyPr/>
                <a:lstStyle/>
                <a:p>
                  <a:pPr>
                    <a:defRPr sz="1100" b="1" i="0" u="none" strike="noStrike">
                      <a:solidFill>
                        <a:srgbClr val="1A1A1A"/>
                      </a:solidFill>
                      <a:latin typeface="Spoqa Han Sans Neo"/>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삼성전자</c:v>
                </c:pt>
                <c:pt idx="1">
                  <c:v>SK하이닉스</c:v>
                </c:pt>
                <c:pt idx="2">
                  <c:v>마이크론</c:v>
                </c:pt>
                <c:pt idx="3">
                  <c:v>CXMT</c:v>
                </c:pt>
                <c:pt idx="4">
                  <c:v>기타</c:v>
                </c:pt>
              </c:strCache>
            </c:strRef>
          </c:cat>
          <c:val>
            <c:numRef>
              <c:f>Sheet1!$B$2:$B$6</c:f>
              <c:numCache>
                <c:ptCount val="5"/>
                <c:pt idx="0">
                  <c:v>38</c:v>
                </c:pt>
                <c:pt idx="1">
                  <c:v>29</c:v>
                </c:pt>
                <c:pt idx="2">
                  <c:v>22</c:v>
                </c:pt>
                <c:pt idx="3">
                  <c:v>8</c:v>
                </c:pt>
                <c:pt idx="4">
                  <c:v>3</c:v>
                </c:pt>
              </c:numCache>
            </c:numRef>
          </c:val>
        </c:ser>
        <c:firstSliceAng val="0"/>
        <c:holeSize val="45"/>
      </c:doughnutChart>
      <c:spPr>
        <a:noFill/>
        <a:ln w="12700" cap="flat">
          <a:solidFill>
            <a:srgbClr val="FFFFFF"/>
          </a:solidFill>
        </a:ln>
        <a:effectLst/>
      </c:spPr>
    </c:plotArea>
    <c:legend>
      <c:legendPos val="b"/>
      <c:overlay val="0"/>
      <c:txPr>
        <a:bodyPr/>
        <a:lstStyle/>
        <a:p>
          <a:pPr>
            <a:defRPr sz="1100">
              <a:solidFill>
                <a:srgbClr val="1A1A1A"/>
              </a:solidFill>
              <a:latin typeface="Spoqa Han Sans Neo"/>
              <a:cs typeface="Spoqa Han Sans Neo"/>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2026년 시장 규모</c:v>
                </c:pt>
              </c:strCache>
            </c:strRef>
          </c:tx>
          <c:spPr>
            <a:solidFill>
              <a:srgbClr val="F58220"/>
            </a:solidFill>
            <a:effectLst/>
          </c:spPr>
          <c:invertIfNegative val="0"/>
          <c:dLbls>
            <c:numFmt formatCode="#,##0" sourceLinked="0"/>
            <c:txPr>
              <a:bodyPr/>
              <a:lstStyle/>
              <a:p>
                <a:pPr>
                  <a:defRPr b="1" i="0" strike="noStrike" sz="1100" u="none">
                    <a:solidFill>
                      <a:srgbClr val="1A1A1A"/>
                    </a:solidFill>
                    <a:latin typeface="Spoqa Han Sans Neo"/>
                  </a:defRPr>
                </a:pPr>
              </a:p>
            </c:txPr>
            <c:showLegendKey val="0"/>
            <c:showVal val="1"/>
            <c:showCatName val="0"/>
            <c:showSerName val="0"/>
            <c:showPercent val="0"/>
            <c:showBubbleSize val="0"/>
            <c:showLeaderLines val="0"/>
          </c:dLbls>
          <c:dPt>
            <c:idx val="0"/>
            <c:invertIfNegative val="0"/>
            <c:bubble3D val="0"/>
            <c:spPr>
              <a:solidFill>
                <a:srgbClr val="F58220"/>
              </a:solidFill>
              <a:effectLst/>
            </c:spPr>
          </c:dPt>
          <c:dPt>
            <c:idx val="1"/>
            <c:invertIfNegative val="0"/>
            <c:bubble3D val="0"/>
            <c:spPr>
              <a:solidFill>
                <a:srgbClr val="043B72"/>
              </a:solidFill>
              <a:effectLst/>
            </c:spPr>
          </c:dPt>
          <c:dPt>
            <c:idx val="2"/>
            <c:invertIfNegative val="0"/>
            <c:bubble3D val="0"/>
            <c:spPr>
              <a:solidFill>
                <a:srgbClr val="84888B"/>
              </a:solidFill>
              <a:effectLst/>
            </c:spPr>
          </c:dPt>
          <c:cat>
            <c:multiLvlStrRef>
              <c:f>Sheet1!$A$2:$A$4</c:f>
              <c:multiLvlStrCache>
                <c:ptCount val="3"/>
                <c:lvl>
                  <c:pt idx="0">
                    <c:v>메모리</c:v>
                  </c:pt>
                  <c:pt idx="1">
                    <c:v>로직</c:v>
                  </c:pt>
                  <c:pt idx="2">
                    <c:v>기타 (MPU·아날로그·센서 등)</c:v>
                  </c:pt>
                </c:lvl>
              </c:multiLvlStrCache>
            </c:multiLvlStrRef>
          </c:cat>
          <c:val>
            <c:numRef>
              <c:f>Sheet1!$B$2:$B$4</c:f>
              <c:numCache>
                <c:formatCode>General</c:formatCode>
                <c:ptCount val="3"/>
                <c:pt idx="0">
                  <c:v>8039</c:v>
                </c:pt>
                <c:pt idx="1">
                  <c:v>4114</c:v>
                </c:pt>
                <c:pt idx="2">
                  <c:v>2959</c:v>
                </c:pt>
              </c:numCache>
            </c:numRef>
          </c:val>
        </c:ser>
        <c:dLbls>
          <c:numFmt formatCode="#,##0" sourceLinked="0"/>
          <c:txPr>
            <a:bodyPr/>
            <a:lstStyle/>
            <a:p>
              <a:pPr>
                <a:defRPr b="1" i="0" strike="noStrike" sz="1100" u="none">
                  <a:solidFill>
                    <a:srgbClr val="1A1A1A"/>
                  </a:solidFill>
                  <a:latin typeface="Spoqa Han Sans Ne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C6C6C"/>
                </a:solidFill>
                <a:latin typeface="Spoqa Han Sans Neo"/>
              </a:defRPr>
            </a:pPr>
            <a:endParaRPr lang="en-US"/>
          </a:p>
        </c:txPr>
        <c:crossAx val="2094734552"/>
        <c:crosses val="autoZero"/>
        <c:auto val="1"/>
        <c:lblAlgn val="ctr"/>
        <c:noMultiLvlLbl val="1"/>
      </c:catAx>
      <c:valAx>
        <c:axId val="2094734552"/>
        <c:scaling>
          <c:orientation val="minMax"/>
          <c:max val="9500"/>
        </c:scaling>
        <c:delete val="1"/>
        <c:axPos val="l"/>
        <c:numFmt formatCode="General" sourceLinked="0"/>
        <c:majorTickMark val="out"/>
        <c:minorTickMark val="none"/>
        <c:tickLblPos val="nextTo"/>
        <c:spPr>
          <a:ln w="12700" cap="flat">
            <a:noFill/>
            <a:prstDash val="solid"/>
            <a:round/>
          </a:ln>
        </c:spPr>
        <c:txPr>
          <a:bodyPr/>
          <a:lstStyle/>
          <a:p>
            <a:pPr>
              <a:defRPr sz="950" b="0" i="0" u="none" strike="noStrike">
                <a:solidFill>
                  <a:srgbClr val="6C6C6C"/>
                </a:solidFill>
                <a:latin typeface="Spoqa Han Sans Neo"/>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빅4 합산 CapEx</c:v>
                </c:pt>
              </c:strCache>
            </c:strRef>
          </c:tx>
          <c:spPr>
            <a:solidFill>
              <a:srgbClr val="FAB072"/>
            </a:solidFill>
            <a:effectLst/>
          </c:spPr>
          <c:invertIfNegative val="0"/>
          <c:dLbls>
            <c:numFmt formatCode="#,##0" sourceLinked="0"/>
            <c:txPr>
              <a:bodyPr/>
              <a:lstStyle/>
              <a:p>
                <a:pPr>
                  <a:defRPr b="1" i="0" strike="noStrike" sz="1100" u="none">
                    <a:solidFill>
                      <a:srgbClr val="1A1A1A"/>
                    </a:solidFill>
                    <a:latin typeface="Spoqa Han Sans Neo"/>
                  </a:defRPr>
                </a:pPr>
              </a:p>
            </c:txPr>
            <c:showLegendKey val="0"/>
            <c:showVal val="1"/>
            <c:showCatName val="0"/>
            <c:showSerName val="0"/>
            <c:showPercent val="0"/>
            <c:showBubbleSize val="0"/>
            <c:showLeaderLines val="0"/>
          </c:dLbls>
          <c:dPt>
            <c:idx val="0"/>
            <c:invertIfNegative val="0"/>
            <c:bubble3D val="0"/>
            <c:spPr>
              <a:solidFill>
                <a:srgbClr val="FAB072"/>
              </a:solidFill>
              <a:effectLst/>
            </c:spPr>
          </c:dPt>
          <c:dPt>
            <c:idx val="1"/>
            <c:invertIfNegative val="0"/>
            <c:bubble3D val="0"/>
            <c:spPr>
              <a:solidFill>
                <a:srgbClr val="FAB072"/>
              </a:solidFill>
              <a:effectLst/>
            </c:spPr>
          </c:dPt>
          <c:dPt>
            <c:idx val="2"/>
            <c:invertIfNegative val="0"/>
            <c:bubble3D val="0"/>
            <c:spPr>
              <a:solidFill>
                <a:srgbClr val="F58220"/>
              </a:solidFill>
              <a:effectLst/>
            </c:spPr>
          </c:dPt>
          <c:dPt>
            <c:idx val="3"/>
            <c:invertIfNegative val="0"/>
            <c:bubble3D val="0"/>
            <c:spPr>
              <a:solidFill>
                <a:srgbClr val="CDCECB"/>
              </a:solidFill>
              <a:effectLst/>
            </c:spPr>
          </c:dPt>
          <c:cat>
            <c:multiLvlStrRef>
              <c:f>Sheet1!$A$2:$A$5</c:f>
              <c:multiLvlStrCache>
                <c:ptCount val="4"/>
                <c:lvl>
                  <c:pt idx="0">
                    <c:v>2024</c:v>
                  </c:pt>
                  <c:pt idx="1">
                    <c:v>2025</c:v>
                  </c:pt>
                  <c:pt idx="2">
                    <c:v>2026E</c:v>
                  </c:pt>
                  <c:pt idx="3">
                    <c:v>2027E</c:v>
                  </c:pt>
                </c:lvl>
              </c:multiLvlStrCache>
            </c:multiLvlStrRef>
          </c:cat>
          <c:val>
            <c:numRef>
              <c:f>Sheet1!$B$2:$B$5</c:f>
              <c:numCache>
                <c:formatCode>General</c:formatCode>
                <c:ptCount val="4"/>
                <c:pt idx="0">
                  <c:v>2260</c:v>
                </c:pt>
                <c:pt idx="1">
                  <c:v>3780</c:v>
                </c:pt>
                <c:pt idx="2">
                  <c:v>7250</c:v>
                </c:pt>
                <c:pt idx="3">
                  <c:v>10000</c:v>
                </c:pt>
              </c:numCache>
            </c:numRef>
          </c:val>
        </c:ser>
        <c:dLbls>
          <c:numFmt formatCode="#,##0" sourceLinked="0"/>
          <c:txPr>
            <a:bodyPr/>
            <a:lstStyle/>
            <a:p>
              <a:pPr>
                <a:defRPr b="1" i="0" strike="noStrike" sz="1100" u="none">
                  <a:solidFill>
                    <a:srgbClr val="1A1A1A"/>
                  </a:solidFill>
                  <a:latin typeface="Spoqa Han Sans Neo"/>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6C6C"/>
                </a:solidFill>
                <a:latin typeface="Spoqa Han Sans Neo"/>
              </a:defRPr>
            </a:pPr>
            <a:endParaRPr lang="en-US"/>
          </a:p>
        </c:txPr>
        <c:crossAx val="2094734552"/>
        <c:crosses val="autoZero"/>
        <c:auto val="1"/>
        <c:lblAlgn val="ctr"/>
        <c:noMultiLvlLbl val="1"/>
      </c:catAx>
      <c:valAx>
        <c:axId val="2094734552"/>
        <c:scaling>
          <c:orientation val="minMax"/>
          <c:max val="11500"/>
        </c:scaling>
        <c:delete val="1"/>
        <c:axPos val="l"/>
        <c:numFmt formatCode="General" sourceLinked="0"/>
        <c:majorTickMark val="out"/>
        <c:minorTickMark val="none"/>
        <c:tickLblPos val="nextTo"/>
        <c:spPr>
          <a:ln w="12700" cap="flat">
            <a:noFill/>
            <a:prstDash val="solid"/>
            <a:round/>
          </a:ln>
        </c:spPr>
        <c:txPr>
          <a:bodyPr/>
          <a:lstStyle/>
          <a:p>
            <a:pPr>
              <a:defRPr sz="950" b="0" i="0" u="none" strike="noStrike">
                <a:solidFill>
                  <a:srgbClr val="6C6C6C"/>
                </a:solidFill>
                <a:latin typeface="Spoqa Han Sans Neo"/>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DDR4 8Gb 고정거래가</c:v>
                </c:pt>
              </c:strCache>
            </c:strRef>
          </c:tx>
          <c:spPr>
            <a:solidFill>
              <a:srgbClr val="FAB072"/>
            </a:solidFill>
            <a:effectLst/>
          </c:spPr>
          <c:invertIfNegative val="0"/>
          <c:dLbls>
            <c:numFmt formatCode="&quot;$&quot;#,##0" sourceLinked="0"/>
            <c:txPr>
              <a:bodyPr/>
              <a:lstStyle/>
              <a:p>
                <a:pPr>
                  <a:defRPr b="1" i="0" strike="noStrike" sz="1200" u="none">
                    <a:solidFill>
                      <a:srgbClr val="1A1A1A"/>
                    </a:solidFill>
                    <a:latin typeface="Spoqa Han Sans Neo"/>
                  </a:defRPr>
                </a:pPr>
              </a:p>
            </c:txPr>
            <c:showLegendKey val="0"/>
            <c:showVal val="1"/>
            <c:showCatName val="0"/>
            <c:showSerName val="0"/>
            <c:showPercent val="0"/>
            <c:showBubbleSize val="0"/>
            <c:showLeaderLines val="0"/>
          </c:dLbls>
          <c:dPt>
            <c:idx val="0"/>
            <c:invertIfNegative val="0"/>
            <c:bubble3D val="0"/>
            <c:spPr>
              <a:solidFill>
                <a:srgbClr val="FAB072"/>
              </a:solidFill>
              <a:effectLst/>
            </c:spPr>
          </c:dPt>
          <c:dPt>
            <c:idx val="1"/>
            <c:invertIfNegative val="0"/>
            <c:bubble3D val="0"/>
            <c:spPr>
              <a:solidFill>
                <a:srgbClr val="F58220"/>
              </a:solidFill>
              <a:effectLst/>
            </c:spPr>
          </c:dPt>
          <c:dPt>
            <c:idx val="2"/>
            <c:invertIfNegative val="0"/>
            <c:bubble3D val="0"/>
            <c:spPr>
              <a:solidFill>
                <a:srgbClr val="F58220"/>
              </a:solidFill>
              <a:effectLst/>
            </c:spPr>
          </c:dPt>
          <c:cat>
            <c:multiLvlStrRef>
              <c:f>Sheet1!$A$2:$A$4</c:f>
              <c:multiLvlStrCache>
                <c:ptCount val="3"/>
                <c:lvl>
                  <c:pt idx="0">
                    <c:v>2026.4월</c:v>
                  </c:pt>
                  <c:pt idx="1">
                    <c:v>2026.5월</c:v>
                  </c:pt>
                  <c:pt idx="2">
                    <c:v>2026.6월</c:v>
                  </c:pt>
                </c:lvl>
              </c:multiLvlStrCache>
            </c:multiLvlStrRef>
          </c:cat>
          <c:val>
            <c:numRef>
              <c:f>Sheet1!$B$2:$B$4</c:f>
              <c:numCache>
                <c:formatCode>General</c:formatCode>
                <c:ptCount val="3"/>
                <c:pt idx="0">
                  <c:v>16</c:v>
                </c:pt>
                <c:pt idx="1">
                  <c:v>20</c:v>
                </c:pt>
                <c:pt idx="2">
                  <c:v>21</c:v>
                </c:pt>
              </c:numCache>
            </c:numRef>
          </c:val>
        </c:ser>
        <c:dLbls>
          <c:numFmt formatCode="&quot;$&quot;#,##0" sourceLinked="0"/>
          <c:txPr>
            <a:bodyPr/>
            <a:lstStyle/>
            <a:p>
              <a:pPr>
                <a:defRPr b="1" i="0" strike="noStrike" sz="1200" u="none">
                  <a:solidFill>
                    <a:srgbClr val="1A1A1A"/>
                  </a:solidFill>
                  <a:latin typeface="Spoqa Han Sans Neo"/>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C6C6C"/>
                </a:solidFill>
                <a:latin typeface="Spoqa Han Sans Neo"/>
              </a:defRPr>
            </a:pPr>
            <a:endParaRPr lang="en-US"/>
          </a:p>
        </c:txPr>
        <c:crossAx val="2094734552"/>
        <c:crosses val="autoZero"/>
        <c:auto val="1"/>
        <c:lblAlgn val="ctr"/>
        <c:noMultiLvlLbl val="1"/>
      </c:catAx>
      <c:valAx>
        <c:axId val="2094734552"/>
        <c:scaling>
          <c:orientation val="minMax"/>
          <c:max val="25"/>
        </c:scaling>
        <c:delete val="1"/>
        <c:axPos val="l"/>
        <c:numFmt formatCode="General" sourceLinked="0"/>
        <c:majorTickMark val="out"/>
        <c:minorTickMark val="none"/>
        <c:tickLblPos val="nextTo"/>
        <c:spPr>
          <a:ln w="12700" cap="flat">
            <a:noFill/>
            <a:prstDash val="solid"/>
            <a:round/>
          </a:ln>
        </c:spPr>
        <c:txPr>
          <a:bodyPr/>
          <a:lstStyle/>
          <a:p>
            <a:pPr>
              <a:defRPr sz="950" b="0" i="0" u="none" strike="noStrike">
                <a:solidFill>
                  <a:srgbClr val="6C6C6C"/>
                </a:solidFill>
                <a:latin typeface="Spoqa Han Sans Neo"/>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자료 기준일 2026년 8월 3일. 수치는 각 슬라이드 출처 표기 참조.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1~2는 기초, PART 3은 최신 흐름, PART 4는 투자 관점, PART 5는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반도체의 물리적 정의는 단순하지만, 수요 주체가 개인→스마트폰→AI 기업으로 바뀌면서 산업의 성격 자체가 변했다는 것이 핵심 메시지.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공정 이해의 실전 포인트: (1) 노광=ASML 독점 구간, (2) 패키징=성능 경쟁의 새 무대, (3) 신규 팹 리드타임 3년이 이번 사이클 공급 제약의 근원.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세미나 배포용 요약. 매월 1일 산업부 수출 발표, 매 분기 빅테크·엔비디아·ASML 실적이 핵심 체크 시점.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슬라이드. 별도 감사 인사 페이지 없이 요약으로 종료. 면책 문구 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3B7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F58220"/>
          </a:solidFill>
          <a:ln w="12700">
            <a:solidFill>
              <a:srgbClr val="333333"/>
            </a:solidFill>
            <a:prstDash val="solid"/>
          </a:ln>
        </p:spPr>
      </p:sp>
      <p:sp>
        <p:nvSpPr>
          <p:cNvPr id="3" name="Text 1"/>
          <p:cNvSpPr/>
          <p:nvPr/>
        </p:nvSpPr>
        <p:spPr>
          <a:xfrm>
            <a:off x="1005840" y="1417320"/>
            <a:ext cx="9144000" cy="274320"/>
          </a:xfrm>
          <a:prstGeom prst="rect">
            <a:avLst/>
          </a:prstGeom>
          <a:noFill/>
          <a:ln/>
        </p:spPr>
        <p:txBody>
          <a:bodyPr wrap="square" lIns="0" tIns="0" rIns="0" bIns="0" rtlCol="0" anchor="ctr"/>
          <a:lstStyle/>
          <a:p>
            <a:pPr indent="0" marL="0">
              <a:buNone/>
            </a:pPr>
            <a:r>
              <a:rPr lang="en-US" sz="1150" b="1" spc="200" kern="0" dirty="0">
                <a:solidFill>
                  <a:srgbClr val="FAB072"/>
                </a:solidFill>
                <a:latin typeface="Spoqa Han Sans Neo" pitchFamily="34" charset="0"/>
                <a:ea typeface="Spoqa Han Sans Neo" pitchFamily="34" charset="-122"/>
                <a:cs typeface="Spoqa Han Sans Neo" pitchFamily="34" charset="-120"/>
              </a:rPr>
              <a:t>SEMICONDUCTOR PRIMER · 2026</a:t>
            </a:r>
            <a:endParaRPr lang="en-US" sz="1150" dirty="0"/>
          </a:p>
        </p:txBody>
      </p:sp>
      <p:sp>
        <p:nvSpPr>
          <p:cNvPr id="4" name="Text 2"/>
          <p:cNvSpPr/>
          <p:nvPr/>
        </p:nvSpPr>
        <p:spPr>
          <a:xfrm>
            <a:off x="1005840" y="1828800"/>
            <a:ext cx="10058400" cy="914400"/>
          </a:xfrm>
          <a:prstGeom prst="rect">
            <a:avLst/>
          </a:prstGeom>
          <a:noFill/>
          <a:ln/>
        </p:spPr>
        <p:txBody>
          <a:bodyPr wrap="square" lIns="0" tIns="0" rIns="0" bIns="0" rtlCol="0" anchor="ctr"/>
          <a:lstStyle/>
          <a:p>
            <a:pPr indent="0" marL="0">
              <a:buNone/>
            </a:pPr>
            <a:r>
              <a:rPr lang="en-US" sz="5200" b="1" spc="-120" kern="0" dirty="0">
                <a:solidFill>
                  <a:srgbClr val="FFFFFF"/>
                </a:solidFill>
                <a:latin typeface="Spoqa Han Sans Neo" pitchFamily="34" charset="0"/>
                <a:ea typeface="Spoqa Han Sans Neo" pitchFamily="34" charset="-122"/>
                <a:cs typeface="Spoqa Han Sans Neo" pitchFamily="34" charset="-120"/>
              </a:rPr>
              <a:t>반도체 산업의 이해</a:t>
            </a:r>
            <a:endParaRPr lang="en-US" sz="5200" dirty="0"/>
          </a:p>
        </p:txBody>
      </p:sp>
      <p:sp>
        <p:nvSpPr>
          <p:cNvPr id="5" name="Shape 3"/>
          <p:cNvSpPr/>
          <p:nvPr/>
        </p:nvSpPr>
        <p:spPr>
          <a:xfrm>
            <a:off x="1005840" y="2889504"/>
            <a:ext cx="2926080" cy="12802"/>
          </a:xfrm>
          <a:prstGeom prst="rect">
            <a:avLst/>
          </a:prstGeom>
          <a:solidFill>
            <a:srgbClr val="F58220"/>
          </a:solidFill>
          <a:ln w="12700">
            <a:solidFill>
              <a:srgbClr val="333333"/>
            </a:solidFill>
            <a:prstDash val="solid"/>
          </a:ln>
        </p:spPr>
      </p:sp>
      <p:sp>
        <p:nvSpPr>
          <p:cNvPr id="6" name="Text 4"/>
          <p:cNvSpPr/>
          <p:nvPr/>
        </p:nvSpPr>
        <p:spPr>
          <a:xfrm>
            <a:off x="1005840" y="3127248"/>
            <a:ext cx="10058400" cy="329184"/>
          </a:xfrm>
          <a:prstGeom prst="rect">
            <a:avLst/>
          </a:prstGeom>
          <a:noFill/>
          <a:ln/>
        </p:spPr>
        <p:txBody>
          <a:bodyPr wrap="square" lIns="0" tIns="0" rIns="0" bIns="0" rtlCol="0" anchor="ctr"/>
          <a:lstStyle/>
          <a:p>
            <a:pPr indent="0" marL="0">
              <a:buNone/>
            </a:pPr>
            <a:r>
              <a:rPr lang="en-US" sz="1900" dirty="0">
                <a:solidFill>
                  <a:srgbClr val="FAB072"/>
                </a:solidFill>
                <a:latin typeface="Spoqa Han Sans Neo" pitchFamily="34" charset="0"/>
                <a:ea typeface="Spoqa Han Sans Neo" pitchFamily="34" charset="-122"/>
                <a:cs typeface="Spoqa Han Sans Neo" pitchFamily="34" charset="-120"/>
              </a:rPr>
              <a:t>구조 · 밸류체인 · 사이클 · 2026년 현재</a:t>
            </a:r>
            <a:endParaRPr lang="en-US" sz="1900" dirty="0"/>
          </a:p>
        </p:txBody>
      </p:sp>
      <p:sp>
        <p:nvSpPr>
          <p:cNvPr id="7" name="Text 5"/>
          <p:cNvSpPr/>
          <p:nvPr/>
        </p:nvSpPr>
        <p:spPr>
          <a:xfrm>
            <a:off x="1005840" y="3703320"/>
            <a:ext cx="8778240" cy="731520"/>
          </a:xfrm>
          <a:prstGeom prst="rect">
            <a:avLst/>
          </a:prstGeom>
          <a:noFill/>
          <a:ln/>
        </p:spPr>
        <p:txBody>
          <a:bodyPr wrap="square" lIns="0" tIns="0" rIns="0" bIns="0" rtlCol="0" anchor="ctr"/>
          <a:lstStyle/>
          <a:p>
            <a:pPr indent="0" marL="0">
              <a:lnSpc>
                <a:spcPct val="135000"/>
              </a:lnSpc>
              <a:buNone/>
            </a:pPr>
            <a:r>
              <a:rPr lang="en-US" sz="1300" dirty="0">
                <a:solidFill>
                  <a:srgbClr val="C9D6E4"/>
                </a:solidFill>
                <a:latin typeface="Spoqa Han Sans Neo" pitchFamily="34" charset="0"/>
                <a:ea typeface="Spoqa Han Sans Neo" pitchFamily="34" charset="-122"/>
                <a:cs typeface="Spoqa Han Sans Neo" pitchFamily="34" charset="-120"/>
              </a:rPr>
              <a:t>메모리에서 AI 인프라로 — 세계 반도체 시장이 사상 처음 1조 달러를 넘어선 해,</a:t>
            </a:r>
            <a:endParaRPr lang="en-US" sz="1300" dirty="0"/>
          </a:p>
          <a:p>
            <a:pPr indent="0" marL="0">
              <a:lnSpc>
                <a:spcPct val="135000"/>
              </a:lnSpc>
              <a:buNone/>
            </a:pPr>
            <a:r>
              <a:rPr lang="en-US" sz="1300" dirty="0">
                <a:solidFill>
                  <a:srgbClr val="C9D6E4"/>
                </a:solidFill>
                <a:latin typeface="Spoqa Han Sans Neo" pitchFamily="34" charset="0"/>
                <a:ea typeface="Spoqa Han Sans Neo" pitchFamily="34" charset="-122"/>
                <a:cs typeface="Spoqa Han Sans Neo" pitchFamily="34" charset="-120"/>
              </a:rPr>
              <a:t>이 산업이 어떻게 작동하고 무엇이 달라졌는지 30장으로 정리했습니다.</a:t>
            </a:r>
            <a:endParaRPr lang="en-US" sz="1300" dirty="0"/>
          </a:p>
        </p:txBody>
      </p:sp>
      <p:sp>
        <p:nvSpPr>
          <p:cNvPr id="8" name="Shape 6"/>
          <p:cNvSpPr/>
          <p:nvPr/>
        </p:nvSpPr>
        <p:spPr>
          <a:xfrm>
            <a:off x="1005840" y="5074920"/>
            <a:ext cx="9875520" cy="9144"/>
          </a:xfrm>
          <a:prstGeom prst="rect">
            <a:avLst/>
          </a:prstGeom>
          <a:solidFill>
            <a:srgbClr val="1F5286"/>
          </a:solidFill>
          <a:ln w="12700">
            <a:solidFill>
              <a:srgbClr val="333333"/>
            </a:solidFill>
            <a:prstDash val="solid"/>
          </a:ln>
        </p:spPr>
      </p:sp>
      <p:sp>
        <p:nvSpPr>
          <p:cNvPr id="9" name="Text 7"/>
          <p:cNvSpPr/>
          <p:nvPr/>
        </p:nvSpPr>
        <p:spPr>
          <a:xfrm>
            <a:off x="1005840" y="5230368"/>
            <a:ext cx="5486400" cy="256032"/>
          </a:xfrm>
          <a:prstGeom prst="rect">
            <a:avLst/>
          </a:prstGeom>
          <a:noFill/>
          <a:ln/>
        </p:spPr>
        <p:txBody>
          <a:bodyPr wrap="square" lIns="0" tIns="0" rIns="0" bIns="0" rtlCol="0" anchor="ctr"/>
          <a:lstStyle/>
          <a:p>
            <a:pP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미래에셋증권 마포WM</a:t>
            </a:r>
            <a:endParaRPr lang="en-US" sz="1200" dirty="0"/>
          </a:p>
        </p:txBody>
      </p:sp>
      <p:sp>
        <p:nvSpPr>
          <p:cNvPr id="10" name="Text 8"/>
          <p:cNvSpPr/>
          <p:nvPr/>
        </p:nvSpPr>
        <p:spPr>
          <a:xfrm>
            <a:off x="5486400" y="5230368"/>
            <a:ext cx="5394960" cy="256032"/>
          </a:xfrm>
          <a:prstGeom prst="rect">
            <a:avLst/>
          </a:prstGeom>
          <a:noFill/>
          <a:ln/>
        </p:spPr>
        <p:txBody>
          <a:bodyPr wrap="square" lIns="0" tIns="0" rIns="0" bIns="0" rtlCol="0" anchor="ctr"/>
          <a:lstStyle/>
          <a:p>
            <a:pPr algn="r" indent="0" marL="0">
              <a:buNone/>
            </a:pPr>
            <a:r>
              <a:rPr lang="en-US" sz="1100" dirty="0">
                <a:solidFill>
                  <a:srgbClr val="9FB4C9"/>
                </a:solidFill>
                <a:latin typeface="Spoqa Han Sans Neo" pitchFamily="34" charset="0"/>
                <a:ea typeface="Spoqa Han Sans Neo" pitchFamily="34" charset="-122"/>
                <a:cs typeface="Spoqa Han Sans Neo" pitchFamily="34" charset="-120"/>
              </a:rPr>
              <a:t>2026년 8월 기준</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CONTENTS</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이 자료의 구성</a:t>
            </a:r>
            <a:endParaRPr lang="en-US" sz="2600" dirty="0"/>
          </a:p>
        </p:txBody>
      </p:sp>
      <p:sp>
        <p:nvSpPr>
          <p:cNvPr id="5" name="Text 3"/>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6" name="Text 4"/>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a:t>
            </a:r>
            <a:endParaRPr lang="en-US" sz="900" dirty="0"/>
          </a:p>
        </p:txBody>
      </p:sp>
      <p:sp>
        <p:nvSpPr>
          <p:cNvPr id="7" name="Shape 5"/>
          <p:cNvSpPr/>
          <p:nvPr/>
        </p:nvSpPr>
        <p:spPr>
          <a:xfrm>
            <a:off x="566928" y="1481328"/>
            <a:ext cx="11057839" cy="841248"/>
          </a:xfrm>
          <a:prstGeom prst="rect">
            <a:avLst/>
          </a:prstGeom>
          <a:solidFill>
            <a:srgbClr val="FFFFFF"/>
          </a:solidFill>
          <a:ln w="9525">
            <a:solidFill>
              <a:srgbClr val="CDCECB"/>
            </a:solidFill>
            <a:prstDash val="solid"/>
          </a:ln>
        </p:spPr>
      </p:sp>
      <p:sp>
        <p:nvSpPr>
          <p:cNvPr id="8" name="Shape 6"/>
          <p:cNvSpPr/>
          <p:nvPr/>
        </p:nvSpPr>
        <p:spPr>
          <a:xfrm>
            <a:off x="566928" y="1481328"/>
            <a:ext cx="1298448" cy="841248"/>
          </a:xfrm>
          <a:prstGeom prst="rect">
            <a:avLst/>
          </a:prstGeom>
          <a:solidFill>
            <a:srgbClr val="043B72"/>
          </a:solidFill>
          <a:ln w="12700">
            <a:solidFill>
              <a:srgbClr val="333333"/>
            </a:solidFill>
            <a:prstDash val="solid"/>
          </a:ln>
        </p:spPr>
      </p:sp>
      <p:sp>
        <p:nvSpPr>
          <p:cNvPr id="9" name="Text 7"/>
          <p:cNvSpPr/>
          <p:nvPr/>
        </p:nvSpPr>
        <p:spPr>
          <a:xfrm>
            <a:off x="566928" y="1481328"/>
            <a:ext cx="1298448" cy="841248"/>
          </a:xfrm>
          <a:prstGeom prst="rect">
            <a:avLst/>
          </a:prstGeom>
          <a:noFill/>
          <a:ln/>
        </p:spPr>
        <p:txBody>
          <a:bodyPr wrap="square" lIns="0" tIns="0" rIns="0" bIns="0" rtlCol="0" anchor="ctr"/>
          <a:lstStyle/>
          <a:p>
            <a:pPr algn="ctr" indent="0" marL="0">
              <a:buNone/>
            </a:pPr>
            <a:r>
              <a:rPr lang="en-US" sz="1250" b="1" dirty="0">
                <a:solidFill>
                  <a:srgbClr val="FFFFFF"/>
                </a:solidFill>
                <a:latin typeface="Spoqa Han Sans Neo" pitchFamily="34" charset="0"/>
                <a:ea typeface="Spoqa Han Sans Neo" pitchFamily="34" charset="-122"/>
                <a:cs typeface="Spoqa Han Sans Neo" pitchFamily="34" charset="-120"/>
              </a:rPr>
              <a:t>PART 1</a:t>
            </a:r>
            <a:endParaRPr lang="en-US" sz="1250" dirty="0"/>
          </a:p>
        </p:txBody>
      </p:sp>
      <p:sp>
        <p:nvSpPr>
          <p:cNvPr id="10" name="Text 8"/>
          <p:cNvSpPr/>
          <p:nvPr/>
        </p:nvSpPr>
        <p:spPr>
          <a:xfrm>
            <a:off x="2103120" y="1627632"/>
            <a:ext cx="6766560" cy="292608"/>
          </a:xfrm>
          <a:prstGeom prst="rect">
            <a:avLst/>
          </a:prstGeom>
          <a:noFill/>
          <a:ln/>
        </p:spPr>
        <p:txBody>
          <a:bodyPr wrap="square" lIns="0" tIns="0" rIns="0" bIns="0" rtlCol="0" anchor="ctr"/>
          <a:lstStyle/>
          <a:p>
            <a:pPr indent="0" marL="0">
              <a:buNone/>
            </a:pPr>
            <a:r>
              <a:rPr lang="en-US" sz="1600" b="1" dirty="0">
                <a:solidFill>
                  <a:srgbClr val="1A1A1A"/>
                </a:solidFill>
                <a:latin typeface="Spoqa Han Sans Neo" pitchFamily="34" charset="0"/>
                <a:ea typeface="Spoqa Han Sans Neo" pitchFamily="34" charset="-122"/>
                <a:cs typeface="Spoqa Han Sans Neo" pitchFamily="34" charset="-120"/>
              </a:rPr>
              <a:t>반도체란 무엇인가</a:t>
            </a:r>
            <a:endParaRPr lang="en-US" sz="1600" dirty="0"/>
          </a:p>
        </p:txBody>
      </p:sp>
      <p:sp>
        <p:nvSpPr>
          <p:cNvPr id="11" name="Text 9"/>
          <p:cNvSpPr/>
          <p:nvPr/>
        </p:nvSpPr>
        <p:spPr>
          <a:xfrm>
            <a:off x="2103120" y="1938528"/>
            <a:ext cx="7863840" cy="274320"/>
          </a:xfrm>
          <a:prstGeom prst="rect">
            <a:avLst/>
          </a:prstGeom>
          <a:noFill/>
          <a:ln/>
        </p:spPr>
        <p:txBody>
          <a:bodyPr wrap="square" lIns="0" tIns="0" rIns="0" bIns="0" rtlCol="0" anchor="ctr"/>
          <a:lstStyle/>
          <a:p>
            <a:pPr indent="0" marL="0">
              <a:buNone/>
            </a:pPr>
            <a:r>
              <a:rPr lang="en-US" sz="1150" dirty="0">
                <a:solidFill>
                  <a:srgbClr val="6C6C6C"/>
                </a:solidFill>
                <a:latin typeface="Spoqa Han Sans Neo" pitchFamily="34" charset="0"/>
                <a:ea typeface="Spoqa Han Sans Neo" pitchFamily="34" charset="-122"/>
                <a:cs typeface="Spoqa Han Sans Neo" pitchFamily="34" charset="-120"/>
              </a:rPr>
              <a:t>제품 분류 · 제조 공정 · 산업 구조 · 미세화 경쟁</a:t>
            </a:r>
            <a:endParaRPr lang="en-US" sz="1150" dirty="0"/>
          </a:p>
        </p:txBody>
      </p:sp>
      <p:sp>
        <p:nvSpPr>
          <p:cNvPr id="12" name="Text 10"/>
          <p:cNvSpPr/>
          <p:nvPr/>
        </p:nvSpPr>
        <p:spPr>
          <a:xfrm>
            <a:off x="10436047" y="1481328"/>
            <a:ext cx="1005840" cy="841248"/>
          </a:xfrm>
          <a:prstGeom prst="rect">
            <a:avLst/>
          </a:prstGeom>
          <a:noFill/>
          <a:ln/>
        </p:spPr>
        <p:txBody>
          <a:bodyPr wrap="square" lIns="0" tIns="0" rIns="0" bIns="0" rtlCol="0" anchor="ctr"/>
          <a:lstStyle/>
          <a:p>
            <a:pPr algn="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3–9p</a:t>
            </a:r>
            <a:endParaRPr lang="en-US" sz="1400" dirty="0"/>
          </a:p>
        </p:txBody>
      </p:sp>
      <p:sp>
        <p:nvSpPr>
          <p:cNvPr id="13" name="Shape 11"/>
          <p:cNvSpPr/>
          <p:nvPr/>
        </p:nvSpPr>
        <p:spPr>
          <a:xfrm>
            <a:off x="566928" y="2414016"/>
            <a:ext cx="11057839" cy="841248"/>
          </a:xfrm>
          <a:prstGeom prst="rect">
            <a:avLst/>
          </a:prstGeom>
          <a:solidFill>
            <a:srgbClr val="FFFFFF"/>
          </a:solidFill>
          <a:ln w="9525">
            <a:solidFill>
              <a:srgbClr val="CDCECB"/>
            </a:solidFill>
            <a:prstDash val="solid"/>
          </a:ln>
        </p:spPr>
      </p:sp>
      <p:sp>
        <p:nvSpPr>
          <p:cNvPr id="14" name="Shape 12"/>
          <p:cNvSpPr/>
          <p:nvPr/>
        </p:nvSpPr>
        <p:spPr>
          <a:xfrm>
            <a:off x="566928" y="2414016"/>
            <a:ext cx="1298448" cy="841248"/>
          </a:xfrm>
          <a:prstGeom prst="rect">
            <a:avLst/>
          </a:prstGeom>
          <a:solidFill>
            <a:srgbClr val="043B72"/>
          </a:solidFill>
          <a:ln w="12700">
            <a:solidFill>
              <a:srgbClr val="333333"/>
            </a:solidFill>
            <a:prstDash val="solid"/>
          </a:ln>
        </p:spPr>
      </p:sp>
      <p:sp>
        <p:nvSpPr>
          <p:cNvPr id="15" name="Text 13"/>
          <p:cNvSpPr/>
          <p:nvPr/>
        </p:nvSpPr>
        <p:spPr>
          <a:xfrm>
            <a:off x="566928" y="2414016"/>
            <a:ext cx="1298448" cy="841248"/>
          </a:xfrm>
          <a:prstGeom prst="rect">
            <a:avLst/>
          </a:prstGeom>
          <a:noFill/>
          <a:ln/>
        </p:spPr>
        <p:txBody>
          <a:bodyPr wrap="square" lIns="0" tIns="0" rIns="0" bIns="0" rtlCol="0" anchor="ctr"/>
          <a:lstStyle/>
          <a:p>
            <a:pPr algn="ctr" indent="0" marL="0">
              <a:buNone/>
            </a:pPr>
            <a:r>
              <a:rPr lang="en-US" sz="1250" b="1" dirty="0">
                <a:solidFill>
                  <a:srgbClr val="FFFFFF"/>
                </a:solidFill>
                <a:latin typeface="Spoqa Han Sans Neo" pitchFamily="34" charset="0"/>
                <a:ea typeface="Spoqa Han Sans Neo" pitchFamily="34" charset="-122"/>
                <a:cs typeface="Spoqa Han Sans Neo" pitchFamily="34" charset="-120"/>
              </a:rPr>
              <a:t>PART 2</a:t>
            </a:r>
            <a:endParaRPr lang="en-US" sz="1250" dirty="0"/>
          </a:p>
        </p:txBody>
      </p:sp>
      <p:sp>
        <p:nvSpPr>
          <p:cNvPr id="16" name="Text 14"/>
          <p:cNvSpPr/>
          <p:nvPr/>
        </p:nvSpPr>
        <p:spPr>
          <a:xfrm>
            <a:off x="2103120" y="2560320"/>
            <a:ext cx="6766560" cy="292608"/>
          </a:xfrm>
          <a:prstGeom prst="rect">
            <a:avLst/>
          </a:prstGeom>
          <a:noFill/>
          <a:ln/>
        </p:spPr>
        <p:txBody>
          <a:bodyPr wrap="square" lIns="0" tIns="0" rIns="0" bIns="0" rtlCol="0" anchor="ctr"/>
          <a:lstStyle/>
          <a:p>
            <a:pPr indent="0" marL="0">
              <a:buNone/>
            </a:pPr>
            <a:r>
              <a:rPr lang="en-US" sz="1600" b="1" dirty="0">
                <a:solidFill>
                  <a:srgbClr val="1A1A1A"/>
                </a:solidFill>
                <a:latin typeface="Spoqa Han Sans Neo" pitchFamily="34" charset="0"/>
                <a:ea typeface="Spoqa Han Sans Neo" pitchFamily="34" charset="-122"/>
                <a:cs typeface="Spoqa Han Sans Neo" pitchFamily="34" charset="-120"/>
              </a:rPr>
              <a:t>누가 무엇을 하는가</a:t>
            </a:r>
            <a:endParaRPr lang="en-US" sz="1600" dirty="0"/>
          </a:p>
        </p:txBody>
      </p:sp>
      <p:sp>
        <p:nvSpPr>
          <p:cNvPr id="17" name="Text 15"/>
          <p:cNvSpPr/>
          <p:nvPr/>
        </p:nvSpPr>
        <p:spPr>
          <a:xfrm>
            <a:off x="2103120" y="2871216"/>
            <a:ext cx="7863840" cy="274320"/>
          </a:xfrm>
          <a:prstGeom prst="rect">
            <a:avLst/>
          </a:prstGeom>
          <a:noFill/>
          <a:ln/>
        </p:spPr>
        <p:txBody>
          <a:bodyPr wrap="square" lIns="0" tIns="0" rIns="0" bIns="0" rtlCol="0" anchor="ctr"/>
          <a:lstStyle/>
          <a:p>
            <a:pPr indent="0" marL="0">
              <a:buNone/>
            </a:pPr>
            <a:r>
              <a:rPr lang="en-US" sz="1150" dirty="0">
                <a:solidFill>
                  <a:srgbClr val="6C6C6C"/>
                </a:solidFill>
                <a:latin typeface="Spoqa Han Sans Neo" pitchFamily="34" charset="0"/>
                <a:ea typeface="Spoqa Han Sans Neo" pitchFamily="34" charset="-122"/>
                <a:cs typeface="Spoqa Han Sans Neo" pitchFamily="34" charset="-120"/>
              </a:rPr>
              <a:t>설계 · 파운드리 · 메모리 · 장비/소재 밸류체인</a:t>
            </a:r>
            <a:endParaRPr lang="en-US" sz="1150" dirty="0"/>
          </a:p>
        </p:txBody>
      </p:sp>
      <p:sp>
        <p:nvSpPr>
          <p:cNvPr id="18" name="Text 16"/>
          <p:cNvSpPr/>
          <p:nvPr/>
        </p:nvSpPr>
        <p:spPr>
          <a:xfrm>
            <a:off x="10436047" y="2414016"/>
            <a:ext cx="1005840" cy="841248"/>
          </a:xfrm>
          <a:prstGeom prst="rect">
            <a:avLst/>
          </a:prstGeom>
          <a:noFill/>
          <a:ln/>
        </p:spPr>
        <p:txBody>
          <a:bodyPr wrap="square" lIns="0" tIns="0" rIns="0" bIns="0" rtlCol="0" anchor="ctr"/>
          <a:lstStyle/>
          <a:p>
            <a:pPr algn="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10–14p</a:t>
            </a:r>
            <a:endParaRPr lang="en-US" sz="1400" dirty="0"/>
          </a:p>
        </p:txBody>
      </p:sp>
      <p:sp>
        <p:nvSpPr>
          <p:cNvPr id="19" name="Shape 17"/>
          <p:cNvSpPr/>
          <p:nvPr/>
        </p:nvSpPr>
        <p:spPr>
          <a:xfrm>
            <a:off x="566928" y="3346704"/>
            <a:ext cx="11057839" cy="841248"/>
          </a:xfrm>
          <a:prstGeom prst="rect">
            <a:avLst/>
          </a:prstGeom>
          <a:solidFill>
            <a:srgbClr val="FFFFFF"/>
          </a:solidFill>
          <a:ln w="9525">
            <a:solidFill>
              <a:srgbClr val="CDCECB"/>
            </a:solidFill>
            <a:prstDash val="solid"/>
          </a:ln>
        </p:spPr>
      </p:sp>
      <p:sp>
        <p:nvSpPr>
          <p:cNvPr id="20" name="Shape 18"/>
          <p:cNvSpPr/>
          <p:nvPr/>
        </p:nvSpPr>
        <p:spPr>
          <a:xfrm>
            <a:off x="566928" y="3346704"/>
            <a:ext cx="1298448" cy="841248"/>
          </a:xfrm>
          <a:prstGeom prst="rect">
            <a:avLst/>
          </a:prstGeom>
          <a:solidFill>
            <a:srgbClr val="043B72"/>
          </a:solidFill>
          <a:ln w="12700">
            <a:solidFill>
              <a:srgbClr val="333333"/>
            </a:solidFill>
            <a:prstDash val="solid"/>
          </a:ln>
        </p:spPr>
      </p:sp>
      <p:sp>
        <p:nvSpPr>
          <p:cNvPr id="21" name="Text 19"/>
          <p:cNvSpPr/>
          <p:nvPr/>
        </p:nvSpPr>
        <p:spPr>
          <a:xfrm>
            <a:off x="566928" y="3346704"/>
            <a:ext cx="1298448" cy="841248"/>
          </a:xfrm>
          <a:prstGeom prst="rect">
            <a:avLst/>
          </a:prstGeom>
          <a:noFill/>
          <a:ln/>
        </p:spPr>
        <p:txBody>
          <a:bodyPr wrap="square" lIns="0" tIns="0" rIns="0" bIns="0" rtlCol="0" anchor="ctr"/>
          <a:lstStyle/>
          <a:p>
            <a:pPr algn="ctr" indent="0" marL="0">
              <a:buNone/>
            </a:pPr>
            <a:r>
              <a:rPr lang="en-US" sz="1250" b="1" dirty="0">
                <a:solidFill>
                  <a:srgbClr val="FFFFFF"/>
                </a:solidFill>
                <a:latin typeface="Spoqa Han Sans Neo" pitchFamily="34" charset="0"/>
                <a:ea typeface="Spoqa Han Sans Neo" pitchFamily="34" charset="-122"/>
                <a:cs typeface="Spoqa Han Sans Neo" pitchFamily="34" charset="-120"/>
              </a:rPr>
              <a:t>PART 3</a:t>
            </a:r>
            <a:endParaRPr lang="en-US" sz="1250" dirty="0"/>
          </a:p>
        </p:txBody>
      </p:sp>
      <p:sp>
        <p:nvSpPr>
          <p:cNvPr id="22" name="Text 20"/>
          <p:cNvSpPr/>
          <p:nvPr/>
        </p:nvSpPr>
        <p:spPr>
          <a:xfrm>
            <a:off x="2103120" y="3493008"/>
            <a:ext cx="6766560" cy="292608"/>
          </a:xfrm>
          <a:prstGeom prst="rect">
            <a:avLst/>
          </a:prstGeom>
          <a:noFill/>
          <a:ln/>
        </p:spPr>
        <p:txBody>
          <a:bodyPr wrap="square" lIns="0" tIns="0" rIns="0" bIns="0" rtlCol="0" anchor="ctr"/>
          <a:lstStyle/>
          <a:p>
            <a:pPr indent="0" marL="0">
              <a:buNone/>
            </a:pPr>
            <a:r>
              <a:rPr lang="en-US" sz="1600" b="1" dirty="0">
                <a:solidFill>
                  <a:srgbClr val="1A1A1A"/>
                </a:solidFill>
                <a:latin typeface="Spoqa Han Sans Neo" pitchFamily="34" charset="0"/>
                <a:ea typeface="Spoqa Han Sans Neo" pitchFamily="34" charset="-122"/>
                <a:cs typeface="Spoqa Han Sans Neo" pitchFamily="34" charset="-120"/>
              </a:rPr>
              <a:t>2026년, 무슨 일이 벌어졌나</a:t>
            </a:r>
            <a:endParaRPr lang="en-US" sz="1600" dirty="0"/>
          </a:p>
        </p:txBody>
      </p:sp>
      <p:sp>
        <p:nvSpPr>
          <p:cNvPr id="23" name="Text 21"/>
          <p:cNvSpPr/>
          <p:nvPr/>
        </p:nvSpPr>
        <p:spPr>
          <a:xfrm>
            <a:off x="2103120" y="3803904"/>
            <a:ext cx="7863840" cy="274320"/>
          </a:xfrm>
          <a:prstGeom prst="rect">
            <a:avLst/>
          </a:prstGeom>
          <a:noFill/>
          <a:ln/>
        </p:spPr>
        <p:txBody>
          <a:bodyPr wrap="square" lIns="0" tIns="0" rIns="0" bIns="0" rtlCol="0" anchor="ctr"/>
          <a:lstStyle/>
          <a:p>
            <a:pPr indent="0" marL="0">
              <a:buNone/>
            </a:pPr>
            <a:r>
              <a:rPr lang="en-US" sz="1150" dirty="0">
                <a:solidFill>
                  <a:srgbClr val="6C6C6C"/>
                </a:solidFill>
                <a:latin typeface="Spoqa Han Sans Neo" pitchFamily="34" charset="0"/>
                <a:ea typeface="Spoqa Han Sans Neo" pitchFamily="34" charset="-122"/>
                <a:cs typeface="Spoqa Han Sans Neo" pitchFamily="34" charset="-120"/>
              </a:rPr>
              <a:t>시장 급팽창 · AI CapEx · 메모리 대란 · HBM 전쟁</a:t>
            </a:r>
            <a:endParaRPr lang="en-US" sz="1150" dirty="0"/>
          </a:p>
        </p:txBody>
      </p:sp>
      <p:sp>
        <p:nvSpPr>
          <p:cNvPr id="24" name="Text 22"/>
          <p:cNvSpPr/>
          <p:nvPr/>
        </p:nvSpPr>
        <p:spPr>
          <a:xfrm>
            <a:off x="10436047" y="3346704"/>
            <a:ext cx="1005840" cy="841248"/>
          </a:xfrm>
          <a:prstGeom prst="rect">
            <a:avLst/>
          </a:prstGeom>
          <a:noFill/>
          <a:ln/>
        </p:spPr>
        <p:txBody>
          <a:bodyPr wrap="square" lIns="0" tIns="0" rIns="0" bIns="0" rtlCol="0" anchor="ctr"/>
          <a:lstStyle/>
          <a:p>
            <a:pPr algn="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15–21p</a:t>
            </a:r>
            <a:endParaRPr lang="en-US" sz="1400" dirty="0"/>
          </a:p>
        </p:txBody>
      </p:sp>
      <p:sp>
        <p:nvSpPr>
          <p:cNvPr id="25" name="Shape 23"/>
          <p:cNvSpPr/>
          <p:nvPr/>
        </p:nvSpPr>
        <p:spPr>
          <a:xfrm>
            <a:off x="566928" y="4279392"/>
            <a:ext cx="11057839" cy="841248"/>
          </a:xfrm>
          <a:prstGeom prst="rect">
            <a:avLst/>
          </a:prstGeom>
          <a:solidFill>
            <a:srgbClr val="FFFFFF"/>
          </a:solidFill>
          <a:ln w="9525">
            <a:solidFill>
              <a:srgbClr val="CDCECB"/>
            </a:solidFill>
            <a:prstDash val="solid"/>
          </a:ln>
        </p:spPr>
      </p:sp>
      <p:sp>
        <p:nvSpPr>
          <p:cNvPr id="26" name="Shape 24"/>
          <p:cNvSpPr/>
          <p:nvPr/>
        </p:nvSpPr>
        <p:spPr>
          <a:xfrm>
            <a:off x="566928" y="4279392"/>
            <a:ext cx="1298448" cy="841248"/>
          </a:xfrm>
          <a:prstGeom prst="rect">
            <a:avLst/>
          </a:prstGeom>
          <a:solidFill>
            <a:srgbClr val="043B72"/>
          </a:solidFill>
          <a:ln w="12700">
            <a:solidFill>
              <a:srgbClr val="333333"/>
            </a:solidFill>
            <a:prstDash val="solid"/>
          </a:ln>
        </p:spPr>
      </p:sp>
      <p:sp>
        <p:nvSpPr>
          <p:cNvPr id="27" name="Text 25"/>
          <p:cNvSpPr/>
          <p:nvPr/>
        </p:nvSpPr>
        <p:spPr>
          <a:xfrm>
            <a:off x="566928" y="4279392"/>
            <a:ext cx="1298448" cy="841248"/>
          </a:xfrm>
          <a:prstGeom prst="rect">
            <a:avLst/>
          </a:prstGeom>
          <a:noFill/>
          <a:ln/>
        </p:spPr>
        <p:txBody>
          <a:bodyPr wrap="square" lIns="0" tIns="0" rIns="0" bIns="0" rtlCol="0" anchor="ctr"/>
          <a:lstStyle/>
          <a:p>
            <a:pPr algn="ctr" indent="0" marL="0">
              <a:buNone/>
            </a:pPr>
            <a:r>
              <a:rPr lang="en-US" sz="1250" b="1" dirty="0">
                <a:solidFill>
                  <a:srgbClr val="FFFFFF"/>
                </a:solidFill>
                <a:latin typeface="Spoqa Han Sans Neo" pitchFamily="34" charset="0"/>
                <a:ea typeface="Spoqa Han Sans Neo" pitchFamily="34" charset="-122"/>
                <a:cs typeface="Spoqa Han Sans Neo" pitchFamily="34" charset="-120"/>
              </a:rPr>
              <a:t>PART 4</a:t>
            </a:r>
            <a:endParaRPr lang="en-US" sz="1250" dirty="0"/>
          </a:p>
        </p:txBody>
      </p:sp>
      <p:sp>
        <p:nvSpPr>
          <p:cNvPr id="28" name="Text 26"/>
          <p:cNvSpPr/>
          <p:nvPr/>
        </p:nvSpPr>
        <p:spPr>
          <a:xfrm>
            <a:off x="2103120" y="4425696"/>
            <a:ext cx="6766560" cy="292608"/>
          </a:xfrm>
          <a:prstGeom prst="rect">
            <a:avLst/>
          </a:prstGeom>
          <a:noFill/>
          <a:ln/>
        </p:spPr>
        <p:txBody>
          <a:bodyPr wrap="square" lIns="0" tIns="0" rIns="0" bIns="0" rtlCol="0" anchor="ctr"/>
          <a:lstStyle/>
          <a:p>
            <a:pPr indent="0" marL="0">
              <a:buNone/>
            </a:pPr>
            <a:r>
              <a:rPr lang="en-US" sz="1600" b="1" dirty="0">
                <a:solidFill>
                  <a:srgbClr val="1A1A1A"/>
                </a:solidFill>
                <a:latin typeface="Spoqa Han Sans Neo" pitchFamily="34" charset="0"/>
                <a:ea typeface="Spoqa Han Sans Neo" pitchFamily="34" charset="-122"/>
                <a:cs typeface="Spoqa Han Sans Neo" pitchFamily="34" charset="-120"/>
              </a:rPr>
              <a:t>사이클을 어떻게 볼 것인가</a:t>
            </a:r>
            <a:endParaRPr lang="en-US" sz="1600" dirty="0"/>
          </a:p>
        </p:txBody>
      </p:sp>
      <p:sp>
        <p:nvSpPr>
          <p:cNvPr id="29" name="Text 27"/>
          <p:cNvSpPr/>
          <p:nvPr/>
        </p:nvSpPr>
        <p:spPr>
          <a:xfrm>
            <a:off x="2103120" y="4736592"/>
            <a:ext cx="7863840" cy="274320"/>
          </a:xfrm>
          <a:prstGeom prst="rect">
            <a:avLst/>
          </a:prstGeom>
          <a:noFill/>
          <a:ln/>
        </p:spPr>
        <p:txBody>
          <a:bodyPr wrap="square" lIns="0" tIns="0" rIns="0" bIns="0" rtlCol="0" anchor="ctr"/>
          <a:lstStyle/>
          <a:p>
            <a:pPr indent="0" marL="0">
              <a:buNone/>
            </a:pPr>
            <a:r>
              <a:rPr lang="en-US" sz="1150" dirty="0">
                <a:solidFill>
                  <a:srgbClr val="6C6C6C"/>
                </a:solidFill>
                <a:latin typeface="Spoqa Han Sans Neo" pitchFamily="34" charset="0"/>
                <a:ea typeface="Spoqa Han Sans Neo" pitchFamily="34" charset="-122"/>
                <a:cs typeface="Spoqa Han Sans Neo" pitchFamily="34" charset="-120"/>
              </a:rPr>
              <a:t>순환 vs 구조 · 7월 급락의 해부 · 밸류에이션 · 체크리스트</a:t>
            </a:r>
            <a:endParaRPr lang="en-US" sz="1150" dirty="0"/>
          </a:p>
        </p:txBody>
      </p:sp>
      <p:sp>
        <p:nvSpPr>
          <p:cNvPr id="30" name="Text 28"/>
          <p:cNvSpPr/>
          <p:nvPr/>
        </p:nvSpPr>
        <p:spPr>
          <a:xfrm>
            <a:off x="10436047" y="4279392"/>
            <a:ext cx="1005840" cy="841248"/>
          </a:xfrm>
          <a:prstGeom prst="rect">
            <a:avLst/>
          </a:prstGeom>
          <a:noFill/>
          <a:ln/>
        </p:spPr>
        <p:txBody>
          <a:bodyPr wrap="square" lIns="0" tIns="0" rIns="0" bIns="0" rtlCol="0" anchor="ctr"/>
          <a:lstStyle/>
          <a:p>
            <a:pPr algn="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22–28p</a:t>
            </a:r>
            <a:endParaRPr lang="en-US" sz="1400" dirty="0"/>
          </a:p>
        </p:txBody>
      </p:sp>
      <p:sp>
        <p:nvSpPr>
          <p:cNvPr id="31" name="Shape 29"/>
          <p:cNvSpPr/>
          <p:nvPr/>
        </p:nvSpPr>
        <p:spPr>
          <a:xfrm>
            <a:off x="566928" y="5212080"/>
            <a:ext cx="11057839" cy="841248"/>
          </a:xfrm>
          <a:prstGeom prst="rect">
            <a:avLst/>
          </a:prstGeom>
          <a:solidFill>
            <a:srgbClr val="FFFFFF"/>
          </a:solidFill>
          <a:ln w="9525">
            <a:solidFill>
              <a:srgbClr val="CDCECB"/>
            </a:solidFill>
            <a:prstDash val="solid"/>
          </a:ln>
        </p:spPr>
      </p:sp>
      <p:sp>
        <p:nvSpPr>
          <p:cNvPr id="32" name="Shape 30"/>
          <p:cNvSpPr/>
          <p:nvPr/>
        </p:nvSpPr>
        <p:spPr>
          <a:xfrm>
            <a:off x="566928" y="5212080"/>
            <a:ext cx="1298448" cy="841248"/>
          </a:xfrm>
          <a:prstGeom prst="rect">
            <a:avLst/>
          </a:prstGeom>
          <a:solidFill>
            <a:srgbClr val="043B72"/>
          </a:solidFill>
          <a:ln w="12700">
            <a:solidFill>
              <a:srgbClr val="333333"/>
            </a:solidFill>
            <a:prstDash val="solid"/>
          </a:ln>
        </p:spPr>
      </p:sp>
      <p:sp>
        <p:nvSpPr>
          <p:cNvPr id="33" name="Text 31"/>
          <p:cNvSpPr/>
          <p:nvPr/>
        </p:nvSpPr>
        <p:spPr>
          <a:xfrm>
            <a:off x="566928" y="5212080"/>
            <a:ext cx="1298448" cy="841248"/>
          </a:xfrm>
          <a:prstGeom prst="rect">
            <a:avLst/>
          </a:prstGeom>
          <a:noFill/>
          <a:ln/>
        </p:spPr>
        <p:txBody>
          <a:bodyPr wrap="square" lIns="0" tIns="0" rIns="0" bIns="0" rtlCol="0" anchor="ctr"/>
          <a:lstStyle/>
          <a:p>
            <a:pPr algn="ctr" indent="0" marL="0">
              <a:buNone/>
            </a:pPr>
            <a:r>
              <a:rPr lang="en-US" sz="1250" b="1" dirty="0">
                <a:solidFill>
                  <a:srgbClr val="FFFFFF"/>
                </a:solidFill>
                <a:latin typeface="Spoqa Han Sans Neo" pitchFamily="34" charset="0"/>
                <a:ea typeface="Spoqa Han Sans Neo" pitchFamily="34" charset="-122"/>
                <a:cs typeface="Spoqa Han Sans Neo" pitchFamily="34" charset="-120"/>
              </a:rPr>
              <a:t>PART 5</a:t>
            </a:r>
            <a:endParaRPr lang="en-US" sz="1250" dirty="0"/>
          </a:p>
        </p:txBody>
      </p:sp>
      <p:sp>
        <p:nvSpPr>
          <p:cNvPr id="34" name="Text 32"/>
          <p:cNvSpPr/>
          <p:nvPr/>
        </p:nvSpPr>
        <p:spPr>
          <a:xfrm>
            <a:off x="2103120" y="5358384"/>
            <a:ext cx="6766560" cy="292608"/>
          </a:xfrm>
          <a:prstGeom prst="rect">
            <a:avLst/>
          </a:prstGeom>
          <a:noFill/>
          <a:ln/>
        </p:spPr>
        <p:txBody>
          <a:bodyPr wrap="square" lIns="0" tIns="0" rIns="0" bIns="0" rtlCol="0" anchor="ctr"/>
          <a:lstStyle/>
          <a:p>
            <a:pPr indent="0" marL="0">
              <a:buNone/>
            </a:pPr>
            <a:r>
              <a:rPr lang="en-US" sz="1600" b="1" dirty="0">
                <a:solidFill>
                  <a:srgbClr val="1A1A1A"/>
                </a:solidFill>
                <a:latin typeface="Spoqa Han Sans Neo" pitchFamily="34" charset="0"/>
                <a:ea typeface="Spoqa Han Sans Neo" pitchFamily="34" charset="-122"/>
                <a:cs typeface="Spoqa Han Sans Neo" pitchFamily="34" charset="-120"/>
              </a:rPr>
              <a:t>한국 반도체의 과제와 요약</a:t>
            </a:r>
            <a:endParaRPr lang="en-US" sz="1600" dirty="0"/>
          </a:p>
        </p:txBody>
      </p:sp>
      <p:sp>
        <p:nvSpPr>
          <p:cNvPr id="35" name="Text 33"/>
          <p:cNvSpPr/>
          <p:nvPr/>
        </p:nvSpPr>
        <p:spPr>
          <a:xfrm>
            <a:off x="2103120" y="5669280"/>
            <a:ext cx="7863840" cy="274320"/>
          </a:xfrm>
          <a:prstGeom prst="rect">
            <a:avLst/>
          </a:prstGeom>
          <a:noFill/>
          <a:ln/>
        </p:spPr>
        <p:txBody>
          <a:bodyPr wrap="square" lIns="0" tIns="0" rIns="0" bIns="0" rtlCol="0" anchor="ctr"/>
          <a:lstStyle/>
          <a:p>
            <a:pPr indent="0" marL="0">
              <a:buNone/>
            </a:pPr>
            <a:r>
              <a:rPr lang="en-US" sz="1150" dirty="0">
                <a:solidFill>
                  <a:srgbClr val="6C6C6C"/>
                </a:solidFill>
                <a:latin typeface="Spoqa Han Sans Neo" pitchFamily="34" charset="0"/>
                <a:ea typeface="Spoqa Han Sans Neo" pitchFamily="34" charset="-122"/>
                <a:cs typeface="Spoqa Han Sans Neo" pitchFamily="34" charset="-120"/>
              </a:rPr>
              <a:t>전력 · 인력 · 격차 유지 · 핵심 정리</a:t>
            </a:r>
            <a:endParaRPr lang="en-US" sz="1150" dirty="0"/>
          </a:p>
        </p:txBody>
      </p:sp>
      <p:sp>
        <p:nvSpPr>
          <p:cNvPr id="36" name="Text 34"/>
          <p:cNvSpPr/>
          <p:nvPr/>
        </p:nvSpPr>
        <p:spPr>
          <a:xfrm>
            <a:off x="10436047" y="5212080"/>
            <a:ext cx="1005840" cy="841248"/>
          </a:xfrm>
          <a:prstGeom prst="rect">
            <a:avLst/>
          </a:prstGeom>
          <a:noFill/>
          <a:ln/>
        </p:spPr>
        <p:txBody>
          <a:bodyPr wrap="square" lIns="0" tIns="0" rIns="0" bIns="0" rtlCol="0" anchor="ctr"/>
          <a:lstStyle/>
          <a:p>
            <a:pPr algn="r" indent="0" marL="0">
              <a:buNone/>
            </a:pPr>
            <a:r>
              <a:rPr lang="en-US" sz="1400" b="1" dirty="0">
                <a:solidFill>
                  <a:srgbClr val="F58220"/>
                </a:solidFill>
                <a:latin typeface="Spoqa Han Sans Neo" pitchFamily="34" charset="0"/>
                <a:ea typeface="Spoqa Han Sans Neo" pitchFamily="34" charset="-122"/>
                <a:cs typeface="Spoqa Han Sans Neo" pitchFamily="34" charset="-120"/>
              </a:rPr>
              <a:t>29–30p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1 · 왜 지금인가</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2026년, 반도체는 산업의 부품이 아니라 경제의 변수가 되었다</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세계 반도체 시장은 사상 처음 1조 달러를 넘었고, 한국 수출의 40%를 반도체 한 품목이 담당한다.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3</a:t>
            </a:r>
            <a:endParaRPr lang="en-US" sz="900" dirty="0"/>
          </a:p>
        </p:txBody>
      </p:sp>
      <p:sp>
        <p:nvSpPr>
          <p:cNvPr id="8" name="Shape 6"/>
          <p:cNvSpPr/>
          <p:nvPr/>
        </p:nvSpPr>
        <p:spPr>
          <a:xfrm>
            <a:off x="566928" y="1572768"/>
            <a:ext cx="2627300" cy="1627632"/>
          </a:xfrm>
          <a:prstGeom prst="rect">
            <a:avLst/>
          </a:prstGeom>
          <a:solidFill>
            <a:srgbClr val="FFFFFF"/>
          </a:solidFill>
          <a:ln w="9525">
            <a:solidFill>
              <a:srgbClr val="CDCECB"/>
            </a:solidFill>
            <a:prstDash val="solid"/>
          </a:ln>
        </p:spPr>
      </p:sp>
      <p:sp>
        <p:nvSpPr>
          <p:cNvPr id="9" name="Text 7"/>
          <p:cNvSpPr/>
          <p:nvPr/>
        </p:nvSpPr>
        <p:spPr>
          <a:xfrm>
            <a:off x="76809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세계 반도체 시장 (2026E)</a:t>
            </a:r>
            <a:endParaRPr lang="en-US" sz="1050" dirty="0"/>
          </a:p>
        </p:txBody>
      </p:sp>
      <p:sp>
        <p:nvSpPr>
          <p:cNvPr id="10" name="Text 8"/>
          <p:cNvSpPr/>
          <p:nvPr/>
        </p:nvSpPr>
        <p:spPr>
          <a:xfrm>
            <a:off x="768096" y="1975104"/>
            <a:ext cx="2224964" cy="548640"/>
          </a:xfrm>
          <a:prstGeom prst="rect">
            <a:avLst/>
          </a:prstGeom>
          <a:noFill/>
          <a:ln/>
        </p:spPr>
        <p:txBody>
          <a:bodyPr wrap="square" lIns="0" tIns="0" rIns="0" bIns="0" rtlCol="0" anchor="ctr"/>
          <a:lstStyle/>
          <a:p>
            <a:pPr indent="0" marL="0">
              <a:buNone/>
            </a:pPr>
            <a:r>
              <a:rPr lang="en-US" sz="3000" b="1" dirty="0">
                <a:solidFill>
                  <a:srgbClr val="F58220"/>
                </a:solidFill>
                <a:latin typeface="Spoqa Han Sans Neo" pitchFamily="34" charset="0"/>
                <a:ea typeface="Spoqa Han Sans Neo" pitchFamily="34" charset="-122"/>
                <a:cs typeface="Spoqa Han Sans Neo" pitchFamily="34" charset="-120"/>
              </a:rPr>
              <a:t>1.51조$</a:t>
            </a:r>
            <a:endParaRPr lang="en-US" sz="3000" dirty="0"/>
          </a:p>
        </p:txBody>
      </p:sp>
      <p:sp>
        <p:nvSpPr>
          <p:cNvPr id="11" name="Text 9"/>
          <p:cNvSpPr/>
          <p:nvPr/>
        </p:nvSpPr>
        <p:spPr>
          <a:xfrm>
            <a:off x="768096" y="2633472"/>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전년비 +89.9%</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사상 첫 1조 달러 돌파</a:t>
            </a:r>
            <a:endParaRPr lang="en-US" sz="1050" dirty="0"/>
          </a:p>
        </p:txBody>
      </p:sp>
      <p:sp>
        <p:nvSpPr>
          <p:cNvPr id="12" name="Shape 10"/>
          <p:cNvSpPr/>
          <p:nvPr/>
        </p:nvSpPr>
        <p:spPr>
          <a:xfrm>
            <a:off x="3377108" y="1572768"/>
            <a:ext cx="2627300" cy="1627632"/>
          </a:xfrm>
          <a:prstGeom prst="rect">
            <a:avLst/>
          </a:prstGeom>
          <a:solidFill>
            <a:srgbClr val="FFFFFF"/>
          </a:solidFill>
          <a:ln w="9525">
            <a:solidFill>
              <a:srgbClr val="CDCECB"/>
            </a:solidFill>
            <a:prstDash val="solid"/>
          </a:ln>
        </p:spPr>
      </p:sp>
      <p:sp>
        <p:nvSpPr>
          <p:cNvPr id="13" name="Text 11"/>
          <p:cNvSpPr/>
          <p:nvPr/>
        </p:nvSpPr>
        <p:spPr>
          <a:xfrm>
            <a:off x="357827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한국 반도체 수출 (26.7월)</a:t>
            </a:r>
            <a:endParaRPr lang="en-US" sz="1050" dirty="0"/>
          </a:p>
        </p:txBody>
      </p:sp>
      <p:sp>
        <p:nvSpPr>
          <p:cNvPr id="14" name="Text 12"/>
          <p:cNvSpPr/>
          <p:nvPr/>
        </p:nvSpPr>
        <p:spPr>
          <a:xfrm>
            <a:off x="3578276" y="1975104"/>
            <a:ext cx="2224964" cy="548640"/>
          </a:xfrm>
          <a:prstGeom prst="rect">
            <a:avLst/>
          </a:prstGeom>
          <a:noFill/>
          <a:ln/>
        </p:spPr>
        <p:txBody>
          <a:bodyPr wrap="square" lIns="0" tIns="0" rIns="0" bIns="0" rtlCol="0" anchor="ctr"/>
          <a:lstStyle/>
          <a:p>
            <a:pPr indent="0" marL="0">
              <a:buNone/>
            </a:pPr>
            <a:r>
              <a:rPr lang="en-US" sz="3000" b="1" dirty="0">
                <a:solidFill>
                  <a:srgbClr val="043B72"/>
                </a:solidFill>
                <a:latin typeface="Spoqa Han Sans Neo" pitchFamily="34" charset="0"/>
                <a:ea typeface="Spoqa Han Sans Neo" pitchFamily="34" charset="-122"/>
                <a:cs typeface="Spoqa Han Sans Neo" pitchFamily="34" charset="-120"/>
              </a:rPr>
              <a:t>410억$</a:t>
            </a:r>
            <a:endParaRPr lang="en-US" sz="3000" dirty="0"/>
          </a:p>
        </p:txBody>
      </p:sp>
      <p:sp>
        <p:nvSpPr>
          <p:cNvPr id="15" name="Text 13"/>
          <p:cNvSpPr/>
          <p:nvPr/>
        </p:nvSpPr>
        <p:spPr>
          <a:xfrm>
            <a:off x="3578276" y="2633472"/>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전년동월비 +178.8%</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16개월 연속 월간 최대</a:t>
            </a:r>
            <a:endParaRPr lang="en-US" sz="1050" dirty="0"/>
          </a:p>
        </p:txBody>
      </p:sp>
      <p:sp>
        <p:nvSpPr>
          <p:cNvPr id="16" name="Shape 14"/>
          <p:cNvSpPr/>
          <p:nvPr/>
        </p:nvSpPr>
        <p:spPr>
          <a:xfrm>
            <a:off x="6187288" y="1572768"/>
            <a:ext cx="2627300" cy="1627632"/>
          </a:xfrm>
          <a:prstGeom prst="rect">
            <a:avLst/>
          </a:prstGeom>
          <a:solidFill>
            <a:srgbClr val="FFFFFF"/>
          </a:solidFill>
          <a:ln w="9525">
            <a:solidFill>
              <a:srgbClr val="CDCECB"/>
            </a:solidFill>
            <a:prstDash val="solid"/>
          </a:ln>
        </p:spPr>
      </p:sp>
      <p:sp>
        <p:nvSpPr>
          <p:cNvPr id="17" name="Text 15"/>
          <p:cNvSpPr/>
          <p:nvPr/>
        </p:nvSpPr>
        <p:spPr>
          <a:xfrm>
            <a:off x="638845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빅4 AI CapEx (2026E)</a:t>
            </a:r>
            <a:endParaRPr lang="en-US" sz="1050" dirty="0"/>
          </a:p>
        </p:txBody>
      </p:sp>
      <p:sp>
        <p:nvSpPr>
          <p:cNvPr id="18" name="Text 16"/>
          <p:cNvSpPr/>
          <p:nvPr/>
        </p:nvSpPr>
        <p:spPr>
          <a:xfrm>
            <a:off x="6388456" y="1975104"/>
            <a:ext cx="2224964" cy="548640"/>
          </a:xfrm>
          <a:prstGeom prst="rect">
            <a:avLst/>
          </a:prstGeom>
          <a:noFill/>
          <a:ln/>
        </p:spPr>
        <p:txBody>
          <a:bodyPr wrap="square" lIns="0" tIns="0" rIns="0" bIns="0" rtlCol="0" anchor="ctr"/>
          <a:lstStyle/>
          <a:p>
            <a:pPr indent="0" marL="0">
              <a:buNone/>
            </a:pPr>
            <a:r>
              <a:rPr lang="en-US" sz="3000" b="1" dirty="0">
                <a:solidFill>
                  <a:srgbClr val="F58220"/>
                </a:solidFill>
                <a:latin typeface="Spoqa Han Sans Neo" pitchFamily="34" charset="0"/>
                <a:ea typeface="Spoqa Han Sans Neo" pitchFamily="34" charset="-122"/>
                <a:cs typeface="Spoqa Han Sans Neo" pitchFamily="34" charset="-120"/>
              </a:rPr>
              <a:t>7,250억$</a:t>
            </a:r>
            <a:endParaRPr lang="en-US" sz="3000" dirty="0"/>
          </a:p>
        </p:txBody>
      </p:sp>
      <p:sp>
        <p:nvSpPr>
          <p:cNvPr id="19" name="Text 17"/>
          <p:cNvSpPr/>
          <p:nvPr/>
        </p:nvSpPr>
        <p:spPr>
          <a:xfrm>
            <a:off x="6388456" y="2633472"/>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전년비 +92% (상단 기준)</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2027년 1조 달러 전망</a:t>
            </a:r>
            <a:endParaRPr lang="en-US" sz="1050" dirty="0"/>
          </a:p>
        </p:txBody>
      </p:sp>
      <p:sp>
        <p:nvSpPr>
          <p:cNvPr id="20" name="Shape 18"/>
          <p:cNvSpPr/>
          <p:nvPr/>
        </p:nvSpPr>
        <p:spPr>
          <a:xfrm>
            <a:off x="8997467" y="1572768"/>
            <a:ext cx="2627300" cy="1627632"/>
          </a:xfrm>
          <a:prstGeom prst="rect">
            <a:avLst/>
          </a:prstGeom>
          <a:solidFill>
            <a:srgbClr val="FFFFFF"/>
          </a:solidFill>
          <a:ln w="9525">
            <a:solidFill>
              <a:srgbClr val="CDCECB"/>
            </a:solidFill>
            <a:prstDash val="solid"/>
          </a:ln>
        </p:spPr>
      </p:sp>
      <p:sp>
        <p:nvSpPr>
          <p:cNvPr id="21" name="Text 19"/>
          <p:cNvSpPr/>
          <p:nvPr/>
        </p:nvSpPr>
        <p:spPr>
          <a:xfrm>
            <a:off x="9198635"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SK하이닉스 2Q26 영업이익</a:t>
            </a:r>
            <a:endParaRPr lang="en-US" sz="1050" dirty="0"/>
          </a:p>
        </p:txBody>
      </p:sp>
      <p:sp>
        <p:nvSpPr>
          <p:cNvPr id="22" name="Text 20"/>
          <p:cNvSpPr/>
          <p:nvPr/>
        </p:nvSpPr>
        <p:spPr>
          <a:xfrm>
            <a:off x="9198635" y="1975104"/>
            <a:ext cx="2224964" cy="548640"/>
          </a:xfrm>
          <a:prstGeom prst="rect">
            <a:avLst/>
          </a:prstGeom>
          <a:noFill/>
          <a:ln/>
        </p:spPr>
        <p:txBody>
          <a:bodyPr wrap="square" lIns="0" tIns="0" rIns="0" bIns="0" rtlCol="0" anchor="ctr"/>
          <a:lstStyle/>
          <a:p>
            <a:pPr indent="0" marL="0">
              <a:buNone/>
            </a:pPr>
            <a:r>
              <a:rPr lang="en-US" sz="3000" b="1" dirty="0">
                <a:solidFill>
                  <a:srgbClr val="043B72"/>
                </a:solidFill>
                <a:latin typeface="Spoqa Han Sans Neo" pitchFamily="34" charset="0"/>
                <a:ea typeface="Spoqa Han Sans Neo" pitchFamily="34" charset="-122"/>
                <a:cs typeface="Spoqa Han Sans Neo" pitchFamily="34" charset="-120"/>
              </a:rPr>
              <a:t>60.5조원</a:t>
            </a:r>
            <a:endParaRPr lang="en-US" sz="3000" dirty="0"/>
          </a:p>
        </p:txBody>
      </p:sp>
      <p:sp>
        <p:nvSpPr>
          <p:cNvPr id="23" name="Text 21"/>
          <p:cNvSpPr/>
          <p:nvPr/>
        </p:nvSpPr>
        <p:spPr>
          <a:xfrm>
            <a:off x="9198635" y="2633472"/>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영업이익률 76%</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분기 사상 최대</a:t>
            </a:r>
            <a:endParaRPr lang="en-US" sz="1050" dirty="0"/>
          </a:p>
        </p:txBody>
      </p:sp>
      <p:sp>
        <p:nvSpPr>
          <p:cNvPr id="24" name="Shape 22"/>
          <p:cNvSpPr/>
          <p:nvPr/>
        </p:nvSpPr>
        <p:spPr>
          <a:xfrm>
            <a:off x="566928" y="3456432"/>
            <a:ext cx="11057839" cy="2621280"/>
          </a:xfrm>
          <a:prstGeom prst="rect">
            <a:avLst/>
          </a:prstGeom>
          <a:solidFill>
            <a:srgbClr val="F7F8FA"/>
          </a:solidFill>
          <a:ln w="9525">
            <a:solidFill>
              <a:srgbClr val="CDCECB"/>
            </a:solidFill>
            <a:prstDash val="solid"/>
          </a:ln>
        </p:spPr>
      </p:sp>
      <p:sp>
        <p:nvSpPr>
          <p:cNvPr id="25" name="Text 23"/>
          <p:cNvSpPr/>
          <p:nvPr/>
        </p:nvSpPr>
        <p:spPr>
          <a:xfrm>
            <a:off x="859536" y="3657600"/>
            <a:ext cx="10472623" cy="274320"/>
          </a:xfrm>
          <a:prstGeom prst="rect">
            <a:avLst/>
          </a:prstGeom>
          <a:noFill/>
          <a:ln/>
        </p:spPr>
        <p:txBody>
          <a:bodyPr wrap="square" lIns="0" tIns="0" rIns="0" bIns="0" rtlCol="0" anchor="ctr"/>
          <a:lstStyle/>
          <a:p>
            <a:pPr indent="0" marL="0">
              <a:buNone/>
            </a:pPr>
            <a:r>
              <a:rPr lang="en-US" sz="1450" b="1" dirty="0">
                <a:solidFill>
                  <a:srgbClr val="043B72"/>
                </a:solidFill>
                <a:latin typeface="Spoqa Han Sans Neo" pitchFamily="34" charset="0"/>
                <a:ea typeface="Spoqa Han Sans Neo" pitchFamily="34" charset="-122"/>
                <a:cs typeface="Spoqa Han Sans Neo" pitchFamily="34" charset="-120"/>
              </a:rPr>
              <a:t>무엇이 이 숫자를 만들었는가 — 세 줄 요약</a:t>
            </a:r>
            <a:endParaRPr lang="en-US" sz="1450" dirty="0"/>
          </a:p>
        </p:txBody>
      </p:sp>
      <p:sp>
        <p:nvSpPr>
          <p:cNvPr id="26" name="Shape 24"/>
          <p:cNvSpPr/>
          <p:nvPr/>
        </p:nvSpPr>
        <p:spPr>
          <a:xfrm>
            <a:off x="859536" y="4059936"/>
            <a:ext cx="274320" cy="274320"/>
          </a:xfrm>
          <a:prstGeom prst="rect">
            <a:avLst/>
          </a:prstGeom>
          <a:solidFill>
            <a:srgbClr val="F58220"/>
          </a:solidFill>
          <a:ln w="12700">
            <a:solidFill>
              <a:srgbClr val="333333"/>
            </a:solidFill>
            <a:prstDash val="solid"/>
          </a:ln>
        </p:spPr>
      </p:sp>
      <p:sp>
        <p:nvSpPr>
          <p:cNvPr id="27" name="Text 25"/>
          <p:cNvSpPr/>
          <p:nvPr/>
        </p:nvSpPr>
        <p:spPr>
          <a:xfrm>
            <a:off x="859536" y="40599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1</a:t>
            </a:r>
            <a:endParaRPr lang="en-US" sz="1200" dirty="0"/>
          </a:p>
        </p:txBody>
      </p:sp>
      <p:sp>
        <p:nvSpPr>
          <p:cNvPr id="28" name="Text 26"/>
          <p:cNvSpPr/>
          <p:nvPr/>
        </p:nvSpPr>
        <p:spPr>
          <a:xfrm>
            <a:off x="1280160" y="4041648"/>
            <a:ext cx="9966960" cy="256032"/>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AI 데이터센터가 메모리를 '소모품'처럼 쓰기 시작했다</a:t>
            </a:r>
            <a:endParaRPr lang="en-US" sz="1250" dirty="0"/>
          </a:p>
        </p:txBody>
      </p:sp>
      <p:sp>
        <p:nvSpPr>
          <p:cNvPr id="29" name="Text 27"/>
          <p:cNvSpPr/>
          <p:nvPr/>
        </p:nvSpPr>
        <p:spPr>
          <a:xfrm>
            <a:off x="1280160" y="4315968"/>
            <a:ext cx="9875520" cy="365760"/>
          </a:xfrm>
          <a:prstGeom prst="rect">
            <a:avLst/>
          </a:prstGeom>
          <a:noFill/>
          <a:ln/>
        </p:spPr>
        <p:txBody>
          <a:bodyPr wrap="square" lIns="0" tIns="0" rIns="0" bIns="0" rtlCol="0" anchor="ctr"/>
          <a:lstStyle/>
          <a:p>
            <a:pPr indent="0" marL="0">
              <a:lnSpc>
                <a:spcPct val="120000"/>
              </a:lnSpc>
              <a:buNone/>
            </a:pPr>
            <a:r>
              <a:rPr lang="en-US" sz="1100" dirty="0">
                <a:solidFill>
                  <a:srgbClr val="3D3D3D"/>
                </a:solidFill>
                <a:latin typeface="Spoqa Han Sans Neo" pitchFamily="34" charset="0"/>
                <a:ea typeface="Spoqa Han Sans Neo" pitchFamily="34" charset="-122"/>
                <a:cs typeface="Spoqa Han Sans Neo" pitchFamily="34" charset="-120"/>
              </a:rPr>
              <a:t>생성형 AI의 학습·추론이 확산되며 서버 1대당 탑재되는 D램·HBM·SSD 용량이 계단식으로 증가. 메모리가 하이퍼스케일러 데이터센터 지출의 약 30%를 차지(2023년의 4배).</a:t>
            </a:r>
            <a:endParaRPr lang="en-US" sz="1100" dirty="0"/>
          </a:p>
        </p:txBody>
      </p:sp>
      <p:sp>
        <p:nvSpPr>
          <p:cNvPr id="30" name="Shape 28"/>
          <p:cNvSpPr/>
          <p:nvPr/>
        </p:nvSpPr>
        <p:spPr>
          <a:xfrm>
            <a:off x="859536" y="4745736"/>
            <a:ext cx="274320" cy="274320"/>
          </a:xfrm>
          <a:prstGeom prst="rect">
            <a:avLst/>
          </a:prstGeom>
          <a:solidFill>
            <a:srgbClr val="F58220"/>
          </a:solidFill>
          <a:ln w="12700">
            <a:solidFill>
              <a:srgbClr val="333333"/>
            </a:solidFill>
            <a:prstDash val="solid"/>
          </a:ln>
        </p:spPr>
      </p:sp>
      <p:sp>
        <p:nvSpPr>
          <p:cNvPr id="31" name="Text 29"/>
          <p:cNvSpPr/>
          <p:nvPr/>
        </p:nvSpPr>
        <p:spPr>
          <a:xfrm>
            <a:off x="859536" y="4745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2</a:t>
            </a:r>
            <a:endParaRPr lang="en-US" sz="1200" dirty="0"/>
          </a:p>
        </p:txBody>
      </p:sp>
      <p:sp>
        <p:nvSpPr>
          <p:cNvPr id="32" name="Text 30"/>
          <p:cNvSpPr/>
          <p:nvPr/>
        </p:nvSpPr>
        <p:spPr>
          <a:xfrm>
            <a:off x="1280160" y="4727448"/>
            <a:ext cx="9966960" cy="256032"/>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공급은 3년 걸린다 — 즉시 늘릴 수 없는 구조</a:t>
            </a:r>
            <a:endParaRPr lang="en-US" sz="1250" dirty="0"/>
          </a:p>
        </p:txBody>
      </p:sp>
      <p:sp>
        <p:nvSpPr>
          <p:cNvPr id="33" name="Text 31"/>
          <p:cNvSpPr/>
          <p:nvPr/>
        </p:nvSpPr>
        <p:spPr>
          <a:xfrm>
            <a:off x="1280160" y="5001768"/>
            <a:ext cx="9875520" cy="365760"/>
          </a:xfrm>
          <a:prstGeom prst="rect">
            <a:avLst/>
          </a:prstGeom>
          <a:noFill/>
          <a:ln/>
        </p:spPr>
        <p:txBody>
          <a:bodyPr wrap="square" lIns="0" tIns="0" rIns="0" bIns="0" rtlCol="0" anchor="ctr"/>
          <a:lstStyle/>
          <a:p>
            <a:pPr indent="0" marL="0">
              <a:lnSpc>
                <a:spcPct val="120000"/>
              </a:lnSpc>
              <a:buNone/>
            </a:pPr>
            <a:r>
              <a:rPr lang="en-US" sz="1100" dirty="0">
                <a:solidFill>
                  <a:srgbClr val="3D3D3D"/>
                </a:solidFill>
                <a:latin typeface="Spoqa Han Sans Neo" pitchFamily="34" charset="0"/>
                <a:ea typeface="Spoqa Han Sans Neo" pitchFamily="34" charset="-122"/>
                <a:cs typeface="Spoqa Han Sans Neo" pitchFamily="34" charset="-120"/>
              </a:rPr>
              <a:t>신규 팹 착공부터 웨이퍼 양산까지 3년 이상. HBM 증설이 범용 D램 캐파를 잠식하면서 연간 D램 생산능력 증가율은 10~15%에 머문다.</a:t>
            </a:r>
            <a:endParaRPr lang="en-US" sz="1100" dirty="0"/>
          </a:p>
        </p:txBody>
      </p:sp>
      <p:sp>
        <p:nvSpPr>
          <p:cNvPr id="34" name="Shape 32"/>
          <p:cNvSpPr/>
          <p:nvPr/>
        </p:nvSpPr>
        <p:spPr>
          <a:xfrm>
            <a:off x="859536" y="5431536"/>
            <a:ext cx="274320" cy="274320"/>
          </a:xfrm>
          <a:prstGeom prst="rect">
            <a:avLst/>
          </a:prstGeom>
          <a:solidFill>
            <a:srgbClr val="F58220"/>
          </a:solidFill>
          <a:ln w="12700">
            <a:solidFill>
              <a:srgbClr val="333333"/>
            </a:solidFill>
            <a:prstDash val="solid"/>
          </a:ln>
        </p:spPr>
      </p:sp>
      <p:sp>
        <p:nvSpPr>
          <p:cNvPr id="35" name="Text 33"/>
          <p:cNvSpPr/>
          <p:nvPr/>
        </p:nvSpPr>
        <p:spPr>
          <a:xfrm>
            <a:off x="859536" y="54315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3</a:t>
            </a:r>
            <a:endParaRPr lang="en-US" sz="1200" dirty="0"/>
          </a:p>
        </p:txBody>
      </p:sp>
      <p:sp>
        <p:nvSpPr>
          <p:cNvPr id="36" name="Text 34"/>
          <p:cNvSpPr/>
          <p:nvPr/>
        </p:nvSpPr>
        <p:spPr>
          <a:xfrm>
            <a:off x="1280160" y="5413248"/>
            <a:ext cx="9966960" cy="256032"/>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그래서 가격이 아니라 '가격 체계'가 바뀌었다</a:t>
            </a:r>
            <a:endParaRPr lang="en-US" sz="1250" dirty="0"/>
          </a:p>
        </p:txBody>
      </p:sp>
      <p:sp>
        <p:nvSpPr>
          <p:cNvPr id="37" name="Text 35"/>
          <p:cNvSpPr/>
          <p:nvPr/>
        </p:nvSpPr>
        <p:spPr>
          <a:xfrm>
            <a:off x="1280160" y="5687568"/>
            <a:ext cx="9875520" cy="365760"/>
          </a:xfrm>
          <a:prstGeom prst="rect">
            <a:avLst/>
          </a:prstGeom>
          <a:noFill/>
          <a:ln/>
        </p:spPr>
        <p:txBody>
          <a:bodyPr wrap="square" lIns="0" tIns="0" rIns="0" bIns="0" rtlCol="0" anchor="ctr"/>
          <a:lstStyle/>
          <a:p>
            <a:pPr indent="0" marL="0">
              <a:lnSpc>
                <a:spcPct val="120000"/>
              </a:lnSpc>
              <a:buNone/>
            </a:pPr>
            <a:r>
              <a:rPr lang="en-US" sz="1100" dirty="0">
                <a:solidFill>
                  <a:srgbClr val="3D3D3D"/>
                </a:solidFill>
                <a:latin typeface="Spoqa Han Sans Neo" pitchFamily="34" charset="0"/>
                <a:ea typeface="Spoqa Han Sans Neo" pitchFamily="34" charset="-122"/>
                <a:cs typeface="Spoqa Han Sans Neo" pitchFamily="34" charset="-120"/>
              </a:rPr>
              <a:t>범용 D램(DDR4 8Gb) 고정거래가는 6월 21달러로 역대 최고. 공급사는 장기공급계약(LTA)으로 고수익을 다년간 고정하는 전략으로 전환했다.</a:t>
            </a:r>
            <a:endParaRPr lang="en-US" sz="1100" dirty="0"/>
          </a:p>
        </p:txBody>
      </p:sp>
      <p:sp>
        <p:nvSpPr>
          <p:cNvPr id="38" name="Text 36"/>
          <p:cNvSpPr/>
          <p:nvPr/>
        </p:nvSpPr>
        <p:spPr>
          <a:xfrm>
            <a:off x="566928" y="61295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WSTS 2026년 봄 전망, 산업통상자원부 7월 수출입 동향, SK하이닉스 2Q26 실적, TrendForce·DRAMeXchange, FT 집계</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1 · 기초 개념</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반도체는 '전기를 흐르게 할지 말지 조절하는 물질'이다</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도체와 부도체의 중간 성질 — 이 스위치 기능이 계산·저장·통신의 물리적 토대가 된다.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4</a:t>
            </a:r>
            <a:endParaRPr lang="en-US" sz="900" dirty="0"/>
          </a:p>
        </p:txBody>
      </p:sp>
      <p:sp>
        <p:nvSpPr>
          <p:cNvPr id="8" name="Shape 6"/>
          <p:cNvSpPr/>
          <p:nvPr/>
        </p:nvSpPr>
        <p:spPr>
          <a:xfrm>
            <a:off x="566928" y="1572768"/>
            <a:ext cx="5303520" cy="2011680"/>
          </a:xfrm>
          <a:prstGeom prst="rect">
            <a:avLst/>
          </a:prstGeom>
          <a:solidFill>
            <a:srgbClr val="FFFFFF"/>
          </a:solidFill>
          <a:ln w="9525">
            <a:solidFill>
              <a:srgbClr val="CDCECB"/>
            </a:solidFill>
            <a:prstDash val="solid"/>
          </a:ln>
        </p:spPr>
      </p:sp>
      <p:sp>
        <p:nvSpPr>
          <p:cNvPr id="9" name="Text 7"/>
          <p:cNvSpPr/>
          <p:nvPr/>
        </p:nvSpPr>
        <p:spPr>
          <a:xfrm>
            <a:off x="822960" y="1755648"/>
            <a:ext cx="475488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물질로서의 정의</a:t>
            </a:r>
            <a:endParaRPr lang="en-US" sz="1350" dirty="0"/>
          </a:p>
        </p:txBody>
      </p:sp>
      <p:sp>
        <p:nvSpPr>
          <p:cNvPr id="10" name="Shape 8"/>
          <p:cNvSpPr/>
          <p:nvPr/>
        </p:nvSpPr>
        <p:spPr>
          <a:xfrm>
            <a:off x="822960" y="2103120"/>
            <a:ext cx="822960" cy="384048"/>
          </a:xfrm>
          <a:prstGeom prst="rect">
            <a:avLst/>
          </a:prstGeom>
          <a:solidFill>
            <a:srgbClr val="84888B"/>
          </a:solidFill>
          <a:ln w="12700">
            <a:solidFill>
              <a:srgbClr val="333333"/>
            </a:solidFill>
            <a:prstDash val="solid"/>
          </a:ln>
        </p:spPr>
      </p:sp>
      <p:sp>
        <p:nvSpPr>
          <p:cNvPr id="11" name="Text 9"/>
          <p:cNvSpPr/>
          <p:nvPr/>
        </p:nvSpPr>
        <p:spPr>
          <a:xfrm>
            <a:off x="822960" y="2103120"/>
            <a:ext cx="8229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도체</a:t>
            </a:r>
            <a:endParaRPr lang="en-US" sz="1150" dirty="0"/>
          </a:p>
        </p:txBody>
      </p:sp>
      <p:sp>
        <p:nvSpPr>
          <p:cNvPr id="12" name="Text 10"/>
          <p:cNvSpPr/>
          <p:nvPr/>
        </p:nvSpPr>
        <p:spPr>
          <a:xfrm>
            <a:off x="1755648" y="2103120"/>
            <a:ext cx="1920240" cy="384048"/>
          </a:xfrm>
          <a:prstGeom prst="rect">
            <a:avLst/>
          </a:prstGeom>
          <a:noFill/>
          <a:ln/>
        </p:spPr>
        <p:txBody>
          <a:bodyPr wrap="square" lIns="0" tIns="0" rIns="0" bIns="0" rtlCol="0" anchor="ctr"/>
          <a:lstStyle/>
          <a:p>
            <a:pPr indent="0" marL="0">
              <a:buNone/>
            </a:pPr>
            <a:r>
              <a:rPr lang="en-US" sz="1150" dirty="0">
                <a:solidFill>
                  <a:srgbClr val="1A1A1A"/>
                </a:solidFill>
                <a:latin typeface="Spoqa Han Sans Neo" pitchFamily="34" charset="0"/>
                <a:ea typeface="Spoqa Han Sans Neo" pitchFamily="34" charset="-122"/>
                <a:cs typeface="Spoqa Han Sans Neo" pitchFamily="34" charset="-120"/>
              </a:rPr>
              <a:t>전기가 잘 통함</a:t>
            </a:r>
            <a:endParaRPr lang="en-US" sz="1150" dirty="0"/>
          </a:p>
        </p:txBody>
      </p:sp>
      <p:sp>
        <p:nvSpPr>
          <p:cNvPr id="13" name="Text 11"/>
          <p:cNvSpPr/>
          <p:nvPr/>
        </p:nvSpPr>
        <p:spPr>
          <a:xfrm>
            <a:off x="3767328" y="2103120"/>
            <a:ext cx="2011680" cy="384048"/>
          </a:xfrm>
          <a:prstGeom prst="rect">
            <a:avLst/>
          </a:prstGeom>
          <a:noFill/>
          <a:ln/>
        </p:spPr>
        <p:txBody>
          <a:bodyPr wrap="square" lIns="0" tIns="0" rIns="0" bIns="0" rtlCol="0" anchor="ctr"/>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구리 · 알루미늄</a:t>
            </a:r>
            <a:endParaRPr lang="en-US" sz="1100" dirty="0"/>
          </a:p>
        </p:txBody>
      </p:sp>
      <p:sp>
        <p:nvSpPr>
          <p:cNvPr id="14" name="Shape 12"/>
          <p:cNvSpPr/>
          <p:nvPr/>
        </p:nvSpPr>
        <p:spPr>
          <a:xfrm>
            <a:off x="822960" y="2560320"/>
            <a:ext cx="822960" cy="384048"/>
          </a:xfrm>
          <a:prstGeom prst="rect">
            <a:avLst/>
          </a:prstGeom>
          <a:solidFill>
            <a:srgbClr val="F58220"/>
          </a:solidFill>
          <a:ln w="12700">
            <a:solidFill>
              <a:srgbClr val="333333"/>
            </a:solidFill>
            <a:prstDash val="solid"/>
          </a:ln>
        </p:spPr>
      </p:sp>
      <p:sp>
        <p:nvSpPr>
          <p:cNvPr id="15" name="Text 13"/>
          <p:cNvSpPr/>
          <p:nvPr/>
        </p:nvSpPr>
        <p:spPr>
          <a:xfrm>
            <a:off x="822960" y="2560320"/>
            <a:ext cx="8229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반도체</a:t>
            </a:r>
            <a:endParaRPr lang="en-US" sz="1150" dirty="0"/>
          </a:p>
        </p:txBody>
      </p:sp>
      <p:sp>
        <p:nvSpPr>
          <p:cNvPr id="16" name="Text 14"/>
          <p:cNvSpPr/>
          <p:nvPr/>
        </p:nvSpPr>
        <p:spPr>
          <a:xfrm>
            <a:off x="1755648" y="2560320"/>
            <a:ext cx="1920240" cy="384048"/>
          </a:xfrm>
          <a:prstGeom prst="rect">
            <a:avLst/>
          </a:prstGeom>
          <a:noFill/>
          <a:ln/>
        </p:spPr>
        <p:txBody>
          <a:bodyPr wrap="square" lIns="0" tIns="0" rIns="0" bIns="0" rtlCol="0" anchor="ct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조건에 따라 통함</a:t>
            </a:r>
            <a:endParaRPr lang="en-US" sz="1150" dirty="0"/>
          </a:p>
        </p:txBody>
      </p:sp>
      <p:sp>
        <p:nvSpPr>
          <p:cNvPr id="17" name="Text 15"/>
          <p:cNvSpPr/>
          <p:nvPr/>
        </p:nvSpPr>
        <p:spPr>
          <a:xfrm>
            <a:off x="3767328" y="2560320"/>
            <a:ext cx="2011680" cy="384048"/>
          </a:xfrm>
          <a:prstGeom prst="rect">
            <a:avLst/>
          </a:prstGeom>
          <a:noFill/>
          <a:ln/>
        </p:spPr>
        <p:txBody>
          <a:bodyPr wrap="square" lIns="0" tIns="0" rIns="0" bIns="0" rtlCol="0" anchor="ctr"/>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실리콘 · 게르마늄</a:t>
            </a:r>
            <a:endParaRPr lang="en-US" sz="1100" dirty="0"/>
          </a:p>
        </p:txBody>
      </p:sp>
      <p:sp>
        <p:nvSpPr>
          <p:cNvPr id="18" name="Shape 16"/>
          <p:cNvSpPr/>
          <p:nvPr/>
        </p:nvSpPr>
        <p:spPr>
          <a:xfrm>
            <a:off x="822960" y="3017520"/>
            <a:ext cx="822960" cy="384048"/>
          </a:xfrm>
          <a:prstGeom prst="rect">
            <a:avLst/>
          </a:prstGeom>
          <a:solidFill>
            <a:srgbClr val="84888B"/>
          </a:solidFill>
          <a:ln w="12700">
            <a:solidFill>
              <a:srgbClr val="333333"/>
            </a:solidFill>
            <a:prstDash val="solid"/>
          </a:ln>
        </p:spPr>
      </p:sp>
      <p:sp>
        <p:nvSpPr>
          <p:cNvPr id="19" name="Text 17"/>
          <p:cNvSpPr/>
          <p:nvPr/>
        </p:nvSpPr>
        <p:spPr>
          <a:xfrm>
            <a:off x="822960" y="3017520"/>
            <a:ext cx="8229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부도체</a:t>
            </a:r>
            <a:endParaRPr lang="en-US" sz="1150" dirty="0"/>
          </a:p>
        </p:txBody>
      </p:sp>
      <p:sp>
        <p:nvSpPr>
          <p:cNvPr id="20" name="Text 18"/>
          <p:cNvSpPr/>
          <p:nvPr/>
        </p:nvSpPr>
        <p:spPr>
          <a:xfrm>
            <a:off x="1755648" y="3017520"/>
            <a:ext cx="1920240" cy="384048"/>
          </a:xfrm>
          <a:prstGeom prst="rect">
            <a:avLst/>
          </a:prstGeom>
          <a:noFill/>
          <a:ln/>
        </p:spPr>
        <p:txBody>
          <a:bodyPr wrap="square" lIns="0" tIns="0" rIns="0" bIns="0" rtlCol="0" anchor="ctr"/>
          <a:lstStyle/>
          <a:p>
            <a:pPr indent="0" marL="0">
              <a:buNone/>
            </a:pPr>
            <a:r>
              <a:rPr lang="en-US" sz="1150" dirty="0">
                <a:solidFill>
                  <a:srgbClr val="1A1A1A"/>
                </a:solidFill>
                <a:latin typeface="Spoqa Han Sans Neo" pitchFamily="34" charset="0"/>
                <a:ea typeface="Spoqa Han Sans Neo" pitchFamily="34" charset="-122"/>
                <a:cs typeface="Spoqa Han Sans Neo" pitchFamily="34" charset="-120"/>
              </a:rPr>
              <a:t>전기가 통하지 않음</a:t>
            </a:r>
            <a:endParaRPr lang="en-US" sz="1150" dirty="0"/>
          </a:p>
        </p:txBody>
      </p:sp>
      <p:sp>
        <p:nvSpPr>
          <p:cNvPr id="21" name="Text 19"/>
          <p:cNvSpPr/>
          <p:nvPr/>
        </p:nvSpPr>
        <p:spPr>
          <a:xfrm>
            <a:off x="3767328" y="3017520"/>
            <a:ext cx="2011680" cy="384048"/>
          </a:xfrm>
          <a:prstGeom prst="rect">
            <a:avLst/>
          </a:prstGeom>
          <a:noFill/>
          <a:ln/>
        </p:spPr>
        <p:txBody>
          <a:bodyPr wrap="square" lIns="0" tIns="0" rIns="0" bIns="0" rtlCol="0" anchor="ctr"/>
          <a:lstStyle/>
          <a:p>
            <a:pPr indent="0" marL="0">
              <a:buNone/>
            </a:pPr>
            <a:r>
              <a:rPr lang="en-US" sz="1100" dirty="0">
                <a:solidFill>
                  <a:srgbClr val="6C6C6C"/>
                </a:solidFill>
                <a:latin typeface="Spoqa Han Sans Neo" pitchFamily="34" charset="0"/>
                <a:ea typeface="Spoqa Han Sans Neo" pitchFamily="34" charset="-122"/>
                <a:cs typeface="Spoqa Han Sans Neo" pitchFamily="34" charset="-120"/>
              </a:rPr>
              <a:t>고무 · 유리</a:t>
            </a:r>
            <a:endParaRPr lang="en-US" sz="1100" dirty="0"/>
          </a:p>
        </p:txBody>
      </p:sp>
      <p:sp>
        <p:nvSpPr>
          <p:cNvPr id="22" name="Shape 20"/>
          <p:cNvSpPr/>
          <p:nvPr/>
        </p:nvSpPr>
        <p:spPr>
          <a:xfrm>
            <a:off x="6144768" y="1572768"/>
            <a:ext cx="5477256" cy="2011680"/>
          </a:xfrm>
          <a:prstGeom prst="rect">
            <a:avLst/>
          </a:prstGeom>
          <a:solidFill>
            <a:srgbClr val="F7F8FA"/>
          </a:solidFill>
          <a:ln w="9525">
            <a:solidFill>
              <a:srgbClr val="CDCECB"/>
            </a:solidFill>
            <a:prstDash val="solid"/>
          </a:ln>
        </p:spPr>
      </p:sp>
      <p:sp>
        <p:nvSpPr>
          <p:cNvPr id="23" name="Text 21"/>
          <p:cNvSpPr/>
          <p:nvPr/>
        </p:nvSpPr>
        <p:spPr>
          <a:xfrm>
            <a:off x="6400800" y="1755648"/>
            <a:ext cx="493776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반도체가 하는 일 — 세 가지 뿐</a:t>
            </a:r>
            <a:endParaRPr lang="en-US" sz="1350" dirty="0"/>
          </a:p>
        </p:txBody>
      </p:sp>
      <p:sp>
        <p:nvSpPr>
          <p:cNvPr id="24" name="Text 22"/>
          <p:cNvSpPr/>
          <p:nvPr/>
        </p:nvSpPr>
        <p:spPr>
          <a:xfrm>
            <a:off x="6400800" y="2103120"/>
            <a:ext cx="1005840" cy="384048"/>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연산</a:t>
            </a:r>
            <a:endParaRPr lang="en-US" sz="1300" dirty="0"/>
          </a:p>
        </p:txBody>
      </p:sp>
      <p:sp>
        <p:nvSpPr>
          <p:cNvPr id="25" name="Text 23"/>
          <p:cNvSpPr/>
          <p:nvPr/>
        </p:nvSpPr>
        <p:spPr>
          <a:xfrm>
            <a:off x="7424928" y="2103120"/>
            <a:ext cx="2194560" cy="384048"/>
          </a:xfrm>
          <a:prstGeom prst="rect">
            <a:avLst/>
          </a:prstGeom>
          <a:noFill/>
          <a:ln/>
        </p:spPr>
        <p:txBody>
          <a:bodyPr wrap="square" lIns="0" tIns="0" rIns="0" bIns="0" rtlCol="0" anchor="ctr"/>
          <a:lstStyle/>
          <a:p>
            <a:pPr indent="0" marL="0">
              <a:buNone/>
            </a:pPr>
            <a:r>
              <a:rPr lang="en-US" sz="1100" dirty="0">
                <a:solidFill>
                  <a:srgbClr val="1A1A1A"/>
                </a:solidFill>
                <a:latin typeface="Spoqa Han Sans Neo" pitchFamily="34" charset="0"/>
                <a:ea typeface="Spoqa Han Sans Neo" pitchFamily="34" charset="-122"/>
                <a:cs typeface="Spoqa Han Sans Neo" pitchFamily="34" charset="-120"/>
              </a:rPr>
              <a:t>더하고 비교하고 판단한다</a:t>
            </a:r>
            <a:endParaRPr lang="en-US" sz="1100" dirty="0"/>
          </a:p>
        </p:txBody>
      </p:sp>
      <p:sp>
        <p:nvSpPr>
          <p:cNvPr id="26" name="Text 24"/>
          <p:cNvSpPr/>
          <p:nvPr/>
        </p:nvSpPr>
        <p:spPr>
          <a:xfrm>
            <a:off x="9665208" y="2103120"/>
            <a:ext cx="1920240" cy="384048"/>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CPU · GPU · AI 가속기 · AP</a:t>
            </a:r>
            <a:endParaRPr lang="en-US" sz="1050" dirty="0"/>
          </a:p>
        </p:txBody>
      </p:sp>
      <p:sp>
        <p:nvSpPr>
          <p:cNvPr id="27" name="Text 25"/>
          <p:cNvSpPr/>
          <p:nvPr/>
        </p:nvSpPr>
        <p:spPr>
          <a:xfrm>
            <a:off x="6400800" y="2560320"/>
            <a:ext cx="1005840" cy="384048"/>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저장</a:t>
            </a:r>
            <a:endParaRPr lang="en-US" sz="1300" dirty="0"/>
          </a:p>
        </p:txBody>
      </p:sp>
      <p:sp>
        <p:nvSpPr>
          <p:cNvPr id="28" name="Text 26"/>
          <p:cNvSpPr/>
          <p:nvPr/>
        </p:nvSpPr>
        <p:spPr>
          <a:xfrm>
            <a:off x="7424928" y="2560320"/>
            <a:ext cx="2194560" cy="384048"/>
          </a:xfrm>
          <a:prstGeom prst="rect">
            <a:avLst/>
          </a:prstGeom>
          <a:noFill/>
          <a:ln/>
        </p:spPr>
        <p:txBody>
          <a:bodyPr wrap="square" lIns="0" tIns="0" rIns="0" bIns="0" rtlCol="0" anchor="ctr"/>
          <a:lstStyle/>
          <a:p>
            <a:pPr indent="0" marL="0">
              <a:buNone/>
            </a:pPr>
            <a:r>
              <a:rPr lang="en-US" sz="1100" dirty="0">
                <a:solidFill>
                  <a:srgbClr val="1A1A1A"/>
                </a:solidFill>
                <a:latin typeface="Spoqa Han Sans Neo" pitchFamily="34" charset="0"/>
                <a:ea typeface="Spoqa Han Sans Neo" pitchFamily="34" charset="-122"/>
                <a:cs typeface="Spoqa Han Sans Neo" pitchFamily="34" charset="-120"/>
              </a:rPr>
              <a:t>0과 1을 붙잡아 둔다</a:t>
            </a:r>
            <a:endParaRPr lang="en-US" sz="1100" dirty="0"/>
          </a:p>
        </p:txBody>
      </p:sp>
      <p:sp>
        <p:nvSpPr>
          <p:cNvPr id="29" name="Text 27"/>
          <p:cNvSpPr/>
          <p:nvPr/>
        </p:nvSpPr>
        <p:spPr>
          <a:xfrm>
            <a:off x="9665208" y="2560320"/>
            <a:ext cx="1920240" cy="384048"/>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D램 · 낸드 · HBM</a:t>
            </a:r>
            <a:endParaRPr lang="en-US" sz="1050" dirty="0"/>
          </a:p>
        </p:txBody>
      </p:sp>
      <p:sp>
        <p:nvSpPr>
          <p:cNvPr id="30" name="Text 28"/>
          <p:cNvSpPr/>
          <p:nvPr/>
        </p:nvSpPr>
        <p:spPr>
          <a:xfrm>
            <a:off x="6400800" y="3017520"/>
            <a:ext cx="1005840" cy="384048"/>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전달·감지</a:t>
            </a:r>
            <a:endParaRPr lang="en-US" sz="1300" dirty="0"/>
          </a:p>
        </p:txBody>
      </p:sp>
      <p:sp>
        <p:nvSpPr>
          <p:cNvPr id="31" name="Text 29"/>
          <p:cNvSpPr/>
          <p:nvPr/>
        </p:nvSpPr>
        <p:spPr>
          <a:xfrm>
            <a:off x="7424928" y="3017520"/>
            <a:ext cx="2194560" cy="384048"/>
          </a:xfrm>
          <a:prstGeom prst="rect">
            <a:avLst/>
          </a:prstGeom>
          <a:noFill/>
          <a:ln/>
        </p:spPr>
        <p:txBody>
          <a:bodyPr wrap="square" lIns="0" tIns="0" rIns="0" bIns="0" rtlCol="0" anchor="ctr"/>
          <a:lstStyle/>
          <a:p>
            <a:pPr indent="0" marL="0">
              <a:buNone/>
            </a:pPr>
            <a:r>
              <a:rPr lang="en-US" sz="1100" dirty="0">
                <a:solidFill>
                  <a:srgbClr val="1A1A1A"/>
                </a:solidFill>
                <a:latin typeface="Spoqa Han Sans Neo" pitchFamily="34" charset="0"/>
                <a:ea typeface="Spoqa Han Sans Neo" pitchFamily="34" charset="-122"/>
                <a:cs typeface="Spoqa Han Sans Neo" pitchFamily="34" charset="-120"/>
              </a:rPr>
              <a:t>신호를 옮기고 세상을 읽는다</a:t>
            </a:r>
            <a:endParaRPr lang="en-US" sz="1100" dirty="0"/>
          </a:p>
        </p:txBody>
      </p:sp>
      <p:sp>
        <p:nvSpPr>
          <p:cNvPr id="32" name="Text 30"/>
          <p:cNvSpPr/>
          <p:nvPr/>
        </p:nvSpPr>
        <p:spPr>
          <a:xfrm>
            <a:off x="9665208" y="3017520"/>
            <a:ext cx="1920240" cy="384048"/>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통신칩 · 이미지센서 · 전력반도체</a:t>
            </a:r>
            <a:endParaRPr lang="en-US" sz="1050" dirty="0"/>
          </a:p>
        </p:txBody>
      </p:sp>
      <p:sp>
        <p:nvSpPr>
          <p:cNvPr id="33" name="Shape 31"/>
          <p:cNvSpPr/>
          <p:nvPr/>
        </p:nvSpPr>
        <p:spPr>
          <a:xfrm>
            <a:off x="566928" y="3767328"/>
            <a:ext cx="11057839" cy="384048"/>
          </a:xfrm>
          <a:prstGeom prst="rect">
            <a:avLst/>
          </a:prstGeom>
          <a:solidFill>
            <a:srgbClr val="043B72"/>
          </a:solidFill>
          <a:ln w="12700">
            <a:solidFill>
              <a:srgbClr val="333333"/>
            </a:solidFill>
            <a:prstDash val="solid"/>
          </a:ln>
        </p:spPr>
      </p:sp>
      <p:sp>
        <p:nvSpPr>
          <p:cNvPr id="34" name="Text 32"/>
          <p:cNvSpPr/>
          <p:nvPr/>
        </p:nvSpPr>
        <p:spPr>
          <a:xfrm>
            <a:off x="822960" y="3767328"/>
            <a:ext cx="10545775" cy="384048"/>
          </a:xfrm>
          <a:prstGeom prst="rect">
            <a:avLst/>
          </a:prstGeom>
          <a:noFill/>
          <a:ln/>
        </p:spPr>
        <p:txBody>
          <a:bodyPr wrap="square" lIns="0" tIns="0" rIns="0" bIns="0" rtlCol="0" anchor="ctr"/>
          <a:lstStyle/>
          <a:p>
            <a:pPr indent="0" marL="0">
              <a:buNone/>
            </a:pPr>
            <a:r>
              <a:rPr lang="en-US" sz="1250" b="1" dirty="0">
                <a:solidFill>
                  <a:srgbClr val="FFFFFF"/>
                </a:solidFill>
                <a:latin typeface="Spoqa Han Sans Neo" pitchFamily="34" charset="0"/>
                <a:ea typeface="Spoqa Han Sans Neo" pitchFamily="34" charset="-122"/>
                <a:cs typeface="Spoqa Han Sans Neo" pitchFamily="34" charset="-120"/>
              </a:rPr>
              <a:t>산업의 무게중심 이동 — 반도체는 '싸게 많이 만드는 부품'에서 '못 구하면 서비스가 멈추는 인프라'로 바뀌었다</a:t>
            </a:r>
            <a:endParaRPr lang="en-US" sz="1250" dirty="0"/>
          </a:p>
        </p:txBody>
      </p:sp>
      <p:sp>
        <p:nvSpPr>
          <p:cNvPr id="35" name="Shape 33"/>
          <p:cNvSpPr/>
          <p:nvPr/>
        </p:nvSpPr>
        <p:spPr>
          <a:xfrm>
            <a:off x="566928" y="4370832"/>
            <a:ext cx="11057839" cy="493776"/>
          </a:xfrm>
          <a:prstGeom prst="rect">
            <a:avLst/>
          </a:prstGeom>
          <a:solidFill>
            <a:srgbClr val="FFFFFF"/>
          </a:solidFill>
          <a:ln w="9525">
            <a:solidFill>
              <a:srgbClr val="CDCECB"/>
            </a:solidFill>
            <a:prstDash val="solid"/>
          </a:ln>
        </p:spPr>
      </p:sp>
      <p:sp>
        <p:nvSpPr>
          <p:cNvPr id="36" name="Text 34"/>
          <p:cNvSpPr/>
          <p:nvPr/>
        </p:nvSpPr>
        <p:spPr>
          <a:xfrm>
            <a:off x="786384" y="4370832"/>
            <a:ext cx="1691640" cy="493776"/>
          </a:xfrm>
          <a:prstGeom prst="rect">
            <a:avLst/>
          </a:prstGeom>
          <a:noFill/>
          <a:ln/>
        </p:spPr>
        <p:txBody>
          <a:bodyPr wrap="square" lIns="0" tIns="0" rIns="0" bIns="0" rtlCol="0" anchor="ctr"/>
          <a:lstStyle/>
          <a:p>
            <a:pPr indent="0" marL="0">
              <a:buNone/>
            </a:pPr>
            <a:r>
              <a:rPr lang="en-US" sz="1100" b="1" dirty="0">
                <a:solidFill>
                  <a:srgbClr val="6C6C6C"/>
                </a:solidFill>
                <a:latin typeface="Spoqa Han Sans Neo" pitchFamily="34" charset="0"/>
                <a:ea typeface="Spoqa Han Sans Neo" pitchFamily="34" charset="-122"/>
                <a:cs typeface="Spoqa Han Sans Neo" pitchFamily="34" charset="-120"/>
              </a:rPr>
              <a:t>1990~2000년대</a:t>
            </a:r>
            <a:endParaRPr lang="en-US" sz="1100" dirty="0"/>
          </a:p>
        </p:txBody>
      </p:sp>
      <p:sp>
        <p:nvSpPr>
          <p:cNvPr id="37" name="Text 35"/>
          <p:cNvSpPr/>
          <p:nvPr/>
        </p:nvSpPr>
        <p:spPr>
          <a:xfrm>
            <a:off x="2532888" y="4370832"/>
            <a:ext cx="1371600" cy="493776"/>
          </a:xfrm>
          <a:prstGeom prst="rect">
            <a:avLst/>
          </a:prstGeom>
          <a:noFill/>
          <a:ln/>
        </p:spPr>
        <p:txBody>
          <a:bodyPr wrap="square" lIns="0" tIns="0" rIns="0" bIns="0" rtlCol="0" anchor="ctr"/>
          <a:lstStyle/>
          <a:p>
            <a:pPr indent="0" marL="0">
              <a:buNone/>
            </a:pPr>
            <a:r>
              <a:rPr lang="en-US" sz="1250" b="1" dirty="0">
                <a:solidFill>
                  <a:srgbClr val="043B72"/>
                </a:solidFill>
                <a:latin typeface="Spoqa Han Sans Neo" pitchFamily="34" charset="0"/>
                <a:ea typeface="Spoqa Han Sans Neo" pitchFamily="34" charset="-122"/>
                <a:cs typeface="Spoqa Han Sans Neo" pitchFamily="34" charset="-120"/>
              </a:rPr>
              <a:t>PC 시대</a:t>
            </a:r>
            <a:endParaRPr lang="en-US" sz="1250" dirty="0"/>
          </a:p>
        </p:txBody>
      </p:sp>
      <p:sp>
        <p:nvSpPr>
          <p:cNvPr id="38" name="Text 36"/>
          <p:cNvSpPr/>
          <p:nvPr/>
        </p:nvSpPr>
        <p:spPr>
          <a:xfrm>
            <a:off x="3950208" y="4370832"/>
            <a:ext cx="3200400" cy="493776"/>
          </a:xfrm>
          <a:prstGeom prst="rect">
            <a:avLst/>
          </a:prstGeom>
          <a:noFill/>
          <a:ln/>
        </p:spPr>
        <p:txBody>
          <a:bodyPr wrap="square" lIns="0" tIns="0" rIns="0" bIns="0" rtlCol="0" anchor="ctr"/>
          <a:lstStyle/>
          <a:p>
            <a:pPr indent="0" marL="0">
              <a:buNone/>
            </a:pPr>
            <a:r>
              <a:rPr lang="en-US" sz="1100" dirty="0">
                <a:solidFill>
                  <a:srgbClr val="1A1A1A"/>
                </a:solidFill>
                <a:latin typeface="Spoqa Han Sans Neo" pitchFamily="34" charset="0"/>
                <a:ea typeface="Spoqa Han Sans Neo" pitchFamily="34" charset="-122"/>
                <a:cs typeface="Spoqa Han Sans Neo" pitchFamily="34" charset="-120"/>
              </a:rPr>
              <a:t>수요 주체 = 개인 · 기업 PC</a:t>
            </a:r>
            <a:endParaRPr lang="en-US" sz="1100" dirty="0"/>
          </a:p>
        </p:txBody>
      </p:sp>
      <p:sp>
        <p:nvSpPr>
          <p:cNvPr id="39" name="Text 37"/>
          <p:cNvSpPr/>
          <p:nvPr/>
        </p:nvSpPr>
        <p:spPr>
          <a:xfrm>
            <a:off x="7242048" y="4370832"/>
            <a:ext cx="4206240" cy="493776"/>
          </a:xfrm>
          <a:prstGeom prst="rect">
            <a:avLst/>
          </a:prstGeom>
          <a:noFill/>
          <a:ln/>
        </p:spPr>
        <p:txBody>
          <a:bodyPr wrap="square" lIns="0" tIns="0" rIns="0" bIns="0" rtlCol="0" anchor="ctr"/>
          <a:lstStyle/>
          <a:p>
            <a:pPr indent="0" marL="0">
              <a:buNone/>
            </a:pPr>
            <a:r>
              <a:rPr lang="en-US" sz="1100" dirty="0">
                <a:solidFill>
                  <a:srgbClr val="3D3D3D"/>
                </a:solidFill>
                <a:latin typeface="Spoqa Han Sans Neo" pitchFamily="34" charset="0"/>
                <a:ea typeface="Spoqa Han Sans Neo" pitchFamily="34" charset="-122"/>
                <a:cs typeface="Spoqa Han Sans Neo" pitchFamily="34" charset="-120"/>
              </a:rPr>
              <a:t>표준품 대량생산, 가격이 곧 경쟁력</a:t>
            </a:r>
            <a:endParaRPr lang="en-US" sz="1100" dirty="0"/>
          </a:p>
        </p:txBody>
      </p:sp>
      <p:sp>
        <p:nvSpPr>
          <p:cNvPr id="40" name="Shape 38"/>
          <p:cNvSpPr/>
          <p:nvPr/>
        </p:nvSpPr>
        <p:spPr>
          <a:xfrm>
            <a:off x="566928" y="4937760"/>
            <a:ext cx="11057839" cy="493776"/>
          </a:xfrm>
          <a:prstGeom prst="rect">
            <a:avLst/>
          </a:prstGeom>
          <a:solidFill>
            <a:srgbClr val="FFFFFF"/>
          </a:solidFill>
          <a:ln w="9525">
            <a:solidFill>
              <a:srgbClr val="CDCECB"/>
            </a:solidFill>
            <a:prstDash val="solid"/>
          </a:ln>
        </p:spPr>
      </p:sp>
      <p:sp>
        <p:nvSpPr>
          <p:cNvPr id="41" name="Text 39"/>
          <p:cNvSpPr/>
          <p:nvPr/>
        </p:nvSpPr>
        <p:spPr>
          <a:xfrm>
            <a:off x="786384" y="4937760"/>
            <a:ext cx="1691640" cy="493776"/>
          </a:xfrm>
          <a:prstGeom prst="rect">
            <a:avLst/>
          </a:prstGeom>
          <a:noFill/>
          <a:ln/>
        </p:spPr>
        <p:txBody>
          <a:bodyPr wrap="square" lIns="0" tIns="0" rIns="0" bIns="0" rtlCol="0" anchor="ctr"/>
          <a:lstStyle/>
          <a:p>
            <a:pPr indent="0" marL="0">
              <a:buNone/>
            </a:pPr>
            <a:r>
              <a:rPr lang="en-US" sz="1100" b="1" dirty="0">
                <a:solidFill>
                  <a:srgbClr val="6C6C6C"/>
                </a:solidFill>
                <a:latin typeface="Spoqa Han Sans Neo" pitchFamily="34" charset="0"/>
                <a:ea typeface="Spoqa Han Sans Neo" pitchFamily="34" charset="-122"/>
                <a:cs typeface="Spoqa Han Sans Neo" pitchFamily="34" charset="-120"/>
              </a:rPr>
              <a:t>2010년대</a:t>
            </a:r>
            <a:endParaRPr lang="en-US" sz="1100" dirty="0"/>
          </a:p>
        </p:txBody>
      </p:sp>
      <p:sp>
        <p:nvSpPr>
          <p:cNvPr id="42" name="Text 40"/>
          <p:cNvSpPr/>
          <p:nvPr/>
        </p:nvSpPr>
        <p:spPr>
          <a:xfrm>
            <a:off x="2532888" y="4937760"/>
            <a:ext cx="1371600" cy="493776"/>
          </a:xfrm>
          <a:prstGeom prst="rect">
            <a:avLst/>
          </a:prstGeom>
          <a:noFill/>
          <a:ln/>
        </p:spPr>
        <p:txBody>
          <a:bodyPr wrap="square" lIns="0" tIns="0" rIns="0" bIns="0" rtlCol="0" anchor="ctr"/>
          <a:lstStyle/>
          <a:p>
            <a:pPr indent="0" marL="0">
              <a:buNone/>
            </a:pPr>
            <a:r>
              <a:rPr lang="en-US" sz="1250" b="1" dirty="0">
                <a:solidFill>
                  <a:srgbClr val="043B72"/>
                </a:solidFill>
                <a:latin typeface="Spoqa Han Sans Neo" pitchFamily="34" charset="0"/>
                <a:ea typeface="Spoqa Han Sans Neo" pitchFamily="34" charset="-122"/>
                <a:cs typeface="Spoqa Han Sans Neo" pitchFamily="34" charset="-120"/>
              </a:rPr>
              <a:t>모바일 시대</a:t>
            </a:r>
            <a:endParaRPr lang="en-US" sz="1250" dirty="0"/>
          </a:p>
        </p:txBody>
      </p:sp>
      <p:sp>
        <p:nvSpPr>
          <p:cNvPr id="43" name="Text 41"/>
          <p:cNvSpPr/>
          <p:nvPr/>
        </p:nvSpPr>
        <p:spPr>
          <a:xfrm>
            <a:off x="3950208" y="4937760"/>
            <a:ext cx="3200400" cy="493776"/>
          </a:xfrm>
          <a:prstGeom prst="rect">
            <a:avLst/>
          </a:prstGeom>
          <a:noFill/>
          <a:ln/>
        </p:spPr>
        <p:txBody>
          <a:bodyPr wrap="square" lIns="0" tIns="0" rIns="0" bIns="0" rtlCol="0" anchor="ctr"/>
          <a:lstStyle/>
          <a:p>
            <a:pPr indent="0" marL="0">
              <a:buNone/>
            </a:pPr>
            <a:r>
              <a:rPr lang="en-US" sz="1100" dirty="0">
                <a:solidFill>
                  <a:srgbClr val="1A1A1A"/>
                </a:solidFill>
                <a:latin typeface="Spoqa Han Sans Neo" pitchFamily="34" charset="0"/>
                <a:ea typeface="Spoqa Han Sans Neo" pitchFamily="34" charset="-122"/>
                <a:cs typeface="Spoqa Han Sans Neo" pitchFamily="34" charset="-120"/>
              </a:rPr>
              <a:t>수요 주체 = 스마트폰 제조사</a:t>
            </a:r>
            <a:endParaRPr lang="en-US" sz="1100" dirty="0"/>
          </a:p>
        </p:txBody>
      </p:sp>
      <p:sp>
        <p:nvSpPr>
          <p:cNvPr id="44" name="Text 42"/>
          <p:cNvSpPr/>
          <p:nvPr/>
        </p:nvSpPr>
        <p:spPr>
          <a:xfrm>
            <a:off x="7242048" y="4937760"/>
            <a:ext cx="4206240" cy="493776"/>
          </a:xfrm>
          <a:prstGeom prst="rect">
            <a:avLst/>
          </a:prstGeom>
          <a:noFill/>
          <a:ln/>
        </p:spPr>
        <p:txBody>
          <a:bodyPr wrap="square" lIns="0" tIns="0" rIns="0" bIns="0" rtlCol="0" anchor="ctr"/>
          <a:lstStyle/>
          <a:p>
            <a:pPr indent="0" marL="0">
              <a:buNone/>
            </a:pPr>
            <a:r>
              <a:rPr lang="en-US" sz="1100" dirty="0">
                <a:solidFill>
                  <a:srgbClr val="3D3D3D"/>
                </a:solidFill>
                <a:latin typeface="Spoqa Han Sans Neo" pitchFamily="34" charset="0"/>
                <a:ea typeface="Spoqa Han Sans Neo" pitchFamily="34" charset="-122"/>
                <a:cs typeface="Spoqa Han Sans Neo" pitchFamily="34" charset="-120"/>
              </a:rPr>
              <a:t>저전력·소형화, 연간 교체 수요</a:t>
            </a:r>
            <a:endParaRPr lang="en-US" sz="1100" dirty="0"/>
          </a:p>
        </p:txBody>
      </p:sp>
      <p:sp>
        <p:nvSpPr>
          <p:cNvPr id="45" name="Shape 43"/>
          <p:cNvSpPr/>
          <p:nvPr/>
        </p:nvSpPr>
        <p:spPr>
          <a:xfrm>
            <a:off x="566928" y="5504688"/>
            <a:ext cx="11057839" cy="493776"/>
          </a:xfrm>
          <a:prstGeom prst="rect">
            <a:avLst/>
          </a:prstGeom>
          <a:solidFill>
            <a:srgbClr val="FFF3E8"/>
          </a:solidFill>
          <a:ln w="9525">
            <a:solidFill>
              <a:srgbClr val="FAB072"/>
            </a:solidFill>
            <a:prstDash val="solid"/>
          </a:ln>
        </p:spPr>
      </p:sp>
      <p:sp>
        <p:nvSpPr>
          <p:cNvPr id="46" name="Text 44"/>
          <p:cNvSpPr/>
          <p:nvPr/>
        </p:nvSpPr>
        <p:spPr>
          <a:xfrm>
            <a:off x="786384" y="5504688"/>
            <a:ext cx="1691640" cy="493776"/>
          </a:xfrm>
          <a:prstGeom prst="rect">
            <a:avLst/>
          </a:prstGeom>
          <a:noFill/>
          <a:ln/>
        </p:spPr>
        <p:txBody>
          <a:bodyPr wrap="square" lIns="0" tIns="0" rIns="0" bIns="0" rtlCol="0" anchor="ctr"/>
          <a:lstStyle/>
          <a:p>
            <a:pPr indent="0" marL="0">
              <a:buNone/>
            </a:pPr>
            <a:r>
              <a:rPr lang="en-US" sz="1100" b="1" dirty="0">
                <a:solidFill>
                  <a:srgbClr val="6C6C6C"/>
                </a:solidFill>
                <a:latin typeface="Spoqa Han Sans Neo" pitchFamily="34" charset="0"/>
                <a:ea typeface="Spoqa Han Sans Neo" pitchFamily="34" charset="-122"/>
                <a:cs typeface="Spoqa Han Sans Neo" pitchFamily="34" charset="-120"/>
              </a:rPr>
              <a:t>2023년~</a:t>
            </a:r>
            <a:endParaRPr lang="en-US" sz="1100" dirty="0"/>
          </a:p>
        </p:txBody>
      </p:sp>
      <p:sp>
        <p:nvSpPr>
          <p:cNvPr id="47" name="Text 45"/>
          <p:cNvSpPr/>
          <p:nvPr/>
        </p:nvSpPr>
        <p:spPr>
          <a:xfrm>
            <a:off x="2532888" y="5504688"/>
            <a:ext cx="1371600" cy="493776"/>
          </a:xfrm>
          <a:prstGeom prst="rect">
            <a:avLst/>
          </a:prstGeom>
          <a:noFill/>
          <a:ln/>
        </p:spPr>
        <p:txBody>
          <a:bodyPr wrap="square" lIns="0" tIns="0" rIns="0" bIns="0" rtlCol="0" anchor="ctr"/>
          <a:lstStyle/>
          <a:p>
            <a:pPr indent="0" marL="0">
              <a:buNone/>
            </a:pPr>
            <a:r>
              <a:rPr lang="en-US" sz="1250" b="1" dirty="0">
                <a:solidFill>
                  <a:srgbClr val="F58220"/>
                </a:solidFill>
                <a:latin typeface="Spoqa Han Sans Neo" pitchFamily="34" charset="0"/>
                <a:ea typeface="Spoqa Han Sans Neo" pitchFamily="34" charset="-122"/>
                <a:cs typeface="Spoqa Han Sans Neo" pitchFamily="34" charset="-120"/>
              </a:rPr>
              <a:t>AI 시대</a:t>
            </a:r>
            <a:endParaRPr lang="en-US" sz="1250" dirty="0"/>
          </a:p>
        </p:txBody>
      </p:sp>
      <p:sp>
        <p:nvSpPr>
          <p:cNvPr id="48" name="Text 46"/>
          <p:cNvSpPr/>
          <p:nvPr/>
        </p:nvSpPr>
        <p:spPr>
          <a:xfrm>
            <a:off x="3950208" y="5504688"/>
            <a:ext cx="3200400" cy="493776"/>
          </a:xfrm>
          <a:prstGeom prst="rect">
            <a:avLst/>
          </a:prstGeom>
          <a:noFill/>
          <a:ln/>
        </p:spPr>
        <p:txBody>
          <a:bodyPr wrap="square" lIns="0" tIns="0" rIns="0" bIns="0" rtlCol="0" anchor="ctr"/>
          <a:lstStyle/>
          <a:p>
            <a:pPr indent="0" marL="0">
              <a:buNone/>
            </a:pPr>
            <a:r>
              <a:rPr lang="en-US" sz="1100" dirty="0">
                <a:solidFill>
                  <a:srgbClr val="1A1A1A"/>
                </a:solidFill>
                <a:latin typeface="Spoqa Han Sans Neo" pitchFamily="34" charset="0"/>
                <a:ea typeface="Spoqa Han Sans Neo" pitchFamily="34" charset="-122"/>
                <a:cs typeface="Spoqa Han Sans Neo" pitchFamily="34" charset="-120"/>
              </a:rPr>
              <a:t>수요 주체 = 하이퍼스케일러·AI 기업</a:t>
            </a:r>
            <a:endParaRPr lang="en-US" sz="1100" dirty="0"/>
          </a:p>
        </p:txBody>
      </p:sp>
      <p:sp>
        <p:nvSpPr>
          <p:cNvPr id="49" name="Text 47"/>
          <p:cNvSpPr/>
          <p:nvPr/>
        </p:nvSpPr>
        <p:spPr>
          <a:xfrm>
            <a:off x="7242048" y="5504688"/>
            <a:ext cx="4206240" cy="493776"/>
          </a:xfrm>
          <a:prstGeom prst="rect">
            <a:avLst/>
          </a:prstGeom>
          <a:noFill/>
          <a:ln/>
        </p:spPr>
        <p:txBody>
          <a:bodyPr wrap="square" lIns="0" tIns="0" rIns="0" bIns="0" rtlCol="0" anchor="ctr"/>
          <a:lstStyle/>
          <a:p>
            <a:pPr indent="0" marL="0">
              <a:buNone/>
            </a:pPr>
            <a:r>
              <a:rPr lang="en-US" sz="1100" dirty="0">
                <a:solidFill>
                  <a:srgbClr val="3D3D3D"/>
                </a:solidFill>
                <a:latin typeface="Spoqa Han Sans Neo" pitchFamily="34" charset="0"/>
                <a:ea typeface="Spoqa Han Sans Neo" pitchFamily="34" charset="-122"/>
                <a:cs typeface="Spoqa Han Sans Neo" pitchFamily="34" charset="-120"/>
              </a:rPr>
              <a:t>성능 맞춤 주문(커스텀), 장기계약, 확보 자체가 경쟁력</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1 · 제품 분류</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반도체 분류 지도 — 메모리와 시스템반도체</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한국이 압도적인 영역(메모리)과 존재감이 약한 영역(시스템)이 뚜렷하게 나뉜다.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5</a:t>
            </a:r>
            <a:endParaRPr lang="en-US" sz="900" dirty="0"/>
          </a:p>
        </p:txBody>
      </p:sp>
      <p:sp>
        <p:nvSpPr>
          <p:cNvPr id="8" name="Shape 6"/>
          <p:cNvSpPr/>
          <p:nvPr/>
        </p:nvSpPr>
        <p:spPr>
          <a:xfrm>
            <a:off x="4818888" y="1536192"/>
            <a:ext cx="2560320" cy="402336"/>
          </a:xfrm>
          <a:prstGeom prst="rect">
            <a:avLst/>
          </a:prstGeom>
          <a:solidFill>
            <a:srgbClr val="043B72"/>
          </a:solidFill>
          <a:ln w="12700">
            <a:solidFill>
              <a:srgbClr val="333333"/>
            </a:solidFill>
            <a:prstDash val="solid"/>
          </a:ln>
        </p:spPr>
      </p:sp>
      <p:sp>
        <p:nvSpPr>
          <p:cNvPr id="9" name="Text 7"/>
          <p:cNvSpPr/>
          <p:nvPr/>
        </p:nvSpPr>
        <p:spPr>
          <a:xfrm>
            <a:off x="4818888" y="1536192"/>
            <a:ext cx="256032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Spoqa Han Sans Neo" pitchFamily="34" charset="0"/>
                <a:ea typeface="Spoqa Han Sans Neo" pitchFamily="34" charset="-122"/>
                <a:cs typeface="Spoqa Han Sans Neo" pitchFamily="34" charset="-120"/>
              </a:rPr>
              <a:t>반도체</a:t>
            </a:r>
            <a:endParaRPr lang="en-US" sz="1400" dirty="0"/>
          </a:p>
        </p:txBody>
      </p:sp>
      <p:sp>
        <p:nvSpPr>
          <p:cNvPr id="10" name="Shape 8"/>
          <p:cNvSpPr/>
          <p:nvPr/>
        </p:nvSpPr>
        <p:spPr>
          <a:xfrm>
            <a:off x="6080760" y="1938528"/>
            <a:ext cx="10973" cy="109728"/>
          </a:xfrm>
          <a:prstGeom prst="rect">
            <a:avLst/>
          </a:prstGeom>
          <a:solidFill>
            <a:srgbClr val="A0A6A8"/>
          </a:solidFill>
          <a:ln w="12700">
            <a:solidFill>
              <a:srgbClr val="333333"/>
            </a:solidFill>
            <a:prstDash val="solid"/>
          </a:ln>
        </p:spPr>
      </p:sp>
      <p:sp>
        <p:nvSpPr>
          <p:cNvPr id="11" name="Shape 9"/>
          <p:cNvSpPr/>
          <p:nvPr/>
        </p:nvSpPr>
        <p:spPr>
          <a:xfrm>
            <a:off x="3241548" y="2040941"/>
            <a:ext cx="5596128" cy="10973"/>
          </a:xfrm>
          <a:prstGeom prst="rect">
            <a:avLst/>
          </a:prstGeom>
          <a:solidFill>
            <a:srgbClr val="A0A6A8"/>
          </a:solidFill>
          <a:ln w="12700">
            <a:solidFill>
              <a:srgbClr val="333333"/>
            </a:solidFill>
            <a:prstDash val="solid"/>
          </a:ln>
        </p:spPr>
      </p:sp>
      <p:sp>
        <p:nvSpPr>
          <p:cNvPr id="12" name="Shape 10"/>
          <p:cNvSpPr/>
          <p:nvPr/>
        </p:nvSpPr>
        <p:spPr>
          <a:xfrm>
            <a:off x="3241548" y="2040941"/>
            <a:ext cx="10973" cy="117043"/>
          </a:xfrm>
          <a:prstGeom prst="rect">
            <a:avLst/>
          </a:prstGeom>
          <a:solidFill>
            <a:srgbClr val="A0A6A8"/>
          </a:solidFill>
          <a:ln w="12700">
            <a:solidFill>
              <a:srgbClr val="333333"/>
            </a:solidFill>
            <a:prstDash val="solid"/>
          </a:ln>
        </p:spPr>
      </p:sp>
      <p:sp>
        <p:nvSpPr>
          <p:cNvPr id="13" name="Shape 11"/>
          <p:cNvSpPr/>
          <p:nvPr/>
        </p:nvSpPr>
        <p:spPr>
          <a:xfrm>
            <a:off x="8947404" y="2040941"/>
            <a:ext cx="10973" cy="117043"/>
          </a:xfrm>
          <a:prstGeom prst="rect">
            <a:avLst/>
          </a:prstGeom>
          <a:solidFill>
            <a:srgbClr val="A0A6A8"/>
          </a:solidFill>
          <a:ln w="12700">
            <a:solidFill>
              <a:srgbClr val="333333"/>
            </a:solidFill>
            <a:prstDash val="solid"/>
          </a:ln>
        </p:spPr>
      </p:sp>
      <p:sp>
        <p:nvSpPr>
          <p:cNvPr id="14" name="Shape 12"/>
          <p:cNvSpPr/>
          <p:nvPr/>
        </p:nvSpPr>
        <p:spPr>
          <a:xfrm>
            <a:off x="566928" y="2157984"/>
            <a:ext cx="5349240" cy="457200"/>
          </a:xfrm>
          <a:prstGeom prst="rect">
            <a:avLst/>
          </a:prstGeom>
          <a:solidFill>
            <a:srgbClr val="F58220"/>
          </a:solidFill>
          <a:ln w="12700">
            <a:solidFill>
              <a:srgbClr val="333333"/>
            </a:solidFill>
            <a:prstDash val="solid"/>
          </a:ln>
        </p:spPr>
      </p:sp>
      <p:sp>
        <p:nvSpPr>
          <p:cNvPr id="15" name="Text 13"/>
          <p:cNvSpPr/>
          <p:nvPr/>
        </p:nvSpPr>
        <p:spPr>
          <a:xfrm>
            <a:off x="749808" y="2157984"/>
            <a:ext cx="4983480" cy="457200"/>
          </a:xfrm>
          <a:prstGeom prst="rect">
            <a:avLst/>
          </a:prstGeom>
          <a:noFill/>
          <a:ln/>
        </p:spPr>
        <p:txBody>
          <a:bodyPr wrap="square" lIns="0" tIns="0" rIns="0" bIns="0" rtlCol="0" anchor="ctr"/>
          <a:lstStyle/>
          <a:p>
            <a:pPr indent="0" marL="0">
              <a:buNone/>
            </a:pPr>
            <a:r>
              <a:rPr lang="en-US" sz="1400" b="1" dirty="0">
                <a:solidFill>
                  <a:srgbClr val="FFFFFF"/>
                </a:solidFill>
                <a:latin typeface="Spoqa Han Sans Neo" pitchFamily="34" charset="0"/>
                <a:ea typeface="Spoqa Han Sans Neo" pitchFamily="34" charset="-122"/>
                <a:cs typeface="Spoqa Han Sans Neo" pitchFamily="34" charset="-120"/>
              </a:rPr>
              <a:t>메모리 반도체</a:t>
            </a:r>
            <a:endParaRPr lang="en-US" sz="1400" dirty="0"/>
          </a:p>
        </p:txBody>
      </p:sp>
      <p:sp>
        <p:nvSpPr>
          <p:cNvPr id="16" name="Text 14"/>
          <p:cNvSpPr/>
          <p:nvPr/>
        </p:nvSpPr>
        <p:spPr>
          <a:xfrm>
            <a:off x="749808" y="2651760"/>
            <a:ext cx="4983480" cy="237744"/>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정보를 저장 · 시장의 약 53% (2026E)</a:t>
            </a:r>
            <a:endParaRPr lang="en-US" sz="1050" dirty="0"/>
          </a:p>
        </p:txBody>
      </p:sp>
      <p:sp>
        <p:nvSpPr>
          <p:cNvPr id="17" name="Shape 15"/>
          <p:cNvSpPr/>
          <p:nvPr/>
        </p:nvSpPr>
        <p:spPr>
          <a:xfrm>
            <a:off x="566928" y="2980944"/>
            <a:ext cx="5349240" cy="603504"/>
          </a:xfrm>
          <a:prstGeom prst="rect">
            <a:avLst/>
          </a:prstGeom>
          <a:solidFill>
            <a:srgbClr val="FFFFFF"/>
          </a:solidFill>
          <a:ln w="9525">
            <a:solidFill>
              <a:srgbClr val="CDCECB"/>
            </a:solidFill>
            <a:prstDash val="solid"/>
          </a:ln>
        </p:spPr>
      </p:sp>
      <p:sp>
        <p:nvSpPr>
          <p:cNvPr id="18" name="Shape 16"/>
          <p:cNvSpPr/>
          <p:nvPr/>
        </p:nvSpPr>
        <p:spPr>
          <a:xfrm>
            <a:off x="566928" y="2980944"/>
            <a:ext cx="54864" cy="603504"/>
          </a:xfrm>
          <a:prstGeom prst="rect">
            <a:avLst/>
          </a:prstGeom>
          <a:solidFill>
            <a:srgbClr val="F58220"/>
          </a:solidFill>
          <a:ln w="12700">
            <a:solidFill>
              <a:srgbClr val="333333"/>
            </a:solidFill>
            <a:prstDash val="solid"/>
          </a:ln>
        </p:spPr>
      </p:sp>
      <p:sp>
        <p:nvSpPr>
          <p:cNvPr id="19" name="Text 17"/>
          <p:cNvSpPr/>
          <p:nvPr/>
        </p:nvSpPr>
        <p:spPr>
          <a:xfrm>
            <a:off x="804672" y="3072384"/>
            <a:ext cx="4892040" cy="237744"/>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D램 (DRAM)</a:t>
            </a:r>
            <a:endParaRPr lang="en-US" sz="1250" dirty="0"/>
          </a:p>
        </p:txBody>
      </p:sp>
      <p:sp>
        <p:nvSpPr>
          <p:cNvPr id="20" name="Text 18"/>
          <p:cNvSpPr/>
          <p:nvPr/>
        </p:nvSpPr>
        <p:spPr>
          <a:xfrm>
            <a:off x="804672" y="3310128"/>
            <a:ext cx="48920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전원 꺼지면 사라짐 · 빠름 · 서버·PC 주기억장치</a:t>
            </a:r>
            <a:endParaRPr lang="en-US" sz="1050" dirty="0"/>
          </a:p>
        </p:txBody>
      </p:sp>
      <p:sp>
        <p:nvSpPr>
          <p:cNvPr id="21" name="Shape 19"/>
          <p:cNvSpPr/>
          <p:nvPr/>
        </p:nvSpPr>
        <p:spPr>
          <a:xfrm>
            <a:off x="566928" y="3675888"/>
            <a:ext cx="5349240" cy="603504"/>
          </a:xfrm>
          <a:prstGeom prst="rect">
            <a:avLst/>
          </a:prstGeom>
          <a:solidFill>
            <a:srgbClr val="FFFFFF"/>
          </a:solidFill>
          <a:ln w="9525">
            <a:solidFill>
              <a:srgbClr val="CDCECB"/>
            </a:solidFill>
            <a:prstDash val="solid"/>
          </a:ln>
        </p:spPr>
      </p:sp>
      <p:sp>
        <p:nvSpPr>
          <p:cNvPr id="22" name="Shape 20"/>
          <p:cNvSpPr/>
          <p:nvPr/>
        </p:nvSpPr>
        <p:spPr>
          <a:xfrm>
            <a:off x="566928" y="3675888"/>
            <a:ext cx="54864" cy="603504"/>
          </a:xfrm>
          <a:prstGeom prst="rect">
            <a:avLst/>
          </a:prstGeom>
          <a:solidFill>
            <a:srgbClr val="F58220"/>
          </a:solidFill>
          <a:ln w="12700">
            <a:solidFill>
              <a:srgbClr val="333333"/>
            </a:solidFill>
            <a:prstDash val="solid"/>
          </a:ln>
        </p:spPr>
      </p:sp>
      <p:sp>
        <p:nvSpPr>
          <p:cNvPr id="23" name="Text 21"/>
          <p:cNvSpPr/>
          <p:nvPr/>
        </p:nvSpPr>
        <p:spPr>
          <a:xfrm>
            <a:off x="804672" y="3767328"/>
            <a:ext cx="4892040" cy="237744"/>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HBM</a:t>
            </a:r>
            <a:endParaRPr lang="en-US" sz="1250" dirty="0"/>
          </a:p>
        </p:txBody>
      </p:sp>
      <p:sp>
        <p:nvSpPr>
          <p:cNvPr id="24" name="Text 22"/>
          <p:cNvSpPr/>
          <p:nvPr/>
        </p:nvSpPr>
        <p:spPr>
          <a:xfrm>
            <a:off x="804672" y="4005072"/>
            <a:ext cx="48920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D램을 수직으로 쌓아 대역폭 극대화 · AI 가속기 필수</a:t>
            </a:r>
            <a:endParaRPr lang="en-US" sz="1050" dirty="0"/>
          </a:p>
        </p:txBody>
      </p:sp>
      <p:sp>
        <p:nvSpPr>
          <p:cNvPr id="25" name="Shape 23"/>
          <p:cNvSpPr/>
          <p:nvPr/>
        </p:nvSpPr>
        <p:spPr>
          <a:xfrm>
            <a:off x="566928" y="4370832"/>
            <a:ext cx="5349240" cy="603504"/>
          </a:xfrm>
          <a:prstGeom prst="rect">
            <a:avLst/>
          </a:prstGeom>
          <a:solidFill>
            <a:srgbClr val="FFFFFF"/>
          </a:solidFill>
          <a:ln w="9525">
            <a:solidFill>
              <a:srgbClr val="CDCECB"/>
            </a:solidFill>
            <a:prstDash val="solid"/>
          </a:ln>
        </p:spPr>
      </p:sp>
      <p:sp>
        <p:nvSpPr>
          <p:cNvPr id="26" name="Shape 24"/>
          <p:cNvSpPr/>
          <p:nvPr/>
        </p:nvSpPr>
        <p:spPr>
          <a:xfrm>
            <a:off x="566928" y="4370832"/>
            <a:ext cx="54864" cy="603504"/>
          </a:xfrm>
          <a:prstGeom prst="rect">
            <a:avLst/>
          </a:prstGeom>
          <a:solidFill>
            <a:srgbClr val="F58220"/>
          </a:solidFill>
          <a:ln w="12700">
            <a:solidFill>
              <a:srgbClr val="333333"/>
            </a:solidFill>
            <a:prstDash val="solid"/>
          </a:ln>
        </p:spPr>
      </p:sp>
      <p:sp>
        <p:nvSpPr>
          <p:cNvPr id="27" name="Text 25"/>
          <p:cNvSpPr/>
          <p:nvPr/>
        </p:nvSpPr>
        <p:spPr>
          <a:xfrm>
            <a:off x="804672" y="4462272"/>
            <a:ext cx="4892040" cy="237744"/>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낸드 (NAND)</a:t>
            </a:r>
            <a:endParaRPr lang="en-US" sz="1250" dirty="0"/>
          </a:p>
        </p:txBody>
      </p:sp>
      <p:sp>
        <p:nvSpPr>
          <p:cNvPr id="28" name="Text 26"/>
          <p:cNvSpPr/>
          <p:nvPr/>
        </p:nvSpPr>
        <p:spPr>
          <a:xfrm>
            <a:off x="804672" y="4700016"/>
            <a:ext cx="48920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전원 꺼져도 유지 · SSD·eSSD·모바일 저장장치</a:t>
            </a:r>
            <a:endParaRPr lang="en-US" sz="1050" dirty="0"/>
          </a:p>
        </p:txBody>
      </p:sp>
      <p:sp>
        <p:nvSpPr>
          <p:cNvPr id="29" name="Shape 27"/>
          <p:cNvSpPr/>
          <p:nvPr/>
        </p:nvSpPr>
        <p:spPr>
          <a:xfrm>
            <a:off x="566928" y="5102352"/>
            <a:ext cx="5349240" cy="658368"/>
          </a:xfrm>
          <a:prstGeom prst="rect">
            <a:avLst/>
          </a:prstGeom>
          <a:solidFill>
            <a:srgbClr val="F7F8FA"/>
          </a:solidFill>
          <a:ln w="9525">
            <a:solidFill>
              <a:srgbClr val="CDCECB"/>
            </a:solidFill>
            <a:prstDash val="solid"/>
          </a:ln>
        </p:spPr>
      </p:sp>
      <p:sp>
        <p:nvSpPr>
          <p:cNvPr id="30" name="Text 28"/>
          <p:cNvSpPr/>
          <p:nvPr/>
        </p:nvSpPr>
        <p:spPr>
          <a:xfrm>
            <a:off x="786384" y="5102352"/>
            <a:ext cx="4910328" cy="658368"/>
          </a:xfrm>
          <a:prstGeom prst="rect">
            <a:avLst/>
          </a:prstGeom>
          <a:noFill/>
          <a:ln/>
        </p:spPr>
        <p:txBody>
          <a:bodyPr wrap="square" lIns="0" tIns="0" rIns="0" bIns="0" rtlCol="0" anchor="ctr"/>
          <a:lstStyle/>
          <a:p>
            <a:pPr indent="0" marL="0">
              <a:lnSpc>
                <a:spcPct val="125000"/>
              </a:lnSpc>
              <a:buNone/>
            </a:pPr>
            <a:r>
              <a:rPr lang="en-US" sz="1050" dirty="0">
                <a:solidFill>
                  <a:srgbClr val="3D3D3D"/>
                </a:solidFill>
                <a:latin typeface="Spoqa Han Sans Neo" pitchFamily="34" charset="0"/>
                <a:ea typeface="Spoqa Han Sans Neo" pitchFamily="34" charset="-122"/>
                <a:cs typeface="Spoqa Han Sans Neo" pitchFamily="34" charset="-120"/>
              </a:rPr>
              <a:t>표준 규격 제품 → 규모·수율·가격 경쟁</a:t>
            </a:r>
            <a:endParaRPr lang="en-US" sz="1050" dirty="0"/>
          </a:p>
          <a:p>
            <a:pPr indent="0" marL="0">
              <a:lnSpc>
                <a:spcPct val="125000"/>
              </a:lnSpc>
              <a:buNone/>
            </a:pPr>
            <a:r>
              <a:rPr lang="en-US" sz="1050" dirty="0">
                <a:solidFill>
                  <a:srgbClr val="3D3D3D"/>
                </a:solidFill>
                <a:latin typeface="Spoqa Han Sans Neo" pitchFamily="34" charset="0"/>
                <a:ea typeface="Spoqa Han Sans Neo" pitchFamily="34" charset="-122"/>
                <a:cs typeface="Spoqa Han Sans Neo" pitchFamily="34" charset="-120"/>
              </a:rPr>
              <a:t>삼성전자·SK하이닉스·마이크론 3강 구도</a:t>
            </a:r>
            <a:endParaRPr lang="en-US" sz="1050" dirty="0"/>
          </a:p>
        </p:txBody>
      </p:sp>
      <p:sp>
        <p:nvSpPr>
          <p:cNvPr id="31" name="Shape 29"/>
          <p:cNvSpPr/>
          <p:nvPr/>
        </p:nvSpPr>
        <p:spPr>
          <a:xfrm>
            <a:off x="6272784" y="2157984"/>
            <a:ext cx="5349240" cy="457200"/>
          </a:xfrm>
          <a:prstGeom prst="rect">
            <a:avLst/>
          </a:prstGeom>
          <a:solidFill>
            <a:srgbClr val="043B72"/>
          </a:solidFill>
          <a:ln w="12700">
            <a:solidFill>
              <a:srgbClr val="333333"/>
            </a:solidFill>
            <a:prstDash val="solid"/>
          </a:ln>
        </p:spPr>
      </p:sp>
      <p:sp>
        <p:nvSpPr>
          <p:cNvPr id="32" name="Text 30"/>
          <p:cNvSpPr/>
          <p:nvPr/>
        </p:nvSpPr>
        <p:spPr>
          <a:xfrm>
            <a:off x="6455664" y="2157984"/>
            <a:ext cx="4983480" cy="457200"/>
          </a:xfrm>
          <a:prstGeom prst="rect">
            <a:avLst/>
          </a:prstGeom>
          <a:noFill/>
          <a:ln/>
        </p:spPr>
        <p:txBody>
          <a:bodyPr wrap="square" lIns="0" tIns="0" rIns="0" bIns="0" rtlCol="0" anchor="ctr"/>
          <a:lstStyle/>
          <a:p>
            <a:pPr indent="0" marL="0">
              <a:buNone/>
            </a:pPr>
            <a:r>
              <a:rPr lang="en-US" sz="1400" b="1" dirty="0">
                <a:solidFill>
                  <a:srgbClr val="FFFFFF"/>
                </a:solidFill>
                <a:latin typeface="Spoqa Han Sans Neo" pitchFamily="34" charset="0"/>
                <a:ea typeface="Spoqa Han Sans Neo" pitchFamily="34" charset="-122"/>
                <a:cs typeface="Spoqa Han Sans Neo" pitchFamily="34" charset="-120"/>
              </a:rPr>
              <a:t>시스템반도체 (비메모리)</a:t>
            </a:r>
            <a:endParaRPr lang="en-US" sz="1400" dirty="0"/>
          </a:p>
        </p:txBody>
      </p:sp>
      <p:sp>
        <p:nvSpPr>
          <p:cNvPr id="33" name="Text 31"/>
          <p:cNvSpPr/>
          <p:nvPr/>
        </p:nvSpPr>
        <p:spPr>
          <a:xfrm>
            <a:off x="6455664" y="2651760"/>
            <a:ext cx="4983480" cy="237744"/>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정보를 연산·제어 · 시장의 약 47%</a:t>
            </a:r>
            <a:endParaRPr lang="en-US" sz="1050" dirty="0"/>
          </a:p>
        </p:txBody>
      </p:sp>
      <p:sp>
        <p:nvSpPr>
          <p:cNvPr id="34" name="Shape 32"/>
          <p:cNvSpPr/>
          <p:nvPr/>
        </p:nvSpPr>
        <p:spPr>
          <a:xfrm>
            <a:off x="6272784" y="2980944"/>
            <a:ext cx="5349240" cy="603504"/>
          </a:xfrm>
          <a:prstGeom prst="rect">
            <a:avLst/>
          </a:prstGeom>
          <a:solidFill>
            <a:srgbClr val="FFFFFF"/>
          </a:solidFill>
          <a:ln w="9525">
            <a:solidFill>
              <a:srgbClr val="CDCECB"/>
            </a:solidFill>
            <a:prstDash val="solid"/>
          </a:ln>
        </p:spPr>
      </p:sp>
      <p:sp>
        <p:nvSpPr>
          <p:cNvPr id="35" name="Shape 33"/>
          <p:cNvSpPr/>
          <p:nvPr/>
        </p:nvSpPr>
        <p:spPr>
          <a:xfrm>
            <a:off x="6272784" y="2980944"/>
            <a:ext cx="54864" cy="603504"/>
          </a:xfrm>
          <a:prstGeom prst="rect">
            <a:avLst/>
          </a:prstGeom>
          <a:solidFill>
            <a:srgbClr val="043B72"/>
          </a:solidFill>
          <a:ln w="12700">
            <a:solidFill>
              <a:srgbClr val="333333"/>
            </a:solidFill>
            <a:prstDash val="solid"/>
          </a:ln>
        </p:spPr>
      </p:sp>
      <p:sp>
        <p:nvSpPr>
          <p:cNvPr id="36" name="Text 34"/>
          <p:cNvSpPr/>
          <p:nvPr/>
        </p:nvSpPr>
        <p:spPr>
          <a:xfrm>
            <a:off x="6510528" y="3072384"/>
            <a:ext cx="4892040" cy="237744"/>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로직 / AI 가속기</a:t>
            </a:r>
            <a:endParaRPr lang="en-US" sz="1250" dirty="0"/>
          </a:p>
        </p:txBody>
      </p:sp>
      <p:sp>
        <p:nvSpPr>
          <p:cNvPr id="37" name="Text 35"/>
          <p:cNvSpPr/>
          <p:nvPr/>
        </p:nvSpPr>
        <p:spPr>
          <a:xfrm>
            <a:off x="6510528" y="3310128"/>
            <a:ext cx="48920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GPU·NPU·ASIC · 엔비디아·AMD·브로드컴</a:t>
            </a:r>
            <a:endParaRPr lang="en-US" sz="1050" dirty="0"/>
          </a:p>
        </p:txBody>
      </p:sp>
      <p:sp>
        <p:nvSpPr>
          <p:cNvPr id="38" name="Shape 36"/>
          <p:cNvSpPr/>
          <p:nvPr/>
        </p:nvSpPr>
        <p:spPr>
          <a:xfrm>
            <a:off x="6272784" y="3675888"/>
            <a:ext cx="5349240" cy="603504"/>
          </a:xfrm>
          <a:prstGeom prst="rect">
            <a:avLst/>
          </a:prstGeom>
          <a:solidFill>
            <a:srgbClr val="FFFFFF"/>
          </a:solidFill>
          <a:ln w="9525">
            <a:solidFill>
              <a:srgbClr val="CDCECB"/>
            </a:solidFill>
            <a:prstDash val="solid"/>
          </a:ln>
        </p:spPr>
      </p:sp>
      <p:sp>
        <p:nvSpPr>
          <p:cNvPr id="39" name="Shape 37"/>
          <p:cNvSpPr/>
          <p:nvPr/>
        </p:nvSpPr>
        <p:spPr>
          <a:xfrm>
            <a:off x="6272784" y="3675888"/>
            <a:ext cx="54864" cy="603504"/>
          </a:xfrm>
          <a:prstGeom prst="rect">
            <a:avLst/>
          </a:prstGeom>
          <a:solidFill>
            <a:srgbClr val="043B72"/>
          </a:solidFill>
          <a:ln w="12700">
            <a:solidFill>
              <a:srgbClr val="333333"/>
            </a:solidFill>
            <a:prstDash val="solid"/>
          </a:ln>
        </p:spPr>
      </p:sp>
      <p:sp>
        <p:nvSpPr>
          <p:cNvPr id="40" name="Text 38"/>
          <p:cNvSpPr/>
          <p:nvPr/>
        </p:nvSpPr>
        <p:spPr>
          <a:xfrm>
            <a:off x="6510528" y="3767328"/>
            <a:ext cx="4892040" cy="237744"/>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CPU · AP</a:t>
            </a:r>
            <a:endParaRPr lang="en-US" sz="1250" dirty="0"/>
          </a:p>
        </p:txBody>
      </p:sp>
      <p:sp>
        <p:nvSpPr>
          <p:cNvPr id="41" name="Text 39"/>
          <p:cNvSpPr/>
          <p:nvPr/>
        </p:nvSpPr>
        <p:spPr>
          <a:xfrm>
            <a:off x="6510528" y="4005072"/>
            <a:ext cx="48920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인텔·AMD·퀄컴·애플·삼성 엑시노스</a:t>
            </a:r>
            <a:endParaRPr lang="en-US" sz="1050" dirty="0"/>
          </a:p>
        </p:txBody>
      </p:sp>
      <p:sp>
        <p:nvSpPr>
          <p:cNvPr id="42" name="Shape 40"/>
          <p:cNvSpPr/>
          <p:nvPr/>
        </p:nvSpPr>
        <p:spPr>
          <a:xfrm>
            <a:off x="6272784" y="4370832"/>
            <a:ext cx="5349240" cy="603504"/>
          </a:xfrm>
          <a:prstGeom prst="rect">
            <a:avLst/>
          </a:prstGeom>
          <a:solidFill>
            <a:srgbClr val="FFFFFF"/>
          </a:solidFill>
          <a:ln w="9525">
            <a:solidFill>
              <a:srgbClr val="CDCECB"/>
            </a:solidFill>
            <a:prstDash val="solid"/>
          </a:ln>
        </p:spPr>
      </p:sp>
      <p:sp>
        <p:nvSpPr>
          <p:cNvPr id="43" name="Shape 41"/>
          <p:cNvSpPr/>
          <p:nvPr/>
        </p:nvSpPr>
        <p:spPr>
          <a:xfrm>
            <a:off x="6272784" y="4370832"/>
            <a:ext cx="54864" cy="603504"/>
          </a:xfrm>
          <a:prstGeom prst="rect">
            <a:avLst/>
          </a:prstGeom>
          <a:solidFill>
            <a:srgbClr val="043B72"/>
          </a:solidFill>
          <a:ln w="12700">
            <a:solidFill>
              <a:srgbClr val="333333"/>
            </a:solidFill>
            <a:prstDash val="solid"/>
          </a:ln>
        </p:spPr>
      </p:sp>
      <p:sp>
        <p:nvSpPr>
          <p:cNvPr id="44" name="Text 42"/>
          <p:cNvSpPr/>
          <p:nvPr/>
        </p:nvSpPr>
        <p:spPr>
          <a:xfrm>
            <a:off x="6510528" y="4462272"/>
            <a:ext cx="4892040" cy="237744"/>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아날로그 · 전력 · 센서</a:t>
            </a:r>
            <a:endParaRPr lang="en-US" sz="1250" dirty="0"/>
          </a:p>
        </p:txBody>
      </p:sp>
      <p:sp>
        <p:nvSpPr>
          <p:cNvPr id="45" name="Text 43"/>
          <p:cNvSpPr/>
          <p:nvPr/>
        </p:nvSpPr>
        <p:spPr>
          <a:xfrm>
            <a:off x="6510528" y="4700016"/>
            <a:ext cx="48920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전력반도체·이미지센서·MCU · TI·인피니온</a:t>
            </a:r>
            <a:endParaRPr lang="en-US" sz="1050" dirty="0"/>
          </a:p>
        </p:txBody>
      </p:sp>
      <p:sp>
        <p:nvSpPr>
          <p:cNvPr id="46" name="Shape 44"/>
          <p:cNvSpPr/>
          <p:nvPr/>
        </p:nvSpPr>
        <p:spPr>
          <a:xfrm>
            <a:off x="6272784" y="5102352"/>
            <a:ext cx="5349240" cy="658368"/>
          </a:xfrm>
          <a:prstGeom prst="rect">
            <a:avLst/>
          </a:prstGeom>
          <a:solidFill>
            <a:srgbClr val="F7F8FA"/>
          </a:solidFill>
          <a:ln w="9525">
            <a:solidFill>
              <a:srgbClr val="CDCECB"/>
            </a:solidFill>
            <a:prstDash val="solid"/>
          </a:ln>
        </p:spPr>
      </p:sp>
      <p:sp>
        <p:nvSpPr>
          <p:cNvPr id="47" name="Text 45"/>
          <p:cNvSpPr/>
          <p:nvPr/>
        </p:nvSpPr>
        <p:spPr>
          <a:xfrm>
            <a:off x="6492240" y="5102352"/>
            <a:ext cx="4910328" cy="658368"/>
          </a:xfrm>
          <a:prstGeom prst="rect">
            <a:avLst/>
          </a:prstGeom>
          <a:noFill/>
          <a:ln/>
        </p:spPr>
        <p:txBody>
          <a:bodyPr wrap="square" lIns="0" tIns="0" rIns="0" bIns="0" rtlCol="0" anchor="ctr"/>
          <a:lstStyle/>
          <a:p>
            <a:pPr indent="0" marL="0">
              <a:lnSpc>
                <a:spcPct val="125000"/>
              </a:lnSpc>
              <a:buNone/>
            </a:pPr>
            <a:r>
              <a:rPr lang="en-US" sz="1050" dirty="0">
                <a:solidFill>
                  <a:srgbClr val="3D3D3D"/>
                </a:solidFill>
                <a:latin typeface="Spoqa Han Sans Neo" pitchFamily="34" charset="0"/>
                <a:ea typeface="Spoqa Han Sans Neo" pitchFamily="34" charset="-122"/>
                <a:cs typeface="Spoqa Han Sans Neo" pitchFamily="34" charset="-120"/>
              </a:rPr>
              <a:t>품목이 수만 종으로 파편화 → 설계 역량이 핵심</a:t>
            </a:r>
            <a:endParaRPr lang="en-US" sz="1050" dirty="0"/>
          </a:p>
          <a:p>
            <a:pPr indent="0" marL="0">
              <a:lnSpc>
                <a:spcPct val="125000"/>
              </a:lnSpc>
              <a:buNone/>
            </a:pPr>
            <a:r>
              <a:rPr lang="en-US" sz="1050" dirty="0">
                <a:solidFill>
                  <a:srgbClr val="3D3D3D"/>
                </a:solidFill>
                <a:latin typeface="Spoqa Han Sans Neo" pitchFamily="34" charset="0"/>
                <a:ea typeface="Spoqa Han Sans Neo" pitchFamily="34" charset="-122"/>
                <a:cs typeface="Spoqa Han Sans Neo" pitchFamily="34" charset="-120"/>
              </a:rPr>
              <a:t>한국 점유율이 낮은 영역 (삼성 파운드리 6.5%)</a:t>
            </a:r>
            <a:endParaRPr lang="en-US" sz="1050" dirty="0"/>
          </a:p>
        </p:txBody>
      </p:sp>
      <p:sp>
        <p:nvSpPr>
          <p:cNvPr id="48" name="Text 46"/>
          <p:cNvSpPr/>
          <p:nvPr/>
        </p:nvSpPr>
        <p:spPr>
          <a:xfrm>
            <a:off x="566928" y="6108192"/>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주: 2026년 시장 비중은 WSTS 2026년 봄 전망 기준(메모리 53.2%). 파운드리 점유율은 TrendForce 2026년 1분기 매출 기준.</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1 · 메모리</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D램 · 낸드 · HBM — 무엇이 어떻게 다른가</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HBM은 새로운 종류의 메모리가 아니다. D램을 쌓아 올려 통로를 넓힌 것이다.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7839" cy="914400"/>
        </p:xfrm>
        <a:graphic>
          <a:graphicData uri="http://schemas.openxmlformats.org/drawingml/2006/table">
            <a:tbl>
              <a:tblPr/>
              <a:tblGrid>
                <a:gridCol w="1965960"/>
                <a:gridCol w="2880360"/>
                <a:gridCol w="2880360"/>
                <a:gridCol w="3273552"/>
              </a:tblGrid>
              <a:tr h="342900">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구분</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D램</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낸드 플래시</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HBM</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4290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역할</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작업용 기억장치</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저장용 기억장치</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AI 연산 전용 초고속 기억장치</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4290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전원 끊기면</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데이터 소멸(휘발성)</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데이터 유지(비휘발성)</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소멸(D램 기반)</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4290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핵심 경쟁 요소</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미세공정(1a→1c→1d)</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적층 단수(V9·V10)</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적층 단수 · 대역폭 · 수율</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4290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주요 용도</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서버·PC·모바일</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SSD·eSSD·스마트폰</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AI 가속기(GPU·NPU)</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4290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대표 규격</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DDR5 · LPDDR5X · SOCAMM</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TLC · QLC · eSSD</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HBM3E → HBM4 → HBM4E</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42900">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가격 결정 방식</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고정거래가 + 현물</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고정거래가 + 현물</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고객 맞춤 · 장기계약(LTA)</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r h="34290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한국 위상</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삼성 38% · SK 29%</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삼성·SK·키오시아 등</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SK하이닉스 선두, 삼성 추격</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bl>
          </a:graphicData>
        </a:graphic>
      </p:graphicFrame>
      <p:sp>
        <p:nvSpPr>
          <p:cNvPr id="9" name="Shape 6"/>
          <p:cNvSpPr/>
          <p:nvPr/>
        </p:nvSpPr>
        <p:spPr>
          <a:xfrm>
            <a:off x="566928" y="4404360"/>
            <a:ext cx="5349240" cy="1549400"/>
          </a:xfrm>
          <a:prstGeom prst="rect">
            <a:avLst/>
          </a:prstGeom>
          <a:solidFill>
            <a:srgbClr val="F7F8FA"/>
          </a:solidFill>
          <a:ln w="9525">
            <a:solidFill>
              <a:srgbClr val="CDCECB"/>
            </a:solidFill>
            <a:prstDash val="solid"/>
          </a:ln>
        </p:spPr>
      </p:sp>
      <p:sp>
        <p:nvSpPr>
          <p:cNvPr id="10" name="Text 7"/>
          <p:cNvSpPr/>
          <p:nvPr/>
        </p:nvSpPr>
        <p:spPr>
          <a:xfrm>
            <a:off x="804672" y="4587240"/>
            <a:ext cx="4846320" cy="256032"/>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HBM은 왜 비싼가 — 세 배 이상의 가격 프리미엄</a:t>
            </a:r>
            <a:endParaRPr lang="en-US" sz="1300" dirty="0"/>
          </a:p>
        </p:txBody>
      </p:sp>
      <p:sp>
        <p:nvSpPr>
          <p:cNvPr id="11" name="Text 8"/>
          <p:cNvSpPr/>
          <p:nvPr/>
        </p:nvSpPr>
        <p:spPr>
          <a:xfrm>
            <a:off x="804672" y="4879848"/>
            <a:ext cx="4892040" cy="914400"/>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D램 12~16개를 수직 적층하고 수천 개의 통로(TSV)로 관통 연결</a:t>
            </a:r>
            <a:endParaRPr lang="en-US" sz="1050" dirty="0"/>
          </a:p>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웨이퍼 1장에서 나오는 최종 제품 수가 범용 D램보다 크게 적음 — 캐파를 3배 이상 잡아먹는다</a:t>
            </a:r>
            <a:endParaRPr lang="en-US" sz="1050" dirty="0"/>
          </a:p>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고객사 사양에 맞춘 주문 제작 → 재고·가격 리스크가 낮고 수익성이 높다</a:t>
            </a:r>
            <a:endParaRPr lang="en-US" sz="1050" dirty="0"/>
          </a:p>
        </p:txBody>
      </p:sp>
      <p:sp>
        <p:nvSpPr>
          <p:cNvPr id="12" name="Shape 9"/>
          <p:cNvSpPr/>
          <p:nvPr/>
        </p:nvSpPr>
        <p:spPr>
          <a:xfrm>
            <a:off x="6272784" y="4404360"/>
            <a:ext cx="5349240" cy="1549400"/>
          </a:xfrm>
          <a:prstGeom prst="rect">
            <a:avLst/>
          </a:prstGeom>
          <a:solidFill>
            <a:srgbClr val="FFFFFF"/>
          </a:solidFill>
          <a:ln w="9525">
            <a:solidFill>
              <a:srgbClr val="CDCECB"/>
            </a:solidFill>
            <a:prstDash val="solid"/>
          </a:ln>
        </p:spPr>
      </p:sp>
      <p:sp>
        <p:nvSpPr>
          <p:cNvPr id="13" name="Text 10"/>
          <p:cNvSpPr/>
          <p:nvPr/>
        </p:nvSpPr>
        <p:spPr>
          <a:xfrm>
            <a:off x="6510528" y="4587240"/>
            <a:ext cx="4846320" cy="256032"/>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지금 시장을 흔드는 역설 — 세대 역전</a:t>
            </a:r>
            <a:endParaRPr lang="en-US" sz="1300" dirty="0"/>
          </a:p>
        </p:txBody>
      </p:sp>
      <p:sp>
        <p:nvSpPr>
          <p:cNvPr id="14" name="Text 11"/>
          <p:cNvSpPr/>
          <p:nvPr/>
        </p:nvSpPr>
        <p:spPr>
          <a:xfrm>
            <a:off x="6510528" y="4879848"/>
            <a:ext cx="4892040" cy="914400"/>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HBM·선단 공정에 캐파가 쏠리자 구형 DDR4가 품귀 — 6월 DDR4 현물가($74.63)가 신형 DDR5($46.83)를 59% 상회</a:t>
            </a:r>
            <a:endParaRPr lang="en-US" sz="1050" dirty="0"/>
          </a:p>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이미 단종 단계였던 DDR3까지 가격이 오르는 이례적 현상</a:t>
            </a:r>
            <a:endParaRPr lang="en-US" sz="1050" dirty="0"/>
          </a:p>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현물가가 고정거래가를 72% 웃돌아 협상 우위가 공급사에 있음을 시사</a:t>
            </a:r>
            <a:endParaRPr lang="en-US" sz="1050" dirty="0"/>
          </a:p>
        </p:txBody>
      </p:sp>
      <p:sp>
        <p:nvSpPr>
          <p:cNvPr id="15" name="Text 12"/>
          <p:cNvSpPr/>
          <p:nvPr/>
        </p:nvSpPr>
        <p:spPr>
          <a:xfrm>
            <a:off x="566928" y="6035040"/>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TrendForce, DRAMeXchange(2026년 6월), Counterpoint Research 2026년 1분기 D램 매출 점유율</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1 · 제조 공정</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모래에서 칩까지 — 반도체 8대 공정</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설계 확정 후 완제품 출하까지 통상 3개월. 새 공장을 지어 물량이 나오기까지는 3년 이상이 걸린다.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7</a:t>
            </a:r>
            <a:endParaRPr lang="en-US" sz="900" dirty="0"/>
          </a:p>
        </p:txBody>
      </p:sp>
      <p:sp>
        <p:nvSpPr>
          <p:cNvPr id="8" name="Text 6"/>
          <p:cNvSpPr/>
          <p:nvPr/>
        </p:nvSpPr>
        <p:spPr>
          <a:xfrm>
            <a:off x="566928" y="1554480"/>
            <a:ext cx="11057839" cy="256032"/>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전공정 (Front-End) — 웨이퍼 위에 회로를 새긴다</a:t>
            </a:r>
            <a:endParaRPr lang="en-US" sz="1300" dirty="0"/>
          </a:p>
        </p:txBody>
      </p:sp>
      <p:sp>
        <p:nvSpPr>
          <p:cNvPr id="9" name="Shape 7"/>
          <p:cNvSpPr/>
          <p:nvPr/>
        </p:nvSpPr>
        <p:spPr>
          <a:xfrm>
            <a:off x="566928" y="1865376"/>
            <a:ext cx="2094525" cy="1133856"/>
          </a:xfrm>
          <a:prstGeom prst="rect">
            <a:avLst/>
          </a:prstGeom>
          <a:solidFill>
            <a:srgbClr val="FFFFFF"/>
          </a:solidFill>
          <a:ln w="9525">
            <a:solidFill>
              <a:srgbClr val="CDCECB"/>
            </a:solidFill>
            <a:prstDash val="solid"/>
          </a:ln>
        </p:spPr>
      </p:sp>
      <p:sp>
        <p:nvSpPr>
          <p:cNvPr id="10" name="Shape 8"/>
          <p:cNvSpPr/>
          <p:nvPr/>
        </p:nvSpPr>
        <p:spPr>
          <a:xfrm>
            <a:off x="731520" y="2011680"/>
            <a:ext cx="256032" cy="256032"/>
          </a:xfrm>
          <a:prstGeom prst="rect">
            <a:avLst/>
          </a:prstGeom>
          <a:solidFill>
            <a:srgbClr val="043B72"/>
          </a:solidFill>
          <a:ln w="12700">
            <a:solidFill>
              <a:srgbClr val="333333"/>
            </a:solidFill>
            <a:prstDash val="solid"/>
          </a:ln>
        </p:spPr>
      </p:sp>
      <p:sp>
        <p:nvSpPr>
          <p:cNvPr id="11" name="Text 9"/>
          <p:cNvSpPr/>
          <p:nvPr/>
        </p:nvSpPr>
        <p:spPr>
          <a:xfrm>
            <a:off x="731520" y="201168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1</a:t>
            </a:r>
            <a:endParaRPr lang="en-US" sz="1200" dirty="0"/>
          </a:p>
        </p:txBody>
      </p:sp>
      <p:sp>
        <p:nvSpPr>
          <p:cNvPr id="12" name="Text 10"/>
          <p:cNvSpPr/>
          <p:nvPr/>
        </p:nvSpPr>
        <p:spPr>
          <a:xfrm>
            <a:off x="731520" y="2340864"/>
            <a:ext cx="1765341"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웨이퍼 제조</a:t>
            </a:r>
            <a:endParaRPr lang="en-US" sz="1200" dirty="0"/>
          </a:p>
        </p:txBody>
      </p:sp>
      <p:sp>
        <p:nvSpPr>
          <p:cNvPr id="13" name="Text 11"/>
          <p:cNvSpPr/>
          <p:nvPr/>
        </p:nvSpPr>
        <p:spPr>
          <a:xfrm>
            <a:off x="731520" y="2596896"/>
            <a:ext cx="1765341" cy="347472"/>
          </a:xfrm>
          <a:prstGeom prst="rect">
            <a:avLst/>
          </a:prstGeom>
          <a:noFill/>
          <a:ln/>
        </p:spPr>
        <p:txBody>
          <a:bodyPr wrap="square" lIns="0" tIns="0" rIns="0" bIns="0" rtlCol="0" anchor="ctr"/>
          <a:lstStyle/>
          <a:p>
            <a:pPr indent="0" marL="0">
              <a:lnSpc>
                <a:spcPct val="115000"/>
              </a:lnSpc>
              <a:buNone/>
            </a:pPr>
            <a:r>
              <a:rPr lang="en-US" sz="980" dirty="0">
                <a:solidFill>
                  <a:srgbClr val="6C6C6C"/>
                </a:solidFill>
                <a:latin typeface="Spoqa Han Sans Neo" pitchFamily="34" charset="0"/>
                <a:ea typeface="Spoqa Han Sans Neo" pitchFamily="34" charset="-122"/>
                <a:cs typeface="Spoqa Han Sans Neo" pitchFamily="34" charset="-120"/>
              </a:rPr>
              <a:t>실리콘 잉곳을 얇게 절단·연마</a:t>
            </a:r>
            <a:endParaRPr lang="en-US" sz="980" dirty="0"/>
          </a:p>
        </p:txBody>
      </p:sp>
      <p:sp>
        <p:nvSpPr>
          <p:cNvPr id="14" name="Shape 12"/>
          <p:cNvSpPr/>
          <p:nvPr/>
        </p:nvSpPr>
        <p:spPr>
          <a:xfrm>
            <a:off x="2807757" y="1865376"/>
            <a:ext cx="2094525" cy="1133856"/>
          </a:xfrm>
          <a:prstGeom prst="rect">
            <a:avLst/>
          </a:prstGeom>
          <a:solidFill>
            <a:srgbClr val="FFFFFF"/>
          </a:solidFill>
          <a:ln w="9525">
            <a:solidFill>
              <a:srgbClr val="CDCECB"/>
            </a:solidFill>
            <a:prstDash val="solid"/>
          </a:ln>
        </p:spPr>
      </p:sp>
      <p:sp>
        <p:nvSpPr>
          <p:cNvPr id="15" name="Shape 13"/>
          <p:cNvSpPr/>
          <p:nvPr/>
        </p:nvSpPr>
        <p:spPr>
          <a:xfrm>
            <a:off x="2972349" y="2011680"/>
            <a:ext cx="256032" cy="256032"/>
          </a:xfrm>
          <a:prstGeom prst="rect">
            <a:avLst/>
          </a:prstGeom>
          <a:solidFill>
            <a:srgbClr val="043B72"/>
          </a:solidFill>
          <a:ln w="12700">
            <a:solidFill>
              <a:srgbClr val="333333"/>
            </a:solidFill>
            <a:prstDash val="solid"/>
          </a:ln>
        </p:spPr>
      </p:sp>
      <p:sp>
        <p:nvSpPr>
          <p:cNvPr id="16" name="Text 14"/>
          <p:cNvSpPr/>
          <p:nvPr/>
        </p:nvSpPr>
        <p:spPr>
          <a:xfrm>
            <a:off x="2972349" y="201168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2</a:t>
            </a:r>
            <a:endParaRPr lang="en-US" sz="1200" dirty="0"/>
          </a:p>
        </p:txBody>
      </p:sp>
      <p:sp>
        <p:nvSpPr>
          <p:cNvPr id="17" name="Text 15"/>
          <p:cNvSpPr/>
          <p:nvPr/>
        </p:nvSpPr>
        <p:spPr>
          <a:xfrm>
            <a:off x="2972349" y="2340864"/>
            <a:ext cx="1765341"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산화 · 증착</a:t>
            </a:r>
            <a:endParaRPr lang="en-US" sz="1200" dirty="0"/>
          </a:p>
        </p:txBody>
      </p:sp>
      <p:sp>
        <p:nvSpPr>
          <p:cNvPr id="18" name="Text 16"/>
          <p:cNvSpPr/>
          <p:nvPr/>
        </p:nvSpPr>
        <p:spPr>
          <a:xfrm>
            <a:off x="2972349" y="2596896"/>
            <a:ext cx="1765341" cy="347472"/>
          </a:xfrm>
          <a:prstGeom prst="rect">
            <a:avLst/>
          </a:prstGeom>
          <a:noFill/>
          <a:ln/>
        </p:spPr>
        <p:txBody>
          <a:bodyPr wrap="square" lIns="0" tIns="0" rIns="0" bIns="0" rtlCol="0" anchor="ctr"/>
          <a:lstStyle/>
          <a:p>
            <a:pPr indent="0" marL="0">
              <a:lnSpc>
                <a:spcPct val="115000"/>
              </a:lnSpc>
              <a:buNone/>
            </a:pPr>
            <a:r>
              <a:rPr lang="en-US" sz="980" dirty="0">
                <a:solidFill>
                  <a:srgbClr val="6C6C6C"/>
                </a:solidFill>
                <a:latin typeface="Spoqa Han Sans Neo" pitchFamily="34" charset="0"/>
                <a:ea typeface="Spoqa Han Sans Neo" pitchFamily="34" charset="-122"/>
                <a:cs typeface="Spoqa Han Sans Neo" pitchFamily="34" charset="-120"/>
              </a:rPr>
              <a:t>절연막·금속막을 원자 단위로 쌓음</a:t>
            </a:r>
            <a:endParaRPr lang="en-US" sz="980" dirty="0"/>
          </a:p>
        </p:txBody>
      </p:sp>
      <p:sp>
        <p:nvSpPr>
          <p:cNvPr id="19" name="Shape 17"/>
          <p:cNvSpPr/>
          <p:nvPr/>
        </p:nvSpPr>
        <p:spPr>
          <a:xfrm>
            <a:off x="5048585" y="1865376"/>
            <a:ext cx="2094525" cy="1133856"/>
          </a:xfrm>
          <a:prstGeom prst="rect">
            <a:avLst/>
          </a:prstGeom>
          <a:solidFill>
            <a:srgbClr val="FFFFFF"/>
          </a:solidFill>
          <a:ln w="9525">
            <a:solidFill>
              <a:srgbClr val="CDCECB"/>
            </a:solidFill>
            <a:prstDash val="solid"/>
          </a:ln>
        </p:spPr>
      </p:sp>
      <p:sp>
        <p:nvSpPr>
          <p:cNvPr id="20" name="Shape 18"/>
          <p:cNvSpPr/>
          <p:nvPr/>
        </p:nvSpPr>
        <p:spPr>
          <a:xfrm>
            <a:off x="5213177" y="2011680"/>
            <a:ext cx="256032" cy="256032"/>
          </a:xfrm>
          <a:prstGeom prst="rect">
            <a:avLst/>
          </a:prstGeom>
          <a:solidFill>
            <a:srgbClr val="043B72"/>
          </a:solidFill>
          <a:ln w="12700">
            <a:solidFill>
              <a:srgbClr val="333333"/>
            </a:solidFill>
            <a:prstDash val="solid"/>
          </a:ln>
        </p:spPr>
      </p:sp>
      <p:sp>
        <p:nvSpPr>
          <p:cNvPr id="21" name="Text 19"/>
          <p:cNvSpPr/>
          <p:nvPr/>
        </p:nvSpPr>
        <p:spPr>
          <a:xfrm>
            <a:off x="5213177" y="201168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3</a:t>
            </a:r>
            <a:endParaRPr lang="en-US" sz="1200" dirty="0"/>
          </a:p>
        </p:txBody>
      </p:sp>
      <p:sp>
        <p:nvSpPr>
          <p:cNvPr id="22" name="Text 20"/>
          <p:cNvSpPr/>
          <p:nvPr/>
        </p:nvSpPr>
        <p:spPr>
          <a:xfrm>
            <a:off x="5213177" y="2340864"/>
            <a:ext cx="1765341"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노광 (포토)</a:t>
            </a:r>
            <a:endParaRPr lang="en-US" sz="1200" dirty="0"/>
          </a:p>
        </p:txBody>
      </p:sp>
      <p:sp>
        <p:nvSpPr>
          <p:cNvPr id="23" name="Text 21"/>
          <p:cNvSpPr/>
          <p:nvPr/>
        </p:nvSpPr>
        <p:spPr>
          <a:xfrm>
            <a:off x="5213177" y="2596896"/>
            <a:ext cx="1765341" cy="347472"/>
          </a:xfrm>
          <a:prstGeom prst="rect">
            <a:avLst/>
          </a:prstGeom>
          <a:noFill/>
          <a:ln/>
        </p:spPr>
        <p:txBody>
          <a:bodyPr wrap="square" lIns="0" tIns="0" rIns="0" bIns="0" rtlCol="0" anchor="ctr"/>
          <a:lstStyle/>
          <a:p>
            <a:pPr indent="0" marL="0">
              <a:lnSpc>
                <a:spcPct val="115000"/>
              </a:lnSpc>
              <a:buNone/>
            </a:pPr>
            <a:r>
              <a:rPr lang="en-US" sz="980" dirty="0">
                <a:solidFill>
                  <a:srgbClr val="6C6C6C"/>
                </a:solidFill>
                <a:latin typeface="Spoqa Han Sans Neo" pitchFamily="34" charset="0"/>
                <a:ea typeface="Spoqa Han Sans Neo" pitchFamily="34" charset="-122"/>
                <a:cs typeface="Spoqa Han Sans Neo" pitchFamily="34" charset="-120"/>
              </a:rPr>
              <a:t>회로 패턴을 빛으로 전사 — EUV 장비 영역</a:t>
            </a:r>
            <a:endParaRPr lang="en-US" sz="980" dirty="0"/>
          </a:p>
        </p:txBody>
      </p:sp>
      <p:sp>
        <p:nvSpPr>
          <p:cNvPr id="24" name="Shape 22"/>
          <p:cNvSpPr/>
          <p:nvPr/>
        </p:nvSpPr>
        <p:spPr>
          <a:xfrm>
            <a:off x="7289414" y="1865376"/>
            <a:ext cx="2094525" cy="1133856"/>
          </a:xfrm>
          <a:prstGeom prst="rect">
            <a:avLst/>
          </a:prstGeom>
          <a:solidFill>
            <a:srgbClr val="FFFFFF"/>
          </a:solidFill>
          <a:ln w="9525">
            <a:solidFill>
              <a:srgbClr val="CDCECB"/>
            </a:solidFill>
            <a:prstDash val="solid"/>
          </a:ln>
        </p:spPr>
      </p:sp>
      <p:sp>
        <p:nvSpPr>
          <p:cNvPr id="25" name="Shape 23"/>
          <p:cNvSpPr/>
          <p:nvPr/>
        </p:nvSpPr>
        <p:spPr>
          <a:xfrm>
            <a:off x="7454006" y="2011680"/>
            <a:ext cx="256032" cy="256032"/>
          </a:xfrm>
          <a:prstGeom prst="rect">
            <a:avLst/>
          </a:prstGeom>
          <a:solidFill>
            <a:srgbClr val="043B72"/>
          </a:solidFill>
          <a:ln w="12700">
            <a:solidFill>
              <a:srgbClr val="333333"/>
            </a:solidFill>
            <a:prstDash val="solid"/>
          </a:ln>
        </p:spPr>
      </p:sp>
      <p:sp>
        <p:nvSpPr>
          <p:cNvPr id="26" name="Text 24"/>
          <p:cNvSpPr/>
          <p:nvPr/>
        </p:nvSpPr>
        <p:spPr>
          <a:xfrm>
            <a:off x="7454006" y="201168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4</a:t>
            </a:r>
            <a:endParaRPr lang="en-US" sz="1200" dirty="0"/>
          </a:p>
        </p:txBody>
      </p:sp>
      <p:sp>
        <p:nvSpPr>
          <p:cNvPr id="27" name="Text 25"/>
          <p:cNvSpPr/>
          <p:nvPr/>
        </p:nvSpPr>
        <p:spPr>
          <a:xfrm>
            <a:off x="7454006" y="2340864"/>
            <a:ext cx="1765341"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식각 (에칭)</a:t>
            </a:r>
            <a:endParaRPr lang="en-US" sz="1200" dirty="0"/>
          </a:p>
        </p:txBody>
      </p:sp>
      <p:sp>
        <p:nvSpPr>
          <p:cNvPr id="28" name="Text 26"/>
          <p:cNvSpPr/>
          <p:nvPr/>
        </p:nvSpPr>
        <p:spPr>
          <a:xfrm>
            <a:off x="7454006" y="2596896"/>
            <a:ext cx="1765341" cy="347472"/>
          </a:xfrm>
          <a:prstGeom prst="rect">
            <a:avLst/>
          </a:prstGeom>
          <a:noFill/>
          <a:ln/>
        </p:spPr>
        <p:txBody>
          <a:bodyPr wrap="square" lIns="0" tIns="0" rIns="0" bIns="0" rtlCol="0" anchor="ctr"/>
          <a:lstStyle/>
          <a:p>
            <a:pPr indent="0" marL="0">
              <a:lnSpc>
                <a:spcPct val="115000"/>
              </a:lnSpc>
              <a:buNone/>
            </a:pPr>
            <a:r>
              <a:rPr lang="en-US" sz="980" dirty="0">
                <a:solidFill>
                  <a:srgbClr val="6C6C6C"/>
                </a:solidFill>
                <a:latin typeface="Spoqa Han Sans Neo" pitchFamily="34" charset="0"/>
                <a:ea typeface="Spoqa Han Sans Neo" pitchFamily="34" charset="-122"/>
                <a:cs typeface="Spoqa Han Sans Neo" pitchFamily="34" charset="-120"/>
              </a:rPr>
              <a:t>불필요한 부분을 깎아냄</a:t>
            </a:r>
            <a:endParaRPr lang="en-US" sz="980" dirty="0"/>
          </a:p>
        </p:txBody>
      </p:sp>
      <p:sp>
        <p:nvSpPr>
          <p:cNvPr id="29" name="Shape 27"/>
          <p:cNvSpPr/>
          <p:nvPr/>
        </p:nvSpPr>
        <p:spPr>
          <a:xfrm>
            <a:off x="9530243" y="1865376"/>
            <a:ext cx="2094525" cy="1133856"/>
          </a:xfrm>
          <a:prstGeom prst="rect">
            <a:avLst/>
          </a:prstGeom>
          <a:solidFill>
            <a:srgbClr val="FFFFFF"/>
          </a:solidFill>
          <a:ln w="9525">
            <a:solidFill>
              <a:srgbClr val="CDCECB"/>
            </a:solidFill>
            <a:prstDash val="solid"/>
          </a:ln>
        </p:spPr>
      </p:sp>
      <p:sp>
        <p:nvSpPr>
          <p:cNvPr id="30" name="Shape 28"/>
          <p:cNvSpPr/>
          <p:nvPr/>
        </p:nvSpPr>
        <p:spPr>
          <a:xfrm>
            <a:off x="9694835" y="2011680"/>
            <a:ext cx="256032" cy="256032"/>
          </a:xfrm>
          <a:prstGeom prst="rect">
            <a:avLst/>
          </a:prstGeom>
          <a:solidFill>
            <a:srgbClr val="043B72"/>
          </a:solidFill>
          <a:ln w="12700">
            <a:solidFill>
              <a:srgbClr val="333333"/>
            </a:solidFill>
            <a:prstDash val="solid"/>
          </a:ln>
        </p:spPr>
      </p:sp>
      <p:sp>
        <p:nvSpPr>
          <p:cNvPr id="31" name="Text 29"/>
          <p:cNvSpPr/>
          <p:nvPr/>
        </p:nvSpPr>
        <p:spPr>
          <a:xfrm>
            <a:off x="9694835" y="201168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5</a:t>
            </a:r>
            <a:endParaRPr lang="en-US" sz="1200" dirty="0"/>
          </a:p>
        </p:txBody>
      </p:sp>
      <p:sp>
        <p:nvSpPr>
          <p:cNvPr id="32" name="Text 30"/>
          <p:cNvSpPr/>
          <p:nvPr/>
        </p:nvSpPr>
        <p:spPr>
          <a:xfrm>
            <a:off x="9694835" y="2340864"/>
            <a:ext cx="1765341"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이온 주입</a:t>
            </a:r>
            <a:endParaRPr lang="en-US" sz="1200" dirty="0"/>
          </a:p>
        </p:txBody>
      </p:sp>
      <p:sp>
        <p:nvSpPr>
          <p:cNvPr id="33" name="Text 31"/>
          <p:cNvSpPr/>
          <p:nvPr/>
        </p:nvSpPr>
        <p:spPr>
          <a:xfrm>
            <a:off x="9694835" y="2596896"/>
            <a:ext cx="1765341" cy="347472"/>
          </a:xfrm>
          <a:prstGeom prst="rect">
            <a:avLst/>
          </a:prstGeom>
          <a:noFill/>
          <a:ln/>
        </p:spPr>
        <p:txBody>
          <a:bodyPr wrap="square" lIns="0" tIns="0" rIns="0" bIns="0" rtlCol="0" anchor="ctr"/>
          <a:lstStyle/>
          <a:p>
            <a:pPr indent="0" marL="0">
              <a:lnSpc>
                <a:spcPct val="115000"/>
              </a:lnSpc>
              <a:buNone/>
            </a:pPr>
            <a:r>
              <a:rPr lang="en-US" sz="980" dirty="0">
                <a:solidFill>
                  <a:srgbClr val="6C6C6C"/>
                </a:solidFill>
                <a:latin typeface="Spoqa Han Sans Neo" pitchFamily="34" charset="0"/>
                <a:ea typeface="Spoqa Han Sans Neo" pitchFamily="34" charset="-122"/>
                <a:cs typeface="Spoqa Han Sans Neo" pitchFamily="34" charset="-120"/>
              </a:rPr>
              <a:t>불순물을 넣어 전기 특성 부여</a:t>
            </a:r>
            <a:endParaRPr lang="en-US" sz="980" dirty="0"/>
          </a:p>
        </p:txBody>
      </p:sp>
      <p:sp>
        <p:nvSpPr>
          <p:cNvPr id="34" name="Text 32"/>
          <p:cNvSpPr/>
          <p:nvPr/>
        </p:nvSpPr>
        <p:spPr>
          <a:xfrm>
            <a:off x="566928" y="3127248"/>
            <a:ext cx="11057839" cy="256032"/>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후공정 (Back-End) — 칩을 잘라 포장하고 검사한다</a:t>
            </a:r>
            <a:endParaRPr lang="en-US" sz="1300" dirty="0"/>
          </a:p>
        </p:txBody>
      </p:sp>
      <p:sp>
        <p:nvSpPr>
          <p:cNvPr id="35" name="Shape 33"/>
          <p:cNvSpPr/>
          <p:nvPr/>
        </p:nvSpPr>
        <p:spPr>
          <a:xfrm>
            <a:off x="566928" y="3438144"/>
            <a:ext cx="3588410" cy="932688"/>
          </a:xfrm>
          <a:prstGeom prst="rect">
            <a:avLst/>
          </a:prstGeom>
          <a:solidFill>
            <a:srgbClr val="FFF3E8"/>
          </a:solidFill>
          <a:ln w="9525">
            <a:solidFill>
              <a:srgbClr val="FAB072"/>
            </a:solidFill>
            <a:prstDash val="solid"/>
          </a:ln>
        </p:spPr>
      </p:sp>
      <p:sp>
        <p:nvSpPr>
          <p:cNvPr id="36" name="Shape 34"/>
          <p:cNvSpPr/>
          <p:nvPr/>
        </p:nvSpPr>
        <p:spPr>
          <a:xfrm>
            <a:off x="749808" y="3566160"/>
            <a:ext cx="256032" cy="256032"/>
          </a:xfrm>
          <a:prstGeom prst="rect">
            <a:avLst/>
          </a:prstGeom>
          <a:solidFill>
            <a:srgbClr val="F58220"/>
          </a:solidFill>
          <a:ln w="12700">
            <a:solidFill>
              <a:srgbClr val="333333"/>
            </a:solidFill>
            <a:prstDash val="solid"/>
          </a:ln>
        </p:spPr>
      </p:sp>
      <p:sp>
        <p:nvSpPr>
          <p:cNvPr id="37" name="Text 35"/>
          <p:cNvSpPr/>
          <p:nvPr/>
        </p:nvSpPr>
        <p:spPr>
          <a:xfrm>
            <a:off x="749808" y="356616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6</a:t>
            </a:r>
            <a:endParaRPr lang="en-US" sz="1200" dirty="0"/>
          </a:p>
        </p:txBody>
      </p:sp>
      <p:sp>
        <p:nvSpPr>
          <p:cNvPr id="38" name="Text 36"/>
          <p:cNvSpPr/>
          <p:nvPr/>
        </p:nvSpPr>
        <p:spPr>
          <a:xfrm>
            <a:off x="1115568" y="3566160"/>
            <a:ext cx="2856890" cy="256032"/>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웨이퍼 테스트</a:t>
            </a:r>
            <a:endParaRPr lang="en-US" sz="1250" dirty="0"/>
          </a:p>
        </p:txBody>
      </p:sp>
      <p:sp>
        <p:nvSpPr>
          <p:cNvPr id="39" name="Text 37"/>
          <p:cNvSpPr/>
          <p:nvPr/>
        </p:nvSpPr>
        <p:spPr>
          <a:xfrm>
            <a:off x="749808" y="3895344"/>
            <a:ext cx="3222650" cy="310896"/>
          </a:xfrm>
          <a:prstGeom prst="rect">
            <a:avLst/>
          </a:prstGeom>
          <a:noFill/>
          <a:ln/>
        </p:spPr>
        <p:txBody>
          <a:bodyPr wrap="square" lIns="0" tIns="0" rIns="0" bIns="0" rtlCol="0" anchor="ct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불량 칩을 걸러냄(EDS)</a:t>
            </a:r>
            <a:endParaRPr lang="en-US" sz="1050" dirty="0"/>
          </a:p>
        </p:txBody>
      </p:sp>
      <p:sp>
        <p:nvSpPr>
          <p:cNvPr id="40" name="Shape 38"/>
          <p:cNvSpPr/>
          <p:nvPr/>
        </p:nvSpPr>
        <p:spPr>
          <a:xfrm>
            <a:off x="4301642" y="3438144"/>
            <a:ext cx="3588410" cy="932688"/>
          </a:xfrm>
          <a:prstGeom prst="rect">
            <a:avLst/>
          </a:prstGeom>
          <a:solidFill>
            <a:srgbClr val="FFF3E8"/>
          </a:solidFill>
          <a:ln w="9525">
            <a:solidFill>
              <a:srgbClr val="FAB072"/>
            </a:solidFill>
            <a:prstDash val="solid"/>
          </a:ln>
        </p:spPr>
      </p:sp>
      <p:sp>
        <p:nvSpPr>
          <p:cNvPr id="41" name="Shape 39"/>
          <p:cNvSpPr/>
          <p:nvPr/>
        </p:nvSpPr>
        <p:spPr>
          <a:xfrm>
            <a:off x="4484522" y="3566160"/>
            <a:ext cx="256032" cy="256032"/>
          </a:xfrm>
          <a:prstGeom prst="rect">
            <a:avLst/>
          </a:prstGeom>
          <a:solidFill>
            <a:srgbClr val="F58220"/>
          </a:solidFill>
          <a:ln w="12700">
            <a:solidFill>
              <a:srgbClr val="333333"/>
            </a:solidFill>
            <a:prstDash val="solid"/>
          </a:ln>
        </p:spPr>
      </p:sp>
      <p:sp>
        <p:nvSpPr>
          <p:cNvPr id="42" name="Text 40"/>
          <p:cNvSpPr/>
          <p:nvPr/>
        </p:nvSpPr>
        <p:spPr>
          <a:xfrm>
            <a:off x="4484522" y="356616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7</a:t>
            </a:r>
            <a:endParaRPr lang="en-US" sz="1200" dirty="0"/>
          </a:p>
        </p:txBody>
      </p:sp>
      <p:sp>
        <p:nvSpPr>
          <p:cNvPr id="43" name="Text 41"/>
          <p:cNvSpPr/>
          <p:nvPr/>
        </p:nvSpPr>
        <p:spPr>
          <a:xfrm>
            <a:off x="4850282" y="3566160"/>
            <a:ext cx="2856890" cy="256032"/>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패키징</a:t>
            </a:r>
            <a:endParaRPr lang="en-US" sz="1250" dirty="0"/>
          </a:p>
        </p:txBody>
      </p:sp>
      <p:sp>
        <p:nvSpPr>
          <p:cNvPr id="44" name="Text 42"/>
          <p:cNvSpPr/>
          <p:nvPr/>
        </p:nvSpPr>
        <p:spPr>
          <a:xfrm>
            <a:off x="4484522" y="3895344"/>
            <a:ext cx="3222650" cy="310896"/>
          </a:xfrm>
          <a:prstGeom prst="rect">
            <a:avLst/>
          </a:prstGeom>
          <a:noFill/>
          <a:ln/>
        </p:spPr>
        <p:txBody>
          <a:bodyPr wrap="square" lIns="0" tIns="0" rIns="0" bIns="0" rtlCol="0" anchor="ct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칩을 보호·연결 — 지금 최대 격전지</a:t>
            </a:r>
            <a:endParaRPr lang="en-US" sz="1050" dirty="0"/>
          </a:p>
        </p:txBody>
      </p:sp>
      <p:sp>
        <p:nvSpPr>
          <p:cNvPr id="45" name="Shape 43"/>
          <p:cNvSpPr/>
          <p:nvPr/>
        </p:nvSpPr>
        <p:spPr>
          <a:xfrm>
            <a:off x="8036357" y="3438144"/>
            <a:ext cx="3588410" cy="932688"/>
          </a:xfrm>
          <a:prstGeom prst="rect">
            <a:avLst/>
          </a:prstGeom>
          <a:solidFill>
            <a:srgbClr val="FFF3E8"/>
          </a:solidFill>
          <a:ln w="9525">
            <a:solidFill>
              <a:srgbClr val="FAB072"/>
            </a:solidFill>
            <a:prstDash val="solid"/>
          </a:ln>
        </p:spPr>
      </p:sp>
      <p:sp>
        <p:nvSpPr>
          <p:cNvPr id="46" name="Shape 44"/>
          <p:cNvSpPr/>
          <p:nvPr/>
        </p:nvSpPr>
        <p:spPr>
          <a:xfrm>
            <a:off x="8219237" y="3566160"/>
            <a:ext cx="256032" cy="256032"/>
          </a:xfrm>
          <a:prstGeom prst="rect">
            <a:avLst/>
          </a:prstGeom>
          <a:solidFill>
            <a:srgbClr val="F58220"/>
          </a:solidFill>
          <a:ln w="12700">
            <a:solidFill>
              <a:srgbClr val="333333"/>
            </a:solidFill>
            <a:prstDash val="solid"/>
          </a:ln>
        </p:spPr>
      </p:sp>
      <p:sp>
        <p:nvSpPr>
          <p:cNvPr id="47" name="Text 45"/>
          <p:cNvSpPr/>
          <p:nvPr/>
        </p:nvSpPr>
        <p:spPr>
          <a:xfrm>
            <a:off x="8219237" y="356616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8</a:t>
            </a:r>
            <a:endParaRPr lang="en-US" sz="1200" dirty="0"/>
          </a:p>
        </p:txBody>
      </p:sp>
      <p:sp>
        <p:nvSpPr>
          <p:cNvPr id="48" name="Text 46"/>
          <p:cNvSpPr/>
          <p:nvPr/>
        </p:nvSpPr>
        <p:spPr>
          <a:xfrm>
            <a:off x="8584997" y="3566160"/>
            <a:ext cx="2856890" cy="256032"/>
          </a:xfrm>
          <a:prstGeom prst="rect">
            <a:avLst/>
          </a:prstGeom>
          <a:noFill/>
          <a:ln/>
        </p:spPr>
        <p:txBody>
          <a:bodyPr wrap="square" lIns="0" tIns="0" rIns="0" bIns="0" rtlCol="0" anchor="ctr"/>
          <a:lstStyle/>
          <a:p>
            <a:pPr indent="0" marL="0">
              <a:buNone/>
            </a:pPr>
            <a:r>
              <a:rPr lang="en-US" sz="1250" b="1" dirty="0">
                <a:solidFill>
                  <a:srgbClr val="1A1A1A"/>
                </a:solidFill>
                <a:latin typeface="Spoqa Han Sans Neo" pitchFamily="34" charset="0"/>
                <a:ea typeface="Spoqa Han Sans Neo" pitchFamily="34" charset="-122"/>
                <a:cs typeface="Spoqa Han Sans Neo" pitchFamily="34" charset="-120"/>
              </a:rPr>
              <a:t>최종 검사</a:t>
            </a:r>
            <a:endParaRPr lang="en-US" sz="1250" dirty="0"/>
          </a:p>
        </p:txBody>
      </p:sp>
      <p:sp>
        <p:nvSpPr>
          <p:cNvPr id="49" name="Text 47"/>
          <p:cNvSpPr/>
          <p:nvPr/>
        </p:nvSpPr>
        <p:spPr>
          <a:xfrm>
            <a:off x="8219237" y="3895344"/>
            <a:ext cx="3222650" cy="310896"/>
          </a:xfrm>
          <a:prstGeom prst="rect">
            <a:avLst/>
          </a:prstGeom>
          <a:noFill/>
          <a:ln/>
        </p:spPr>
        <p:txBody>
          <a:bodyPr wrap="square" lIns="0" tIns="0" rIns="0" bIns="0" rtlCol="0" anchor="ctr"/>
          <a:lstStyle/>
          <a:p>
            <a:pPr indent="0" marL="0">
              <a:buNone/>
            </a:pPr>
            <a:r>
              <a:rPr lang="en-US" sz="1050" dirty="0">
                <a:solidFill>
                  <a:srgbClr val="3D3D3D"/>
                </a:solidFill>
                <a:latin typeface="Spoqa Han Sans Neo" pitchFamily="34" charset="0"/>
                <a:ea typeface="Spoqa Han Sans Neo" pitchFamily="34" charset="-122"/>
                <a:cs typeface="Spoqa Han Sans Neo" pitchFamily="34" charset="-120"/>
              </a:rPr>
              <a:t>성능·신뢰성 검증 후 출하</a:t>
            </a:r>
            <a:endParaRPr lang="en-US" sz="1050" dirty="0"/>
          </a:p>
        </p:txBody>
      </p:sp>
      <p:sp>
        <p:nvSpPr>
          <p:cNvPr id="50" name="Shape 48"/>
          <p:cNvSpPr/>
          <p:nvPr/>
        </p:nvSpPr>
        <p:spPr>
          <a:xfrm>
            <a:off x="566928" y="4572000"/>
            <a:ext cx="11057839" cy="1371600"/>
          </a:xfrm>
          <a:prstGeom prst="rect">
            <a:avLst/>
          </a:prstGeom>
          <a:solidFill>
            <a:srgbClr val="ECEFF4"/>
          </a:solidFill>
          <a:ln w="9525">
            <a:solidFill>
              <a:srgbClr val="CDCECB"/>
            </a:solidFill>
            <a:prstDash val="solid"/>
          </a:ln>
        </p:spPr>
      </p:sp>
      <p:sp>
        <p:nvSpPr>
          <p:cNvPr id="51" name="Text 49"/>
          <p:cNvSpPr/>
          <p:nvPr/>
        </p:nvSpPr>
        <p:spPr>
          <a:xfrm>
            <a:off x="841248" y="4754880"/>
            <a:ext cx="548640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왜 '첨단 패키징'이 갑자기 중요해졌나</a:t>
            </a:r>
            <a:endParaRPr lang="en-US" sz="1350" dirty="0"/>
          </a:p>
        </p:txBody>
      </p:sp>
      <p:sp>
        <p:nvSpPr>
          <p:cNvPr id="52" name="Text 50"/>
          <p:cNvSpPr/>
          <p:nvPr/>
        </p:nvSpPr>
        <p:spPr>
          <a:xfrm>
            <a:off x="841248" y="5047488"/>
            <a:ext cx="10509199" cy="822960"/>
          </a:xfrm>
          <a:prstGeom prst="rect">
            <a:avLst/>
          </a:prstGeom>
          <a:noFill/>
          <a:ln/>
        </p:spPr>
        <p:txBody>
          <a:bodyPr wrap="square" lIns="0" tIns="0" rIns="0" bIns="0" rtlCol="0" anchor="ctr"/>
          <a:lstStyle/>
          <a:p>
            <a:pPr indent="0" marL="0">
              <a:lnSpc>
                <a:spcPct val="135000"/>
              </a:lnSpc>
              <a:buNone/>
            </a:pPr>
            <a:r>
              <a:rPr lang="en-US" sz="1150" dirty="0">
                <a:solidFill>
                  <a:srgbClr val="3D3D3D"/>
                </a:solidFill>
                <a:latin typeface="Spoqa Han Sans Neo" pitchFamily="34" charset="0"/>
                <a:ea typeface="Spoqa Han Sans Neo" pitchFamily="34" charset="-122"/>
                <a:cs typeface="Spoqa Han Sans Neo" pitchFamily="34" charset="-120"/>
              </a:rPr>
              <a:t>미세화(더 작게 만들기)가 물리적 한계에 부딪히면서, 성능을 끌어올리는 방법이 '칩을 잘 조립하기'로 옮겨왔다. HBM을 GPU 옆에 붙이는 TSMC의 CoWoS, D램을 수직 적층하는 TSV·하이브리드 본딩이 대표적이다. 엔비디아 차세대 플랫폼 '베라 루빈'은 패키징 방식을 CoWoS-S/R/L 세 갈래로 나눠 적용하며, 이 패키징 캐파가 곧 AI 가속기 생산량의 상한선이 된다.</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1 · 산업 구조</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누가 설계하고 누가 만드는가 — 4가지 사업 모델</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'설계와 제조의 분리'가 이 산업의 지형을 만들었다. 메모리만 여전히 통합(IDM) 모델이다.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8</a:t>
            </a:r>
            <a:endParaRPr lang="en-US" sz="900" dirty="0"/>
          </a:p>
        </p:txBody>
      </p:sp>
      <p:sp>
        <p:nvSpPr>
          <p:cNvPr id="8" name="Shape 6"/>
          <p:cNvSpPr/>
          <p:nvPr/>
        </p:nvSpPr>
        <p:spPr>
          <a:xfrm>
            <a:off x="566928" y="1591056"/>
            <a:ext cx="2627300" cy="2286000"/>
          </a:xfrm>
          <a:prstGeom prst="rect">
            <a:avLst/>
          </a:prstGeom>
          <a:solidFill>
            <a:srgbClr val="FFFFFF"/>
          </a:solidFill>
          <a:ln w="9525">
            <a:solidFill>
              <a:srgbClr val="CDCECB"/>
            </a:solidFill>
            <a:prstDash val="solid"/>
          </a:ln>
        </p:spPr>
      </p:sp>
      <p:sp>
        <p:nvSpPr>
          <p:cNvPr id="9" name="Shape 7"/>
          <p:cNvSpPr/>
          <p:nvPr/>
        </p:nvSpPr>
        <p:spPr>
          <a:xfrm>
            <a:off x="566928" y="1591056"/>
            <a:ext cx="2627300" cy="54864"/>
          </a:xfrm>
          <a:prstGeom prst="rect">
            <a:avLst/>
          </a:prstGeom>
          <a:solidFill>
            <a:srgbClr val="F58220"/>
          </a:solidFill>
          <a:ln w="12700">
            <a:solidFill>
              <a:srgbClr val="333333"/>
            </a:solidFill>
            <a:prstDash val="solid"/>
          </a:ln>
        </p:spPr>
      </p:sp>
      <p:sp>
        <p:nvSpPr>
          <p:cNvPr id="10" name="Text 8"/>
          <p:cNvSpPr/>
          <p:nvPr/>
        </p:nvSpPr>
        <p:spPr>
          <a:xfrm>
            <a:off x="786384" y="1755648"/>
            <a:ext cx="2188388" cy="310896"/>
          </a:xfrm>
          <a:prstGeom prst="rect">
            <a:avLst/>
          </a:prstGeom>
          <a:noFill/>
          <a:ln/>
        </p:spPr>
        <p:txBody>
          <a:bodyPr wrap="square" lIns="0" tIns="0" rIns="0" bIns="0" rtlCol="0" anchor="ctr"/>
          <a:lstStyle/>
          <a:p>
            <a:pPr indent="0" marL="0">
              <a:buNone/>
            </a:pPr>
            <a:r>
              <a:rPr lang="en-US" sz="1900" b="1" dirty="0">
                <a:solidFill>
                  <a:srgbClr val="F58220"/>
                </a:solidFill>
                <a:latin typeface="Spoqa Han Sans Neo" pitchFamily="34" charset="0"/>
                <a:ea typeface="Spoqa Han Sans Neo" pitchFamily="34" charset="-122"/>
                <a:cs typeface="Spoqa Han Sans Neo" pitchFamily="34" charset="-120"/>
              </a:rPr>
              <a:t>IDM</a:t>
            </a:r>
            <a:endParaRPr lang="en-US" sz="1900" dirty="0"/>
          </a:p>
        </p:txBody>
      </p:sp>
      <p:sp>
        <p:nvSpPr>
          <p:cNvPr id="11" name="Text 9"/>
          <p:cNvSpPr/>
          <p:nvPr/>
        </p:nvSpPr>
        <p:spPr>
          <a:xfrm>
            <a:off x="786384" y="2066544"/>
            <a:ext cx="2188388" cy="237744"/>
          </a:xfrm>
          <a:prstGeom prst="rect">
            <a:avLst/>
          </a:prstGeom>
          <a:noFill/>
          <a:ln/>
        </p:spPr>
        <p:txBody>
          <a:bodyPr wrap="square" lIns="0" tIns="0" rIns="0" bIns="0" rtlCol="0" anchor="ctr"/>
          <a:lstStyle/>
          <a:p>
            <a:pPr indent="0" marL="0">
              <a:buNone/>
            </a:pPr>
            <a:r>
              <a:rPr lang="en-US" sz="1100" b="1" dirty="0">
                <a:solidFill>
                  <a:srgbClr val="6C6C6C"/>
                </a:solidFill>
                <a:latin typeface="Spoqa Han Sans Neo" pitchFamily="34" charset="0"/>
                <a:ea typeface="Spoqa Han Sans Neo" pitchFamily="34" charset="-122"/>
                <a:cs typeface="Spoqa Han Sans Neo" pitchFamily="34" charset="-120"/>
              </a:rPr>
              <a:t>종합 반도체 기업</a:t>
            </a:r>
            <a:endParaRPr lang="en-US" sz="1100" dirty="0"/>
          </a:p>
        </p:txBody>
      </p:sp>
      <p:sp>
        <p:nvSpPr>
          <p:cNvPr id="12" name="Text 10"/>
          <p:cNvSpPr/>
          <p:nvPr/>
        </p:nvSpPr>
        <p:spPr>
          <a:xfrm>
            <a:off x="786384" y="2377440"/>
            <a:ext cx="2188388" cy="914400"/>
          </a:xfrm>
          <a:prstGeom prst="rect">
            <a:avLst/>
          </a:prstGeom>
          <a:noFill/>
          <a:ln/>
        </p:spPr>
        <p:txBody>
          <a:bodyPr wrap="square" lIns="0" tIns="0" rIns="0" bIns="0" rtlCol="0" anchor="ctr"/>
          <a:lstStyle/>
          <a:p>
            <a:pPr indent="0" marL="0">
              <a:lnSpc>
                <a:spcPct val="128000"/>
              </a:lnSpc>
              <a:buNone/>
            </a:pPr>
            <a:r>
              <a:rPr lang="en-US" sz="1080" dirty="0">
                <a:solidFill>
                  <a:srgbClr val="3D3D3D"/>
                </a:solidFill>
                <a:latin typeface="Spoqa Han Sans Neo" pitchFamily="34" charset="0"/>
                <a:ea typeface="Spoqa Han Sans Neo" pitchFamily="34" charset="-122"/>
                <a:cs typeface="Spoqa Han Sans Neo" pitchFamily="34" charset="-120"/>
              </a:rPr>
              <a:t>설계 → 제조 → 패키징 → 판매를 모두 직접 수행. 막대한 설비투자가 필요하지만 공정 최적화 우위.</a:t>
            </a:r>
            <a:endParaRPr lang="en-US" sz="1080" dirty="0"/>
          </a:p>
        </p:txBody>
      </p:sp>
      <p:sp>
        <p:nvSpPr>
          <p:cNvPr id="13" name="Shape 11"/>
          <p:cNvSpPr/>
          <p:nvPr/>
        </p:nvSpPr>
        <p:spPr>
          <a:xfrm>
            <a:off x="786384" y="3310128"/>
            <a:ext cx="2188388" cy="7315"/>
          </a:xfrm>
          <a:prstGeom prst="rect">
            <a:avLst/>
          </a:prstGeom>
          <a:solidFill>
            <a:srgbClr val="E5E4E1"/>
          </a:solidFill>
          <a:ln w="12700">
            <a:solidFill>
              <a:srgbClr val="333333"/>
            </a:solidFill>
            <a:prstDash val="solid"/>
          </a:ln>
        </p:spPr>
      </p:sp>
      <p:sp>
        <p:nvSpPr>
          <p:cNvPr id="14" name="Text 12"/>
          <p:cNvSpPr/>
          <p:nvPr/>
        </p:nvSpPr>
        <p:spPr>
          <a:xfrm>
            <a:off x="786384" y="3383280"/>
            <a:ext cx="2188388" cy="420624"/>
          </a:xfrm>
          <a:prstGeom prst="rect">
            <a:avLst/>
          </a:prstGeom>
          <a:noFill/>
          <a:ln/>
        </p:spPr>
        <p:txBody>
          <a:bodyPr wrap="square" lIns="0" tIns="0" rIns="0" bIns="0" rtlCol="0" anchor="ctr"/>
          <a:lstStyle/>
          <a:p>
            <a:pPr indent="0" marL="0">
              <a:lnSpc>
                <a:spcPct val="120000"/>
              </a:lnSpc>
              <a:buNone/>
            </a:pPr>
            <a:r>
              <a:rPr lang="en-US" sz="1000" b="1" dirty="0">
                <a:solidFill>
                  <a:srgbClr val="043B72"/>
                </a:solidFill>
                <a:latin typeface="Spoqa Han Sans Neo" pitchFamily="34" charset="0"/>
                <a:ea typeface="Spoqa Han Sans Neo" pitchFamily="34" charset="-122"/>
                <a:cs typeface="Spoqa Han Sans Neo" pitchFamily="34" charset="-120"/>
              </a:rPr>
              <a:t>삼성전자 · SK하이닉스 · 마이크론 · 인텔 · TI</a:t>
            </a:r>
            <a:endParaRPr lang="en-US" sz="1000" dirty="0"/>
          </a:p>
        </p:txBody>
      </p:sp>
      <p:sp>
        <p:nvSpPr>
          <p:cNvPr id="15" name="Shape 13"/>
          <p:cNvSpPr/>
          <p:nvPr/>
        </p:nvSpPr>
        <p:spPr>
          <a:xfrm>
            <a:off x="3377108" y="1591056"/>
            <a:ext cx="2627300" cy="2286000"/>
          </a:xfrm>
          <a:prstGeom prst="rect">
            <a:avLst/>
          </a:prstGeom>
          <a:solidFill>
            <a:srgbClr val="FFFFFF"/>
          </a:solidFill>
          <a:ln w="9525">
            <a:solidFill>
              <a:srgbClr val="CDCECB"/>
            </a:solidFill>
            <a:prstDash val="solid"/>
          </a:ln>
        </p:spPr>
      </p:sp>
      <p:sp>
        <p:nvSpPr>
          <p:cNvPr id="16" name="Shape 14"/>
          <p:cNvSpPr/>
          <p:nvPr/>
        </p:nvSpPr>
        <p:spPr>
          <a:xfrm>
            <a:off x="3377108" y="1591056"/>
            <a:ext cx="2627300" cy="54864"/>
          </a:xfrm>
          <a:prstGeom prst="rect">
            <a:avLst/>
          </a:prstGeom>
          <a:solidFill>
            <a:srgbClr val="043B72"/>
          </a:solidFill>
          <a:ln w="12700">
            <a:solidFill>
              <a:srgbClr val="333333"/>
            </a:solidFill>
            <a:prstDash val="solid"/>
          </a:ln>
        </p:spPr>
      </p:sp>
      <p:sp>
        <p:nvSpPr>
          <p:cNvPr id="17" name="Text 15"/>
          <p:cNvSpPr/>
          <p:nvPr/>
        </p:nvSpPr>
        <p:spPr>
          <a:xfrm>
            <a:off x="3596564" y="1755648"/>
            <a:ext cx="2188388" cy="310896"/>
          </a:xfrm>
          <a:prstGeom prst="rect">
            <a:avLst/>
          </a:prstGeom>
          <a:noFill/>
          <a:ln/>
        </p:spPr>
        <p:txBody>
          <a:bodyPr wrap="square" lIns="0" tIns="0" rIns="0" bIns="0" rtlCol="0" anchor="ctr"/>
          <a:lstStyle/>
          <a:p>
            <a:pPr indent="0" marL="0">
              <a:buNone/>
            </a:pPr>
            <a:r>
              <a:rPr lang="en-US" sz="1900" b="1" dirty="0">
                <a:solidFill>
                  <a:srgbClr val="043B72"/>
                </a:solidFill>
                <a:latin typeface="Spoqa Han Sans Neo" pitchFamily="34" charset="0"/>
                <a:ea typeface="Spoqa Han Sans Neo" pitchFamily="34" charset="-122"/>
                <a:cs typeface="Spoqa Han Sans Neo" pitchFamily="34" charset="-120"/>
              </a:rPr>
              <a:t>팹리스</a:t>
            </a:r>
            <a:endParaRPr lang="en-US" sz="1900" dirty="0"/>
          </a:p>
        </p:txBody>
      </p:sp>
      <p:sp>
        <p:nvSpPr>
          <p:cNvPr id="18" name="Text 16"/>
          <p:cNvSpPr/>
          <p:nvPr/>
        </p:nvSpPr>
        <p:spPr>
          <a:xfrm>
            <a:off x="3596564" y="2066544"/>
            <a:ext cx="2188388" cy="237744"/>
          </a:xfrm>
          <a:prstGeom prst="rect">
            <a:avLst/>
          </a:prstGeom>
          <a:noFill/>
          <a:ln/>
        </p:spPr>
        <p:txBody>
          <a:bodyPr wrap="square" lIns="0" tIns="0" rIns="0" bIns="0" rtlCol="0" anchor="ctr"/>
          <a:lstStyle/>
          <a:p>
            <a:pPr indent="0" marL="0">
              <a:buNone/>
            </a:pPr>
            <a:r>
              <a:rPr lang="en-US" sz="1100" b="1" dirty="0">
                <a:solidFill>
                  <a:srgbClr val="6C6C6C"/>
                </a:solidFill>
                <a:latin typeface="Spoqa Han Sans Neo" pitchFamily="34" charset="0"/>
                <a:ea typeface="Spoqa Han Sans Neo" pitchFamily="34" charset="-122"/>
                <a:cs typeface="Spoqa Han Sans Neo" pitchFamily="34" charset="-120"/>
              </a:rPr>
              <a:t>설계 전문</a:t>
            </a:r>
            <a:endParaRPr lang="en-US" sz="1100" dirty="0"/>
          </a:p>
        </p:txBody>
      </p:sp>
      <p:sp>
        <p:nvSpPr>
          <p:cNvPr id="19" name="Text 17"/>
          <p:cNvSpPr/>
          <p:nvPr/>
        </p:nvSpPr>
        <p:spPr>
          <a:xfrm>
            <a:off x="3596564" y="2377440"/>
            <a:ext cx="2188388" cy="914400"/>
          </a:xfrm>
          <a:prstGeom prst="rect">
            <a:avLst/>
          </a:prstGeom>
          <a:noFill/>
          <a:ln/>
        </p:spPr>
        <p:txBody>
          <a:bodyPr wrap="square" lIns="0" tIns="0" rIns="0" bIns="0" rtlCol="0" anchor="ctr"/>
          <a:lstStyle/>
          <a:p>
            <a:pPr indent="0" marL="0">
              <a:lnSpc>
                <a:spcPct val="128000"/>
              </a:lnSpc>
              <a:buNone/>
            </a:pPr>
            <a:r>
              <a:rPr lang="en-US" sz="1080" dirty="0">
                <a:solidFill>
                  <a:srgbClr val="3D3D3D"/>
                </a:solidFill>
                <a:latin typeface="Spoqa Han Sans Neo" pitchFamily="34" charset="0"/>
                <a:ea typeface="Spoqa Han Sans Neo" pitchFamily="34" charset="-122"/>
                <a:cs typeface="Spoqa Han Sans Neo" pitchFamily="34" charset="-120"/>
              </a:rPr>
              <a:t>공장 없이 설계와 판매만. 자본 부담이 없고 IP·소프트웨어 생태계가 경쟁력.</a:t>
            </a:r>
            <a:endParaRPr lang="en-US" sz="1080" dirty="0"/>
          </a:p>
        </p:txBody>
      </p:sp>
      <p:sp>
        <p:nvSpPr>
          <p:cNvPr id="20" name="Shape 18"/>
          <p:cNvSpPr/>
          <p:nvPr/>
        </p:nvSpPr>
        <p:spPr>
          <a:xfrm>
            <a:off x="3596564" y="3310128"/>
            <a:ext cx="2188388" cy="7315"/>
          </a:xfrm>
          <a:prstGeom prst="rect">
            <a:avLst/>
          </a:prstGeom>
          <a:solidFill>
            <a:srgbClr val="E5E4E1"/>
          </a:solidFill>
          <a:ln w="12700">
            <a:solidFill>
              <a:srgbClr val="333333"/>
            </a:solidFill>
            <a:prstDash val="solid"/>
          </a:ln>
        </p:spPr>
      </p:sp>
      <p:sp>
        <p:nvSpPr>
          <p:cNvPr id="21" name="Text 19"/>
          <p:cNvSpPr/>
          <p:nvPr/>
        </p:nvSpPr>
        <p:spPr>
          <a:xfrm>
            <a:off x="3596564" y="3383280"/>
            <a:ext cx="2188388" cy="420624"/>
          </a:xfrm>
          <a:prstGeom prst="rect">
            <a:avLst/>
          </a:prstGeom>
          <a:noFill/>
          <a:ln/>
        </p:spPr>
        <p:txBody>
          <a:bodyPr wrap="square" lIns="0" tIns="0" rIns="0" bIns="0" rtlCol="0" anchor="ctr"/>
          <a:lstStyle/>
          <a:p>
            <a:pPr indent="0" marL="0">
              <a:lnSpc>
                <a:spcPct val="120000"/>
              </a:lnSpc>
              <a:buNone/>
            </a:pPr>
            <a:r>
              <a:rPr lang="en-US" sz="1000" b="1" dirty="0">
                <a:solidFill>
                  <a:srgbClr val="043B72"/>
                </a:solidFill>
                <a:latin typeface="Spoqa Han Sans Neo" pitchFamily="34" charset="0"/>
                <a:ea typeface="Spoqa Han Sans Neo" pitchFamily="34" charset="-122"/>
                <a:cs typeface="Spoqa Han Sans Neo" pitchFamily="34" charset="-120"/>
              </a:rPr>
              <a:t>엔비디아 · AMD · 퀄컴 · 브로드컴 · 애플</a:t>
            </a:r>
            <a:endParaRPr lang="en-US" sz="1000" dirty="0"/>
          </a:p>
        </p:txBody>
      </p:sp>
      <p:sp>
        <p:nvSpPr>
          <p:cNvPr id="22" name="Shape 20"/>
          <p:cNvSpPr/>
          <p:nvPr/>
        </p:nvSpPr>
        <p:spPr>
          <a:xfrm>
            <a:off x="6187288" y="1591056"/>
            <a:ext cx="2627300" cy="2286000"/>
          </a:xfrm>
          <a:prstGeom prst="rect">
            <a:avLst/>
          </a:prstGeom>
          <a:solidFill>
            <a:srgbClr val="FFFFFF"/>
          </a:solidFill>
          <a:ln w="9525">
            <a:solidFill>
              <a:srgbClr val="CDCECB"/>
            </a:solidFill>
            <a:prstDash val="solid"/>
          </a:ln>
        </p:spPr>
      </p:sp>
      <p:sp>
        <p:nvSpPr>
          <p:cNvPr id="23" name="Shape 21"/>
          <p:cNvSpPr/>
          <p:nvPr/>
        </p:nvSpPr>
        <p:spPr>
          <a:xfrm>
            <a:off x="6187288" y="1591056"/>
            <a:ext cx="2627300" cy="54864"/>
          </a:xfrm>
          <a:prstGeom prst="rect">
            <a:avLst/>
          </a:prstGeom>
          <a:solidFill>
            <a:srgbClr val="F58220"/>
          </a:solidFill>
          <a:ln w="12700">
            <a:solidFill>
              <a:srgbClr val="333333"/>
            </a:solidFill>
            <a:prstDash val="solid"/>
          </a:ln>
        </p:spPr>
      </p:sp>
      <p:sp>
        <p:nvSpPr>
          <p:cNvPr id="24" name="Text 22"/>
          <p:cNvSpPr/>
          <p:nvPr/>
        </p:nvSpPr>
        <p:spPr>
          <a:xfrm>
            <a:off x="6406744" y="1755648"/>
            <a:ext cx="2188388" cy="310896"/>
          </a:xfrm>
          <a:prstGeom prst="rect">
            <a:avLst/>
          </a:prstGeom>
          <a:noFill/>
          <a:ln/>
        </p:spPr>
        <p:txBody>
          <a:bodyPr wrap="square" lIns="0" tIns="0" rIns="0" bIns="0" rtlCol="0" anchor="ctr"/>
          <a:lstStyle/>
          <a:p>
            <a:pPr indent="0" marL="0">
              <a:buNone/>
            </a:pPr>
            <a:r>
              <a:rPr lang="en-US" sz="1900" b="1" dirty="0">
                <a:solidFill>
                  <a:srgbClr val="F58220"/>
                </a:solidFill>
                <a:latin typeface="Spoqa Han Sans Neo" pitchFamily="34" charset="0"/>
                <a:ea typeface="Spoqa Han Sans Neo" pitchFamily="34" charset="-122"/>
                <a:cs typeface="Spoqa Han Sans Neo" pitchFamily="34" charset="-120"/>
              </a:rPr>
              <a:t>파운드리</a:t>
            </a:r>
            <a:endParaRPr lang="en-US" sz="1900" dirty="0"/>
          </a:p>
        </p:txBody>
      </p:sp>
      <p:sp>
        <p:nvSpPr>
          <p:cNvPr id="25" name="Text 23"/>
          <p:cNvSpPr/>
          <p:nvPr/>
        </p:nvSpPr>
        <p:spPr>
          <a:xfrm>
            <a:off x="6406744" y="2066544"/>
            <a:ext cx="2188388" cy="237744"/>
          </a:xfrm>
          <a:prstGeom prst="rect">
            <a:avLst/>
          </a:prstGeom>
          <a:noFill/>
          <a:ln/>
        </p:spPr>
        <p:txBody>
          <a:bodyPr wrap="square" lIns="0" tIns="0" rIns="0" bIns="0" rtlCol="0" anchor="ctr"/>
          <a:lstStyle/>
          <a:p>
            <a:pPr indent="0" marL="0">
              <a:buNone/>
            </a:pPr>
            <a:r>
              <a:rPr lang="en-US" sz="1100" b="1" dirty="0">
                <a:solidFill>
                  <a:srgbClr val="6C6C6C"/>
                </a:solidFill>
                <a:latin typeface="Spoqa Han Sans Neo" pitchFamily="34" charset="0"/>
                <a:ea typeface="Spoqa Han Sans Neo" pitchFamily="34" charset="-122"/>
                <a:cs typeface="Spoqa Han Sans Neo" pitchFamily="34" charset="-120"/>
              </a:rPr>
              <a:t>위탁 제조 전문</a:t>
            </a:r>
            <a:endParaRPr lang="en-US" sz="1100" dirty="0"/>
          </a:p>
        </p:txBody>
      </p:sp>
      <p:sp>
        <p:nvSpPr>
          <p:cNvPr id="26" name="Text 24"/>
          <p:cNvSpPr/>
          <p:nvPr/>
        </p:nvSpPr>
        <p:spPr>
          <a:xfrm>
            <a:off x="6406744" y="2377440"/>
            <a:ext cx="2188388" cy="914400"/>
          </a:xfrm>
          <a:prstGeom prst="rect">
            <a:avLst/>
          </a:prstGeom>
          <a:noFill/>
          <a:ln/>
        </p:spPr>
        <p:txBody>
          <a:bodyPr wrap="square" lIns="0" tIns="0" rIns="0" bIns="0" rtlCol="0" anchor="ctr"/>
          <a:lstStyle/>
          <a:p>
            <a:pPr indent="0" marL="0">
              <a:lnSpc>
                <a:spcPct val="128000"/>
              </a:lnSpc>
              <a:buNone/>
            </a:pPr>
            <a:r>
              <a:rPr lang="en-US" sz="1080" dirty="0">
                <a:solidFill>
                  <a:srgbClr val="3D3D3D"/>
                </a:solidFill>
                <a:latin typeface="Spoqa Han Sans Neo" pitchFamily="34" charset="0"/>
                <a:ea typeface="Spoqa Han Sans Neo" pitchFamily="34" charset="-122"/>
                <a:cs typeface="Spoqa Han Sans Neo" pitchFamily="34" charset="-120"/>
              </a:rPr>
              <a:t>남의 설계를 받아 생산만. 선단 공정 수율이 곧 이익. 승자 독식 구조가 극단적.</a:t>
            </a:r>
            <a:endParaRPr lang="en-US" sz="1080" dirty="0"/>
          </a:p>
        </p:txBody>
      </p:sp>
      <p:sp>
        <p:nvSpPr>
          <p:cNvPr id="27" name="Shape 25"/>
          <p:cNvSpPr/>
          <p:nvPr/>
        </p:nvSpPr>
        <p:spPr>
          <a:xfrm>
            <a:off x="6406744" y="3310128"/>
            <a:ext cx="2188388" cy="7315"/>
          </a:xfrm>
          <a:prstGeom prst="rect">
            <a:avLst/>
          </a:prstGeom>
          <a:solidFill>
            <a:srgbClr val="E5E4E1"/>
          </a:solidFill>
          <a:ln w="12700">
            <a:solidFill>
              <a:srgbClr val="333333"/>
            </a:solidFill>
            <a:prstDash val="solid"/>
          </a:ln>
        </p:spPr>
      </p:sp>
      <p:sp>
        <p:nvSpPr>
          <p:cNvPr id="28" name="Text 26"/>
          <p:cNvSpPr/>
          <p:nvPr/>
        </p:nvSpPr>
        <p:spPr>
          <a:xfrm>
            <a:off x="6406744" y="3383280"/>
            <a:ext cx="2188388" cy="420624"/>
          </a:xfrm>
          <a:prstGeom prst="rect">
            <a:avLst/>
          </a:prstGeom>
          <a:noFill/>
          <a:ln/>
        </p:spPr>
        <p:txBody>
          <a:bodyPr wrap="square" lIns="0" tIns="0" rIns="0" bIns="0" rtlCol="0" anchor="ctr"/>
          <a:lstStyle/>
          <a:p>
            <a:pPr indent="0" marL="0">
              <a:lnSpc>
                <a:spcPct val="120000"/>
              </a:lnSpc>
              <a:buNone/>
            </a:pPr>
            <a:r>
              <a:rPr lang="en-US" sz="1000" b="1" dirty="0">
                <a:solidFill>
                  <a:srgbClr val="043B72"/>
                </a:solidFill>
                <a:latin typeface="Spoqa Han Sans Neo" pitchFamily="34" charset="0"/>
                <a:ea typeface="Spoqa Han Sans Neo" pitchFamily="34" charset="-122"/>
                <a:cs typeface="Spoqa Han Sans Neo" pitchFamily="34" charset="-120"/>
              </a:rPr>
              <a:t>TSMC · 삼성 파운드리 · SMIC · UMC</a:t>
            </a:r>
            <a:endParaRPr lang="en-US" sz="1000" dirty="0"/>
          </a:p>
        </p:txBody>
      </p:sp>
      <p:sp>
        <p:nvSpPr>
          <p:cNvPr id="29" name="Shape 27"/>
          <p:cNvSpPr/>
          <p:nvPr/>
        </p:nvSpPr>
        <p:spPr>
          <a:xfrm>
            <a:off x="8997467" y="1591056"/>
            <a:ext cx="2627300" cy="2286000"/>
          </a:xfrm>
          <a:prstGeom prst="rect">
            <a:avLst/>
          </a:prstGeom>
          <a:solidFill>
            <a:srgbClr val="FFFFFF"/>
          </a:solidFill>
          <a:ln w="9525">
            <a:solidFill>
              <a:srgbClr val="CDCECB"/>
            </a:solidFill>
            <a:prstDash val="solid"/>
          </a:ln>
        </p:spPr>
      </p:sp>
      <p:sp>
        <p:nvSpPr>
          <p:cNvPr id="30" name="Shape 28"/>
          <p:cNvSpPr/>
          <p:nvPr/>
        </p:nvSpPr>
        <p:spPr>
          <a:xfrm>
            <a:off x="8997467" y="1591056"/>
            <a:ext cx="2627300" cy="54864"/>
          </a:xfrm>
          <a:prstGeom prst="rect">
            <a:avLst/>
          </a:prstGeom>
          <a:solidFill>
            <a:srgbClr val="043B72"/>
          </a:solidFill>
          <a:ln w="12700">
            <a:solidFill>
              <a:srgbClr val="333333"/>
            </a:solidFill>
            <a:prstDash val="solid"/>
          </a:ln>
        </p:spPr>
      </p:sp>
      <p:sp>
        <p:nvSpPr>
          <p:cNvPr id="31" name="Text 29"/>
          <p:cNvSpPr/>
          <p:nvPr/>
        </p:nvSpPr>
        <p:spPr>
          <a:xfrm>
            <a:off x="9216923" y="1755648"/>
            <a:ext cx="2188388" cy="310896"/>
          </a:xfrm>
          <a:prstGeom prst="rect">
            <a:avLst/>
          </a:prstGeom>
          <a:noFill/>
          <a:ln/>
        </p:spPr>
        <p:txBody>
          <a:bodyPr wrap="square" lIns="0" tIns="0" rIns="0" bIns="0" rtlCol="0" anchor="ctr"/>
          <a:lstStyle/>
          <a:p>
            <a:pPr indent="0" marL="0">
              <a:buNone/>
            </a:pPr>
            <a:r>
              <a:rPr lang="en-US" sz="1900" b="1" dirty="0">
                <a:solidFill>
                  <a:srgbClr val="043B72"/>
                </a:solidFill>
                <a:latin typeface="Spoqa Han Sans Neo" pitchFamily="34" charset="0"/>
                <a:ea typeface="Spoqa Han Sans Neo" pitchFamily="34" charset="-122"/>
                <a:cs typeface="Spoqa Han Sans Neo" pitchFamily="34" charset="-120"/>
              </a:rPr>
              <a:t>OSAT · 소부장</a:t>
            </a:r>
            <a:endParaRPr lang="en-US" sz="1900" dirty="0"/>
          </a:p>
        </p:txBody>
      </p:sp>
      <p:sp>
        <p:nvSpPr>
          <p:cNvPr id="32" name="Text 30"/>
          <p:cNvSpPr/>
          <p:nvPr/>
        </p:nvSpPr>
        <p:spPr>
          <a:xfrm>
            <a:off x="9216923" y="2066544"/>
            <a:ext cx="2188388" cy="237744"/>
          </a:xfrm>
          <a:prstGeom prst="rect">
            <a:avLst/>
          </a:prstGeom>
          <a:noFill/>
          <a:ln/>
        </p:spPr>
        <p:txBody>
          <a:bodyPr wrap="square" lIns="0" tIns="0" rIns="0" bIns="0" rtlCol="0" anchor="ctr"/>
          <a:lstStyle/>
          <a:p>
            <a:pPr indent="0" marL="0">
              <a:buNone/>
            </a:pPr>
            <a:r>
              <a:rPr lang="en-US" sz="1100" b="1" dirty="0">
                <a:solidFill>
                  <a:srgbClr val="6C6C6C"/>
                </a:solidFill>
                <a:latin typeface="Spoqa Han Sans Neo" pitchFamily="34" charset="0"/>
                <a:ea typeface="Spoqa Han Sans Neo" pitchFamily="34" charset="-122"/>
                <a:cs typeface="Spoqa Han Sans Neo" pitchFamily="34" charset="-120"/>
              </a:rPr>
              <a:t>후공정 · 장비 · 소재</a:t>
            </a:r>
            <a:endParaRPr lang="en-US" sz="1100" dirty="0"/>
          </a:p>
        </p:txBody>
      </p:sp>
      <p:sp>
        <p:nvSpPr>
          <p:cNvPr id="33" name="Text 31"/>
          <p:cNvSpPr/>
          <p:nvPr/>
        </p:nvSpPr>
        <p:spPr>
          <a:xfrm>
            <a:off x="9216923" y="2377440"/>
            <a:ext cx="2188388" cy="914400"/>
          </a:xfrm>
          <a:prstGeom prst="rect">
            <a:avLst/>
          </a:prstGeom>
          <a:noFill/>
          <a:ln/>
        </p:spPr>
        <p:txBody>
          <a:bodyPr wrap="square" lIns="0" tIns="0" rIns="0" bIns="0" rtlCol="0" anchor="ctr"/>
          <a:lstStyle/>
          <a:p>
            <a:pPr indent="0" marL="0">
              <a:lnSpc>
                <a:spcPct val="128000"/>
              </a:lnSpc>
              <a:buNone/>
            </a:pPr>
            <a:r>
              <a:rPr lang="en-US" sz="1080" dirty="0">
                <a:solidFill>
                  <a:srgbClr val="3D3D3D"/>
                </a:solidFill>
                <a:latin typeface="Spoqa Han Sans Neo" pitchFamily="34" charset="0"/>
                <a:ea typeface="Spoqa Han Sans Neo" pitchFamily="34" charset="-122"/>
                <a:cs typeface="Spoqa Han Sans Neo" pitchFamily="34" charset="-120"/>
              </a:rPr>
              <a:t>패키징·테스트 외주(OSAT), 장비·소재·부품 공급. 특정 구간 독점이 많다.</a:t>
            </a:r>
            <a:endParaRPr lang="en-US" sz="1080" dirty="0"/>
          </a:p>
        </p:txBody>
      </p:sp>
      <p:sp>
        <p:nvSpPr>
          <p:cNvPr id="34" name="Shape 32"/>
          <p:cNvSpPr/>
          <p:nvPr/>
        </p:nvSpPr>
        <p:spPr>
          <a:xfrm>
            <a:off x="9216923" y="3310128"/>
            <a:ext cx="2188388" cy="7315"/>
          </a:xfrm>
          <a:prstGeom prst="rect">
            <a:avLst/>
          </a:prstGeom>
          <a:solidFill>
            <a:srgbClr val="E5E4E1"/>
          </a:solidFill>
          <a:ln w="12700">
            <a:solidFill>
              <a:srgbClr val="333333"/>
            </a:solidFill>
            <a:prstDash val="solid"/>
          </a:ln>
        </p:spPr>
      </p:sp>
      <p:sp>
        <p:nvSpPr>
          <p:cNvPr id="35" name="Text 33"/>
          <p:cNvSpPr/>
          <p:nvPr/>
        </p:nvSpPr>
        <p:spPr>
          <a:xfrm>
            <a:off x="9216923" y="3383280"/>
            <a:ext cx="2188388" cy="420624"/>
          </a:xfrm>
          <a:prstGeom prst="rect">
            <a:avLst/>
          </a:prstGeom>
          <a:noFill/>
          <a:ln/>
        </p:spPr>
        <p:txBody>
          <a:bodyPr wrap="square" lIns="0" tIns="0" rIns="0" bIns="0" rtlCol="0" anchor="ctr"/>
          <a:lstStyle/>
          <a:p>
            <a:pPr indent="0" marL="0">
              <a:lnSpc>
                <a:spcPct val="120000"/>
              </a:lnSpc>
              <a:buNone/>
            </a:pPr>
            <a:r>
              <a:rPr lang="en-US" sz="1000" b="1" dirty="0">
                <a:solidFill>
                  <a:srgbClr val="043B72"/>
                </a:solidFill>
                <a:latin typeface="Spoqa Han Sans Neo" pitchFamily="34" charset="0"/>
                <a:ea typeface="Spoqa Han Sans Neo" pitchFamily="34" charset="-122"/>
                <a:cs typeface="Spoqa Han Sans Neo" pitchFamily="34" charset="-120"/>
              </a:rPr>
              <a:t>ASE · Amkor · ASML · AMAT · 한미반도체</a:t>
            </a:r>
            <a:endParaRPr lang="en-US" sz="1000" dirty="0"/>
          </a:p>
        </p:txBody>
      </p:sp>
      <p:sp>
        <p:nvSpPr>
          <p:cNvPr id="36" name="Shape 34"/>
          <p:cNvSpPr/>
          <p:nvPr/>
        </p:nvSpPr>
        <p:spPr>
          <a:xfrm>
            <a:off x="566928" y="4096512"/>
            <a:ext cx="11057839" cy="1828800"/>
          </a:xfrm>
          <a:prstGeom prst="rect">
            <a:avLst/>
          </a:prstGeom>
          <a:solidFill>
            <a:srgbClr val="F7F8FA"/>
          </a:solidFill>
          <a:ln w="9525">
            <a:solidFill>
              <a:srgbClr val="CDCECB"/>
            </a:solidFill>
            <a:prstDash val="solid"/>
          </a:ln>
        </p:spPr>
      </p:sp>
      <p:sp>
        <p:nvSpPr>
          <p:cNvPr id="37" name="Text 35"/>
          <p:cNvSpPr/>
          <p:nvPr/>
        </p:nvSpPr>
        <p:spPr>
          <a:xfrm>
            <a:off x="841248" y="4279392"/>
            <a:ext cx="548640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이 구조가 만든 두 가지 결과</a:t>
            </a:r>
            <a:endParaRPr lang="en-US" sz="1350" dirty="0"/>
          </a:p>
        </p:txBody>
      </p:sp>
      <p:sp>
        <p:nvSpPr>
          <p:cNvPr id="38" name="Text 36"/>
          <p:cNvSpPr/>
          <p:nvPr/>
        </p:nvSpPr>
        <p:spPr>
          <a:xfrm>
            <a:off x="841248" y="4608576"/>
            <a:ext cx="5120640" cy="274320"/>
          </a:xfrm>
          <a:prstGeom prst="rect">
            <a:avLst/>
          </a:prstGeom>
          <a:noFill/>
          <a:ln/>
        </p:spPr>
        <p:txBody>
          <a:bodyPr wrap="square" lIns="0" tIns="0" rIns="0" bIns="0" rtlCol="0" anchor="ctr"/>
          <a:lstStyle/>
          <a:p>
            <a:pPr indent="0" marL="0">
              <a:buNone/>
            </a:pPr>
            <a:r>
              <a:rPr lang="en-US" sz="1200" b="1" dirty="0">
                <a:solidFill>
                  <a:srgbClr val="F58220"/>
                </a:solidFill>
                <a:latin typeface="Spoqa Han Sans Neo" pitchFamily="34" charset="0"/>
                <a:ea typeface="Spoqa Han Sans Neo" pitchFamily="34" charset="-122"/>
                <a:cs typeface="Spoqa Han Sans Neo" pitchFamily="34" charset="-120"/>
              </a:rPr>
              <a:t>병목은 언제나 '가장 좁은 구간'에 생긴다</a:t>
            </a:r>
            <a:endParaRPr lang="en-US" sz="1200" dirty="0"/>
          </a:p>
        </p:txBody>
      </p:sp>
      <p:sp>
        <p:nvSpPr>
          <p:cNvPr id="39" name="Text 37"/>
          <p:cNvSpPr/>
          <p:nvPr/>
        </p:nvSpPr>
        <p:spPr>
          <a:xfrm>
            <a:off x="841248" y="4901184"/>
            <a:ext cx="5120640" cy="822960"/>
          </a:xfrm>
          <a:prstGeom prst="rect">
            <a:avLst/>
          </a:prstGeom>
          <a:noFill/>
          <a:ln/>
        </p:spPr>
        <p:txBody>
          <a:bodyPr wrap="square" lIns="0" tIns="0" rIns="0" bIns="0" rtlCol="0" anchor="ctr"/>
          <a:lstStyle/>
          <a:p>
            <a:pPr indent="0" marL="0">
              <a:lnSpc>
                <a:spcPct val="130000"/>
              </a:lnSpc>
              <a:buNone/>
            </a:pPr>
            <a:r>
              <a:rPr lang="en-US" sz="1080" dirty="0">
                <a:solidFill>
                  <a:srgbClr val="3D3D3D"/>
                </a:solidFill>
                <a:latin typeface="Spoqa Han Sans Neo" pitchFamily="34" charset="0"/>
                <a:ea typeface="Spoqa Han Sans Neo" pitchFamily="34" charset="-122"/>
                <a:cs typeface="Spoqa Han Sans Neo" pitchFamily="34" charset="-120"/>
              </a:rPr>
              <a:t>AI 가속기 생산량은 엔비디아의 설계 능력이 아니라 TSMC의 첨단 패키징 캐파와 HBM 공급량이 결정한다. 2026년 엔비디아는 루빈 생산 목표를 200만 대에서 150만 대로 25% 하향했다.</a:t>
            </a:r>
            <a:endParaRPr lang="en-US" sz="1080" dirty="0"/>
          </a:p>
        </p:txBody>
      </p:sp>
      <p:sp>
        <p:nvSpPr>
          <p:cNvPr id="40" name="Text 38"/>
          <p:cNvSpPr/>
          <p:nvPr/>
        </p:nvSpPr>
        <p:spPr>
          <a:xfrm>
            <a:off x="6281928" y="4608576"/>
            <a:ext cx="5120640" cy="274320"/>
          </a:xfrm>
          <a:prstGeom prst="rect">
            <a:avLst/>
          </a:prstGeom>
          <a:noFill/>
          <a:ln/>
        </p:spPr>
        <p:txBody>
          <a:bodyPr wrap="square" lIns="0" tIns="0" rIns="0" bIns="0" rtlCol="0" anchor="ctr"/>
          <a:lstStyle/>
          <a:p>
            <a:pPr indent="0" marL="0">
              <a:buNone/>
            </a:pPr>
            <a:r>
              <a:rPr lang="en-US" sz="1200" b="1" dirty="0">
                <a:solidFill>
                  <a:srgbClr val="F58220"/>
                </a:solidFill>
                <a:latin typeface="Spoqa Han Sans Neo" pitchFamily="34" charset="0"/>
                <a:ea typeface="Spoqa Han Sans Neo" pitchFamily="34" charset="-122"/>
                <a:cs typeface="Spoqa Han Sans Neo" pitchFamily="34" charset="-120"/>
              </a:rPr>
              <a:t>독점 구간을 가진 쪽이 이익을 가져간다</a:t>
            </a:r>
            <a:endParaRPr lang="en-US" sz="1200" dirty="0"/>
          </a:p>
        </p:txBody>
      </p:sp>
      <p:sp>
        <p:nvSpPr>
          <p:cNvPr id="41" name="Text 39"/>
          <p:cNvSpPr/>
          <p:nvPr/>
        </p:nvSpPr>
        <p:spPr>
          <a:xfrm>
            <a:off x="6281928" y="4901184"/>
            <a:ext cx="5120640" cy="822960"/>
          </a:xfrm>
          <a:prstGeom prst="rect">
            <a:avLst/>
          </a:prstGeom>
          <a:noFill/>
          <a:ln/>
        </p:spPr>
        <p:txBody>
          <a:bodyPr wrap="square" lIns="0" tIns="0" rIns="0" bIns="0" rtlCol="0" anchor="ctr"/>
          <a:lstStyle/>
          <a:p>
            <a:pPr indent="0" marL="0">
              <a:lnSpc>
                <a:spcPct val="130000"/>
              </a:lnSpc>
              <a:buNone/>
            </a:pPr>
            <a:r>
              <a:rPr lang="en-US" sz="1080" dirty="0">
                <a:solidFill>
                  <a:srgbClr val="3D3D3D"/>
                </a:solidFill>
                <a:latin typeface="Spoqa Han Sans Neo" pitchFamily="34" charset="0"/>
                <a:ea typeface="Spoqa Han Sans Neo" pitchFamily="34" charset="-122"/>
                <a:cs typeface="Spoqa Han Sans Neo" pitchFamily="34" charset="-120"/>
              </a:rPr>
              <a:t>EUV 노광장비는 ASML이 사실상 독점(2026년 매출 가이던스 430~450억 유로), 선단 파운드리는 TSMC가 72.3%. 반면 파편화된 구간은 마진이 낮다.</a:t>
            </a:r>
            <a:endParaRPr lang="en-US" sz="1080" dirty="0"/>
          </a:p>
        </p:txBody>
      </p:sp>
      <p:sp>
        <p:nvSpPr>
          <p:cNvPr id="42" name="Text 40"/>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TrendForce 2026년 1분기 파운드리 점유율, ASML 2Q26 실적발표, Barron's·KeyBanc(2026년 4월)</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1 · 기술 경쟁</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'몇 나노'는 무엇을 의미하고, 왜 한계에 부딪혔나</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나노(nm)는 이제 실제 물리 치수가 아니라 세대를 가리키는 마케팅 명칭에 가깝다.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9</a:t>
            </a:r>
            <a:endParaRPr lang="en-US" sz="900" dirty="0"/>
          </a:p>
        </p:txBody>
      </p:sp>
      <p:sp>
        <p:nvSpPr>
          <p:cNvPr id="8" name="Shape 6"/>
          <p:cNvSpPr/>
          <p:nvPr/>
        </p:nvSpPr>
        <p:spPr>
          <a:xfrm>
            <a:off x="566928" y="1572768"/>
            <a:ext cx="5349240" cy="2011680"/>
          </a:xfrm>
          <a:prstGeom prst="rect">
            <a:avLst/>
          </a:prstGeom>
          <a:solidFill>
            <a:srgbClr val="FFFFFF"/>
          </a:solidFill>
          <a:ln w="9525">
            <a:solidFill>
              <a:srgbClr val="CDCECB"/>
            </a:solidFill>
            <a:prstDash val="solid"/>
          </a:ln>
        </p:spPr>
      </p:sp>
      <p:sp>
        <p:nvSpPr>
          <p:cNvPr id="9" name="Text 7"/>
          <p:cNvSpPr/>
          <p:nvPr/>
        </p:nvSpPr>
        <p:spPr>
          <a:xfrm>
            <a:off x="822960" y="1755648"/>
            <a:ext cx="484632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미세화가 주는 세 가지 이득</a:t>
            </a:r>
            <a:endParaRPr lang="en-US" sz="1350" dirty="0"/>
          </a:p>
        </p:txBody>
      </p:sp>
      <p:sp>
        <p:nvSpPr>
          <p:cNvPr id="10" name="Text 8"/>
          <p:cNvSpPr/>
          <p:nvPr/>
        </p:nvSpPr>
        <p:spPr>
          <a:xfrm>
            <a:off x="822960" y="2084832"/>
            <a:ext cx="4846320" cy="914400"/>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150" dirty="0">
                <a:solidFill>
                  <a:srgbClr val="3D3D3D"/>
                </a:solidFill>
                <a:latin typeface="Spoqa Han Sans Neo" pitchFamily="34" charset="0"/>
                <a:ea typeface="Spoqa Han Sans Neo" pitchFamily="34" charset="-122"/>
                <a:cs typeface="Spoqa Han Sans Neo" pitchFamily="34" charset="-120"/>
              </a:rPr>
              <a:t>같은 면적에 더 많은 트랜지스터 → 성능 향상</a:t>
            </a:r>
            <a:endParaRPr lang="en-US" sz="1150" dirty="0"/>
          </a:p>
          <a:p>
            <a:pPr marL="177800" indent="-177800">
              <a:lnSpc>
                <a:spcPct val="120000"/>
              </a:lnSpc>
              <a:spcAft>
                <a:spcPts val="700"/>
              </a:spcAft>
              <a:buSzPct val="100000"/>
              <a:buChar char="•"/>
            </a:pPr>
            <a:r>
              <a:rPr lang="en-US" sz="1150" dirty="0">
                <a:solidFill>
                  <a:srgbClr val="3D3D3D"/>
                </a:solidFill>
                <a:latin typeface="Spoqa Han Sans Neo" pitchFamily="34" charset="0"/>
                <a:ea typeface="Spoqa Han Sans Neo" pitchFamily="34" charset="-122"/>
                <a:cs typeface="Spoqa Han Sans Neo" pitchFamily="34" charset="-120"/>
              </a:rPr>
              <a:t>전자의 이동 거리 단축 → 전력 소모 감소</a:t>
            </a:r>
            <a:endParaRPr lang="en-US" sz="1150" dirty="0"/>
          </a:p>
          <a:p>
            <a:pPr marL="177800" indent="-177800">
              <a:lnSpc>
                <a:spcPct val="120000"/>
              </a:lnSpc>
              <a:spcAft>
                <a:spcPts val="700"/>
              </a:spcAft>
              <a:buSzPct val="100000"/>
              <a:buChar char="•"/>
            </a:pPr>
            <a:r>
              <a:rPr lang="en-US" sz="1150" dirty="0">
                <a:solidFill>
                  <a:srgbClr val="3D3D3D"/>
                </a:solidFill>
                <a:latin typeface="Spoqa Han Sans Neo" pitchFamily="34" charset="0"/>
                <a:ea typeface="Spoqa Han Sans Neo" pitchFamily="34" charset="-122"/>
                <a:cs typeface="Spoqa Han Sans Neo" pitchFamily="34" charset="-120"/>
              </a:rPr>
              <a:t>웨이퍼 1장당 칩 수 증가 → 원가 하락</a:t>
            </a:r>
            <a:endParaRPr lang="en-US" sz="1150" dirty="0"/>
          </a:p>
        </p:txBody>
      </p:sp>
      <p:sp>
        <p:nvSpPr>
          <p:cNvPr id="11" name="Text 9"/>
          <p:cNvSpPr/>
          <p:nvPr/>
        </p:nvSpPr>
        <p:spPr>
          <a:xfrm>
            <a:off x="822960" y="3108960"/>
            <a:ext cx="4846320" cy="384048"/>
          </a:xfrm>
          <a:prstGeom prst="rect">
            <a:avLst/>
          </a:prstGeom>
          <a:noFill/>
          <a:ln/>
        </p:spPr>
        <p:txBody>
          <a:bodyPr wrap="square" lIns="0" tIns="0" rIns="0" bIns="0" rtlCol="0" anchor="ctr"/>
          <a:lstStyle/>
          <a:p>
            <a:pPr indent="0" marL="0">
              <a:lnSpc>
                <a:spcPct val="120000"/>
              </a:lnSpc>
              <a:buNone/>
            </a:pPr>
            <a:r>
              <a:rPr lang="en-US" sz="1100" b="1" dirty="0">
                <a:solidFill>
                  <a:srgbClr val="F58220"/>
                </a:solidFill>
                <a:latin typeface="Spoqa Han Sans Neo" pitchFamily="34" charset="0"/>
                <a:ea typeface="Spoqa Han Sans Neo" pitchFamily="34" charset="-122"/>
                <a:cs typeface="Spoqa Han Sans Neo" pitchFamily="34" charset="-120"/>
              </a:rPr>
              <a:t>→ 다만 3나노 이하에서는 누설전류·발열·수율 문제로 이 세 이득이 동시에 성립하지 않는다.</a:t>
            </a:r>
            <a:endParaRPr lang="en-US" sz="1100" dirty="0"/>
          </a:p>
        </p:txBody>
      </p:sp>
      <p:sp>
        <p:nvSpPr>
          <p:cNvPr id="12" name="Shape 10"/>
          <p:cNvSpPr/>
          <p:nvPr/>
        </p:nvSpPr>
        <p:spPr>
          <a:xfrm>
            <a:off x="6272784" y="1572768"/>
            <a:ext cx="5349240" cy="2011680"/>
          </a:xfrm>
          <a:prstGeom prst="rect">
            <a:avLst/>
          </a:prstGeom>
          <a:solidFill>
            <a:srgbClr val="F7F8FA"/>
          </a:solidFill>
          <a:ln w="9525">
            <a:solidFill>
              <a:srgbClr val="CDCECB"/>
            </a:solidFill>
            <a:prstDash val="solid"/>
          </a:ln>
        </p:spPr>
      </p:sp>
      <p:sp>
        <p:nvSpPr>
          <p:cNvPr id="13" name="Text 11"/>
          <p:cNvSpPr/>
          <p:nvPr/>
        </p:nvSpPr>
        <p:spPr>
          <a:xfrm>
            <a:off x="6528816" y="1755648"/>
            <a:ext cx="4846320" cy="256032"/>
          </a:xfrm>
          <a:prstGeom prst="rect">
            <a:avLst/>
          </a:prstGeom>
          <a:noFill/>
          <a:ln/>
        </p:spPr>
        <p:txBody>
          <a:bodyPr wrap="square" lIns="0" tIns="0" rIns="0" bIns="0" rtlCol="0" anchor="ctr"/>
          <a:lstStyle/>
          <a:p>
            <a:pPr indent="0" marL="0">
              <a:buNone/>
            </a:pPr>
            <a:r>
              <a:rPr lang="en-US" sz="1350" b="1" dirty="0">
                <a:solidFill>
                  <a:srgbClr val="F58220"/>
                </a:solidFill>
                <a:latin typeface="Spoqa Han Sans Neo" pitchFamily="34" charset="0"/>
                <a:ea typeface="Spoqa Han Sans Neo" pitchFamily="34" charset="-122"/>
                <a:cs typeface="Spoqa Han Sans Neo" pitchFamily="34" charset="-120"/>
              </a:rPr>
              <a:t>한계를 우회하는 세 가지 방법</a:t>
            </a:r>
            <a:endParaRPr lang="en-US" sz="1350" dirty="0"/>
          </a:p>
        </p:txBody>
      </p:sp>
      <p:sp>
        <p:nvSpPr>
          <p:cNvPr id="14" name="Text 12"/>
          <p:cNvSpPr/>
          <p:nvPr/>
        </p:nvSpPr>
        <p:spPr>
          <a:xfrm>
            <a:off x="6528816" y="2103120"/>
            <a:ext cx="1371600" cy="457200"/>
          </a:xfrm>
          <a:prstGeom prst="rect">
            <a:avLst/>
          </a:prstGeom>
          <a:noFill/>
          <a:ln/>
        </p:spPr>
        <p:txBody>
          <a:bodyPr wrap="square" lIns="0" tIns="0" rIns="0" bIns="0" rtlCol="0" anchor="ctr"/>
          <a:lstStyle/>
          <a:p>
            <a:pPr indent="0" marL="0">
              <a:buNone/>
            </a:pPr>
            <a:r>
              <a:rPr lang="en-US" sz="1150" b="1" dirty="0">
                <a:solidFill>
                  <a:srgbClr val="043B72"/>
                </a:solidFill>
                <a:latin typeface="Spoqa Han Sans Neo" pitchFamily="34" charset="0"/>
                <a:ea typeface="Spoqa Han Sans Neo" pitchFamily="34" charset="-122"/>
                <a:cs typeface="Spoqa Han Sans Neo" pitchFamily="34" charset="-120"/>
              </a:rPr>
              <a:t>구조 변경</a:t>
            </a:r>
            <a:endParaRPr lang="en-US" sz="1150" dirty="0"/>
          </a:p>
        </p:txBody>
      </p:sp>
      <p:sp>
        <p:nvSpPr>
          <p:cNvPr id="15" name="Text 13"/>
          <p:cNvSpPr/>
          <p:nvPr/>
        </p:nvSpPr>
        <p:spPr>
          <a:xfrm>
            <a:off x="7936992" y="2103120"/>
            <a:ext cx="3611880" cy="457200"/>
          </a:xfrm>
          <a:prstGeom prst="rect">
            <a:avLst/>
          </a:prstGeom>
          <a:noFill/>
          <a:ln/>
        </p:spPr>
        <p:txBody>
          <a:bodyPr wrap="square" lIns="0" tIns="0" rIns="0" bIns="0" rtlCol="0" anchor="ctr"/>
          <a:lstStyle/>
          <a:p>
            <a:pPr indent="0" marL="0">
              <a:lnSpc>
                <a:spcPct val="115000"/>
              </a:lnSpc>
              <a:buNone/>
            </a:pPr>
            <a:r>
              <a:rPr lang="en-US" sz="1050" dirty="0">
                <a:solidFill>
                  <a:srgbClr val="3D3D3D"/>
                </a:solidFill>
                <a:latin typeface="Spoqa Han Sans Neo" pitchFamily="34" charset="0"/>
                <a:ea typeface="Spoqa Han Sans Neo" pitchFamily="34" charset="-122"/>
                <a:cs typeface="Spoqa Han Sans Neo" pitchFamily="34" charset="-120"/>
              </a:rPr>
              <a:t>FinFET → GAA(게이트를 4면에서 감싸기). 삼성 2나노, TSMC N2에 적용</a:t>
            </a:r>
            <a:endParaRPr lang="en-US" sz="1050" dirty="0"/>
          </a:p>
        </p:txBody>
      </p:sp>
      <p:sp>
        <p:nvSpPr>
          <p:cNvPr id="16" name="Text 14"/>
          <p:cNvSpPr/>
          <p:nvPr/>
        </p:nvSpPr>
        <p:spPr>
          <a:xfrm>
            <a:off x="6528816" y="2587752"/>
            <a:ext cx="1371600" cy="457200"/>
          </a:xfrm>
          <a:prstGeom prst="rect">
            <a:avLst/>
          </a:prstGeom>
          <a:noFill/>
          <a:ln/>
        </p:spPr>
        <p:txBody>
          <a:bodyPr wrap="square" lIns="0" tIns="0" rIns="0" bIns="0" rtlCol="0" anchor="ctr"/>
          <a:lstStyle/>
          <a:p>
            <a:pPr indent="0" marL="0">
              <a:buNone/>
            </a:pPr>
            <a:r>
              <a:rPr lang="en-US" sz="1150" b="1" dirty="0">
                <a:solidFill>
                  <a:srgbClr val="043B72"/>
                </a:solidFill>
                <a:latin typeface="Spoqa Han Sans Neo" pitchFamily="34" charset="0"/>
                <a:ea typeface="Spoqa Han Sans Neo" pitchFamily="34" charset="-122"/>
                <a:cs typeface="Spoqa Han Sans Neo" pitchFamily="34" charset="-120"/>
              </a:rPr>
              <a:t>장비 진화</a:t>
            </a:r>
            <a:endParaRPr lang="en-US" sz="1150" dirty="0"/>
          </a:p>
        </p:txBody>
      </p:sp>
      <p:sp>
        <p:nvSpPr>
          <p:cNvPr id="17" name="Text 15"/>
          <p:cNvSpPr/>
          <p:nvPr/>
        </p:nvSpPr>
        <p:spPr>
          <a:xfrm>
            <a:off x="7936992" y="2587752"/>
            <a:ext cx="3611880" cy="457200"/>
          </a:xfrm>
          <a:prstGeom prst="rect">
            <a:avLst/>
          </a:prstGeom>
          <a:noFill/>
          <a:ln/>
        </p:spPr>
        <p:txBody>
          <a:bodyPr wrap="square" lIns="0" tIns="0" rIns="0" bIns="0" rtlCol="0" anchor="ctr"/>
          <a:lstStyle/>
          <a:p>
            <a:pPr indent="0" marL="0">
              <a:lnSpc>
                <a:spcPct val="115000"/>
              </a:lnSpc>
              <a:buNone/>
            </a:pPr>
            <a:r>
              <a:rPr lang="en-US" sz="1050" dirty="0">
                <a:solidFill>
                  <a:srgbClr val="3D3D3D"/>
                </a:solidFill>
                <a:latin typeface="Spoqa Han Sans Neo" pitchFamily="34" charset="0"/>
                <a:ea typeface="Spoqa Han Sans Neo" pitchFamily="34" charset="-122"/>
                <a:cs typeface="Spoqa Han Sans Neo" pitchFamily="34" charset="-120"/>
              </a:rPr>
              <a:t>High-NA EUV — 인텔이 14A 적용을 목표로 도입. 18A는 기존 0.33NA EUV로 양산</a:t>
            </a:r>
            <a:endParaRPr lang="en-US" sz="1050" dirty="0"/>
          </a:p>
        </p:txBody>
      </p:sp>
      <p:sp>
        <p:nvSpPr>
          <p:cNvPr id="18" name="Text 16"/>
          <p:cNvSpPr/>
          <p:nvPr/>
        </p:nvSpPr>
        <p:spPr>
          <a:xfrm>
            <a:off x="6528816" y="3072384"/>
            <a:ext cx="1371600" cy="457200"/>
          </a:xfrm>
          <a:prstGeom prst="rect">
            <a:avLst/>
          </a:prstGeom>
          <a:noFill/>
          <a:ln/>
        </p:spPr>
        <p:txBody>
          <a:bodyPr wrap="square" lIns="0" tIns="0" rIns="0" bIns="0" rtlCol="0" anchor="ctr"/>
          <a:lstStyle/>
          <a:p>
            <a:pPr indent="0" marL="0">
              <a:buNone/>
            </a:pPr>
            <a:r>
              <a:rPr lang="en-US" sz="1150" b="1" dirty="0">
                <a:solidFill>
                  <a:srgbClr val="043B72"/>
                </a:solidFill>
                <a:latin typeface="Spoqa Han Sans Neo" pitchFamily="34" charset="0"/>
                <a:ea typeface="Spoqa Han Sans Neo" pitchFamily="34" charset="-122"/>
                <a:cs typeface="Spoqa Han Sans Neo" pitchFamily="34" charset="-120"/>
              </a:rPr>
              <a:t>조립으로 승부</a:t>
            </a:r>
            <a:endParaRPr lang="en-US" sz="1150" dirty="0"/>
          </a:p>
        </p:txBody>
      </p:sp>
      <p:sp>
        <p:nvSpPr>
          <p:cNvPr id="19" name="Text 17"/>
          <p:cNvSpPr/>
          <p:nvPr/>
        </p:nvSpPr>
        <p:spPr>
          <a:xfrm>
            <a:off x="7936992" y="3072384"/>
            <a:ext cx="3611880" cy="457200"/>
          </a:xfrm>
          <a:prstGeom prst="rect">
            <a:avLst/>
          </a:prstGeom>
          <a:noFill/>
          <a:ln/>
        </p:spPr>
        <p:txBody>
          <a:bodyPr wrap="square" lIns="0" tIns="0" rIns="0" bIns="0" rtlCol="0" anchor="ctr"/>
          <a:lstStyle/>
          <a:p>
            <a:pPr indent="0" marL="0">
              <a:lnSpc>
                <a:spcPct val="115000"/>
              </a:lnSpc>
              <a:buNone/>
            </a:pPr>
            <a:r>
              <a:rPr lang="en-US" sz="1050" dirty="0">
                <a:solidFill>
                  <a:srgbClr val="3D3D3D"/>
                </a:solidFill>
                <a:latin typeface="Spoqa Han Sans Neo" pitchFamily="34" charset="0"/>
                <a:ea typeface="Spoqa Han Sans Neo" pitchFamily="34" charset="-122"/>
                <a:cs typeface="Spoqa Han Sans Neo" pitchFamily="34" charset="-120"/>
              </a:rPr>
              <a:t>칩렛·3D 적층·CoWoS 등 첨단 패키징으로 시스템 성능 확보</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85616"/>
          <a:ext cx="11057839" cy="914400"/>
        </p:xfrm>
        <a:graphic>
          <a:graphicData uri="http://schemas.openxmlformats.org/drawingml/2006/table">
            <a:tbl>
              <a:tblPr/>
              <a:tblGrid>
                <a:gridCol w="1371600"/>
                <a:gridCol w="3840480"/>
                <a:gridCol w="2286000"/>
                <a:gridCol w="3559759"/>
              </a:tblGrid>
              <a:tr h="365760">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세대</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선단 로직 (파운드리)</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D램</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50" b="1" dirty="0">
                          <a:solidFill>
                            <a:srgbClr val="1A1A1A"/>
                          </a:solidFill>
                          <a:latin typeface="Spoqa Han Sans Neo" pitchFamily="34" charset="0"/>
                          <a:ea typeface="Spoqa Han Sans Neo" pitchFamily="34" charset="-122"/>
                          <a:cs typeface="Spoqa Han Sans Neo" pitchFamily="34" charset="-120"/>
                        </a:rPr>
                        <a:t>적용 시점 / 상태</a:t>
                      </a:r>
                      <a:endParaRPr lang="en-US" sz="11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6576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N-2</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5나노 · 4나노</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1a · 1b nm</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성숙 공정, 수율 안정</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N-1</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3나노 (GAA/FinFET)</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1c nm</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현재 주력 — HBM4 코어 다이에 1c 적용</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65760">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N</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2나노 (TSMC N2 · 삼성 SF2)</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1d nm 개발</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100" b="1" dirty="0">
                          <a:solidFill>
                            <a:srgbClr val="1A1A1A"/>
                          </a:solidFill>
                          <a:latin typeface="Spoqa Han Sans Neo" pitchFamily="34" charset="0"/>
                          <a:ea typeface="Spoqa Han Sans Neo" pitchFamily="34" charset="-122"/>
                          <a:cs typeface="Spoqa Han Sans Neo" pitchFamily="34" charset="-120"/>
                        </a:rPr>
                        <a:t>2025년 하반기 양산 개시 · 2026년 램프업</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r h="365760">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N+1</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1.6나노급 A16 · 1.4나노급 A14 · SF1.4</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1e nm</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100" dirty="0">
                          <a:solidFill>
                            <a:srgbClr val="3D3D3D"/>
                          </a:solidFill>
                          <a:latin typeface="Spoqa Han Sans Neo" pitchFamily="34" charset="0"/>
                          <a:ea typeface="Spoqa Han Sans Neo" pitchFamily="34" charset="-122"/>
                          <a:cs typeface="Spoqa Han Sans Neo" pitchFamily="34" charset="-120"/>
                        </a:rPr>
                        <a:t>A16 2026년 하반기 · A14 2028년 전후</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bl>
          </a:graphicData>
        </a:graphic>
      </p:graphicFrame>
      <p:sp>
        <p:nvSpPr>
          <p:cNvPr id="21" name="Text 18"/>
          <p:cNvSpPr/>
          <p:nvPr/>
        </p:nvSpPr>
        <p:spPr>
          <a:xfrm>
            <a:off x="566928" y="5614416"/>
            <a:ext cx="11057839" cy="384048"/>
          </a:xfrm>
          <a:prstGeom prst="rect">
            <a:avLst/>
          </a:prstGeom>
          <a:noFill/>
          <a:ln/>
        </p:spPr>
        <p:txBody>
          <a:bodyPr wrap="square" lIns="0" tIns="0" rIns="0" bIns="0" rtlCol="0" anchor="ctr"/>
          <a:lstStyle/>
          <a:p>
            <a:pPr indent="0" marL="0">
              <a:lnSpc>
                <a:spcPct val="125000"/>
              </a:lnSpc>
              <a:buNone/>
            </a:pPr>
            <a:r>
              <a:rPr lang="en-US" sz="1100" b="1" dirty="0">
                <a:solidFill>
                  <a:srgbClr val="043B72"/>
                </a:solidFill>
                <a:latin typeface="Spoqa Han Sans Neo" pitchFamily="34" charset="0"/>
                <a:ea typeface="Spoqa Han Sans Neo" pitchFamily="34" charset="-122"/>
                <a:cs typeface="Spoqa Han Sans Neo" pitchFamily="34" charset="-120"/>
              </a:rPr>
              <a:t>실전 포인트  수율 1%의 차이가 연간 수조 원의 이익 격차로 직결된다. 2나노 이하에서 TSMC(점유율 72.3%)와 삼성(6.5%)의 격차는 기술 로드맵이 아니라 수율에서 벌어진다.</a:t>
            </a:r>
            <a:endParaRPr lang="en-US" sz="1100" dirty="0"/>
          </a:p>
        </p:txBody>
      </p:sp>
      <p:sp>
        <p:nvSpPr>
          <p:cNvPr id="22" name="Text 19"/>
          <p:cNvSpPr/>
          <p:nvPr/>
        </p:nvSpPr>
        <p:spPr>
          <a:xfrm>
            <a:off x="566928" y="6089904"/>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TSMC·삼성전자·인텔 공식 발표, ASML 2Q26 실적발표, TrendForce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2 · 밸류체인</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글로벌 반도체 밸류체인 — 돈은 어디서 남는가</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각 구간마다 지배 기업이 다르고, 협상력의 차이가 곧 이익률의 차이로 나타난다.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10</a:t>
            </a:r>
            <a:endParaRPr lang="en-US" sz="900" dirty="0"/>
          </a:p>
        </p:txBody>
      </p:sp>
      <p:sp>
        <p:nvSpPr>
          <p:cNvPr id="8" name="Shape 6"/>
          <p:cNvSpPr/>
          <p:nvPr/>
        </p:nvSpPr>
        <p:spPr>
          <a:xfrm>
            <a:off x="566928" y="1609344"/>
            <a:ext cx="1736293" cy="2157984"/>
          </a:xfrm>
          <a:prstGeom prst="rect">
            <a:avLst/>
          </a:prstGeom>
          <a:solidFill>
            <a:srgbClr val="FFFFFF"/>
          </a:solidFill>
          <a:ln w="9525">
            <a:solidFill>
              <a:srgbClr val="CDCECB"/>
            </a:solidFill>
            <a:prstDash val="solid"/>
          </a:ln>
        </p:spPr>
      </p:sp>
      <p:sp>
        <p:nvSpPr>
          <p:cNvPr id="9" name="Shape 7"/>
          <p:cNvSpPr/>
          <p:nvPr/>
        </p:nvSpPr>
        <p:spPr>
          <a:xfrm>
            <a:off x="566928" y="1609344"/>
            <a:ext cx="1736293" cy="310896"/>
          </a:xfrm>
          <a:prstGeom prst="rect">
            <a:avLst/>
          </a:prstGeom>
          <a:solidFill>
            <a:srgbClr val="043B72"/>
          </a:solidFill>
          <a:ln w="12700">
            <a:solidFill>
              <a:srgbClr val="333333"/>
            </a:solidFill>
            <a:prstDash val="solid"/>
          </a:ln>
        </p:spPr>
      </p:sp>
      <p:sp>
        <p:nvSpPr>
          <p:cNvPr id="10" name="Text 8"/>
          <p:cNvSpPr/>
          <p:nvPr/>
        </p:nvSpPr>
        <p:spPr>
          <a:xfrm>
            <a:off x="566928" y="1609344"/>
            <a:ext cx="1736293"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설계 IP</a:t>
            </a:r>
            <a:endParaRPr lang="en-US" sz="1150" dirty="0"/>
          </a:p>
        </p:txBody>
      </p:sp>
      <p:sp>
        <p:nvSpPr>
          <p:cNvPr id="11" name="Text 9"/>
          <p:cNvSpPr/>
          <p:nvPr/>
        </p:nvSpPr>
        <p:spPr>
          <a:xfrm>
            <a:off x="694944" y="2011680"/>
            <a:ext cx="1480261" cy="402336"/>
          </a:xfrm>
          <a:prstGeom prst="rect">
            <a:avLst/>
          </a:prstGeom>
          <a:noFill/>
          <a:ln/>
        </p:spPr>
        <p:txBody>
          <a:bodyPr wrap="square" lIns="0" tIns="0" rIns="0" bIns="0" rtlCol="0" anchor="ctr"/>
          <a:lstStyle/>
          <a:p>
            <a:pPr indent="0" marL="0">
              <a:lnSpc>
                <a:spcPct val="120000"/>
              </a:lnSpc>
              <a:buNone/>
            </a:pPr>
            <a:r>
              <a:rPr lang="en-US" sz="1000" dirty="0">
                <a:solidFill>
                  <a:srgbClr val="6C6C6C"/>
                </a:solidFill>
                <a:latin typeface="Spoqa Han Sans Neo" pitchFamily="34" charset="0"/>
                <a:ea typeface="Spoqa Han Sans Neo" pitchFamily="34" charset="-122"/>
                <a:cs typeface="Spoqa Han Sans Neo" pitchFamily="34" charset="-120"/>
              </a:rPr>
              <a:t>명령어 구조·회로 IP</a:t>
            </a:r>
            <a:endParaRPr lang="en-US" sz="1000" dirty="0"/>
          </a:p>
        </p:txBody>
      </p:sp>
      <p:sp>
        <p:nvSpPr>
          <p:cNvPr id="12" name="Text 10"/>
          <p:cNvSpPr/>
          <p:nvPr/>
        </p:nvSpPr>
        <p:spPr>
          <a:xfrm>
            <a:off x="694944" y="2487168"/>
            <a:ext cx="1480261" cy="658368"/>
          </a:xfrm>
          <a:prstGeom prst="rect">
            <a:avLst/>
          </a:prstGeom>
          <a:noFill/>
          <a:ln/>
        </p:spPr>
        <p:txBody>
          <a:bodyPr wrap="square" lIns="0" tIns="0" rIns="0" bIns="0" rtlCol="0" anchor="ctr"/>
          <a:lstStyle/>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ARM · 시놉시스</a:t>
            </a:r>
            <a:endParaRPr lang="en-US" sz="1000" dirty="0"/>
          </a:p>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케이던스</a:t>
            </a:r>
            <a:endParaRPr lang="en-US" sz="1000" dirty="0"/>
          </a:p>
        </p:txBody>
      </p:sp>
      <p:sp>
        <p:nvSpPr>
          <p:cNvPr id="13" name="Text 11"/>
          <p:cNvSpPr/>
          <p:nvPr/>
        </p:nvSpPr>
        <p:spPr>
          <a:xfrm>
            <a:off x="694944" y="3200400"/>
            <a:ext cx="1480261" cy="182880"/>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협상력</a:t>
            </a:r>
            <a:endParaRPr lang="en-US" sz="850" dirty="0"/>
          </a:p>
        </p:txBody>
      </p:sp>
      <p:sp>
        <p:nvSpPr>
          <p:cNvPr id="14" name="Text 12"/>
          <p:cNvSpPr/>
          <p:nvPr/>
        </p:nvSpPr>
        <p:spPr>
          <a:xfrm>
            <a:off x="694944" y="3383280"/>
            <a:ext cx="1480261" cy="292608"/>
          </a:xfrm>
          <a:prstGeom prst="rect">
            <a:avLst/>
          </a:prstGeom>
          <a:noFill/>
          <a:ln/>
        </p:spPr>
        <p:txBody>
          <a:bodyPr wrap="square" lIns="0" tIns="0" rIns="0" bIns="0" rtlCol="0" anchor="ctr"/>
          <a:lstStyle/>
          <a:p>
            <a:pPr indent="0" marL="0">
              <a:lnSpc>
                <a:spcPct val="110000"/>
              </a:lnSpc>
              <a:buNone/>
            </a:pPr>
            <a:r>
              <a:rPr lang="en-US" sz="1050" b="1" dirty="0">
                <a:solidFill>
                  <a:srgbClr val="043B72"/>
                </a:solidFill>
                <a:latin typeface="Spoqa Han Sans Neo" pitchFamily="34" charset="0"/>
                <a:ea typeface="Spoqa Han Sans Neo" pitchFamily="34" charset="-122"/>
                <a:cs typeface="Spoqa Han Sans Neo" pitchFamily="34" charset="-120"/>
              </a:rPr>
              <a:t>매우 높음</a:t>
            </a:r>
            <a:endParaRPr lang="en-US" sz="1050" dirty="0"/>
          </a:p>
        </p:txBody>
      </p:sp>
      <p:sp>
        <p:nvSpPr>
          <p:cNvPr id="15" name="Text 13"/>
          <p:cNvSpPr/>
          <p:nvPr/>
        </p:nvSpPr>
        <p:spPr>
          <a:xfrm>
            <a:off x="2284933" y="2560320"/>
            <a:ext cx="164592" cy="219456"/>
          </a:xfrm>
          <a:prstGeom prst="rect">
            <a:avLst/>
          </a:prstGeom>
          <a:noFill/>
          <a:ln/>
        </p:spPr>
        <p:txBody>
          <a:bodyPr wrap="square" lIns="0" tIns="0" rIns="0" bIns="0" rtlCol="0" anchor="ctr"/>
          <a:lstStyle/>
          <a:p>
            <a:pPr algn="ctr" indent="0" marL="0">
              <a:buNone/>
            </a:pPr>
            <a:r>
              <a:rPr lang="en-US" sz="1000" dirty="0">
                <a:solidFill>
                  <a:srgbClr val="A0A6A8"/>
                </a:solidFill>
                <a:latin typeface="Spoqa Han Sans Neo" pitchFamily="34" charset="0"/>
                <a:ea typeface="Spoqa Han Sans Neo" pitchFamily="34" charset="-122"/>
                <a:cs typeface="Spoqa Han Sans Neo" pitchFamily="34" charset="-120"/>
              </a:rPr>
              <a:t>▶</a:t>
            </a:r>
            <a:endParaRPr lang="en-US" sz="1000" dirty="0"/>
          </a:p>
        </p:txBody>
      </p:sp>
      <p:sp>
        <p:nvSpPr>
          <p:cNvPr id="16" name="Shape 14"/>
          <p:cNvSpPr/>
          <p:nvPr/>
        </p:nvSpPr>
        <p:spPr>
          <a:xfrm>
            <a:off x="2431237" y="1609344"/>
            <a:ext cx="1736293" cy="2157984"/>
          </a:xfrm>
          <a:prstGeom prst="rect">
            <a:avLst/>
          </a:prstGeom>
          <a:solidFill>
            <a:srgbClr val="FFFFFF"/>
          </a:solidFill>
          <a:ln w="9525">
            <a:solidFill>
              <a:srgbClr val="CDCECB"/>
            </a:solidFill>
            <a:prstDash val="solid"/>
          </a:ln>
        </p:spPr>
      </p:sp>
      <p:sp>
        <p:nvSpPr>
          <p:cNvPr id="17" name="Shape 15"/>
          <p:cNvSpPr/>
          <p:nvPr/>
        </p:nvSpPr>
        <p:spPr>
          <a:xfrm>
            <a:off x="2431237" y="1609344"/>
            <a:ext cx="1736293" cy="310896"/>
          </a:xfrm>
          <a:prstGeom prst="rect">
            <a:avLst/>
          </a:prstGeom>
          <a:solidFill>
            <a:srgbClr val="043B72"/>
          </a:solidFill>
          <a:ln w="12700">
            <a:solidFill>
              <a:srgbClr val="333333"/>
            </a:solidFill>
            <a:prstDash val="solid"/>
          </a:ln>
        </p:spPr>
      </p:sp>
      <p:sp>
        <p:nvSpPr>
          <p:cNvPr id="18" name="Text 16"/>
          <p:cNvSpPr/>
          <p:nvPr/>
        </p:nvSpPr>
        <p:spPr>
          <a:xfrm>
            <a:off x="2431237" y="1609344"/>
            <a:ext cx="1736293"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칩 설계</a:t>
            </a:r>
            <a:endParaRPr lang="en-US" sz="1150" dirty="0"/>
          </a:p>
        </p:txBody>
      </p:sp>
      <p:sp>
        <p:nvSpPr>
          <p:cNvPr id="19" name="Text 17"/>
          <p:cNvSpPr/>
          <p:nvPr/>
        </p:nvSpPr>
        <p:spPr>
          <a:xfrm>
            <a:off x="2559253" y="2011680"/>
            <a:ext cx="1480261" cy="402336"/>
          </a:xfrm>
          <a:prstGeom prst="rect">
            <a:avLst/>
          </a:prstGeom>
          <a:noFill/>
          <a:ln/>
        </p:spPr>
        <p:txBody>
          <a:bodyPr wrap="square" lIns="0" tIns="0" rIns="0" bIns="0" rtlCol="0" anchor="ctr"/>
          <a:lstStyle/>
          <a:p>
            <a:pPr indent="0" marL="0">
              <a:lnSpc>
                <a:spcPct val="120000"/>
              </a:lnSpc>
              <a:buNone/>
            </a:pPr>
            <a:r>
              <a:rPr lang="en-US" sz="1000" dirty="0">
                <a:solidFill>
                  <a:srgbClr val="6C6C6C"/>
                </a:solidFill>
                <a:latin typeface="Spoqa Han Sans Neo" pitchFamily="34" charset="0"/>
                <a:ea typeface="Spoqa Han Sans Neo" pitchFamily="34" charset="-122"/>
                <a:cs typeface="Spoqa Han Sans Neo" pitchFamily="34" charset="-120"/>
              </a:rPr>
              <a:t>GPU·ASIC·AP 설계</a:t>
            </a:r>
            <a:endParaRPr lang="en-US" sz="1000" dirty="0"/>
          </a:p>
        </p:txBody>
      </p:sp>
      <p:sp>
        <p:nvSpPr>
          <p:cNvPr id="20" name="Text 18"/>
          <p:cNvSpPr/>
          <p:nvPr/>
        </p:nvSpPr>
        <p:spPr>
          <a:xfrm>
            <a:off x="2559253" y="2487168"/>
            <a:ext cx="1480261" cy="658368"/>
          </a:xfrm>
          <a:prstGeom prst="rect">
            <a:avLst/>
          </a:prstGeom>
          <a:noFill/>
          <a:ln/>
        </p:spPr>
        <p:txBody>
          <a:bodyPr wrap="square" lIns="0" tIns="0" rIns="0" bIns="0" rtlCol="0" anchor="ctr"/>
          <a:lstStyle/>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엔비디아 · AMD</a:t>
            </a:r>
            <a:endParaRPr lang="en-US" sz="1000" dirty="0"/>
          </a:p>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브로드컴 · 퀄컴</a:t>
            </a:r>
            <a:endParaRPr lang="en-US" sz="1000" dirty="0"/>
          </a:p>
        </p:txBody>
      </p:sp>
      <p:sp>
        <p:nvSpPr>
          <p:cNvPr id="21" name="Text 19"/>
          <p:cNvSpPr/>
          <p:nvPr/>
        </p:nvSpPr>
        <p:spPr>
          <a:xfrm>
            <a:off x="2559253" y="3200400"/>
            <a:ext cx="1480261" cy="182880"/>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협상력</a:t>
            </a:r>
            <a:endParaRPr lang="en-US" sz="850" dirty="0"/>
          </a:p>
        </p:txBody>
      </p:sp>
      <p:sp>
        <p:nvSpPr>
          <p:cNvPr id="22" name="Text 20"/>
          <p:cNvSpPr/>
          <p:nvPr/>
        </p:nvSpPr>
        <p:spPr>
          <a:xfrm>
            <a:off x="2559253" y="3383280"/>
            <a:ext cx="1480261" cy="292608"/>
          </a:xfrm>
          <a:prstGeom prst="rect">
            <a:avLst/>
          </a:prstGeom>
          <a:noFill/>
          <a:ln/>
        </p:spPr>
        <p:txBody>
          <a:bodyPr wrap="square" lIns="0" tIns="0" rIns="0" bIns="0" rtlCol="0" anchor="ctr"/>
          <a:lstStyle/>
          <a:p>
            <a:pPr indent="0" marL="0">
              <a:lnSpc>
                <a:spcPct val="110000"/>
              </a:lnSpc>
              <a:buNone/>
            </a:pPr>
            <a:r>
              <a:rPr lang="en-US" sz="1050" b="1" dirty="0">
                <a:solidFill>
                  <a:srgbClr val="043B72"/>
                </a:solidFill>
                <a:latin typeface="Spoqa Han Sans Neo" pitchFamily="34" charset="0"/>
                <a:ea typeface="Spoqa Han Sans Neo" pitchFamily="34" charset="-122"/>
                <a:cs typeface="Spoqa Han Sans Neo" pitchFamily="34" charset="-120"/>
              </a:rPr>
              <a:t>높음</a:t>
            </a:r>
            <a:endParaRPr lang="en-US" sz="1050" dirty="0"/>
          </a:p>
        </p:txBody>
      </p:sp>
      <p:sp>
        <p:nvSpPr>
          <p:cNvPr id="23" name="Text 21"/>
          <p:cNvSpPr/>
          <p:nvPr/>
        </p:nvSpPr>
        <p:spPr>
          <a:xfrm>
            <a:off x="4149242" y="2560320"/>
            <a:ext cx="164592" cy="219456"/>
          </a:xfrm>
          <a:prstGeom prst="rect">
            <a:avLst/>
          </a:prstGeom>
          <a:noFill/>
          <a:ln/>
        </p:spPr>
        <p:txBody>
          <a:bodyPr wrap="square" lIns="0" tIns="0" rIns="0" bIns="0" rtlCol="0" anchor="ctr"/>
          <a:lstStyle/>
          <a:p>
            <a:pPr algn="ctr" indent="0" marL="0">
              <a:buNone/>
            </a:pPr>
            <a:r>
              <a:rPr lang="en-US" sz="1000" dirty="0">
                <a:solidFill>
                  <a:srgbClr val="A0A6A8"/>
                </a:solidFill>
                <a:latin typeface="Spoqa Han Sans Neo" pitchFamily="34" charset="0"/>
                <a:ea typeface="Spoqa Han Sans Neo" pitchFamily="34" charset="-122"/>
                <a:cs typeface="Spoqa Han Sans Neo" pitchFamily="34" charset="-120"/>
              </a:rPr>
              <a:t>▶</a:t>
            </a:r>
            <a:endParaRPr lang="en-US" sz="1000" dirty="0"/>
          </a:p>
        </p:txBody>
      </p:sp>
      <p:sp>
        <p:nvSpPr>
          <p:cNvPr id="24" name="Shape 22"/>
          <p:cNvSpPr/>
          <p:nvPr/>
        </p:nvSpPr>
        <p:spPr>
          <a:xfrm>
            <a:off x="4295546" y="1609344"/>
            <a:ext cx="1736293" cy="2157984"/>
          </a:xfrm>
          <a:prstGeom prst="rect">
            <a:avLst/>
          </a:prstGeom>
          <a:solidFill>
            <a:srgbClr val="FFFFFF"/>
          </a:solidFill>
          <a:ln w="9525">
            <a:solidFill>
              <a:srgbClr val="CDCECB"/>
            </a:solidFill>
            <a:prstDash val="solid"/>
          </a:ln>
        </p:spPr>
      </p:sp>
      <p:sp>
        <p:nvSpPr>
          <p:cNvPr id="25" name="Shape 23"/>
          <p:cNvSpPr/>
          <p:nvPr/>
        </p:nvSpPr>
        <p:spPr>
          <a:xfrm>
            <a:off x="4295546" y="1609344"/>
            <a:ext cx="1736293" cy="310896"/>
          </a:xfrm>
          <a:prstGeom prst="rect">
            <a:avLst/>
          </a:prstGeom>
          <a:solidFill>
            <a:srgbClr val="043B72"/>
          </a:solidFill>
          <a:ln w="12700">
            <a:solidFill>
              <a:srgbClr val="333333"/>
            </a:solidFill>
            <a:prstDash val="solid"/>
          </a:ln>
        </p:spPr>
      </p:sp>
      <p:sp>
        <p:nvSpPr>
          <p:cNvPr id="26" name="Text 24"/>
          <p:cNvSpPr/>
          <p:nvPr/>
        </p:nvSpPr>
        <p:spPr>
          <a:xfrm>
            <a:off x="4295546" y="1609344"/>
            <a:ext cx="1736293"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장비 · 소재</a:t>
            </a:r>
            <a:endParaRPr lang="en-US" sz="1150" dirty="0"/>
          </a:p>
        </p:txBody>
      </p:sp>
      <p:sp>
        <p:nvSpPr>
          <p:cNvPr id="27" name="Text 25"/>
          <p:cNvSpPr/>
          <p:nvPr/>
        </p:nvSpPr>
        <p:spPr>
          <a:xfrm>
            <a:off x="4423562" y="2011680"/>
            <a:ext cx="1480261" cy="402336"/>
          </a:xfrm>
          <a:prstGeom prst="rect">
            <a:avLst/>
          </a:prstGeom>
          <a:noFill/>
          <a:ln/>
        </p:spPr>
        <p:txBody>
          <a:bodyPr wrap="square" lIns="0" tIns="0" rIns="0" bIns="0" rtlCol="0" anchor="ctr"/>
          <a:lstStyle/>
          <a:p>
            <a:pPr indent="0" marL="0">
              <a:lnSpc>
                <a:spcPct val="120000"/>
              </a:lnSpc>
              <a:buNone/>
            </a:pPr>
            <a:r>
              <a:rPr lang="en-US" sz="1000" dirty="0">
                <a:solidFill>
                  <a:srgbClr val="6C6C6C"/>
                </a:solidFill>
                <a:latin typeface="Spoqa Han Sans Neo" pitchFamily="34" charset="0"/>
                <a:ea typeface="Spoqa Han Sans Neo" pitchFamily="34" charset="-122"/>
                <a:cs typeface="Spoqa Han Sans Neo" pitchFamily="34" charset="-120"/>
              </a:rPr>
              <a:t>노광·식각·증착·소재</a:t>
            </a:r>
            <a:endParaRPr lang="en-US" sz="1000" dirty="0"/>
          </a:p>
        </p:txBody>
      </p:sp>
      <p:sp>
        <p:nvSpPr>
          <p:cNvPr id="28" name="Text 26"/>
          <p:cNvSpPr/>
          <p:nvPr/>
        </p:nvSpPr>
        <p:spPr>
          <a:xfrm>
            <a:off x="4423562" y="2487168"/>
            <a:ext cx="1480261" cy="658368"/>
          </a:xfrm>
          <a:prstGeom prst="rect">
            <a:avLst/>
          </a:prstGeom>
          <a:noFill/>
          <a:ln/>
        </p:spPr>
        <p:txBody>
          <a:bodyPr wrap="square" lIns="0" tIns="0" rIns="0" bIns="0" rtlCol="0" anchor="ctr"/>
          <a:lstStyle/>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ASML · AMAT</a:t>
            </a:r>
            <a:endParaRPr lang="en-US" sz="1000" dirty="0"/>
          </a:p>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램리서치 · TEL</a:t>
            </a:r>
            <a:endParaRPr lang="en-US" sz="1000" dirty="0"/>
          </a:p>
        </p:txBody>
      </p:sp>
      <p:sp>
        <p:nvSpPr>
          <p:cNvPr id="29" name="Text 27"/>
          <p:cNvSpPr/>
          <p:nvPr/>
        </p:nvSpPr>
        <p:spPr>
          <a:xfrm>
            <a:off x="4423562" y="3200400"/>
            <a:ext cx="1480261" cy="182880"/>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협상력</a:t>
            </a:r>
            <a:endParaRPr lang="en-US" sz="850" dirty="0"/>
          </a:p>
        </p:txBody>
      </p:sp>
      <p:sp>
        <p:nvSpPr>
          <p:cNvPr id="30" name="Text 28"/>
          <p:cNvSpPr/>
          <p:nvPr/>
        </p:nvSpPr>
        <p:spPr>
          <a:xfrm>
            <a:off x="4423562" y="3383280"/>
            <a:ext cx="1480261" cy="292608"/>
          </a:xfrm>
          <a:prstGeom prst="rect">
            <a:avLst/>
          </a:prstGeom>
          <a:noFill/>
          <a:ln/>
        </p:spPr>
        <p:txBody>
          <a:bodyPr wrap="square" lIns="0" tIns="0" rIns="0" bIns="0" rtlCol="0" anchor="ctr"/>
          <a:lstStyle/>
          <a:p>
            <a:pPr indent="0" marL="0">
              <a:lnSpc>
                <a:spcPct val="110000"/>
              </a:lnSpc>
              <a:buNone/>
            </a:pPr>
            <a:r>
              <a:rPr lang="en-US" sz="1050" b="1" dirty="0">
                <a:solidFill>
                  <a:srgbClr val="043B72"/>
                </a:solidFill>
                <a:latin typeface="Spoqa Han Sans Neo" pitchFamily="34" charset="0"/>
                <a:ea typeface="Spoqa Han Sans Neo" pitchFamily="34" charset="-122"/>
                <a:cs typeface="Spoqa Han Sans Neo" pitchFamily="34" charset="-120"/>
              </a:rPr>
              <a:t>높음</a:t>
            </a:r>
            <a:endParaRPr lang="en-US" sz="1050" dirty="0"/>
          </a:p>
        </p:txBody>
      </p:sp>
      <p:sp>
        <p:nvSpPr>
          <p:cNvPr id="31" name="Text 29"/>
          <p:cNvSpPr/>
          <p:nvPr/>
        </p:nvSpPr>
        <p:spPr>
          <a:xfrm>
            <a:off x="6013552" y="2560320"/>
            <a:ext cx="164592" cy="219456"/>
          </a:xfrm>
          <a:prstGeom prst="rect">
            <a:avLst/>
          </a:prstGeom>
          <a:noFill/>
          <a:ln/>
        </p:spPr>
        <p:txBody>
          <a:bodyPr wrap="square" lIns="0" tIns="0" rIns="0" bIns="0" rtlCol="0" anchor="ctr"/>
          <a:lstStyle/>
          <a:p>
            <a:pPr algn="ctr" indent="0" marL="0">
              <a:buNone/>
            </a:pPr>
            <a:r>
              <a:rPr lang="en-US" sz="1000" dirty="0">
                <a:solidFill>
                  <a:srgbClr val="A0A6A8"/>
                </a:solidFill>
                <a:latin typeface="Spoqa Han Sans Neo" pitchFamily="34" charset="0"/>
                <a:ea typeface="Spoqa Han Sans Neo" pitchFamily="34" charset="-122"/>
                <a:cs typeface="Spoqa Han Sans Neo" pitchFamily="34" charset="-120"/>
              </a:rPr>
              <a:t>▶</a:t>
            </a:r>
            <a:endParaRPr lang="en-US" sz="1000" dirty="0"/>
          </a:p>
        </p:txBody>
      </p:sp>
      <p:sp>
        <p:nvSpPr>
          <p:cNvPr id="32" name="Shape 30"/>
          <p:cNvSpPr/>
          <p:nvPr/>
        </p:nvSpPr>
        <p:spPr>
          <a:xfrm>
            <a:off x="6159856" y="1609344"/>
            <a:ext cx="1736293" cy="2157984"/>
          </a:xfrm>
          <a:prstGeom prst="rect">
            <a:avLst/>
          </a:prstGeom>
          <a:solidFill>
            <a:srgbClr val="FFF3E8"/>
          </a:solidFill>
          <a:ln w="9525">
            <a:solidFill>
              <a:srgbClr val="FAB072"/>
            </a:solidFill>
            <a:prstDash val="solid"/>
          </a:ln>
        </p:spPr>
      </p:sp>
      <p:sp>
        <p:nvSpPr>
          <p:cNvPr id="33" name="Shape 31"/>
          <p:cNvSpPr/>
          <p:nvPr/>
        </p:nvSpPr>
        <p:spPr>
          <a:xfrm>
            <a:off x="6159856" y="1609344"/>
            <a:ext cx="1736293" cy="310896"/>
          </a:xfrm>
          <a:prstGeom prst="rect">
            <a:avLst/>
          </a:prstGeom>
          <a:solidFill>
            <a:srgbClr val="F58220"/>
          </a:solidFill>
          <a:ln w="12700">
            <a:solidFill>
              <a:srgbClr val="333333"/>
            </a:solidFill>
            <a:prstDash val="solid"/>
          </a:ln>
        </p:spPr>
      </p:sp>
      <p:sp>
        <p:nvSpPr>
          <p:cNvPr id="34" name="Text 32"/>
          <p:cNvSpPr/>
          <p:nvPr/>
        </p:nvSpPr>
        <p:spPr>
          <a:xfrm>
            <a:off x="6159856" y="1609344"/>
            <a:ext cx="1736293"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제조</a:t>
            </a:r>
            <a:endParaRPr lang="en-US" sz="1150" dirty="0"/>
          </a:p>
        </p:txBody>
      </p:sp>
      <p:sp>
        <p:nvSpPr>
          <p:cNvPr id="35" name="Text 33"/>
          <p:cNvSpPr/>
          <p:nvPr/>
        </p:nvSpPr>
        <p:spPr>
          <a:xfrm>
            <a:off x="6287872" y="2011680"/>
            <a:ext cx="1480261" cy="402336"/>
          </a:xfrm>
          <a:prstGeom prst="rect">
            <a:avLst/>
          </a:prstGeom>
          <a:noFill/>
          <a:ln/>
        </p:spPr>
        <p:txBody>
          <a:bodyPr wrap="square" lIns="0" tIns="0" rIns="0" bIns="0" rtlCol="0" anchor="ctr"/>
          <a:lstStyle/>
          <a:p>
            <a:pPr indent="0" marL="0">
              <a:lnSpc>
                <a:spcPct val="120000"/>
              </a:lnSpc>
              <a:buNone/>
            </a:pPr>
            <a:r>
              <a:rPr lang="en-US" sz="1000" dirty="0">
                <a:solidFill>
                  <a:srgbClr val="6C6C6C"/>
                </a:solidFill>
                <a:latin typeface="Spoqa Han Sans Neo" pitchFamily="34" charset="0"/>
                <a:ea typeface="Spoqa Han Sans Neo" pitchFamily="34" charset="-122"/>
                <a:cs typeface="Spoqa Han Sans Neo" pitchFamily="34" charset="-120"/>
              </a:rPr>
              <a:t>파운드리 · 메모리</a:t>
            </a:r>
            <a:endParaRPr lang="en-US" sz="1000" dirty="0"/>
          </a:p>
        </p:txBody>
      </p:sp>
      <p:sp>
        <p:nvSpPr>
          <p:cNvPr id="36" name="Text 34"/>
          <p:cNvSpPr/>
          <p:nvPr/>
        </p:nvSpPr>
        <p:spPr>
          <a:xfrm>
            <a:off x="6287872" y="2487168"/>
            <a:ext cx="1480261" cy="658368"/>
          </a:xfrm>
          <a:prstGeom prst="rect">
            <a:avLst/>
          </a:prstGeom>
          <a:noFill/>
          <a:ln/>
        </p:spPr>
        <p:txBody>
          <a:bodyPr wrap="square" lIns="0" tIns="0" rIns="0" bIns="0" rtlCol="0" anchor="ctr"/>
          <a:lstStyle/>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TSMC · 삼성전자</a:t>
            </a:r>
            <a:endParaRPr lang="en-US" sz="1000" dirty="0"/>
          </a:p>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SK하이닉스 · 마이크론</a:t>
            </a:r>
            <a:endParaRPr lang="en-US" sz="1000" dirty="0"/>
          </a:p>
        </p:txBody>
      </p:sp>
      <p:sp>
        <p:nvSpPr>
          <p:cNvPr id="37" name="Text 35"/>
          <p:cNvSpPr/>
          <p:nvPr/>
        </p:nvSpPr>
        <p:spPr>
          <a:xfrm>
            <a:off x="6287872" y="3200400"/>
            <a:ext cx="1480261" cy="182880"/>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협상력</a:t>
            </a:r>
            <a:endParaRPr lang="en-US" sz="850" dirty="0"/>
          </a:p>
        </p:txBody>
      </p:sp>
      <p:sp>
        <p:nvSpPr>
          <p:cNvPr id="38" name="Text 36"/>
          <p:cNvSpPr/>
          <p:nvPr/>
        </p:nvSpPr>
        <p:spPr>
          <a:xfrm>
            <a:off x="6287872" y="3383280"/>
            <a:ext cx="1480261" cy="292608"/>
          </a:xfrm>
          <a:prstGeom prst="rect">
            <a:avLst/>
          </a:prstGeom>
          <a:noFill/>
          <a:ln/>
        </p:spPr>
        <p:txBody>
          <a:bodyPr wrap="square" lIns="0" tIns="0" rIns="0" bIns="0" rtlCol="0" anchor="ctr"/>
          <a:lstStyle/>
          <a:p>
            <a:pPr indent="0" marL="0">
              <a:lnSpc>
                <a:spcPct val="110000"/>
              </a:lnSpc>
              <a:buNone/>
            </a:pPr>
            <a:r>
              <a:rPr lang="en-US" sz="1050" b="1" dirty="0">
                <a:solidFill>
                  <a:srgbClr val="F58220"/>
                </a:solidFill>
                <a:latin typeface="Spoqa Han Sans Neo" pitchFamily="34" charset="0"/>
                <a:ea typeface="Spoqa Han Sans Neo" pitchFamily="34" charset="-122"/>
                <a:cs typeface="Spoqa Han Sans Neo" pitchFamily="34" charset="-120"/>
              </a:rPr>
              <a:t>격차 큼</a:t>
            </a:r>
            <a:endParaRPr lang="en-US" sz="1050" dirty="0"/>
          </a:p>
        </p:txBody>
      </p:sp>
      <p:sp>
        <p:nvSpPr>
          <p:cNvPr id="39" name="Text 37"/>
          <p:cNvSpPr/>
          <p:nvPr/>
        </p:nvSpPr>
        <p:spPr>
          <a:xfrm>
            <a:off x="7877861" y="2560320"/>
            <a:ext cx="164592" cy="219456"/>
          </a:xfrm>
          <a:prstGeom prst="rect">
            <a:avLst/>
          </a:prstGeom>
          <a:noFill/>
          <a:ln/>
        </p:spPr>
        <p:txBody>
          <a:bodyPr wrap="square" lIns="0" tIns="0" rIns="0" bIns="0" rtlCol="0" anchor="ctr"/>
          <a:lstStyle/>
          <a:p>
            <a:pPr algn="ctr" indent="0" marL="0">
              <a:buNone/>
            </a:pPr>
            <a:r>
              <a:rPr lang="en-US" sz="1000" dirty="0">
                <a:solidFill>
                  <a:srgbClr val="A0A6A8"/>
                </a:solidFill>
                <a:latin typeface="Spoqa Han Sans Neo" pitchFamily="34" charset="0"/>
                <a:ea typeface="Spoqa Han Sans Neo" pitchFamily="34" charset="-122"/>
                <a:cs typeface="Spoqa Han Sans Neo" pitchFamily="34" charset="-120"/>
              </a:rPr>
              <a:t>▶</a:t>
            </a:r>
            <a:endParaRPr lang="en-US" sz="1000" dirty="0"/>
          </a:p>
        </p:txBody>
      </p:sp>
      <p:sp>
        <p:nvSpPr>
          <p:cNvPr id="40" name="Shape 38"/>
          <p:cNvSpPr/>
          <p:nvPr/>
        </p:nvSpPr>
        <p:spPr>
          <a:xfrm>
            <a:off x="8024165" y="1609344"/>
            <a:ext cx="1736293" cy="2157984"/>
          </a:xfrm>
          <a:prstGeom prst="rect">
            <a:avLst/>
          </a:prstGeom>
          <a:solidFill>
            <a:srgbClr val="FFFFFF"/>
          </a:solidFill>
          <a:ln w="9525">
            <a:solidFill>
              <a:srgbClr val="CDCECB"/>
            </a:solidFill>
            <a:prstDash val="solid"/>
          </a:ln>
        </p:spPr>
      </p:sp>
      <p:sp>
        <p:nvSpPr>
          <p:cNvPr id="41" name="Shape 39"/>
          <p:cNvSpPr/>
          <p:nvPr/>
        </p:nvSpPr>
        <p:spPr>
          <a:xfrm>
            <a:off x="8024165" y="1609344"/>
            <a:ext cx="1736293" cy="310896"/>
          </a:xfrm>
          <a:prstGeom prst="rect">
            <a:avLst/>
          </a:prstGeom>
          <a:solidFill>
            <a:srgbClr val="043B72"/>
          </a:solidFill>
          <a:ln w="12700">
            <a:solidFill>
              <a:srgbClr val="333333"/>
            </a:solidFill>
            <a:prstDash val="solid"/>
          </a:ln>
        </p:spPr>
      </p:sp>
      <p:sp>
        <p:nvSpPr>
          <p:cNvPr id="42" name="Text 40"/>
          <p:cNvSpPr/>
          <p:nvPr/>
        </p:nvSpPr>
        <p:spPr>
          <a:xfrm>
            <a:off x="8024165" y="1609344"/>
            <a:ext cx="1736293"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패키징 · 테스트</a:t>
            </a:r>
            <a:endParaRPr lang="en-US" sz="1150" dirty="0"/>
          </a:p>
        </p:txBody>
      </p:sp>
      <p:sp>
        <p:nvSpPr>
          <p:cNvPr id="43" name="Text 41"/>
          <p:cNvSpPr/>
          <p:nvPr/>
        </p:nvSpPr>
        <p:spPr>
          <a:xfrm>
            <a:off x="8152181" y="2011680"/>
            <a:ext cx="1480261" cy="402336"/>
          </a:xfrm>
          <a:prstGeom prst="rect">
            <a:avLst/>
          </a:prstGeom>
          <a:noFill/>
          <a:ln/>
        </p:spPr>
        <p:txBody>
          <a:bodyPr wrap="square" lIns="0" tIns="0" rIns="0" bIns="0" rtlCol="0" anchor="ctr"/>
          <a:lstStyle/>
          <a:p>
            <a:pPr indent="0" marL="0">
              <a:lnSpc>
                <a:spcPct val="120000"/>
              </a:lnSpc>
              <a:buNone/>
            </a:pPr>
            <a:r>
              <a:rPr lang="en-US" sz="1000" dirty="0">
                <a:solidFill>
                  <a:srgbClr val="6C6C6C"/>
                </a:solidFill>
                <a:latin typeface="Spoqa Han Sans Neo" pitchFamily="34" charset="0"/>
                <a:ea typeface="Spoqa Han Sans Neo" pitchFamily="34" charset="-122"/>
                <a:cs typeface="Spoqa Han Sans Neo" pitchFamily="34" charset="-120"/>
              </a:rPr>
              <a:t>CoWoS · TSV · EDS</a:t>
            </a:r>
            <a:endParaRPr lang="en-US" sz="1000" dirty="0"/>
          </a:p>
        </p:txBody>
      </p:sp>
      <p:sp>
        <p:nvSpPr>
          <p:cNvPr id="44" name="Text 42"/>
          <p:cNvSpPr/>
          <p:nvPr/>
        </p:nvSpPr>
        <p:spPr>
          <a:xfrm>
            <a:off x="8152181" y="2487168"/>
            <a:ext cx="1480261" cy="658368"/>
          </a:xfrm>
          <a:prstGeom prst="rect">
            <a:avLst/>
          </a:prstGeom>
          <a:noFill/>
          <a:ln/>
        </p:spPr>
        <p:txBody>
          <a:bodyPr wrap="square" lIns="0" tIns="0" rIns="0" bIns="0" rtlCol="0" anchor="ctr"/>
          <a:lstStyle/>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TSMC · ASE</a:t>
            </a:r>
            <a:endParaRPr lang="en-US" sz="1000" dirty="0"/>
          </a:p>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Amkor · 한미반도체</a:t>
            </a:r>
            <a:endParaRPr lang="en-US" sz="1000" dirty="0"/>
          </a:p>
        </p:txBody>
      </p:sp>
      <p:sp>
        <p:nvSpPr>
          <p:cNvPr id="45" name="Text 43"/>
          <p:cNvSpPr/>
          <p:nvPr/>
        </p:nvSpPr>
        <p:spPr>
          <a:xfrm>
            <a:off x="8152181" y="3200400"/>
            <a:ext cx="1480261" cy="182880"/>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협상력</a:t>
            </a:r>
            <a:endParaRPr lang="en-US" sz="850" dirty="0"/>
          </a:p>
        </p:txBody>
      </p:sp>
      <p:sp>
        <p:nvSpPr>
          <p:cNvPr id="46" name="Text 44"/>
          <p:cNvSpPr/>
          <p:nvPr/>
        </p:nvSpPr>
        <p:spPr>
          <a:xfrm>
            <a:off x="8152181" y="3383280"/>
            <a:ext cx="1480261" cy="292608"/>
          </a:xfrm>
          <a:prstGeom prst="rect">
            <a:avLst/>
          </a:prstGeom>
          <a:noFill/>
          <a:ln/>
        </p:spPr>
        <p:txBody>
          <a:bodyPr wrap="square" lIns="0" tIns="0" rIns="0" bIns="0" rtlCol="0" anchor="ctr"/>
          <a:lstStyle/>
          <a:p>
            <a:pPr indent="0" marL="0">
              <a:lnSpc>
                <a:spcPct val="110000"/>
              </a:lnSpc>
              <a:buNone/>
            </a:pPr>
            <a:r>
              <a:rPr lang="en-US" sz="1050" b="1" dirty="0">
                <a:solidFill>
                  <a:srgbClr val="043B72"/>
                </a:solidFill>
                <a:latin typeface="Spoqa Han Sans Neo" pitchFamily="34" charset="0"/>
                <a:ea typeface="Spoqa Han Sans Neo" pitchFamily="34" charset="-122"/>
                <a:cs typeface="Spoqa Han Sans Neo" pitchFamily="34" charset="-120"/>
              </a:rPr>
              <a:t>상승 중</a:t>
            </a:r>
            <a:endParaRPr lang="en-US" sz="1050" dirty="0"/>
          </a:p>
        </p:txBody>
      </p:sp>
      <p:sp>
        <p:nvSpPr>
          <p:cNvPr id="47" name="Text 45"/>
          <p:cNvSpPr/>
          <p:nvPr/>
        </p:nvSpPr>
        <p:spPr>
          <a:xfrm>
            <a:off x="9742170" y="2560320"/>
            <a:ext cx="164592" cy="219456"/>
          </a:xfrm>
          <a:prstGeom prst="rect">
            <a:avLst/>
          </a:prstGeom>
          <a:noFill/>
          <a:ln/>
        </p:spPr>
        <p:txBody>
          <a:bodyPr wrap="square" lIns="0" tIns="0" rIns="0" bIns="0" rtlCol="0" anchor="ctr"/>
          <a:lstStyle/>
          <a:p>
            <a:pPr algn="ctr" indent="0" marL="0">
              <a:buNone/>
            </a:pPr>
            <a:r>
              <a:rPr lang="en-US" sz="1000" dirty="0">
                <a:solidFill>
                  <a:srgbClr val="A0A6A8"/>
                </a:solidFill>
                <a:latin typeface="Spoqa Han Sans Neo" pitchFamily="34" charset="0"/>
                <a:ea typeface="Spoqa Han Sans Neo" pitchFamily="34" charset="-122"/>
                <a:cs typeface="Spoqa Han Sans Neo" pitchFamily="34" charset="-120"/>
              </a:rPr>
              <a:t>▶</a:t>
            </a:r>
            <a:endParaRPr lang="en-US" sz="1000" dirty="0"/>
          </a:p>
        </p:txBody>
      </p:sp>
      <p:sp>
        <p:nvSpPr>
          <p:cNvPr id="48" name="Shape 46"/>
          <p:cNvSpPr/>
          <p:nvPr/>
        </p:nvSpPr>
        <p:spPr>
          <a:xfrm>
            <a:off x="9888474" y="1609344"/>
            <a:ext cx="1736293" cy="2157984"/>
          </a:xfrm>
          <a:prstGeom prst="rect">
            <a:avLst/>
          </a:prstGeom>
          <a:solidFill>
            <a:srgbClr val="FFFFFF"/>
          </a:solidFill>
          <a:ln w="9525">
            <a:solidFill>
              <a:srgbClr val="CDCECB"/>
            </a:solidFill>
            <a:prstDash val="solid"/>
          </a:ln>
        </p:spPr>
      </p:sp>
      <p:sp>
        <p:nvSpPr>
          <p:cNvPr id="49" name="Shape 47"/>
          <p:cNvSpPr/>
          <p:nvPr/>
        </p:nvSpPr>
        <p:spPr>
          <a:xfrm>
            <a:off x="9888474" y="1609344"/>
            <a:ext cx="1736293" cy="310896"/>
          </a:xfrm>
          <a:prstGeom prst="rect">
            <a:avLst/>
          </a:prstGeom>
          <a:solidFill>
            <a:srgbClr val="043B72"/>
          </a:solidFill>
          <a:ln w="12700">
            <a:solidFill>
              <a:srgbClr val="333333"/>
            </a:solidFill>
            <a:prstDash val="solid"/>
          </a:ln>
        </p:spPr>
      </p:sp>
      <p:sp>
        <p:nvSpPr>
          <p:cNvPr id="50" name="Text 48"/>
          <p:cNvSpPr/>
          <p:nvPr/>
        </p:nvSpPr>
        <p:spPr>
          <a:xfrm>
            <a:off x="9888474" y="1609344"/>
            <a:ext cx="1736293"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Spoqa Han Sans Neo" pitchFamily="34" charset="0"/>
                <a:ea typeface="Spoqa Han Sans Neo" pitchFamily="34" charset="-122"/>
                <a:cs typeface="Spoqa Han Sans Neo" pitchFamily="34" charset="-120"/>
              </a:rPr>
              <a:t>최종 수요</a:t>
            </a:r>
            <a:endParaRPr lang="en-US" sz="1150" dirty="0"/>
          </a:p>
        </p:txBody>
      </p:sp>
      <p:sp>
        <p:nvSpPr>
          <p:cNvPr id="51" name="Text 49"/>
          <p:cNvSpPr/>
          <p:nvPr/>
        </p:nvSpPr>
        <p:spPr>
          <a:xfrm>
            <a:off x="10016490" y="2011680"/>
            <a:ext cx="1480261" cy="402336"/>
          </a:xfrm>
          <a:prstGeom prst="rect">
            <a:avLst/>
          </a:prstGeom>
          <a:noFill/>
          <a:ln/>
        </p:spPr>
        <p:txBody>
          <a:bodyPr wrap="square" lIns="0" tIns="0" rIns="0" bIns="0" rtlCol="0" anchor="ctr"/>
          <a:lstStyle/>
          <a:p>
            <a:pPr indent="0" marL="0">
              <a:lnSpc>
                <a:spcPct val="120000"/>
              </a:lnSpc>
              <a:buNone/>
            </a:pPr>
            <a:r>
              <a:rPr lang="en-US" sz="1000" dirty="0">
                <a:solidFill>
                  <a:srgbClr val="6C6C6C"/>
                </a:solidFill>
                <a:latin typeface="Spoqa Han Sans Neo" pitchFamily="34" charset="0"/>
                <a:ea typeface="Spoqa Han Sans Neo" pitchFamily="34" charset="-122"/>
                <a:cs typeface="Spoqa Han Sans Neo" pitchFamily="34" charset="-120"/>
              </a:rPr>
              <a:t>AI 데이터센터 · 기기</a:t>
            </a:r>
            <a:endParaRPr lang="en-US" sz="1000" dirty="0"/>
          </a:p>
        </p:txBody>
      </p:sp>
      <p:sp>
        <p:nvSpPr>
          <p:cNvPr id="52" name="Text 50"/>
          <p:cNvSpPr/>
          <p:nvPr/>
        </p:nvSpPr>
        <p:spPr>
          <a:xfrm>
            <a:off x="10016490" y="2487168"/>
            <a:ext cx="1480261" cy="658368"/>
          </a:xfrm>
          <a:prstGeom prst="rect">
            <a:avLst/>
          </a:prstGeom>
          <a:noFill/>
          <a:ln/>
        </p:spPr>
        <p:txBody>
          <a:bodyPr wrap="square" lIns="0" tIns="0" rIns="0" bIns="0" rtlCol="0" anchor="ctr"/>
          <a:lstStyle/>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MS · 구글 · 아마존</a:t>
            </a:r>
            <a:endParaRPr lang="en-US" sz="1000" dirty="0"/>
          </a:p>
          <a:p>
            <a:pPr indent="0" marL="0">
              <a:lnSpc>
                <a:spcPct val="125000"/>
              </a:lnSpc>
              <a:buNone/>
            </a:pPr>
            <a:r>
              <a:rPr lang="en-US" sz="1000" b="1" dirty="0">
                <a:solidFill>
                  <a:srgbClr val="1A1A1A"/>
                </a:solidFill>
                <a:latin typeface="Spoqa Han Sans Neo" pitchFamily="34" charset="0"/>
                <a:ea typeface="Spoqa Han Sans Neo" pitchFamily="34" charset="-122"/>
                <a:cs typeface="Spoqa Han Sans Neo" pitchFamily="34" charset="-120"/>
              </a:rPr>
              <a:t>메타 · 애플</a:t>
            </a:r>
            <a:endParaRPr lang="en-US" sz="1000" dirty="0"/>
          </a:p>
        </p:txBody>
      </p:sp>
      <p:sp>
        <p:nvSpPr>
          <p:cNvPr id="53" name="Text 51"/>
          <p:cNvSpPr/>
          <p:nvPr/>
        </p:nvSpPr>
        <p:spPr>
          <a:xfrm>
            <a:off x="10016490" y="3200400"/>
            <a:ext cx="1480261" cy="182880"/>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협상력</a:t>
            </a:r>
            <a:endParaRPr lang="en-US" sz="850" dirty="0"/>
          </a:p>
        </p:txBody>
      </p:sp>
      <p:sp>
        <p:nvSpPr>
          <p:cNvPr id="54" name="Text 52"/>
          <p:cNvSpPr/>
          <p:nvPr/>
        </p:nvSpPr>
        <p:spPr>
          <a:xfrm>
            <a:off x="10016490" y="3383280"/>
            <a:ext cx="1480261" cy="292608"/>
          </a:xfrm>
          <a:prstGeom prst="rect">
            <a:avLst/>
          </a:prstGeom>
          <a:noFill/>
          <a:ln/>
        </p:spPr>
        <p:txBody>
          <a:bodyPr wrap="square" lIns="0" tIns="0" rIns="0" bIns="0" rtlCol="0" anchor="ctr"/>
          <a:lstStyle/>
          <a:p>
            <a:pPr indent="0" marL="0">
              <a:lnSpc>
                <a:spcPct val="110000"/>
              </a:lnSpc>
              <a:buNone/>
            </a:pPr>
            <a:r>
              <a:rPr lang="en-US" sz="1050" b="1" dirty="0">
                <a:solidFill>
                  <a:srgbClr val="043B72"/>
                </a:solidFill>
                <a:latin typeface="Spoqa Han Sans Neo" pitchFamily="34" charset="0"/>
                <a:ea typeface="Spoqa Han Sans Neo" pitchFamily="34" charset="-122"/>
                <a:cs typeface="Spoqa Han Sans Neo" pitchFamily="34" charset="-120"/>
              </a:rPr>
              <a:t>구매자 입장</a:t>
            </a:r>
            <a:endParaRPr lang="en-US" sz="1050" dirty="0"/>
          </a:p>
        </p:txBody>
      </p:sp>
      <p:sp>
        <p:nvSpPr>
          <p:cNvPr id="55" name="Text 53"/>
          <p:cNvSpPr/>
          <p:nvPr/>
        </p:nvSpPr>
        <p:spPr>
          <a:xfrm>
            <a:off x="566928" y="3968496"/>
            <a:ext cx="11057839" cy="274320"/>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구간별 이익률 (2026년 2분기 실적 기준)</a:t>
            </a:r>
            <a:endParaRPr lang="en-US" sz="1350" dirty="0"/>
          </a:p>
        </p:txBody>
      </p:sp>
      <p:sp>
        <p:nvSpPr>
          <p:cNvPr id="56" name="Shape 54"/>
          <p:cNvSpPr/>
          <p:nvPr/>
        </p:nvSpPr>
        <p:spPr>
          <a:xfrm>
            <a:off x="566928" y="4297680"/>
            <a:ext cx="2079894" cy="1097280"/>
          </a:xfrm>
          <a:prstGeom prst="rect">
            <a:avLst/>
          </a:prstGeom>
          <a:solidFill>
            <a:srgbClr val="FFFFFF"/>
          </a:solidFill>
          <a:ln w="9525">
            <a:solidFill>
              <a:srgbClr val="CDCECB"/>
            </a:solidFill>
            <a:prstDash val="solid"/>
          </a:ln>
        </p:spPr>
      </p:sp>
      <p:sp>
        <p:nvSpPr>
          <p:cNvPr id="57" name="Text 55"/>
          <p:cNvSpPr/>
          <p:nvPr/>
        </p:nvSpPr>
        <p:spPr>
          <a:xfrm>
            <a:off x="749808" y="4443984"/>
            <a:ext cx="1714134" cy="237744"/>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SK하이닉스</a:t>
            </a:r>
            <a:endParaRPr lang="en-US" sz="1200" dirty="0"/>
          </a:p>
        </p:txBody>
      </p:sp>
      <p:sp>
        <p:nvSpPr>
          <p:cNvPr id="58" name="Text 56"/>
          <p:cNvSpPr/>
          <p:nvPr/>
        </p:nvSpPr>
        <p:spPr>
          <a:xfrm>
            <a:off x="749808" y="4681728"/>
            <a:ext cx="1714134" cy="201168"/>
          </a:xfrm>
          <a:prstGeom prst="rect">
            <a:avLst/>
          </a:prstGeom>
          <a:noFill/>
          <a:ln/>
        </p:spPr>
        <p:txBody>
          <a:bodyPr wrap="square" lIns="0" tIns="0" rIns="0" bIns="0" rtlCol="0" anchor="ctr"/>
          <a:lstStyle/>
          <a:p>
            <a:pPr indent="0" marL="0">
              <a:buNone/>
            </a:pPr>
            <a:r>
              <a:rPr lang="en-US" sz="950" dirty="0">
                <a:solidFill>
                  <a:srgbClr val="6C6C6C"/>
                </a:solidFill>
                <a:latin typeface="Spoqa Han Sans Neo" pitchFamily="34" charset="0"/>
                <a:ea typeface="Spoqa Han Sans Neo" pitchFamily="34" charset="-122"/>
                <a:cs typeface="Spoqa Han Sans Neo" pitchFamily="34" charset="-120"/>
              </a:rPr>
              <a:t>메모리 IDM</a:t>
            </a:r>
            <a:endParaRPr lang="en-US" sz="950" dirty="0"/>
          </a:p>
        </p:txBody>
      </p:sp>
      <p:sp>
        <p:nvSpPr>
          <p:cNvPr id="59" name="Text 57"/>
          <p:cNvSpPr/>
          <p:nvPr/>
        </p:nvSpPr>
        <p:spPr>
          <a:xfrm>
            <a:off x="749808" y="4901184"/>
            <a:ext cx="1714134" cy="402336"/>
          </a:xfrm>
          <a:prstGeom prst="rect">
            <a:avLst/>
          </a:prstGeom>
          <a:noFill/>
          <a:ln/>
        </p:spPr>
        <p:txBody>
          <a:bodyPr wrap="square" lIns="0" tIns="0" rIns="0" bIns="0" rtlCol="0" anchor="ctr"/>
          <a:lstStyle/>
          <a:p>
            <a:pPr indent="0" marL="0">
              <a:buNone/>
            </a:pPr>
            <a:r>
              <a:rPr lang="en-US" sz="2400" b="1" dirty="0">
                <a:solidFill>
                  <a:srgbClr val="F58220"/>
                </a:solidFill>
                <a:latin typeface="Spoqa Han Sans Neo" pitchFamily="34" charset="0"/>
                <a:ea typeface="Spoqa Han Sans Neo" pitchFamily="34" charset="-122"/>
                <a:cs typeface="Spoqa Han Sans Neo" pitchFamily="34" charset="-120"/>
              </a:rPr>
              <a:t>76.3%</a:t>
            </a:r>
            <a:endParaRPr lang="en-US" sz="2400" dirty="0"/>
          </a:p>
        </p:txBody>
      </p:sp>
      <p:sp>
        <p:nvSpPr>
          <p:cNvPr id="60" name="Shape 58"/>
          <p:cNvSpPr/>
          <p:nvPr/>
        </p:nvSpPr>
        <p:spPr>
          <a:xfrm>
            <a:off x="2811414" y="4297680"/>
            <a:ext cx="2079894" cy="1097280"/>
          </a:xfrm>
          <a:prstGeom prst="rect">
            <a:avLst/>
          </a:prstGeom>
          <a:solidFill>
            <a:srgbClr val="FFFFFF"/>
          </a:solidFill>
          <a:ln w="9525">
            <a:solidFill>
              <a:srgbClr val="CDCECB"/>
            </a:solidFill>
            <a:prstDash val="solid"/>
          </a:ln>
        </p:spPr>
      </p:sp>
      <p:sp>
        <p:nvSpPr>
          <p:cNvPr id="61" name="Text 59"/>
          <p:cNvSpPr/>
          <p:nvPr/>
        </p:nvSpPr>
        <p:spPr>
          <a:xfrm>
            <a:off x="2994294" y="4443984"/>
            <a:ext cx="1714134" cy="237744"/>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삼성전자 DS</a:t>
            </a:r>
            <a:endParaRPr lang="en-US" sz="1200" dirty="0"/>
          </a:p>
        </p:txBody>
      </p:sp>
      <p:sp>
        <p:nvSpPr>
          <p:cNvPr id="62" name="Text 60"/>
          <p:cNvSpPr/>
          <p:nvPr/>
        </p:nvSpPr>
        <p:spPr>
          <a:xfrm>
            <a:off x="2994294" y="4681728"/>
            <a:ext cx="1714134" cy="201168"/>
          </a:xfrm>
          <a:prstGeom prst="rect">
            <a:avLst/>
          </a:prstGeom>
          <a:noFill/>
          <a:ln/>
        </p:spPr>
        <p:txBody>
          <a:bodyPr wrap="square" lIns="0" tIns="0" rIns="0" bIns="0" rtlCol="0" anchor="ctr"/>
          <a:lstStyle/>
          <a:p>
            <a:pPr indent="0" marL="0">
              <a:buNone/>
            </a:pPr>
            <a:r>
              <a:rPr lang="en-US" sz="950" dirty="0">
                <a:solidFill>
                  <a:srgbClr val="6C6C6C"/>
                </a:solidFill>
                <a:latin typeface="Spoqa Han Sans Neo" pitchFamily="34" charset="0"/>
                <a:ea typeface="Spoqa Han Sans Neo" pitchFamily="34" charset="-122"/>
                <a:cs typeface="Spoqa Han Sans Neo" pitchFamily="34" charset="-120"/>
              </a:rPr>
              <a:t>메모리 IDM</a:t>
            </a:r>
            <a:endParaRPr lang="en-US" sz="950" dirty="0"/>
          </a:p>
        </p:txBody>
      </p:sp>
      <p:sp>
        <p:nvSpPr>
          <p:cNvPr id="63" name="Text 61"/>
          <p:cNvSpPr/>
          <p:nvPr/>
        </p:nvSpPr>
        <p:spPr>
          <a:xfrm>
            <a:off x="2994294" y="4901184"/>
            <a:ext cx="1714134" cy="402336"/>
          </a:xfrm>
          <a:prstGeom prst="rect">
            <a:avLst/>
          </a:prstGeom>
          <a:noFill/>
          <a:ln/>
        </p:spPr>
        <p:txBody>
          <a:bodyPr wrap="square" lIns="0" tIns="0" rIns="0" bIns="0" rtlCol="0" anchor="ctr"/>
          <a:lstStyle/>
          <a:p>
            <a:pPr indent="0" marL="0">
              <a:buNone/>
            </a:pPr>
            <a:r>
              <a:rPr lang="en-US" sz="2400" b="1" dirty="0">
                <a:solidFill>
                  <a:srgbClr val="F58220"/>
                </a:solidFill>
                <a:latin typeface="Spoqa Han Sans Neo" pitchFamily="34" charset="0"/>
                <a:ea typeface="Spoqa Han Sans Neo" pitchFamily="34" charset="-122"/>
                <a:cs typeface="Spoqa Han Sans Neo" pitchFamily="34" charset="-120"/>
              </a:rPr>
              <a:t>70.0%</a:t>
            </a:r>
            <a:endParaRPr lang="en-US" sz="2400" dirty="0"/>
          </a:p>
        </p:txBody>
      </p:sp>
      <p:sp>
        <p:nvSpPr>
          <p:cNvPr id="64" name="Shape 62"/>
          <p:cNvSpPr/>
          <p:nvPr/>
        </p:nvSpPr>
        <p:spPr>
          <a:xfrm>
            <a:off x="5055900" y="4297680"/>
            <a:ext cx="2079894" cy="1097280"/>
          </a:xfrm>
          <a:prstGeom prst="rect">
            <a:avLst/>
          </a:prstGeom>
          <a:solidFill>
            <a:srgbClr val="FFFFFF"/>
          </a:solidFill>
          <a:ln w="9525">
            <a:solidFill>
              <a:srgbClr val="CDCECB"/>
            </a:solidFill>
            <a:prstDash val="solid"/>
          </a:ln>
        </p:spPr>
      </p:sp>
      <p:sp>
        <p:nvSpPr>
          <p:cNvPr id="65" name="Text 63"/>
          <p:cNvSpPr/>
          <p:nvPr/>
        </p:nvSpPr>
        <p:spPr>
          <a:xfrm>
            <a:off x="5238780" y="4443984"/>
            <a:ext cx="1714134" cy="237744"/>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TSMC</a:t>
            </a:r>
            <a:endParaRPr lang="en-US" sz="1200" dirty="0"/>
          </a:p>
        </p:txBody>
      </p:sp>
      <p:sp>
        <p:nvSpPr>
          <p:cNvPr id="66" name="Text 64"/>
          <p:cNvSpPr/>
          <p:nvPr/>
        </p:nvSpPr>
        <p:spPr>
          <a:xfrm>
            <a:off x="5238780" y="4681728"/>
            <a:ext cx="1714134" cy="201168"/>
          </a:xfrm>
          <a:prstGeom prst="rect">
            <a:avLst/>
          </a:prstGeom>
          <a:noFill/>
          <a:ln/>
        </p:spPr>
        <p:txBody>
          <a:bodyPr wrap="square" lIns="0" tIns="0" rIns="0" bIns="0" rtlCol="0" anchor="ctr"/>
          <a:lstStyle/>
          <a:p>
            <a:pPr indent="0" marL="0">
              <a:buNone/>
            </a:pPr>
            <a:r>
              <a:rPr lang="en-US" sz="950" dirty="0">
                <a:solidFill>
                  <a:srgbClr val="6C6C6C"/>
                </a:solidFill>
                <a:latin typeface="Spoqa Han Sans Neo" pitchFamily="34" charset="0"/>
                <a:ea typeface="Spoqa Han Sans Neo" pitchFamily="34" charset="-122"/>
                <a:cs typeface="Spoqa Han Sans Neo" pitchFamily="34" charset="-120"/>
              </a:rPr>
              <a:t>파운드리</a:t>
            </a:r>
            <a:endParaRPr lang="en-US" sz="950" dirty="0"/>
          </a:p>
        </p:txBody>
      </p:sp>
      <p:sp>
        <p:nvSpPr>
          <p:cNvPr id="67" name="Text 65"/>
          <p:cNvSpPr/>
          <p:nvPr/>
        </p:nvSpPr>
        <p:spPr>
          <a:xfrm>
            <a:off x="5238780" y="4901184"/>
            <a:ext cx="1714134" cy="402336"/>
          </a:xfrm>
          <a:prstGeom prst="rect">
            <a:avLst/>
          </a:prstGeom>
          <a:noFill/>
          <a:ln/>
        </p:spPr>
        <p:txBody>
          <a:bodyPr wrap="square" lIns="0" tIns="0" rIns="0" bIns="0" rtlCol="0" anchor="ctr"/>
          <a:lstStyle/>
          <a:p>
            <a:pPr indent="0" marL="0">
              <a:buNone/>
            </a:pPr>
            <a:r>
              <a:rPr lang="en-US" sz="2400" b="1" dirty="0">
                <a:solidFill>
                  <a:srgbClr val="043B72"/>
                </a:solidFill>
                <a:latin typeface="Spoqa Han Sans Neo" pitchFamily="34" charset="0"/>
                <a:ea typeface="Spoqa Han Sans Neo" pitchFamily="34" charset="-122"/>
                <a:cs typeface="Spoqa Han Sans Neo" pitchFamily="34" charset="-120"/>
              </a:rPr>
              <a:t>60.3%</a:t>
            </a:r>
            <a:endParaRPr lang="en-US" sz="2400" dirty="0"/>
          </a:p>
        </p:txBody>
      </p:sp>
      <p:sp>
        <p:nvSpPr>
          <p:cNvPr id="68" name="Shape 66"/>
          <p:cNvSpPr/>
          <p:nvPr/>
        </p:nvSpPr>
        <p:spPr>
          <a:xfrm>
            <a:off x="7300387" y="4297680"/>
            <a:ext cx="2079894" cy="1097280"/>
          </a:xfrm>
          <a:prstGeom prst="rect">
            <a:avLst/>
          </a:prstGeom>
          <a:solidFill>
            <a:srgbClr val="FFFFFF"/>
          </a:solidFill>
          <a:ln w="9525">
            <a:solidFill>
              <a:srgbClr val="CDCECB"/>
            </a:solidFill>
            <a:prstDash val="solid"/>
          </a:ln>
        </p:spPr>
      </p:sp>
      <p:sp>
        <p:nvSpPr>
          <p:cNvPr id="69" name="Text 67"/>
          <p:cNvSpPr/>
          <p:nvPr/>
        </p:nvSpPr>
        <p:spPr>
          <a:xfrm>
            <a:off x="7483267" y="4443984"/>
            <a:ext cx="1714134" cy="237744"/>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마이크론</a:t>
            </a:r>
            <a:endParaRPr lang="en-US" sz="1200" dirty="0"/>
          </a:p>
        </p:txBody>
      </p:sp>
      <p:sp>
        <p:nvSpPr>
          <p:cNvPr id="70" name="Text 68"/>
          <p:cNvSpPr/>
          <p:nvPr/>
        </p:nvSpPr>
        <p:spPr>
          <a:xfrm>
            <a:off x="7483267" y="4681728"/>
            <a:ext cx="1714134" cy="201168"/>
          </a:xfrm>
          <a:prstGeom prst="rect">
            <a:avLst/>
          </a:prstGeom>
          <a:noFill/>
          <a:ln/>
        </p:spPr>
        <p:txBody>
          <a:bodyPr wrap="square" lIns="0" tIns="0" rIns="0" bIns="0" rtlCol="0" anchor="ctr"/>
          <a:lstStyle/>
          <a:p>
            <a:pPr indent="0" marL="0">
              <a:buNone/>
            </a:pPr>
            <a:r>
              <a:rPr lang="en-US" sz="950" dirty="0">
                <a:solidFill>
                  <a:srgbClr val="6C6C6C"/>
                </a:solidFill>
                <a:latin typeface="Spoqa Han Sans Neo" pitchFamily="34" charset="0"/>
                <a:ea typeface="Spoqa Han Sans Neo" pitchFamily="34" charset="-122"/>
                <a:cs typeface="Spoqa Han Sans Neo" pitchFamily="34" charset="-120"/>
              </a:rPr>
              <a:t>메모리 IDM</a:t>
            </a:r>
            <a:endParaRPr lang="en-US" sz="950" dirty="0"/>
          </a:p>
        </p:txBody>
      </p:sp>
      <p:sp>
        <p:nvSpPr>
          <p:cNvPr id="71" name="Text 69"/>
          <p:cNvSpPr/>
          <p:nvPr/>
        </p:nvSpPr>
        <p:spPr>
          <a:xfrm>
            <a:off x="7483267" y="4901184"/>
            <a:ext cx="1714134" cy="402336"/>
          </a:xfrm>
          <a:prstGeom prst="rect">
            <a:avLst/>
          </a:prstGeom>
          <a:noFill/>
          <a:ln/>
        </p:spPr>
        <p:txBody>
          <a:bodyPr wrap="square" lIns="0" tIns="0" rIns="0" bIns="0" rtlCol="0" anchor="ctr"/>
          <a:lstStyle/>
          <a:p>
            <a:pPr indent="0" marL="0">
              <a:buNone/>
            </a:pPr>
            <a:r>
              <a:rPr lang="en-US" sz="2400" b="1" dirty="0">
                <a:solidFill>
                  <a:srgbClr val="F58220"/>
                </a:solidFill>
                <a:latin typeface="Spoqa Han Sans Neo" pitchFamily="34" charset="0"/>
                <a:ea typeface="Spoqa Han Sans Neo" pitchFamily="34" charset="-122"/>
                <a:cs typeface="Spoqa Han Sans Neo" pitchFamily="34" charset="-120"/>
              </a:rPr>
              <a:t>80.4%</a:t>
            </a:r>
            <a:endParaRPr lang="en-US" sz="2400" dirty="0"/>
          </a:p>
        </p:txBody>
      </p:sp>
      <p:sp>
        <p:nvSpPr>
          <p:cNvPr id="72" name="Shape 70"/>
          <p:cNvSpPr/>
          <p:nvPr/>
        </p:nvSpPr>
        <p:spPr>
          <a:xfrm>
            <a:off x="9544873" y="4297680"/>
            <a:ext cx="2079894" cy="1097280"/>
          </a:xfrm>
          <a:prstGeom prst="rect">
            <a:avLst/>
          </a:prstGeom>
          <a:solidFill>
            <a:srgbClr val="FFFFFF"/>
          </a:solidFill>
          <a:ln w="9525">
            <a:solidFill>
              <a:srgbClr val="CDCECB"/>
            </a:solidFill>
            <a:prstDash val="solid"/>
          </a:ln>
        </p:spPr>
      </p:sp>
      <p:sp>
        <p:nvSpPr>
          <p:cNvPr id="73" name="Text 71"/>
          <p:cNvSpPr/>
          <p:nvPr/>
        </p:nvSpPr>
        <p:spPr>
          <a:xfrm>
            <a:off x="9727753" y="4443984"/>
            <a:ext cx="1714134" cy="237744"/>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ASML</a:t>
            </a:r>
            <a:endParaRPr lang="en-US" sz="1200" dirty="0"/>
          </a:p>
        </p:txBody>
      </p:sp>
      <p:sp>
        <p:nvSpPr>
          <p:cNvPr id="74" name="Text 72"/>
          <p:cNvSpPr/>
          <p:nvPr/>
        </p:nvSpPr>
        <p:spPr>
          <a:xfrm>
            <a:off x="9727753" y="4681728"/>
            <a:ext cx="1714134" cy="201168"/>
          </a:xfrm>
          <a:prstGeom prst="rect">
            <a:avLst/>
          </a:prstGeom>
          <a:noFill/>
          <a:ln/>
        </p:spPr>
        <p:txBody>
          <a:bodyPr wrap="square" lIns="0" tIns="0" rIns="0" bIns="0" rtlCol="0" anchor="ctr"/>
          <a:lstStyle/>
          <a:p>
            <a:pPr indent="0" marL="0">
              <a:buNone/>
            </a:pPr>
            <a:r>
              <a:rPr lang="en-US" sz="950" dirty="0">
                <a:solidFill>
                  <a:srgbClr val="6C6C6C"/>
                </a:solidFill>
                <a:latin typeface="Spoqa Han Sans Neo" pitchFamily="34" charset="0"/>
                <a:ea typeface="Spoqa Han Sans Neo" pitchFamily="34" charset="-122"/>
                <a:cs typeface="Spoqa Han Sans Neo" pitchFamily="34" charset="-120"/>
              </a:rPr>
              <a:t>장비(총이익률)</a:t>
            </a:r>
            <a:endParaRPr lang="en-US" sz="950" dirty="0"/>
          </a:p>
        </p:txBody>
      </p:sp>
      <p:sp>
        <p:nvSpPr>
          <p:cNvPr id="75" name="Text 73"/>
          <p:cNvSpPr/>
          <p:nvPr/>
        </p:nvSpPr>
        <p:spPr>
          <a:xfrm>
            <a:off x="9727753" y="4901184"/>
            <a:ext cx="1714134" cy="402336"/>
          </a:xfrm>
          <a:prstGeom prst="rect">
            <a:avLst/>
          </a:prstGeom>
          <a:noFill/>
          <a:ln/>
        </p:spPr>
        <p:txBody>
          <a:bodyPr wrap="square" lIns="0" tIns="0" rIns="0" bIns="0" rtlCol="0" anchor="ctr"/>
          <a:lstStyle/>
          <a:p>
            <a:pPr indent="0" marL="0">
              <a:buNone/>
            </a:pPr>
            <a:r>
              <a:rPr lang="en-US" sz="2400" b="1" dirty="0">
                <a:solidFill>
                  <a:srgbClr val="043B72"/>
                </a:solidFill>
                <a:latin typeface="Spoqa Han Sans Neo" pitchFamily="34" charset="0"/>
                <a:ea typeface="Spoqa Han Sans Neo" pitchFamily="34" charset="-122"/>
                <a:cs typeface="Spoqa Han Sans Neo" pitchFamily="34" charset="-120"/>
              </a:rPr>
              <a:t>54.0%</a:t>
            </a:r>
            <a:endParaRPr lang="en-US" sz="2400" dirty="0"/>
          </a:p>
        </p:txBody>
      </p:sp>
      <p:sp>
        <p:nvSpPr>
          <p:cNvPr id="76" name="Text 74"/>
          <p:cNvSpPr/>
          <p:nvPr/>
        </p:nvSpPr>
        <p:spPr>
          <a:xfrm>
            <a:off x="566928" y="5541264"/>
            <a:ext cx="11057839" cy="365760"/>
          </a:xfrm>
          <a:prstGeom prst="rect">
            <a:avLst/>
          </a:prstGeom>
          <a:noFill/>
          <a:ln/>
        </p:spPr>
        <p:txBody>
          <a:bodyPr wrap="square" lIns="0" tIns="0" rIns="0" bIns="0" rtlCol="0" anchor="ctr"/>
          <a:lstStyle/>
          <a:p>
            <a:pPr indent="0" marL="0">
              <a:lnSpc>
                <a:spcPct val="120000"/>
              </a:lnSpc>
              <a:buNone/>
            </a:pPr>
            <a:r>
              <a:rPr lang="en-US" sz="950" dirty="0">
                <a:solidFill>
                  <a:srgbClr val="6C6C6C"/>
                </a:solidFill>
                <a:latin typeface="Spoqa Han Sans Neo" pitchFamily="34" charset="0"/>
                <a:ea typeface="Spoqa Han Sans Neo" pitchFamily="34" charset="-122"/>
                <a:cs typeface="Spoqa Han Sans Neo" pitchFamily="34" charset="-120"/>
              </a:rPr>
              <a:t>주: SK하이닉스·삼성전자 DS는 영업이익률, TSMC는 영업이익률, 마이크론은 GAAP 영업이익률(FY26 3Q), ASML은 매출총이익률. 회계기준·집계기간이 달라 직접 비교에는 한계가 있다.</a:t>
            </a:r>
            <a:endParaRPr lang="en-US" sz="950" dirty="0"/>
          </a:p>
        </p:txBody>
      </p:sp>
      <p:sp>
        <p:nvSpPr>
          <p:cNvPr id="77" name="Text 75"/>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각 사 2026년 2분기 실적발표(삼성전자 DS 부문 매출 127.5조원·영업이익 89.2조원 기준 산출)</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2 · 설계</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AI 가속기 진영 — 엔비디아 독주와 '탈엔비디아' 시도</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메모리 수요의 크기는 결국 이 가속기가 몇 대 만들어지느냐에 달려 있다.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11</a:t>
            </a:r>
            <a:endParaRPr lang="en-US" sz="900" dirty="0"/>
          </a:p>
        </p:txBody>
      </p:sp>
      <p:sp>
        <p:nvSpPr>
          <p:cNvPr id="8" name="Shape 6"/>
          <p:cNvSpPr/>
          <p:nvPr/>
        </p:nvSpPr>
        <p:spPr>
          <a:xfrm>
            <a:off x="566928" y="1591056"/>
            <a:ext cx="3551834" cy="2450592"/>
          </a:xfrm>
          <a:prstGeom prst="rect">
            <a:avLst/>
          </a:prstGeom>
          <a:solidFill>
            <a:srgbClr val="FFFFFF"/>
          </a:solidFill>
          <a:ln w="9525">
            <a:solidFill>
              <a:srgbClr val="CDCECB"/>
            </a:solidFill>
            <a:prstDash val="solid"/>
          </a:ln>
        </p:spPr>
      </p:sp>
      <p:sp>
        <p:nvSpPr>
          <p:cNvPr id="9" name="Shape 7"/>
          <p:cNvSpPr/>
          <p:nvPr/>
        </p:nvSpPr>
        <p:spPr>
          <a:xfrm>
            <a:off x="566928" y="1591056"/>
            <a:ext cx="3551834" cy="54864"/>
          </a:xfrm>
          <a:prstGeom prst="rect">
            <a:avLst/>
          </a:prstGeom>
          <a:solidFill>
            <a:srgbClr val="F58220"/>
          </a:solidFill>
          <a:ln w="12700">
            <a:solidFill>
              <a:srgbClr val="333333"/>
            </a:solidFill>
            <a:prstDash val="solid"/>
          </a:ln>
        </p:spPr>
      </p:sp>
      <p:sp>
        <p:nvSpPr>
          <p:cNvPr id="10" name="Text 8"/>
          <p:cNvSpPr/>
          <p:nvPr/>
        </p:nvSpPr>
        <p:spPr>
          <a:xfrm>
            <a:off x="804672" y="1755648"/>
            <a:ext cx="3076346" cy="310896"/>
          </a:xfrm>
          <a:prstGeom prst="rect">
            <a:avLst/>
          </a:prstGeom>
          <a:noFill/>
          <a:ln/>
        </p:spPr>
        <p:txBody>
          <a:bodyPr wrap="square" lIns="0" tIns="0" rIns="0" bIns="0" rtlCol="0" anchor="ctr"/>
          <a:lstStyle/>
          <a:p>
            <a:pPr indent="0" marL="0">
              <a:buNone/>
            </a:pPr>
            <a:r>
              <a:rPr lang="en-US" sz="1800" b="1" dirty="0">
                <a:solidFill>
                  <a:srgbClr val="F58220"/>
                </a:solidFill>
                <a:latin typeface="Spoqa Han Sans Neo" pitchFamily="34" charset="0"/>
                <a:ea typeface="Spoqa Han Sans Neo" pitchFamily="34" charset="-122"/>
                <a:cs typeface="Spoqa Han Sans Neo" pitchFamily="34" charset="-120"/>
              </a:rPr>
              <a:t>엔비디아</a:t>
            </a:r>
            <a:endParaRPr lang="en-US" sz="1800" dirty="0"/>
          </a:p>
        </p:txBody>
      </p:sp>
      <p:sp>
        <p:nvSpPr>
          <p:cNvPr id="11" name="Text 9"/>
          <p:cNvSpPr/>
          <p:nvPr/>
        </p:nvSpPr>
        <p:spPr>
          <a:xfrm>
            <a:off x="804672" y="2066544"/>
            <a:ext cx="3076346" cy="219456"/>
          </a:xfrm>
          <a:prstGeom prst="rect">
            <a:avLst/>
          </a:prstGeom>
          <a:noFill/>
          <a:ln/>
        </p:spPr>
        <p:txBody>
          <a:bodyPr wrap="square" lIns="0" tIns="0" rIns="0" bIns="0" rtlCol="0" anchor="ctr"/>
          <a:lstStyle/>
          <a:p>
            <a:pPr indent="0" marL="0">
              <a:buNone/>
            </a:pPr>
            <a:r>
              <a:rPr lang="en-US" sz="1050" b="1" dirty="0">
                <a:solidFill>
                  <a:srgbClr val="6C6C6C"/>
                </a:solidFill>
                <a:latin typeface="Spoqa Han Sans Neo" pitchFamily="34" charset="0"/>
                <a:ea typeface="Spoqa Han Sans Neo" pitchFamily="34" charset="-122"/>
                <a:cs typeface="Spoqa Han Sans Neo" pitchFamily="34" charset="-120"/>
              </a:rPr>
              <a:t>AI 반도체 시장 80% 이상</a:t>
            </a:r>
            <a:endParaRPr lang="en-US" sz="1050" dirty="0"/>
          </a:p>
        </p:txBody>
      </p:sp>
      <p:sp>
        <p:nvSpPr>
          <p:cNvPr id="12" name="Text 10"/>
          <p:cNvSpPr/>
          <p:nvPr/>
        </p:nvSpPr>
        <p:spPr>
          <a:xfrm>
            <a:off x="804672" y="2359152"/>
            <a:ext cx="3076346" cy="1609344"/>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블랙웰 → 베라 루빈(Vera Rubin)으로 세대 전환 중</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루빈 시스템 1대에 부품 200만 개, 대만 협력사 100~150곳</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2026년 루빈 생산 목표 200만 대 → 150만 대로 25% 하향(KeyBanc)</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CUDA 소프트웨어 생태계가 실질적 진입장벽</a:t>
            </a:r>
            <a:endParaRPr lang="en-US" sz="1080" dirty="0"/>
          </a:p>
        </p:txBody>
      </p:sp>
      <p:sp>
        <p:nvSpPr>
          <p:cNvPr id="13" name="Shape 11"/>
          <p:cNvSpPr/>
          <p:nvPr/>
        </p:nvSpPr>
        <p:spPr>
          <a:xfrm>
            <a:off x="4319930" y="1591056"/>
            <a:ext cx="3551834" cy="2450592"/>
          </a:xfrm>
          <a:prstGeom prst="rect">
            <a:avLst/>
          </a:prstGeom>
          <a:solidFill>
            <a:srgbClr val="FFFFFF"/>
          </a:solidFill>
          <a:ln w="9525">
            <a:solidFill>
              <a:srgbClr val="CDCECB"/>
            </a:solidFill>
            <a:prstDash val="solid"/>
          </a:ln>
        </p:spPr>
      </p:sp>
      <p:sp>
        <p:nvSpPr>
          <p:cNvPr id="14" name="Shape 12"/>
          <p:cNvSpPr/>
          <p:nvPr/>
        </p:nvSpPr>
        <p:spPr>
          <a:xfrm>
            <a:off x="4319930" y="1591056"/>
            <a:ext cx="3551834" cy="54864"/>
          </a:xfrm>
          <a:prstGeom prst="rect">
            <a:avLst/>
          </a:prstGeom>
          <a:solidFill>
            <a:srgbClr val="043B72"/>
          </a:solidFill>
          <a:ln w="12700">
            <a:solidFill>
              <a:srgbClr val="333333"/>
            </a:solidFill>
            <a:prstDash val="solid"/>
          </a:ln>
        </p:spPr>
      </p:sp>
      <p:sp>
        <p:nvSpPr>
          <p:cNvPr id="15" name="Text 13"/>
          <p:cNvSpPr/>
          <p:nvPr/>
        </p:nvSpPr>
        <p:spPr>
          <a:xfrm>
            <a:off x="4557674" y="1755648"/>
            <a:ext cx="3076346" cy="310896"/>
          </a:xfrm>
          <a:prstGeom prst="rect">
            <a:avLst/>
          </a:prstGeom>
          <a:noFill/>
          <a:ln/>
        </p:spPr>
        <p:txBody>
          <a:bodyPr wrap="square" lIns="0" tIns="0" rIns="0" bIns="0" rtlCol="0" anchor="ctr"/>
          <a:lstStyle/>
          <a:p>
            <a:pPr indent="0" marL="0">
              <a:buNone/>
            </a:pPr>
            <a:r>
              <a:rPr lang="en-US" sz="1800" b="1" dirty="0">
                <a:solidFill>
                  <a:srgbClr val="043B72"/>
                </a:solidFill>
                <a:latin typeface="Spoqa Han Sans Neo" pitchFamily="34" charset="0"/>
                <a:ea typeface="Spoqa Han Sans Neo" pitchFamily="34" charset="-122"/>
                <a:cs typeface="Spoqa Han Sans Neo" pitchFamily="34" charset="-120"/>
              </a:rPr>
              <a:t>추격 진영</a:t>
            </a:r>
            <a:endParaRPr lang="en-US" sz="1800" dirty="0"/>
          </a:p>
        </p:txBody>
      </p:sp>
      <p:sp>
        <p:nvSpPr>
          <p:cNvPr id="16" name="Text 14"/>
          <p:cNvSpPr/>
          <p:nvPr/>
        </p:nvSpPr>
        <p:spPr>
          <a:xfrm>
            <a:off x="4557674" y="2066544"/>
            <a:ext cx="3076346" cy="219456"/>
          </a:xfrm>
          <a:prstGeom prst="rect">
            <a:avLst/>
          </a:prstGeom>
          <a:noFill/>
          <a:ln/>
        </p:spPr>
        <p:txBody>
          <a:bodyPr wrap="square" lIns="0" tIns="0" rIns="0" bIns="0" rtlCol="0" anchor="ctr"/>
          <a:lstStyle/>
          <a:p>
            <a:pPr indent="0" marL="0">
              <a:buNone/>
            </a:pPr>
            <a:r>
              <a:rPr lang="en-US" sz="1050" b="1" dirty="0">
                <a:solidFill>
                  <a:srgbClr val="6C6C6C"/>
                </a:solidFill>
                <a:latin typeface="Spoqa Han Sans Neo" pitchFamily="34" charset="0"/>
                <a:ea typeface="Spoqa Han Sans Neo" pitchFamily="34" charset="-122"/>
                <a:cs typeface="Spoqa Han Sans Neo" pitchFamily="34" charset="-120"/>
              </a:rPr>
              <a:t>AMD · 인텔</a:t>
            </a:r>
            <a:endParaRPr lang="en-US" sz="1050" dirty="0"/>
          </a:p>
        </p:txBody>
      </p:sp>
      <p:sp>
        <p:nvSpPr>
          <p:cNvPr id="17" name="Text 15"/>
          <p:cNvSpPr/>
          <p:nvPr/>
        </p:nvSpPr>
        <p:spPr>
          <a:xfrm>
            <a:off x="4557674" y="2359152"/>
            <a:ext cx="3076346" cy="1609344"/>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AMD MI400 시리즈 — 삼성전자가 HBM4 주력 공급사로 참여</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인텔 18A는 기존 EUV로 양산, High-NA는 14A에 적용 예정</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가격·전력효율을 무기로 추론(inference) 시장 공략</a:t>
            </a:r>
            <a:endParaRPr lang="en-US" sz="1080" dirty="0"/>
          </a:p>
        </p:txBody>
      </p:sp>
      <p:sp>
        <p:nvSpPr>
          <p:cNvPr id="18" name="Shape 16"/>
          <p:cNvSpPr/>
          <p:nvPr/>
        </p:nvSpPr>
        <p:spPr>
          <a:xfrm>
            <a:off x="8072933" y="1591056"/>
            <a:ext cx="3551834" cy="2450592"/>
          </a:xfrm>
          <a:prstGeom prst="rect">
            <a:avLst/>
          </a:prstGeom>
          <a:solidFill>
            <a:srgbClr val="FFFFFF"/>
          </a:solidFill>
          <a:ln w="9525">
            <a:solidFill>
              <a:srgbClr val="CDCECB"/>
            </a:solidFill>
            <a:prstDash val="solid"/>
          </a:ln>
        </p:spPr>
      </p:sp>
      <p:sp>
        <p:nvSpPr>
          <p:cNvPr id="19" name="Shape 17"/>
          <p:cNvSpPr/>
          <p:nvPr/>
        </p:nvSpPr>
        <p:spPr>
          <a:xfrm>
            <a:off x="8072933" y="1591056"/>
            <a:ext cx="3551834" cy="54864"/>
          </a:xfrm>
          <a:prstGeom prst="rect">
            <a:avLst/>
          </a:prstGeom>
          <a:solidFill>
            <a:srgbClr val="043B72"/>
          </a:solidFill>
          <a:ln w="12700">
            <a:solidFill>
              <a:srgbClr val="333333"/>
            </a:solidFill>
            <a:prstDash val="solid"/>
          </a:ln>
        </p:spPr>
      </p:sp>
      <p:sp>
        <p:nvSpPr>
          <p:cNvPr id="20" name="Text 18"/>
          <p:cNvSpPr/>
          <p:nvPr/>
        </p:nvSpPr>
        <p:spPr>
          <a:xfrm>
            <a:off x="8310677" y="1755648"/>
            <a:ext cx="3076346" cy="310896"/>
          </a:xfrm>
          <a:prstGeom prst="rect">
            <a:avLst/>
          </a:prstGeom>
          <a:noFill/>
          <a:ln/>
        </p:spPr>
        <p:txBody>
          <a:bodyPr wrap="square" lIns="0" tIns="0" rIns="0" bIns="0" rtlCol="0" anchor="ctr"/>
          <a:lstStyle/>
          <a:p>
            <a:pPr indent="0" marL="0">
              <a:buNone/>
            </a:pPr>
            <a:r>
              <a:rPr lang="en-US" sz="1800" b="1" dirty="0">
                <a:solidFill>
                  <a:srgbClr val="043B72"/>
                </a:solidFill>
                <a:latin typeface="Spoqa Han Sans Neo" pitchFamily="34" charset="0"/>
                <a:ea typeface="Spoqa Han Sans Neo" pitchFamily="34" charset="-122"/>
                <a:cs typeface="Spoqa Han Sans Neo" pitchFamily="34" charset="-120"/>
              </a:rPr>
              <a:t>자체 칩(커스텀 ASIC)</a:t>
            </a:r>
            <a:endParaRPr lang="en-US" sz="1800" dirty="0"/>
          </a:p>
        </p:txBody>
      </p:sp>
      <p:sp>
        <p:nvSpPr>
          <p:cNvPr id="21" name="Text 19"/>
          <p:cNvSpPr/>
          <p:nvPr/>
        </p:nvSpPr>
        <p:spPr>
          <a:xfrm>
            <a:off x="8310677" y="2066544"/>
            <a:ext cx="3076346" cy="219456"/>
          </a:xfrm>
          <a:prstGeom prst="rect">
            <a:avLst/>
          </a:prstGeom>
          <a:noFill/>
          <a:ln/>
        </p:spPr>
        <p:txBody>
          <a:bodyPr wrap="square" lIns="0" tIns="0" rIns="0" bIns="0" rtlCol="0" anchor="ctr"/>
          <a:lstStyle/>
          <a:p>
            <a:pPr indent="0" marL="0">
              <a:buNone/>
            </a:pPr>
            <a:r>
              <a:rPr lang="en-US" sz="1050" b="1" dirty="0">
                <a:solidFill>
                  <a:srgbClr val="6C6C6C"/>
                </a:solidFill>
                <a:latin typeface="Spoqa Han Sans Neo" pitchFamily="34" charset="0"/>
                <a:ea typeface="Spoqa Han Sans Neo" pitchFamily="34" charset="-122"/>
                <a:cs typeface="Spoqa Han Sans Neo" pitchFamily="34" charset="-120"/>
              </a:rPr>
              <a:t>하이퍼스케일러 직접 설계</a:t>
            </a:r>
            <a:endParaRPr lang="en-US" sz="1050" dirty="0"/>
          </a:p>
        </p:txBody>
      </p:sp>
      <p:sp>
        <p:nvSpPr>
          <p:cNvPr id="22" name="Text 20"/>
          <p:cNvSpPr/>
          <p:nvPr/>
        </p:nvSpPr>
        <p:spPr>
          <a:xfrm>
            <a:off x="8310677" y="2359152"/>
            <a:ext cx="3076346" cy="1609344"/>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구글 TPU · 아마존 Trainium/Inferentia · 메타 MTIA · MS MAIA</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목적: 엔비디아 의존도 축소 + 토큰당 비용 절감</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브로드컴·마벨이 설계 파트너로 수혜</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구조적으로 HBM·고성능 D램 수요는 오히려 늘어난다</a:t>
            </a:r>
            <a:endParaRPr lang="en-US" sz="1080" dirty="0"/>
          </a:p>
        </p:txBody>
      </p:sp>
      <p:sp>
        <p:nvSpPr>
          <p:cNvPr id="23" name="Shape 21"/>
          <p:cNvSpPr/>
          <p:nvPr/>
        </p:nvSpPr>
        <p:spPr>
          <a:xfrm>
            <a:off x="566928" y="4224528"/>
            <a:ext cx="11057839" cy="1719072"/>
          </a:xfrm>
          <a:prstGeom prst="rect">
            <a:avLst/>
          </a:prstGeom>
          <a:solidFill>
            <a:srgbClr val="ECEFF4"/>
          </a:solidFill>
          <a:ln w="9525">
            <a:solidFill>
              <a:srgbClr val="CDCECB"/>
            </a:solidFill>
            <a:prstDash val="solid"/>
          </a:ln>
        </p:spPr>
      </p:sp>
      <p:sp>
        <p:nvSpPr>
          <p:cNvPr id="24" name="Text 22"/>
          <p:cNvSpPr/>
          <p:nvPr/>
        </p:nvSpPr>
        <p:spPr>
          <a:xfrm>
            <a:off x="841248" y="4425696"/>
            <a:ext cx="7315200" cy="274320"/>
          </a:xfrm>
          <a:prstGeom prst="rect">
            <a:avLst/>
          </a:prstGeom>
          <a:noFill/>
          <a:ln/>
        </p:spPr>
        <p:txBody>
          <a:bodyPr wrap="square" lIns="0" tIns="0" rIns="0" bIns="0" rtlCol="0" anchor="ctr"/>
          <a:lstStyle/>
          <a:p>
            <a:pPr indent="0" marL="0">
              <a:buNone/>
            </a:pPr>
            <a:r>
              <a:rPr lang="en-US" sz="1400" b="1" dirty="0">
                <a:solidFill>
                  <a:srgbClr val="043B72"/>
                </a:solidFill>
                <a:latin typeface="Spoqa Han Sans Neo" pitchFamily="34" charset="0"/>
                <a:ea typeface="Spoqa Han Sans Neo" pitchFamily="34" charset="-122"/>
                <a:cs typeface="Spoqa Han Sans Neo" pitchFamily="34" charset="-120"/>
              </a:rPr>
              <a:t>투자자가 알아야 할 연결고리 — 가속기 1대가 메모리를 얼마나 먹는가</a:t>
            </a:r>
            <a:endParaRPr lang="en-US" sz="1400" dirty="0"/>
          </a:p>
        </p:txBody>
      </p:sp>
      <p:sp>
        <p:nvSpPr>
          <p:cNvPr id="25" name="Text 23"/>
          <p:cNvSpPr/>
          <p:nvPr/>
        </p:nvSpPr>
        <p:spPr>
          <a:xfrm>
            <a:off x="841248" y="4791456"/>
            <a:ext cx="1737360" cy="274320"/>
          </a:xfrm>
          <a:prstGeom prst="rect">
            <a:avLst/>
          </a:prstGeom>
          <a:noFill/>
          <a:ln/>
        </p:spPr>
        <p:txBody>
          <a:bodyPr wrap="square" lIns="0" tIns="0" rIns="0" bIns="0" rtlCol="0" anchor="ctr"/>
          <a:lstStyle/>
          <a:p>
            <a:pPr indent="0" marL="0">
              <a:buNone/>
            </a:pPr>
            <a:r>
              <a:rPr lang="en-US" sz="1150" b="1" dirty="0">
                <a:solidFill>
                  <a:srgbClr val="F58220"/>
                </a:solidFill>
                <a:latin typeface="Spoqa Han Sans Neo" pitchFamily="34" charset="0"/>
                <a:ea typeface="Spoqa Han Sans Neo" pitchFamily="34" charset="-122"/>
                <a:cs typeface="Spoqa Han Sans Neo" pitchFamily="34" charset="-120"/>
              </a:rPr>
              <a:t>가속기 대수 ↑</a:t>
            </a:r>
            <a:endParaRPr lang="en-US" sz="1150" dirty="0"/>
          </a:p>
        </p:txBody>
      </p:sp>
      <p:sp>
        <p:nvSpPr>
          <p:cNvPr id="26" name="Text 24"/>
          <p:cNvSpPr/>
          <p:nvPr/>
        </p:nvSpPr>
        <p:spPr>
          <a:xfrm>
            <a:off x="2578608" y="4791456"/>
            <a:ext cx="274320" cy="274320"/>
          </a:xfrm>
          <a:prstGeom prst="rect">
            <a:avLst/>
          </a:prstGeom>
          <a:noFill/>
          <a:ln/>
        </p:spPr>
        <p:txBody>
          <a:bodyPr wrap="square" lIns="0" tIns="0" rIns="0" bIns="0" rtlCol="0" anchor="ctr"/>
          <a:lstStyle/>
          <a:p>
            <a:pPr algn="ctr" indent="0" marL="0">
              <a:buNone/>
            </a:pPr>
            <a:r>
              <a:rPr lang="en-US" sz="1100" dirty="0">
                <a:solidFill>
                  <a:srgbClr val="A0A6A8"/>
                </a:solidFill>
                <a:latin typeface="Spoqa Han Sans Neo" pitchFamily="34" charset="0"/>
                <a:ea typeface="Spoqa Han Sans Neo" pitchFamily="34" charset="-122"/>
                <a:cs typeface="Spoqa Han Sans Neo" pitchFamily="34" charset="-120"/>
              </a:rPr>
              <a:t>→</a:t>
            </a:r>
            <a:endParaRPr lang="en-US" sz="1100" dirty="0"/>
          </a:p>
        </p:txBody>
      </p:sp>
      <p:sp>
        <p:nvSpPr>
          <p:cNvPr id="27" name="Text 25"/>
          <p:cNvSpPr/>
          <p:nvPr/>
        </p:nvSpPr>
        <p:spPr>
          <a:xfrm>
            <a:off x="2898648" y="4791456"/>
            <a:ext cx="2468880" cy="274320"/>
          </a:xfrm>
          <a:prstGeom prst="rect">
            <a:avLst/>
          </a:prstGeom>
          <a:noFill/>
          <a:ln/>
        </p:spPr>
        <p:txBody>
          <a:bodyPr wrap="square" lIns="0" tIns="0" rIns="0" bIns="0" rtlCol="0" anchor="ctr"/>
          <a:lstStyle/>
          <a:p>
            <a:pPr indent="0" marL="0">
              <a:buNone/>
            </a:pPr>
            <a:r>
              <a:rPr lang="en-US" sz="1150" b="1" dirty="0">
                <a:solidFill>
                  <a:srgbClr val="043B72"/>
                </a:solidFill>
                <a:latin typeface="Spoqa Han Sans Neo" pitchFamily="34" charset="0"/>
                <a:ea typeface="Spoqa Han Sans Neo" pitchFamily="34" charset="-122"/>
                <a:cs typeface="Spoqa Han Sans Neo" pitchFamily="34" charset="-120"/>
              </a:rPr>
              <a:t>HBM 수요 직접 증가</a:t>
            </a:r>
            <a:endParaRPr lang="en-US" sz="1150" dirty="0"/>
          </a:p>
        </p:txBody>
      </p:sp>
      <p:sp>
        <p:nvSpPr>
          <p:cNvPr id="28" name="Text 26"/>
          <p:cNvSpPr/>
          <p:nvPr/>
        </p:nvSpPr>
        <p:spPr>
          <a:xfrm>
            <a:off x="5504688" y="4791456"/>
            <a:ext cx="5852160" cy="274320"/>
          </a:xfrm>
          <a:prstGeom prst="rect">
            <a:avLst/>
          </a:prstGeom>
          <a:noFill/>
          <a:ln/>
        </p:spPr>
        <p:txBody>
          <a:bodyPr wrap="square" lIns="0" tIns="0" rIns="0" bIns="0" rtlCol="0" anchor="ctr"/>
          <a:lstStyle/>
          <a:p>
            <a:pPr indent="0" marL="0">
              <a:buNone/>
            </a:pPr>
            <a:r>
              <a:rPr lang="en-US" sz="1080" dirty="0">
                <a:solidFill>
                  <a:srgbClr val="3D3D3D"/>
                </a:solidFill>
                <a:latin typeface="Spoqa Han Sans Neo" pitchFamily="34" charset="0"/>
                <a:ea typeface="Spoqa Han Sans Neo" pitchFamily="34" charset="-122"/>
                <a:cs typeface="Spoqa Han Sans Neo" pitchFamily="34" charset="-120"/>
              </a:rPr>
              <a:t>루빈용 HBM4는 핀당 11Gbps 이상 요구 — 사양이 올라갈수록 단가도 상승</a:t>
            </a:r>
            <a:endParaRPr lang="en-US" sz="1080" dirty="0"/>
          </a:p>
        </p:txBody>
      </p:sp>
      <p:sp>
        <p:nvSpPr>
          <p:cNvPr id="29" name="Text 27"/>
          <p:cNvSpPr/>
          <p:nvPr/>
        </p:nvSpPr>
        <p:spPr>
          <a:xfrm>
            <a:off x="841248" y="5148072"/>
            <a:ext cx="1737360" cy="274320"/>
          </a:xfrm>
          <a:prstGeom prst="rect">
            <a:avLst/>
          </a:prstGeom>
          <a:noFill/>
          <a:ln/>
        </p:spPr>
        <p:txBody>
          <a:bodyPr wrap="square" lIns="0" tIns="0" rIns="0" bIns="0" rtlCol="0" anchor="ctr"/>
          <a:lstStyle/>
          <a:p>
            <a:pPr indent="0" marL="0">
              <a:buNone/>
            </a:pPr>
            <a:r>
              <a:rPr lang="en-US" sz="1150" b="1" dirty="0">
                <a:solidFill>
                  <a:srgbClr val="F58220"/>
                </a:solidFill>
                <a:latin typeface="Spoqa Han Sans Neo" pitchFamily="34" charset="0"/>
                <a:ea typeface="Spoqa Han Sans Neo" pitchFamily="34" charset="-122"/>
                <a:cs typeface="Spoqa Han Sans Neo" pitchFamily="34" charset="-120"/>
              </a:rPr>
              <a:t>서버 대수 ↑</a:t>
            </a:r>
            <a:endParaRPr lang="en-US" sz="1150" dirty="0"/>
          </a:p>
        </p:txBody>
      </p:sp>
      <p:sp>
        <p:nvSpPr>
          <p:cNvPr id="30" name="Text 28"/>
          <p:cNvSpPr/>
          <p:nvPr/>
        </p:nvSpPr>
        <p:spPr>
          <a:xfrm>
            <a:off x="2578608" y="5148072"/>
            <a:ext cx="274320" cy="274320"/>
          </a:xfrm>
          <a:prstGeom prst="rect">
            <a:avLst/>
          </a:prstGeom>
          <a:noFill/>
          <a:ln/>
        </p:spPr>
        <p:txBody>
          <a:bodyPr wrap="square" lIns="0" tIns="0" rIns="0" bIns="0" rtlCol="0" anchor="ctr"/>
          <a:lstStyle/>
          <a:p>
            <a:pPr algn="ctr" indent="0" marL="0">
              <a:buNone/>
            </a:pPr>
            <a:r>
              <a:rPr lang="en-US" sz="1100" dirty="0">
                <a:solidFill>
                  <a:srgbClr val="A0A6A8"/>
                </a:solidFill>
                <a:latin typeface="Spoqa Han Sans Neo" pitchFamily="34" charset="0"/>
                <a:ea typeface="Spoqa Han Sans Neo" pitchFamily="34" charset="-122"/>
                <a:cs typeface="Spoqa Han Sans Neo" pitchFamily="34" charset="-120"/>
              </a:rPr>
              <a:t>→</a:t>
            </a:r>
            <a:endParaRPr lang="en-US" sz="1100" dirty="0"/>
          </a:p>
        </p:txBody>
      </p:sp>
      <p:sp>
        <p:nvSpPr>
          <p:cNvPr id="31" name="Text 29"/>
          <p:cNvSpPr/>
          <p:nvPr/>
        </p:nvSpPr>
        <p:spPr>
          <a:xfrm>
            <a:off x="2898648" y="5148072"/>
            <a:ext cx="2468880" cy="274320"/>
          </a:xfrm>
          <a:prstGeom prst="rect">
            <a:avLst/>
          </a:prstGeom>
          <a:noFill/>
          <a:ln/>
        </p:spPr>
        <p:txBody>
          <a:bodyPr wrap="square" lIns="0" tIns="0" rIns="0" bIns="0" rtlCol="0" anchor="ctr"/>
          <a:lstStyle/>
          <a:p>
            <a:pPr indent="0" marL="0">
              <a:buNone/>
            </a:pPr>
            <a:r>
              <a:rPr lang="en-US" sz="1150" b="1" dirty="0">
                <a:solidFill>
                  <a:srgbClr val="043B72"/>
                </a:solidFill>
                <a:latin typeface="Spoqa Han Sans Neo" pitchFamily="34" charset="0"/>
                <a:ea typeface="Spoqa Han Sans Neo" pitchFamily="34" charset="-122"/>
                <a:cs typeface="Spoqa Han Sans Neo" pitchFamily="34" charset="-120"/>
              </a:rPr>
              <a:t>범용 D램·eSSD 동반 증가</a:t>
            </a:r>
            <a:endParaRPr lang="en-US" sz="1150" dirty="0"/>
          </a:p>
        </p:txBody>
      </p:sp>
      <p:sp>
        <p:nvSpPr>
          <p:cNvPr id="32" name="Text 30"/>
          <p:cNvSpPr/>
          <p:nvPr/>
        </p:nvSpPr>
        <p:spPr>
          <a:xfrm>
            <a:off x="5504688" y="5148072"/>
            <a:ext cx="5852160" cy="274320"/>
          </a:xfrm>
          <a:prstGeom prst="rect">
            <a:avLst/>
          </a:prstGeom>
          <a:noFill/>
          <a:ln/>
        </p:spPr>
        <p:txBody>
          <a:bodyPr wrap="square" lIns="0" tIns="0" rIns="0" bIns="0" rtlCol="0" anchor="ctr"/>
          <a:lstStyle/>
          <a:p>
            <a:pPr indent="0" marL="0">
              <a:buNone/>
            </a:pPr>
            <a:r>
              <a:rPr lang="en-US" sz="1080" dirty="0">
                <a:solidFill>
                  <a:srgbClr val="3D3D3D"/>
                </a:solidFill>
                <a:latin typeface="Spoqa Han Sans Neo" pitchFamily="34" charset="0"/>
                <a:ea typeface="Spoqa Han Sans Neo" pitchFamily="34" charset="-122"/>
                <a:cs typeface="Spoqa Han Sans Neo" pitchFamily="34" charset="-120"/>
              </a:rPr>
              <a:t>AI 서버는 가속기 외에도 CPU·주기억장치·저장장치를 대량 탑재</a:t>
            </a:r>
            <a:endParaRPr lang="en-US" sz="1080" dirty="0"/>
          </a:p>
        </p:txBody>
      </p:sp>
      <p:sp>
        <p:nvSpPr>
          <p:cNvPr id="33" name="Text 31"/>
          <p:cNvSpPr/>
          <p:nvPr/>
        </p:nvSpPr>
        <p:spPr>
          <a:xfrm>
            <a:off x="841248" y="5504688"/>
            <a:ext cx="1737360" cy="274320"/>
          </a:xfrm>
          <a:prstGeom prst="rect">
            <a:avLst/>
          </a:prstGeom>
          <a:noFill/>
          <a:ln/>
        </p:spPr>
        <p:txBody>
          <a:bodyPr wrap="square" lIns="0" tIns="0" rIns="0" bIns="0" rtlCol="0" anchor="ctr"/>
          <a:lstStyle/>
          <a:p>
            <a:pPr indent="0" marL="0">
              <a:buNone/>
            </a:pPr>
            <a:r>
              <a:rPr lang="en-US" sz="1150" b="1" dirty="0">
                <a:solidFill>
                  <a:srgbClr val="F58220"/>
                </a:solidFill>
                <a:latin typeface="Spoqa Han Sans Neo" pitchFamily="34" charset="0"/>
                <a:ea typeface="Spoqa Han Sans Neo" pitchFamily="34" charset="-122"/>
                <a:cs typeface="Spoqa Han Sans Neo" pitchFamily="34" charset="-120"/>
              </a:rPr>
              <a:t>추론 확산 ↑</a:t>
            </a:r>
            <a:endParaRPr lang="en-US" sz="1150" dirty="0"/>
          </a:p>
        </p:txBody>
      </p:sp>
      <p:sp>
        <p:nvSpPr>
          <p:cNvPr id="34" name="Text 32"/>
          <p:cNvSpPr/>
          <p:nvPr/>
        </p:nvSpPr>
        <p:spPr>
          <a:xfrm>
            <a:off x="2578608" y="5504688"/>
            <a:ext cx="274320" cy="274320"/>
          </a:xfrm>
          <a:prstGeom prst="rect">
            <a:avLst/>
          </a:prstGeom>
          <a:noFill/>
          <a:ln/>
        </p:spPr>
        <p:txBody>
          <a:bodyPr wrap="square" lIns="0" tIns="0" rIns="0" bIns="0" rtlCol="0" anchor="ctr"/>
          <a:lstStyle/>
          <a:p>
            <a:pPr algn="ctr" indent="0" marL="0">
              <a:buNone/>
            </a:pPr>
            <a:r>
              <a:rPr lang="en-US" sz="1100" dirty="0">
                <a:solidFill>
                  <a:srgbClr val="A0A6A8"/>
                </a:solidFill>
                <a:latin typeface="Spoqa Han Sans Neo" pitchFamily="34" charset="0"/>
                <a:ea typeface="Spoqa Han Sans Neo" pitchFamily="34" charset="-122"/>
                <a:cs typeface="Spoqa Han Sans Neo" pitchFamily="34" charset="-120"/>
              </a:rPr>
              <a:t>→</a:t>
            </a:r>
            <a:endParaRPr lang="en-US" sz="1100" dirty="0"/>
          </a:p>
        </p:txBody>
      </p:sp>
      <p:sp>
        <p:nvSpPr>
          <p:cNvPr id="35" name="Text 33"/>
          <p:cNvSpPr/>
          <p:nvPr/>
        </p:nvSpPr>
        <p:spPr>
          <a:xfrm>
            <a:off x="2898648" y="5504688"/>
            <a:ext cx="2468880" cy="274320"/>
          </a:xfrm>
          <a:prstGeom prst="rect">
            <a:avLst/>
          </a:prstGeom>
          <a:noFill/>
          <a:ln/>
        </p:spPr>
        <p:txBody>
          <a:bodyPr wrap="square" lIns="0" tIns="0" rIns="0" bIns="0" rtlCol="0" anchor="ctr"/>
          <a:lstStyle/>
          <a:p>
            <a:pPr indent="0" marL="0">
              <a:buNone/>
            </a:pPr>
            <a:r>
              <a:rPr lang="en-US" sz="1150" b="1" dirty="0">
                <a:solidFill>
                  <a:srgbClr val="043B72"/>
                </a:solidFill>
                <a:latin typeface="Spoqa Han Sans Neo" pitchFamily="34" charset="0"/>
                <a:ea typeface="Spoqa Han Sans Neo" pitchFamily="34" charset="-122"/>
                <a:cs typeface="Spoqa Han Sans Neo" pitchFamily="34" charset="-120"/>
              </a:rPr>
              <a:t>저장·대용량 메모리 수요</a:t>
            </a:r>
            <a:endParaRPr lang="en-US" sz="1150" dirty="0"/>
          </a:p>
        </p:txBody>
      </p:sp>
      <p:sp>
        <p:nvSpPr>
          <p:cNvPr id="36" name="Text 34"/>
          <p:cNvSpPr/>
          <p:nvPr/>
        </p:nvSpPr>
        <p:spPr>
          <a:xfrm>
            <a:off x="5504688" y="5504688"/>
            <a:ext cx="5852160" cy="274320"/>
          </a:xfrm>
          <a:prstGeom prst="rect">
            <a:avLst/>
          </a:prstGeom>
          <a:noFill/>
          <a:ln/>
        </p:spPr>
        <p:txBody>
          <a:bodyPr wrap="square" lIns="0" tIns="0" rIns="0" bIns="0" rtlCol="0" anchor="ctr"/>
          <a:lstStyle/>
          <a:p>
            <a:pPr indent="0" marL="0">
              <a:buNone/>
            </a:pPr>
            <a:r>
              <a:rPr lang="en-US" sz="1080" dirty="0">
                <a:solidFill>
                  <a:srgbClr val="3D3D3D"/>
                </a:solidFill>
                <a:latin typeface="Spoqa Han Sans Neo" pitchFamily="34" charset="0"/>
                <a:ea typeface="Spoqa Han Sans Neo" pitchFamily="34" charset="-122"/>
                <a:cs typeface="Spoqa Han Sans Neo" pitchFamily="34" charset="-120"/>
              </a:rPr>
              <a:t>에이전틱 AI가 다루는 컨텍스트가 커지며 고용량 낸드·eSSD 수요 확대</a:t>
            </a:r>
            <a:endParaRPr lang="en-US" sz="1080" dirty="0"/>
          </a:p>
        </p:txBody>
      </p:sp>
      <p:sp>
        <p:nvSpPr>
          <p:cNvPr id="37" name="Text 35"/>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NVIDIA CES 2026·GTC 2026, TrendForce, Barron's·KeyBanc(2026.4), 각 사 발표</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2 · 파운드리</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파운드리 — 승자 독식이 가장 극단적인 구간</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TSMC는 선단 AI 칩 분야에서 점유율이 90%를 넘는다. 엔비디아·애플조차 줄을 선다.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12</a:t>
            </a:r>
            <a:endParaRPr lang="en-US" sz="900" dirty="0"/>
          </a:p>
        </p:txBody>
      </p:sp>
      <p:graphicFrame>
        <p:nvGraphicFramePr>
          <p:cNvPr id="8" name="Chart 0" descr=""/>
          <p:cNvGraphicFramePr/>
          <p:nvPr/>
        </p:nvGraphicFramePr>
        <p:xfrm>
          <a:off x="566928" y="1609344"/>
          <a:ext cx="585216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 y="4407408"/>
            <a:ext cx="5852160" cy="219456"/>
          </a:xfrm>
          <a:prstGeom prst="rect">
            <a:avLst/>
          </a:prstGeom>
          <a:noFill/>
          <a:ln/>
        </p:spPr>
        <p:txBody>
          <a:bodyPr wrap="square" lIns="0" tIns="0" rIns="0" bIns="0" rtlCol="0" anchor="ctr"/>
          <a:lstStyle/>
          <a:p>
            <a:pPr indent="0" marL="0">
              <a:buNone/>
            </a:pPr>
            <a:r>
              <a:rPr lang="en-US" sz="1000" dirty="0">
                <a:solidFill>
                  <a:srgbClr val="84888B"/>
                </a:solidFill>
                <a:latin typeface="Spoqa Han Sans Neo" pitchFamily="34" charset="0"/>
                <a:ea typeface="Spoqa Han Sans Neo" pitchFamily="34" charset="-122"/>
                <a:cs typeface="Spoqa Han Sans Neo" pitchFamily="34" charset="-120"/>
              </a:rPr>
              <a:t>글로벌 파운드리 매출 점유율 (2026년 1분기)</a:t>
            </a:r>
            <a:endParaRPr lang="en-US" sz="1000" dirty="0"/>
          </a:p>
        </p:txBody>
      </p:sp>
      <p:sp>
        <p:nvSpPr>
          <p:cNvPr id="10" name="Shape 7"/>
          <p:cNvSpPr/>
          <p:nvPr/>
        </p:nvSpPr>
        <p:spPr>
          <a:xfrm>
            <a:off x="6784848" y="1469644"/>
            <a:ext cx="4837176" cy="1298448"/>
          </a:xfrm>
          <a:prstGeom prst="rect">
            <a:avLst/>
          </a:prstGeom>
          <a:solidFill>
            <a:srgbClr val="FFF3E8"/>
          </a:solidFill>
          <a:ln w="9525">
            <a:solidFill>
              <a:srgbClr val="FAB072"/>
            </a:solidFill>
            <a:prstDash val="solid"/>
          </a:ln>
        </p:spPr>
      </p:sp>
      <p:sp>
        <p:nvSpPr>
          <p:cNvPr id="11" name="Text 8"/>
          <p:cNvSpPr/>
          <p:nvPr/>
        </p:nvSpPr>
        <p:spPr>
          <a:xfrm>
            <a:off x="7022592" y="1634236"/>
            <a:ext cx="4389120" cy="237744"/>
          </a:xfrm>
          <a:prstGeom prst="rect">
            <a:avLst/>
          </a:prstGeom>
          <a:noFill/>
          <a:ln/>
        </p:spPr>
        <p:txBody>
          <a:bodyPr wrap="square" lIns="0" tIns="0" rIns="0" bIns="0" rtlCol="0" anchor="ctr"/>
          <a:lstStyle/>
          <a:p>
            <a:pPr indent="0" marL="0">
              <a:buNone/>
            </a:pPr>
            <a:r>
              <a:rPr lang="en-US" sz="1150" b="1" dirty="0">
                <a:solidFill>
                  <a:srgbClr val="6C6C6C"/>
                </a:solidFill>
                <a:latin typeface="Spoqa Han Sans Neo" pitchFamily="34" charset="0"/>
                <a:ea typeface="Spoqa Han Sans Neo" pitchFamily="34" charset="-122"/>
                <a:cs typeface="Spoqa Han Sans Neo" pitchFamily="34" charset="-120"/>
              </a:rPr>
              <a:t>TSMC 2026년 2분기</a:t>
            </a:r>
            <a:endParaRPr lang="en-US" sz="1150" dirty="0"/>
          </a:p>
        </p:txBody>
      </p:sp>
      <p:sp>
        <p:nvSpPr>
          <p:cNvPr id="12" name="Text 9"/>
          <p:cNvSpPr/>
          <p:nvPr/>
        </p:nvSpPr>
        <p:spPr>
          <a:xfrm>
            <a:off x="7022592" y="1871980"/>
            <a:ext cx="4389120" cy="310896"/>
          </a:xfrm>
          <a:prstGeom prst="rect">
            <a:avLst/>
          </a:prstGeom>
          <a:noFill/>
          <a:ln/>
        </p:spPr>
        <p:txBody>
          <a:bodyPr wrap="square" lIns="0" tIns="0" rIns="0" bIns="0" rtlCol="0" anchor="ctr"/>
          <a:lstStyle/>
          <a:p>
            <a:pPr indent="0" marL="0">
              <a:buNone/>
            </a:pPr>
            <a:r>
              <a:rPr lang="en-US" sz="1700" b="1" dirty="0">
                <a:solidFill>
                  <a:srgbClr val="F58220"/>
                </a:solidFill>
                <a:latin typeface="Spoqa Han Sans Neo" pitchFamily="34" charset="0"/>
                <a:ea typeface="Spoqa Han Sans Neo" pitchFamily="34" charset="-122"/>
                <a:cs typeface="Spoqa Han Sans Neo" pitchFamily="34" charset="-120"/>
              </a:rPr>
              <a:t>매출 1조 2,703억 대만달러</a:t>
            </a:r>
            <a:endParaRPr lang="en-US" sz="1700" dirty="0"/>
          </a:p>
        </p:txBody>
      </p:sp>
      <p:sp>
        <p:nvSpPr>
          <p:cNvPr id="13" name="Text 10"/>
          <p:cNvSpPr/>
          <p:nvPr/>
        </p:nvSpPr>
        <p:spPr>
          <a:xfrm>
            <a:off x="7022592" y="2201164"/>
            <a:ext cx="4389120" cy="457200"/>
          </a:xfrm>
          <a:prstGeom prst="rect">
            <a:avLst/>
          </a:prstGeom>
          <a:noFill/>
          <a:ln/>
        </p:spPr>
        <p:txBody>
          <a:bodyPr wrap="square" lIns="0" tIns="0" rIns="0" bIns="0" rtlCol="0" anchor="ctr"/>
          <a:lstStyle/>
          <a:p>
            <a:pPr indent="0" marL="0">
              <a:lnSpc>
                <a:spcPct val="125000"/>
              </a:lnSpc>
              <a:buNone/>
            </a:pPr>
            <a:r>
              <a:rPr lang="en-US" sz="1080" dirty="0">
                <a:solidFill>
                  <a:srgbClr val="3D3D3D"/>
                </a:solidFill>
                <a:latin typeface="Spoqa Han Sans Neo" pitchFamily="34" charset="0"/>
                <a:ea typeface="Spoqa Han Sans Neo" pitchFamily="34" charset="-122"/>
                <a:cs typeface="Spoqa Han Sans Neo" pitchFamily="34" charset="-120"/>
              </a:rPr>
              <a:t>영업이익률 60.3% · 매출총이익률 67.7% · 역대 최대 실적 경신, 2나노 매출 비중 첫 공개</a:t>
            </a:r>
            <a:endParaRPr lang="en-US" sz="1080" dirty="0"/>
          </a:p>
        </p:txBody>
      </p:sp>
      <p:sp>
        <p:nvSpPr>
          <p:cNvPr id="14" name="Text 11"/>
          <p:cNvSpPr/>
          <p:nvPr/>
        </p:nvSpPr>
        <p:spPr>
          <a:xfrm>
            <a:off x="6784848" y="2863596"/>
            <a:ext cx="4837176" cy="274320"/>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격차의 실체 — 로드맵이 아니라 수율</a:t>
            </a:r>
            <a:endParaRPr lang="en-US" sz="1350" dirty="0"/>
          </a:p>
        </p:txBody>
      </p:sp>
      <p:sp>
        <p:nvSpPr>
          <p:cNvPr id="15" name="Text 12"/>
          <p:cNvSpPr/>
          <p:nvPr/>
        </p:nvSpPr>
        <p:spPr>
          <a:xfrm>
            <a:off x="6784848" y="3180080"/>
            <a:ext cx="4837176" cy="1783080"/>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00" dirty="0">
                <a:solidFill>
                  <a:srgbClr val="3D3D3D"/>
                </a:solidFill>
                <a:latin typeface="Spoqa Han Sans Neo" pitchFamily="34" charset="0"/>
                <a:ea typeface="Spoqa Han Sans Neo" pitchFamily="34" charset="-122"/>
                <a:cs typeface="Spoqa Han Sans Neo" pitchFamily="34" charset="-120"/>
              </a:rPr>
              <a:t>2나노 이하에서 웨이퍼 1장 가격은 수천만 원. 수율 1% 차이가 연간 수조 원의 이익 격차</a:t>
            </a:r>
            <a:endParaRPr lang="en-US" sz="1100" dirty="0"/>
          </a:p>
          <a:p>
            <a:pPr marL="177800" indent="-177800">
              <a:lnSpc>
                <a:spcPct val="120000"/>
              </a:lnSpc>
              <a:spcAft>
                <a:spcPts val="700"/>
              </a:spcAft>
              <a:buSzPct val="100000"/>
              <a:buChar char="•"/>
            </a:pPr>
            <a:r>
              <a:rPr lang="en-US" sz="1000" dirty="0">
                <a:solidFill>
                  <a:srgbClr val="3D3D3D"/>
                </a:solidFill>
                <a:latin typeface="Spoqa Han Sans Neo" pitchFamily="34" charset="0"/>
                <a:ea typeface="Spoqa Han Sans Neo" pitchFamily="34" charset="-122"/>
                <a:cs typeface="Spoqa Han Sans Neo" pitchFamily="34" charset="-120"/>
              </a:rPr>
              <a:t>TSMC는 3·5·7나노 등 선단 공정이 매출의 약 77%를 차지 — 고마진 구조가 자체 강화된다</a:t>
            </a:r>
            <a:endParaRPr lang="en-US" sz="1100" dirty="0"/>
          </a:p>
          <a:p>
            <a:pPr marL="177800" indent="-177800">
              <a:lnSpc>
                <a:spcPct val="120000"/>
              </a:lnSpc>
              <a:spcAft>
                <a:spcPts val="700"/>
              </a:spcAft>
              <a:buSzPct val="100000"/>
              <a:buChar char="•"/>
            </a:pPr>
            <a:r>
              <a:rPr lang="en-US" sz="1000" dirty="0">
                <a:solidFill>
                  <a:srgbClr val="3D3D3D"/>
                </a:solidFill>
                <a:latin typeface="Spoqa Han Sans Neo" pitchFamily="34" charset="0"/>
                <a:ea typeface="Spoqa Han Sans Neo" pitchFamily="34" charset="-122"/>
                <a:cs typeface="Spoqa Han Sans Neo" pitchFamily="34" charset="-120"/>
              </a:rPr>
              <a:t>2나노 램프업 본격화, 2026년 하반기 1.6나노급 A16 도입 예고. 애리조나·구마모토 등 해외 거점 확장 병행</a:t>
            </a:r>
            <a:endParaRPr lang="en-US" sz="1100" dirty="0"/>
          </a:p>
          <a:p>
            <a:pPr marL="177800" indent="-177800">
              <a:lnSpc>
                <a:spcPct val="120000"/>
              </a:lnSpc>
              <a:spcAft>
                <a:spcPts val="700"/>
              </a:spcAft>
              <a:buSzPct val="100000"/>
              <a:buChar char="•"/>
            </a:pPr>
            <a:r>
              <a:rPr lang="en-US" sz="1000" dirty="0">
                <a:solidFill>
                  <a:srgbClr val="3D3D3D"/>
                </a:solidFill>
                <a:latin typeface="Spoqa Han Sans Neo" pitchFamily="34" charset="0"/>
                <a:ea typeface="Spoqa Han Sans Neo" pitchFamily="34" charset="-122"/>
                <a:cs typeface="Spoqa Han Sans Neo" pitchFamily="34" charset="-120"/>
              </a:rPr>
              <a:t>삼성 파운드리의 반격 카드: 2나노 GAA + '메모리·파운드리·패키징 턴키' 제안</a:t>
            </a:r>
            <a:endParaRPr lang="en-US" sz="1100" dirty="0"/>
          </a:p>
        </p:txBody>
      </p:sp>
      <p:sp>
        <p:nvSpPr>
          <p:cNvPr id="16" name="Shape 13"/>
          <p:cNvSpPr/>
          <p:nvPr/>
        </p:nvSpPr>
        <p:spPr>
          <a:xfrm>
            <a:off x="566928" y="4931156"/>
            <a:ext cx="11057839" cy="1057656"/>
          </a:xfrm>
          <a:prstGeom prst="rect">
            <a:avLst/>
          </a:prstGeom>
          <a:solidFill>
            <a:srgbClr val="F7F8FA"/>
          </a:solidFill>
          <a:ln w="9525">
            <a:solidFill>
              <a:srgbClr val="CDCECB"/>
            </a:solidFill>
            <a:prstDash val="solid"/>
          </a:ln>
        </p:spPr>
      </p:sp>
      <p:sp>
        <p:nvSpPr>
          <p:cNvPr id="17" name="Text 14"/>
          <p:cNvSpPr/>
          <p:nvPr/>
        </p:nvSpPr>
        <p:spPr>
          <a:xfrm>
            <a:off x="841248" y="5057648"/>
            <a:ext cx="5486400" cy="256032"/>
          </a:xfrm>
          <a:prstGeom prst="rect">
            <a:avLst/>
          </a:prstGeom>
          <a:noFill/>
          <a:ln/>
        </p:spPr>
        <p:txBody>
          <a:bodyPr wrap="square" lIns="0" tIns="0" rIns="0" bIns="0" rtlCol="0" anchor="ctr"/>
          <a:lstStyle/>
          <a:p>
            <a:pPr indent="0" marL="0">
              <a:buNone/>
            </a:pPr>
            <a:r>
              <a:rPr lang="en-US" sz="1300" b="1" dirty="0">
                <a:solidFill>
                  <a:srgbClr val="C62828"/>
                </a:solidFill>
                <a:latin typeface="Spoqa Han Sans Neo" pitchFamily="34" charset="0"/>
                <a:ea typeface="Spoqa Han Sans Neo" pitchFamily="34" charset="-122"/>
                <a:cs typeface="Spoqa Han Sans Neo" pitchFamily="34" charset="-120"/>
              </a:rPr>
              <a:t>지정학 리스크 — 이 산업의 유일한 구조적 약점</a:t>
            </a:r>
            <a:endParaRPr lang="en-US" sz="1300" dirty="0"/>
          </a:p>
        </p:txBody>
      </p:sp>
      <p:sp>
        <p:nvSpPr>
          <p:cNvPr id="18" name="Text 15"/>
          <p:cNvSpPr/>
          <p:nvPr/>
        </p:nvSpPr>
        <p:spPr>
          <a:xfrm>
            <a:off x="841248" y="5350256"/>
            <a:ext cx="10509199" cy="566928"/>
          </a:xfrm>
          <a:prstGeom prst="rect">
            <a:avLst/>
          </a:prstGeom>
          <a:noFill/>
          <a:ln/>
        </p:spPr>
        <p:txBody>
          <a:bodyPr wrap="square" lIns="0" tIns="0" rIns="0" bIns="0" rtlCol="0" anchor="ctr"/>
          <a:lstStyle/>
          <a:p>
            <a:pPr indent="0" marL="0">
              <a:lnSpc>
                <a:spcPct val="130000"/>
              </a:lnSpc>
              <a:buNone/>
            </a:pPr>
            <a:r>
              <a:rPr lang="en-US" sz="1120" dirty="0">
                <a:solidFill>
                  <a:srgbClr val="3D3D3D"/>
                </a:solidFill>
                <a:latin typeface="Spoqa Han Sans Neo" pitchFamily="34" charset="0"/>
                <a:ea typeface="Spoqa Han Sans Neo" pitchFamily="34" charset="-122"/>
                <a:cs typeface="Spoqa Han Sans Neo" pitchFamily="34" charset="-120"/>
              </a:rPr>
              <a:t>세계 선단 반도체 생산이 대만 한 곳에 집중되어 있다는 사실은 개별 기업의 실적으로는 헤지할 수 없는 위험이다. TSMC의 미국·일본 팹 확장, 삼성의 테일러 팹(팹1 2026년 가동 목표, 팹2 연말 착공·2030년 양산 목표)은 이 리스크를 분산하는 과정이며, 동시에 생산 원가 상승 요인으로도 작용한다.</a:t>
            </a:r>
            <a:endParaRPr lang="en-US" sz="1120" dirty="0"/>
          </a:p>
        </p:txBody>
      </p:sp>
      <p:sp>
        <p:nvSpPr>
          <p:cNvPr id="19" name="Text 16"/>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TrendForce(2026년 1분기), TSMC 2Q26 실적발표, 삼성전자 2Q26 실적 컨퍼런스콜</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2 · 메모리</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메모리 — 한국이 지배하는 구간, 그리고 중국의 등장</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D램 상위 3사가 89%를 점한다. 다만 4위 CXMT의 점유율이 1년 만에 3%에서 8%로 올랐다.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13</a:t>
            </a:r>
            <a:endParaRPr lang="en-US" sz="900" dirty="0"/>
          </a:p>
        </p:txBody>
      </p:sp>
      <p:graphicFrame>
        <p:nvGraphicFramePr>
          <p:cNvPr id="8" name="Chart 0" descr=""/>
          <p:cNvGraphicFramePr/>
          <p:nvPr/>
        </p:nvGraphicFramePr>
        <p:xfrm>
          <a:off x="566928" y="1536192"/>
          <a:ext cx="512064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 y="4425696"/>
            <a:ext cx="5120640" cy="219456"/>
          </a:xfrm>
          <a:prstGeom prst="rect">
            <a:avLst/>
          </a:prstGeom>
          <a:noFill/>
          <a:ln/>
        </p:spPr>
        <p:txBody>
          <a:bodyPr wrap="square" lIns="0" tIns="0" rIns="0" bIns="0" rtlCol="0" anchor="ctr"/>
          <a:lstStyle/>
          <a:p>
            <a:pPr indent="0" marL="0">
              <a:buNone/>
            </a:pPr>
            <a:r>
              <a:rPr lang="en-US" sz="1000" dirty="0">
                <a:solidFill>
                  <a:srgbClr val="84888B"/>
                </a:solidFill>
                <a:latin typeface="Spoqa Han Sans Neo" pitchFamily="34" charset="0"/>
                <a:ea typeface="Spoqa Han Sans Neo" pitchFamily="34" charset="-122"/>
                <a:cs typeface="Spoqa Han Sans Neo" pitchFamily="34" charset="-120"/>
              </a:rPr>
              <a:t>세계 D램 매출 점유율 (2026년 1분기, Counterpoint Research)</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61888" y="1572768"/>
          <a:ext cx="5660136" cy="914400"/>
        </p:xfrm>
        <a:graphic>
          <a:graphicData uri="http://schemas.openxmlformats.org/drawingml/2006/table">
            <a:tbl>
              <a:tblPr/>
              <a:tblGrid>
                <a:gridCol w="2002536"/>
                <a:gridCol w="1828800"/>
                <a:gridCol w="1828800"/>
              </a:tblGrid>
              <a:tr h="365760">
                <a:tc>
                  <a:txBody>
                    <a:bodyPr/>
                    <a:lstStyle/>
                    <a:p>
                      <a:pPr indent="0" marL="0">
                        <a:buNone/>
                      </a:pP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삼성전자</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SK하이닉스</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65760">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2Q26 매출</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171.5조원</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79.3조원</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65760">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2Q26 영업이익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89.5조원</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60.5조원</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65760">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영업이익률</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52.2%</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76.3%</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65760">
                <a:tc>
                  <a:txBody>
                    <a:bodyPr/>
                    <a:lstStyle/>
                    <a:p>
                      <a:pPr algn="l" indent="0" marL="0">
                        <a:buNone/>
                      </a:pPr>
                      <a:r>
                        <a:rPr lang="en-US" sz="1080" b="1" dirty="0">
                          <a:solidFill>
                            <a:srgbClr val="1A1A1A"/>
                          </a:solidFill>
                          <a:latin typeface="Spoqa Han Sans Neo" pitchFamily="34" charset="0"/>
                          <a:ea typeface="Spoqa Han Sans Neo" pitchFamily="34" charset="-122"/>
                          <a:cs typeface="Spoqa Han Sans Neo" pitchFamily="34" charset="-120"/>
                        </a:rPr>
                        <a:t>반도체(DS) 영업이익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89.2조원</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60.5조원</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r h="365760">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강점</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메모리+파운드리+패키징 일괄</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HBM 선도 · 엔비디아 신뢰</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65760">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과제</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파운드리 수익성·HBM 점유율</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제품 포트폴리오 편중</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bl>
          </a:graphicData>
        </a:graphic>
      </p:graphicFrame>
      <p:sp>
        <p:nvSpPr>
          <p:cNvPr id="11" name="Shape 7"/>
          <p:cNvSpPr/>
          <p:nvPr/>
        </p:nvSpPr>
        <p:spPr>
          <a:xfrm>
            <a:off x="5961888" y="4224528"/>
            <a:ext cx="5660136" cy="1700784"/>
          </a:xfrm>
          <a:prstGeom prst="rect">
            <a:avLst/>
          </a:prstGeom>
          <a:solidFill>
            <a:srgbClr val="FFF3E8"/>
          </a:solidFill>
          <a:ln w="9525">
            <a:solidFill>
              <a:srgbClr val="FAB072"/>
            </a:solidFill>
            <a:prstDash val="solid"/>
          </a:ln>
        </p:spPr>
      </p:sp>
      <p:sp>
        <p:nvSpPr>
          <p:cNvPr id="12" name="Text 8"/>
          <p:cNvSpPr/>
          <p:nvPr/>
        </p:nvSpPr>
        <p:spPr>
          <a:xfrm>
            <a:off x="6199632" y="4407408"/>
            <a:ext cx="5212080" cy="256032"/>
          </a:xfrm>
          <a:prstGeom prst="rect">
            <a:avLst/>
          </a:prstGeom>
          <a:noFill/>
          <a:ln/>
        </p:spPr>
        <p:txBody>
          <a:bodyPr wrap="square" lIns="0" tIns="0" rIns="0" bIns="0" rtlCol="0" anchor="ctr"/>
          <a:lstStyle/>
          <a:p>
            <a:pPr indent="0" marL="0">
              <a:buNone/>
            </a:pPr>
            <a:r>
              <a:rPr lang="en-US" sz="1300" b="1" dirty="0">
                <a:solidFill>
                  <a:srgbClr val="CB6015"/>
                </a:solidFill>
                <a:latin typeface="Spoqa Han Sans Neo" pitchFamily="34" charset="0"/>
                <a:ea typeface="Spoqa Han Sans Neo" pitchFamily="34" charset="-122"/>
                <a:cs typeface="Spoqa Han Sans Neo" pitchFamily="34" charset="-120"/>
              </a:rPr>
              <a:t>CXMT(창신메모리) 상장 — 2026년 7월 27일 상하이</a:t>
            </a:r>
            <a:endParaRPr lang="en-US" sz="1300" dirty="0"/>
          </a:p>
        </p:txBody>
      </p:sp>
      <p:sp>
        <p:nvSpPr>
          <p:cNvPr id="13" name="Text 9"/>
          <p:cNvSpPr/>
          <p:nvPr/>
        </p:nvSpPr>
        <p:spPr>
          <a:xfrm>
            <a:off x="6199632" y="4700016"/>
            <a:ext cx="5212080" cy="1133856"/>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IPO로 약 14조 원 조달, 상장 첫날 중국 증시 시가총액 1위</a:t>
            </a:r>
            <a:endParaRPr lang="en-US" sz="1050" dirty="0"/>
          </a:p>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D램 점유율 3%(2025년 1분기) → 8%(2026년 1분기), 세계 4위</a:t>
            </a:r>
            <a:endParaRPr lang="en-US" sz="1050" dirty="0"/>
          </a:p>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기술 격차: 범용 D램 약 3년, HBM 약 5년 (업계·전문가 추정)</a:t>
            </a:r>
            <a:endParaRPr lang="en-US" sz="1050" dirty="0"/>
          </a:p>
          <a:p>
            <a:pPr marL="177800" indent="-177800">
              <a:lnSpc>
                <a:spcPct val="120000"/>
              </a:lnSpc>
              <a:spcAft>
                <a:spcPts val="700"/>
              </a:spcAft>
              <a:buSzPct val="100000"/>
              <a:buChar char="•"/>
            </a:pPr>
            <a:r>
              <a:rPr lang="en-US" sz="1050" dirty="0">
                <a:solidFill>
                  <a:srgbClr val="3D3D3D"/>
                </a:solidFill>
                <a:latin typeface="Spoqa Han Sans Neo" pitchFamily="34" charset="0"/>
                <a:ea typeface="Spoqa Han Sans Neo" pitchFamily="34" charset="-122"/>
                <a:cs typeface="Spoqa Han Sans Neo" pitchFamily="34" charset="-120"/>
              </a:rPr>
              <a:t>미 상원의원들은 애플에 CXMT·YMTC 제품 사용 반대 서한 발송(7월 말)</a:t>
            </a:r>
            <a:endParaRPr lang="en-US" sz="1050" dirty="0"/>
          </a:p>
        </p:txBody>
      </p:sp>
      <p:sp>
        <p:nvSpPr>
          <p:cNvPr id="14" name="Shape 10"/>
          <p:cNvSpPr/>
          <p:nvPr/>
        </p:nvSpPr>
        <p:spPr>
          <a:xfrm>
            <a:off x="566928" y="4718304"/>
            <a:ext cx="5120640" cy="1207008"/>
          </a:xfrm>
          <a:prstGeom prst="rect">
            <a:avLst/>
          </a:prstGeom>
          <a:solidFill>
            <a:srgbClr val="F7F8FA"/>
          </a:solidFill>
          <a:ln w="9525">
            <a:solidFill>
              <a:srgbClr val="CDCECB"/>
            </a:solidFill>
            <a:prstDash val="solid"/>
          </a:ln>
        </p:spPr>
      </p:sp>
      <p:sp>
        <p:nvSpPr>
          <p:cNvPr id="15" name="Text 11"/>
          <p:cNvSpPr/>
          <p:nvPr/>
        </p:nvSpPr>
        <p:spPr>
          <a:xfrm>
            <a:off x="804672" y="4882896"/>
            <a:ext cx="4663440" cy="256032"/>
          </a:xfrm>
          <a:prstGeom prst="rect">
            <a:avLst/>
          </a:prstGeom>
          <a:noFill/>
          <a:ln/>
        </p:spPr>
        <p:txBody>
          <a:bodyPr wrap="square" lIns="0" tIns="0" rIns="0" bIns="0" rtlCol="0" anchor="ctr"/>
          <a:lstStyle/>
          <a:p>
            <a:pPr indent="0" marL="0">
              <a:buNone/>
            </a:pPr>
            <a:r>
              <a:rPr lang="en-US" sz="1250" b="1" dirty="0">
                <a:solidFill>
                  <a:srgbClr val="043B72"/>
                </a:solidFill>
                <a:latin typeface="Spoqa Han Sans Neo" pitchFamily="34" charset="0"/>
                <a:ea typeface="Spoqa Han Sans Neo" pitchFamily="34" charset="-122"/>
                <a:cs typeface="Spoqa Han Sans Neo" pitchFamily="34" charset="-120"/>
              </a:rPr>
              <a:t>해석 — 위협의 성격을 구분해야 한다</a:t>
            </a:r>
            <a:endParaRPr lang="en-US" sz="1250" dirty="0"/>
          </a:p>
        </p:txBody>
      </p:sp>
      <p:sp>
        <p:nvSpPr>
          <p:cNvPr id="16" name="Text 12"/>
          <p:cNvSpPr/>
          <p:nvPr/>
        </p:nvSpPr>
        <p:spPr>
          <a:xfrm>
            <a:off x="804672" y="5175504"/>
            <a:ext cx="4663440" cy="658368"/>
          </a:xfrm>
          <a:prstGeom prst="rect">
            <a:avLst/>
          </a:prstGeom>
          <a:noFill/>
          <a:ln/>
        </p:spPr>
        <p:txBody>
          <a:bodyPr wrap="square" lIns="0" tIns="0" rIns="0" bIns="0" rtlCol="0" anchor="ctr"/>
          <a:lstStyle/>
          <a:p>
            <a:pPr indent="0" marL="0">
              <a:lnSpc>
                <a:spcPct val="130000"/>
              </a:lnSpc>
              <a:buNone/>
            </a:pPr>
            <a:r>
              <a:rPr lang="en-US" sz="1050" dirty="0">
                <a:solidFill>
                  <a:srgbClr val="3D3D3D"/>
                </a:solidFill>
                <a:latin typeface="Spoqa Han Sans Neo" pitchFamily="34" charset="0"/>
                <a:ea typeface="Spoqa Han Sans Neo" pitchFamily="34" charset="-122"/>
                <a:cs typeface="Spoqa Han Sans Neo" pitchFamily="34" charset="-120"/>
              </a:rPr>
              <a:t>단기: HBM·선단 D램에서는 실질 경쟁자가 아니다.</a:t>
            </a:r>
            <a:endParaRPr lang="en-US" sz="1050" dirty="0"/>
          </a:p>
          <a:p>
            <a:pPr indent="0" marL="0">
              <a:lnSpc>
                <a:spcPct val="130000"/>
              </a:lnSpc>
              <a:buNone/>
            </a:pPr>
            <a:r>
              <a:rPr lang="en-US" sz="1050" dirty="0">
                <a:solidFill>
                  <a:srgbClr val="3D3D3D"/>
                </a:solidFill>
                <a:latin typeface="Spoqa Han Sans Neo" pitchFamily="34" charset="0"/>
                <a:ea typeface="Spoqa Han Sans Neo" pitchFamily="34" charset="-122"/>
                <a:cs typeface="Spoqa Han Sans Neo" pitchFamily="34" charset="-120"/>
              </a:rPr>
              <a:t>중기: 범용 D램 공급이 늘면 지금의 초과이익 폭이 줄어들 수 있다.</a:t>
            </a:r>
            <a:endParaRPr lang="en-US" sz="1050" dirty="0"/>
          </a:p>
          <a:p>
            <a:pPr indent="0" marL="0">
              <a:lnSpc>
                <a:spcPct val="130000"/>
              </a:lnSpc>
              <a:buNone/>
            </a:pPr>
            <a:r>
              <a:rPr lang="en-US" sz="1050" dirty="0">
                <a:solidFill>
                  <a:srgbClr val="3D3D3D"/>
                </a:solidFill>
                <a:latin typeface="Spoqa Han Sans Neo" pitchFamily="34" charset="0"/>
                <a:ea typeface="Spoqa Han Sans Neo" pitchFamily="34" charset="-122"/>
                <a:cs typeface="Spoqa Han Sans Neo" pitchFamily="34" charset="-120"/>
              </a:rPr>
              <a:t>관건: 최신 노광장비 접근 제약과 중국 내수 편중을 언제 깨는지.</a:t>
            </a:r>
            <a:endParaRPr lang="en-US" sz="1050" dirty="0"/>
          </a:p>
        </p:txBody>
      </p:sp>
      <p:sp>
        <p:nvSpPr>
          <p:cNvPr id="17" name="Text 13"/>
          <p:cNvSpPr/>
          <p:nvPr/>
        </p:nvSpPr>
        <p:spPr>
          <a:xfrm>
            <a:off x="566928" y="6089904"/>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Counterpoint Research, 각 사 2Q26 실적발표, 국내 언론 보도 종합(2026년 7월)</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2 · 장비 · 소재</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장비와 소재 — 사이클보다 먼저 움직이는 선행 지표</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설비투자는 실적보다 1~2년 앞서 집행된다. 장비 수주는 미래 공급량의 예고편이다.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7839" cy="914400"/>
        </p:xfrm>
        <a:graphic>
          <a:graphicData uri="http://schemas.openxmlformats.org/drawingml/2006/table">
            <a:tbl>
              <a:tblPr/>
              <a:tblGrid>
                <a:gridCol w="2103120"/>
                <a:gridCol w="2834640"/>
                <a:gridCol w="1463040"/>
                <a:gridCol w="4657039"/>
              </a:tblGrid>
              <a:tr h="402336">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구간</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지배 기업</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국가</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특징 · 2026년 현황</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402336">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노광 (EUV)</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ASML</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네덜란드</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사실상 독점. 2026년 매출 가이던스 430~450억 유로로 상향(기존 360~400억)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402336">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식각 · 증착</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Lam Research · AMAT · TEL</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미국 · 일본</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적층 단수 경쟁이 심화될수록 수주 증가</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402336">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검사 · 계측</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KLA · 어드밴테스트</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미국 · 일본</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HBM 테스트 수요 급증, 후공정 장비가 최고 성장률</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402336">
                <a:tc>
                  <a:txBody>
                    <a:bodyPr/>
                    <a:lstStyle/>
                    <a:p>
                      <a:pPr algn="l" indent="0" marL="0">
                        <a:buNone/>
                      </a:pPr>
                      <a:r>
                        <a:rPr lang="en-US" sz="1080" b="1" dirty="0">
                          <a:solidFill>
                            <a:srgbClr val="1A1A1A"/>
                          </a:solidFill>
                          <a:latin typeface="Spoqa Han Sans Neo" pitchFamily="34" charset="0"/>
                          <a:ea typeface="Spoqa Han Sans Neo" pitchFamily="34" charset="-122"/>
                          <a:cs typeface="Spoqa Han Sans Neo" pitchFamily="34" charset="-120"/>
                        </a:rPr>
                        <a:t>HBM 본딩 · 후공정</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80" b="1" dirty="0">
                          <a:solidFill>
                            <a:srgbClr val="1A1A1A"/>
                          </a:solidFill>
                          <a:latin typeface="Spoqa Han Sans Neo" pitchFamily="34" charset="0"/>
                          <a:ea typeface="Spoqa Han Sans Neo" pitchFamily="34" charset="-122"/>
                          <a:cs typeface="Spoqa Han Sans Neo" pitchFamily="34" charset="-120"/>
                        </a:rPr>
                        <a:t>한미반도체 · 한화세미텍 등</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80" b="1" dirty="0">
                          <a:solidFill>
                            <a:srgbClr val="1A1A1A"/>
                          </a:solidFill>
                          <a:latin typeface="Spoqa Han Sans Neo" pitchFamily="34" charset="0"/>
                          <a:ea typeface="Spoqa Han Sans Neo" pitchFamily="34" charset="-122"/>
                          <a:cs typeface="Spoqa Han Sans Neo" pitchFamily="34" charset="-120"/>
                        </a:rPr>
                        <a:t>한국</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80" b="1" dirty="0">
                          <a:solidFill>
                            <a:srgbClr val="1A1A1A"/>
                          </a:solidFill>
                          <a:latin typeface="Spoqa Han Sans Neo" pitchFamily="34" charset="0"/>
                          <a:ea typeface="Spoqa Han Sans Neo" pitchFamily="34" charset="-122"/>
                          <a:cs typeface="Spoqa Han Sans Neo" pitchFamily="34" charset="-120"/>
                        </a:rPr>
                        <a:t>TC 본더 등 HBM 적층 핵심 장비 — 국내 수혜 집중 구간</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r h="402336">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소재 (웨이퍼·가스·PR)</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신에츠 · SUMCO · 도쿄오카</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일본 · 한국</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국산화가 진행되었으나 고순도 영역은 여전히 일본 의존</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bl>
          </a:graphicData>
        </a:graphic>
      </p:graphicFrame>
      <p:sp>
        <p:nvSpPr>
          <p:cNvPr id="9" name="Shape 6"/>
          <p:cNvSpPr/>
          <p:nvPr/>
        </p:nvSpPr>
        <p:spPr>
          <a:xfrm>
            <a:off x="566928" y="4130040"/>
            <a:ext cx="5349240" cy="1838960"/>
          </a:xfrm>
          <a:prstGeom prst="rect">
            <a:avLst/>
          </a:prstGeom>
          <a:solidFill>
            <a:srgbClr val="FFF3E8"/>
          </a:solidFill>
          <a:ln w="9525">
            <a:solidFill>
              <a:srgbClr val="FAB072"/>
            </a:solidFill>
            <a:prstDash val="solid"/>
          </a:ln>
        </p:spPr>
      </p:sp>
      <p:sp>
        <p:nvSpPr>
          <p:cNvPr id="10" name="Text 7"/>
          <p:cNvSpPr/>
          <p:nvPr/>
        </p:nvSpPr>
        <p:spPr>
          <a:xfrm>
            <a:off x="822960" y="4312920"/>
            <a:ext cx="4846320" cy="256032"/>
          </a:xfrm>
          <a:prstGeom prst="rect">
            <a:avLst/>
          </a:prstGeom>
          <a:noFill/>
          <a:ln/>
        </p:spPr>
        <p:txBody>
          <a:bodyPr wrap="square" lIns="0" tIns="0" rIns="0" bIns="0" rtlCol="0" anchor="ctr"/>
          <a:lstStyle/>
          <a:p>
            <a:pPr indent="0" marL="0">
              <a:buNone/>
            </a:pPr>
            <a:r>
              <a:rPr lang="en-US" sz="1350" b="1" dirty="0">
                <a:solidFill>
                  <a:srgbClr val="CB6015"/>
                </a:solidFill>
                <a:latin typeface="Spoqa Han Sans Neo" pitchFamily="34" charset="0"/>
                <a:ea typeface="Spoqa Han Sans Neo" pitchFamily="34" charset="-122"/>
                <a:cs typeface="Spoqa Han Sans Neo" pitchFamily="34" charset="-120"/>
              </a:rPr>
              <a:t>ASML 2026년 2분기 — 사이클의 온도계</a:t>
            </a:r>
            <a:endParaRPr lang="en-US" sz="1350" dirty="0"/>
          </a:p>
        </p:txBody>
      </p:sp>
      <p:sp>
        <p:nvSpPr>
          <p:cNvPr id="11" name="Text 8"/>
          <p:cNvSpPr/>
          <p:nvPr/>
        </p:nvSpPr>
        <p:spPr>
          <a:xfrm>
            <a:off x="822960" y="4605528"/>
            <a:ext cx="4892040" cy="1188720"/>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매출 93.3억 유로(+21% YoY), 매출총이익률 54.0%, 순이익 29.2억 유로</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신규 노광장비 판매 86대 (1분기 67대 → +28%)</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2026년 전망: 로직 수요 +25%, 메모리 매출 +75%, 중국 비중 약 20%</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2027년 EUV 캐파 30% 확대분은 이미 대부분 수주 확보, 2028년 추가 30% 증설 검토</a:t>
            </a:r>
            <a:endParaRPr lang="en-US" sz="1060" dirty="0"/>
          </a:p>
        </p:txBody>
      </p:sp>
      <p:sp>
        <p:nvSpPr>
          <p:cNvPr id="12" name="Shape 9"/>
          <p:cNvSpPr/>
          <p:nvPr/>
        </p:nvSpPr>
        <p:spPr>
          <a:xfrm>
            <a:off x="6272784" y="4130040"/>
            <a:ext cx="5349240" cy="1838960"/>
          </a:xfrm>
          <a:prstGeom prst="rect">
            <a:avLst/>
          </a:prstGeom>
          <a:solidFill>
            <a:srgbClr val="FFFFFF"/>
          </a:solidFill>
          <a:ln w="9525">
            <a:solidFill>
              <a:srgbClr val="CDCECB"/>
            </a:solidFill>
            <a:prstDash val="solid"/>
          </a:ln>
        </p:spPr>
      </p:sp>
      <p:sp>
        <p:nvSpPr>
          <p:cNvPr id="13" name="Text 10"/>
          <p:cNvSpPr/>
          <p:nvPr/>
        </p:nvSpPr>
        <p:spPr>
          <a:xfrm>
            <a:off x="6528816" y="4312920"/>
            <a:ext cx="484632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이 지표를 왜 봐야 하는가</a:t>
            </a:r>
            <a:endParaRPr lang="en-US" sz="1350" dirty="0"/>
          </a:p>
        </p:txBody>
      </p:sp>
      <p:sp>
        <p:nvSpPr>
          <p:cNvPr id="14" name="Text 11"/>
          <p:cNvSpPr/>
          <p:nvPr/>
        </p:nvSpPr>
        <p:spPr>
          <a:xfrm>
            <a:off x="6528816" y="4605528"/>
            <a:ext cx="4892040" cy="1188720"/>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장비 수주 → 약 1~2년 뒤 웨이퍼 공급으로 전환. 지금의 수주는 2027~2028년 공급을 예고한다</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따라서 '증설 발표'와 '실제 공급 증가'는 다른 사건이다. 2026년 발표된 대규모 투자 대부분은 2028년 이후 공급에 반영된다</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SK하이닉스는 차세대 D램·HBM 양산 준비를 위해 EUV 장비에 12조 원 투자를 집행 중</a:t>
            </a:r>
            <a:endParaRPr lang="en-US" sz="1060" dirty="0"/>
          </a:p>
        </p:txBody>
      </p:sp>
      <p:sp>
        <p:nvSpPr>
          <p:cNvPr id="15" name="Text 12"/>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ASML 2Q26 실적발표(2026.7.15), SEMI, 국내 언론 보도 종합</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3 · 2026년 시장</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사상 첫 1조 달러 — 시장 규모가 1년 만에 두 배가 됐다</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WSTS는 불과 반년 사이 2026년 전망치를 9,754억 달러에서 1조 5,112억 달러로 55% 상향했다.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15</a:t>
            </a:r>
            <a:endParaRPr lang="en-US" sz="900" dirty="0"/>
          </a:p>
        </p:txBody>
      </p:sp>
      <p:graphicFrame>
        <p:nvGraphicFramePr>
          <p:cNvPr id="8" name="Chart 0" descr=""/>
          <p:cNvGraphicFramePr/>
          <p:nvPr/>
        </p:nvGraphicFramePr>
        <p:xfrm>
          <a:off x="566928" y="1627632"/>
          <a:ext cx="5760720" cy="26517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 y="4315968"/>
            <a:ext cx="5760720" cy="219456"/>
          </a:xfrm>
          <a:prstGeom prst="rect">
            <a:avLst/>
          </a:prstGeom>
          <a:noFill/>
          <a:ln/>
        </p:spPr>
        <p:txBody>
          <a:bodyPr wrap="square" lIns="0" tIns="0" rIns="0" bIns="0" rtlCol="0" anchor="ctr"/>
          <a:lstStyle/>
          <a:p>
            <a:pPr indent="0" marL="0">
              <a:buNone/>
            </a:pPr>
            <a:r>
              <a:rPr lang="en-US" sz="1000" dirty="0">
                <a:solidFill>
                  <a:srgbClr val="84888B"/>
                </a:solidFill>
                <a:latin typeface="Spoqa Han Sans Neo" pitchFamily="34" charset="0"/>
                <a:ea typeface="Spoqa Han Sans Neo" pitchFamily="34" charset="-122"/>
                <a:cs typeface="Spoqa Han Sans Neo" pitchFamily="34" charset="-120"/>
              </a:rPr>
              <a:t>2026년 세계 반도체 시장 구성 (억 달러) — 메모리가 전체의 53.2%</a:t>
            </a:r>
            <a:endParaRPr lang="en-US" sz="1000" dirty="0"/>
          </a:p>
        </p:txBody>
      </p:sp>
      <p:sp>
        <p:nvSpPr>
          <p:cNvPr id="10" name="Shape 7"/>
          <p:cNvSpPr/>
          <p:nvPr/>
        </p:nvSpPr>
        <p:spPr>
          <a:xfrm>
            <a:off x="6693408" y="1627632"/>
            <a:ext cx="2340864" cy="1517904"/>
          </a:xfrm>
          <a:prstGeom prst="rect">
            <a:avLst/>
          </a:prstGeom>
          <a:solidFill>
            <a:srgbClr val="FFFFFF"/>
          </a:solidFill>
          <a:ln w="9525">
            <a:solidFill>
              <a:srgbClr val="CDCECB"/>
            </a:solidFill>
            <a:prstDash val="solid"/>
          </a:ln>
        </p:spPr>
      </p:sp>
      <p:sp>
        <p:nvSpPr>
          <p:cNvPr id="11" name="Text 8"/>
          <p:cNvSpPr/>
          <p:nvPr/>
        </p:nvSpPr>
        <p:spPr>
          <a:xfrm>
            <a:off x="6894576" y="1792224"/>
            <a:ext cx="1938528"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2026년 전체 시장</a:t>
            </a:r>
            <a:endParaRPr lang="en-US" sz="1050" dirty="0"/>
          </a:p>
        </p:txBody>
      </p:sp>
      <p:sp>
        <p:nvSpPr>
          <p:cNvPr id="12" name="Text 9"/>
          <p:cNvSpPr/>
          <p:nvPr/>
        </p:nvSpPr>
        <p:spPr>
          <a:xfrm>
            <a:off x="6894576" y="2029968"/>
            <a:ext cx="1938528" cy="548640"/>
          </a:xfrm>
          <a:prstGeom prst="rect">
            <a:avLst/>
          </a:prstGeom>
          <a:noFill/>
          <a:ln/>
        </p:spPr>
        <p:txBody>
          <a:bodyPr wrap="square" lIns="0" tIns="0" rIns="0" bIns="0" rtlCol="0" anchor="ctr"/>
          <a:lstStyle/>
          <a:p>
            <a:pPr indent="0" marL="0">
              <a:buNone/>
            </a:pPr>
            <a:r>
              <a:rPr lang="en-US" sz="3000" b="1" dirty="0">
                <a:solidFill>
                  <a:srgbClr val="F58220"/>
                </a:solidFill>
                <a:latin typeface="Spoqa Han Sans Neo" pitchFamily="34" charset="0"/>
                <a:ea typeface="Spoqa Han Sans Neo" pitchFamily="34" charset="-122"/>
                <a:cs typeface="Spoqa Han Sans Neo" pitchFamily="34" charset="-120"/>
              </a:rPr>
              <a:t>1.51조$</a:t>
            </a:r>
            <a:endParaRPr lang="en-US" sz="3000" dirty="0"/>
          </a:p>
        </p:txBody>
      </p:sp>
      <p:sp>
        <p:nvSpPr>
          <p:cNvPr id="13" name="Text 10"/>
          <p:cNvSpPr/>
          <p:nvPr/>
        </p:nvSpPr>
        <p:spPr>
          <a:xfrm>
            <a:off x="6894576" y="2578608"/>
            <a:ext cx="1938528"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전년비 +89.9%</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1995년의 +42%를 크게 상회하는 사상 최고 성장률</a:t>
            </a:r>
            <a:endParaRPr lang="en-US" sz="1050" dirty="0"/>
          </a:p>
        </p:txBody>
      </p:sp>
      <p:sp>
        <p:nvSpPr>
          <p:cNvPr id="14" name="Shape 11"/>
          <p:cNvSpPr/>
          <p:nvPr/>
        </p:nvSpPr>
        <p:spPr>
          <a:xfrm>
            <a:off x="9281160" y="1627632"/>
            <a:ext cx="2340864" cy="1517904"/>
          </a:xfrm>
          <a:prstGeom prst="rect">
            <a:avLst/>
          </a:prstGeom>
          <a:solidFill>
            <a:srgbClr val="FFFFFF"/>
          </a:solidFill>
          <a:ln w="9525">
            <a:solidFill>
              <a:srgbClr val="CDCECB"/>
            </a:solidFill>
            <a:prstDash val="solid"/>
          </a:ln>
        </p:spPr>
      </p:sp>
      <p:sp>
        <p:nvSpPr>
          <p:cNvPr id="15" name="Text 12"/>
          <p:cNvSpPr/>
          <p:nvPr/>
        </p:nvSpPr>
        <p:spPr>
          <a:xfrm>
            <a:off x="9482328" y="1792224"/>
            <a:ext cx="1938528"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메모리 시장</a:t>
            </a:r>
            <a:endParaRPr lang="en-US" sz="1050" dirty="0"/>
          </a:p>
        </p:txBody>
      </p:sp>
      <p:sp>
        <p:nvSpPr>
          <p:cNvPr id="16" name="Text 13"/>
          <p:cNvSpPr/>
          <p:nvPr/>
        </p:nvSpPr>
        <p:spPr>
          <a:xfrm>
            <a:off x="9482328" y="2029968"/>
            <a:ext cx="1938528" cy="548640"/>
          </a:xfrm>
          <a:prstGeom prst="rect">
            <a:avLst/>
          </a:prstGeom>
          <a:noFill/>
          <a:ln/>
        </p:spPr>
        <p:txBody>
          <a:bodyPr wrap="square" lIns="0" tIns="0" rIns="0" bIns="0" rtlCol="0" anchor="ctr"/>
          <a:lstStyle/>
          <a:p>
            <a:pPr indent="0" marL="0">
              <a:buNone/>
            </a:pPr>
            <a:r>
              <a:rPr lang="en-US" sz="3000" b="1" dirty="0">
                <a:solidFill>
                  <a:srgbClr val="043B72"/>
                </a:solidFill>
                <a:latin typeface="Spoqa Han Sans Neo" pitchFamily="34" charset="0"/>
                <a:ea typeface="Spoqa Han Sans Neo" pitchFamily="34" charset="-122"/>
                <a:cs typeface="Spoqa Han Sans Neo" pitchFamily="34" charset="-120"/>
              </a:rPr>
              <a:t>8,039억$</a:t>
            </a:r>
            <a:endParaRPr lang="en-US" sz="3000" dirty="0"/>
          </a:p>
        </p:txBody>
      </p:sp>
      <p:sp>
        <p:nvSpPr>
          <p:cNvPr id="17" name="Text 14"/>
          <p:cNvSpPr/>
          <p:nvPr/>
        </p:nvSpPr>
        <p:spPr>
          <a:xfrm>
            <a:off x="9482328" y="2578608"/>
            <a:ext cx="1938528"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전년비 +249.5%</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1년 만에 약 3.5배</a:t>
            </a:r>
            <a:endParaRPr lang="en-US" sz="1050" dirty="0"/>
          </a:p>
        </p:txBody>
      </p:sp>
      <p:sp>
        <p:nvSpPr>
          <p:cNvPr id="18" name="Shape 15"/>
          <p:cNvSpPr/>
          <p:nvPr/>
        </p:nvSpPr>
        <p:spPr>
          <a:xfrm>
            <a:off x="6693408" y="3291840"/>
            <a:ext cx="4928616" cy="1005840"/>
          </a:xfrm>
          <a:prstGeom prst="rect">
            <a:avLst/>
          </a:prstGeom>
          <a:solidFill>
            <a:srgbClr val="F7F8FA"/>
          </a:solidFill>
          <a:ln w="9525">
            <a:solidFill>
              <a:srgbClr val="CDCECB"/>
            </a:solidFill>
            <a:prstDash val="solid"/>
          </a:ln>
        </p:spPr>
      </p:sp>
      <p:sp>
        <p:nvSpPr>
          <p:cNvPr id="19" name="Text 16"/>
          <p:cNvSpPr/>
          <p:nvPr/>
        </p:nvSpPr>
        <p:spPr>
          <a:xfrm>
            <a:off x="6931152" y="3438144"/>
            <a:ext cx="4480560" cy="274320"/>
          </a:xfrm>
          <a:prstGeom prst="rect">
            <a:avLst/>
          </a:prstGeom>
          <a:noFill/>
          <a:ln/>
        </p:spPr>
        <p:txBody>
          <a:bodyPr wrap="square" lIns="0" tIns="0" rIns="0" bIns="0" rtlCol="0" anchor="ctr"/>
          <a:lstStyle/>
          <a:p>
            <a:pPr indent="0" marL="0">
              <a:buNone/>
            </a:pPr>
            <a:r>
              <a:rPr lang="en-US" sz="1400" b="1" dirty="0">
                <a:solidFill>
                  <a:srgbClr val="043B72"/>
                </a:solidFill>
                <a:latin typeface="Spoqa Han Sans Neo" pitchFamily="34" charset="0"/>
                <a:ea typeface="Spoqa Han Sans Neo" pitchFamily="34" charset="-122"/>
                <a:cs typeface="Spoqa Han Sans Neo" pitchFamily="34" charset="-120"/>
              </a:rPr>
              <a:t>2027년 전망  1조 9,137억 달러 (+26.6%)</a:t>
            </a:r>
            <a:endParaRPr lang="en-US" sz="1400" dirty="0"/>
          </a:p>
        </p:txBody>
      </p:sp>
      <p:sp>
        <p:nvSpPr>
          <p:cNvPr id="20" name="Text 17"/>
          <p:cNvSpPr/>
          <p:nvPr/>
        </p:nvSpPr>
        <p:spPr>
          <a:xfrm>
            <a:off x="6931152" y="3730752"/>
            <a:ext cx="4480560" cy="475488"/>
          </a:xfrm>
          <a:prstGeom prst="rect">
            <a:avLst/>
          </a:prstGeom>
          <a:noFill/>
          <a:ln/>
        </p:spPr>
        <p:txBody>
          <a:bodyPr wrap="square" lIns="0" tIns="0" rIns="0" bIns="0" rtlCol="0" anchor="ctr"/>
          <a:lstStyle/>
          <a:p>
            <a:pPr indent="0" marL="0">
              <a:lnSpc>
                <a:spcPct val="128000"/>
              </a:lnSpc>
              <a:buNone/>
            </a:pPr>
            <a:r>
              <a:rPr lang="en-US" sz="1080" dirty="0">
                <a:solidFill>
                  <a:srgbClr val="3D3D3D"/>
                </a:solidFill>
                <a:latin typeface="Spoqa Han Sans Neo" pitchFamily="34" charset="0"/>
                <a:ea typeface="Spoqa Han Sans Neo" pitchFamily="34" charset="-122"/>
                <a:cs typeface="Spoqa Han Sans Neo" pitchFamily="34" charset="-120"/>
              </a:rPr>
              <a:t>성장률은 둔화되지만 절대 규모는 계속 확대되는 그림. 다만 이 수치는 '가격 상승'이 크게 반영된 매출 기준이라는 점을 기억해야 한다 — 출하량(비트) 증가율과는 다르다.</a:t>
            </a:r>
            <a:endParaRPr lang="en-US" sz="1080" dirty="0"/>
          </a:p>
        </p:txBody>
      </p:sp>
      <p:sp>
        <p:nvSpPr>
          <p:cNvPr id="21" name="Shape 18"/>
          <p:cNvSpPr/>
          <p:nvPr/>
        </p:nvSpPr>
        <p:spPr>
          <a:xfrm>
            <a:off x="566928" y="4535424"/>
            <a:ext cx="11057839" cy="1371600"/>
          </a:xfrm>
          <a:prstGeom prst="rect">
            <a:avLst/>
          </a:prstGeom>
          <a:solidFill>
            <a:srgbClr val="ECEFF4"/>
          </a:solidFill>
          <a:ln w="9525">
            <a:solidFill>
              <a:srgbClr val="CDCECB"/>
            </a:solidFill>
            <a:prstDash val="solid"/>
          </a:ln>
        </p:spPr>
      </p:sp>
      <p:sp>
        <p:nvSpPr>
          <p:cNvPr id="22" name="Text 19"/>
          <p:cNvSpPr/>
          <p:nvPr/>
        </p:nvSpPr>
        <p:spPr>
          <a:xfrm>
            <a:off x="841248" y="4700016"/>
            <a:ext cx="5486400" cy="256032"/>
          </a:xfrm>
          <a:prstGeom prst="rect">
            <a:avLst/>
          </a:prstGeom>
          <a:noFill/>
          <a:ln/>
        </p:spPr>
        <p:txBody>
          <a:bodyPr wrap="square" lIns="0" tIns="0" rIns="0" bIns="0" rtlCol="0" anchor="ctr"/>
          <a:lstStyle/>
          <a:p>
            <a:pPr indent="0" marL="0">
              <a:buNone/>
            </a:pPr>
            <a:r>
              <a:rPr lang="en-US" sz="1350" b="1" dirty="0">
                <a:solidFill>
                  <a:srgbClr val="C62828"/>
                </a:solidFill>
                <a:latin typeface="Spoqa Han Sans Neo" pitchFamily="34" charset="0"/>
                <a:ea typeface="Spoqa Han Sans Neo" pitchFamily="34" charset="-122"/>
                <a:cs typeface="Spoqa Han Sans Neo" pitchFamily="34" charset="-120"/>
              </a:rPr>
              <a:t>이 숫자를 읽을 때의 주의점</a:t>
            </a:r>
            <a:endParaRPr lang="en-US" sz="1350" dirty="0"/>
          </a:p>
        </p:txBody>
      </p:sp>
      <p:sp>
        <p:nvSpPr>
          <p:cNvPr id="23" name="Text 20"/>
          <p:cNvSpPr/>
          <p:nvPr/>
        </p:nvSpPr>
        <p:spPr>
          <a:xfrm>
            <a:off x="841248" y="5029200"/>
            <a:ext cx="3291840" cy="237744"/>
          </a:xfrm>
          <a:prstGeom prst="rect">
            <a:avLst/>
          </a:prstGeom>
          <a:noFill/>
          <a:ln/>
        </p:spPr>
        <p:txBody>
          <a:bodyPr wrap="square" lIns="0" tIns="0" rIns="0" bIns="0" rtlCol="0" anchor="ctr"/>
          <a:lstStyle/>
          <a:p>
            <a:pPr indent="0" marL="0">
              <a:buNone/>
            </a:pPr>
            <a:r>
              <a:rPr lang="en-US" sz="1200" b="1" dirty="0">
                <a:solidFill>
                  <a:srgbClr val="043B72"/>
                </a:solidFill>
                <a:latin typeface="Spoqa Han Sans Neo" pitchFamily="34" charset="0"/>
                <a:ea typeface="Spoqa Han Sans Neo" pitchFamily="34" charset="-122"/>
                <a:cs typeface="Spoqa Han Sans Neo" pitchFamily="34" charset="-120"/>
              </a:rPr>
              <a:t>가격 vs 물량</a:t>
            </a:r>
            <a:endParaRPr lang="en-US" sz="1200" dirty="0"/>
          </a:p>
        </p:txBody>
      </p:sp>
      <p:sp>
        <p:nvSpPr>
          <p:cNvPr id="24" name="Text 21"/>
          <p:cNvSpPr/>
          <p:nvPr/>
        </p:nvSpPr>
        <p:spPr>
          <a:xfrm>
            <a:off x="841248" y="5285232"/>
            <a:ext cx="3291840" cy="512064"/>
          </a:xfrm>
          <a:prstGeom prst="rect">
            <a:avLst/>
          </a:prstGeom>
          <a:noFill/>
          <a:ln/>
        </p:spPr>
        <p:txBody>
          <a:bodyPr wrap="square" lIns="0" tIns="0" rIns="0" bIns="0" rtlCol="0" anchor="ctr"/>
          <a:lstStyle/>
          <a:p>
            <a:pPr indent="0" marL="0">
              <a:lnSpc>
                <a:spcPct val="128000"/>
              </a:lnSpc>
              <a:buNone/>
            </a:pPr>
            <a:r>
              <a:rPr lang="en-US" sz="1060" dirty="0">
                <a:solidFill>
                  <a:srgbClr val="3D3D3D"/>
                </a:solidFill>
                <a:latin typeface="Spoqa Han Sans Neo" pitchFamily="34" charset="0"/>
                <a:ea typeface="Spoqa Han Sans Neo" pitchFamily="34" charset="-122"/>
                <a:cs typeface="Spoqa Han Sans Neo" pitchFamily="34" charset="-120"/>
              </a:rPr>
              <a:t>매출 급증의 상당 부분은 단가 상승에서 나왔다. 출하량이 2배가 된 것이 아니다.</a:t>
            </a:r>
            <a:endParaRPr lang="en-US" sz="1060" dirty="0"/>
          </a:p>
        </p:txBody>
      </p:sp>
      <p:sp>
        <p:nvSpPr>
          <p:cNvPr id="25" name="Text 22"/>
          <p:cNvSpPr/>
          <p:nvPr/>
        </p:nvSpPr>
        <p:spPr>
          <a:xfrm>
            <a:off x="4407408" y="5029200"/>
            <a:ext cx="3291840" cy="237744"/>
          </a:xfrm>
          <a:prstGeom prst="rect">
            <a:avLst/>
          </a:prstGeom>
          <a:noFill/>
          <a:ln/>
        </p:spPr>
        <p:txBody>
          <a:bodyPr wrap="square" lIns="0" tIns="0" rIns="0" bIns="0" rtlCol="0" anchor="ctr"/>
          <a:lstStyle/>
          <a:p>
            <a:pPr indent="0" marL="0">
              <a:buNone/>
            </a:pPr>
            <a:r>
              <a:rPr lang="en-US" sz="1200" b="1" dirty="0">
                <a:solidFill>
                  <a:srgbClr val="043B72"/>
                </a:solidFill>
                <a:latin typeface="Spoqa Han Sans Neo" pitchFamily="34" charset="0"/>
                <a:ea typeface="Spoqa Han Sans Neo" pitchFamily="34" charset="-122"/>
                <a:cs typeface="Spoqa Han Sans Neo" pitchFamily="34" charset="-120"/>
              </a:rPr>
              <a:t>전망치의 변동성</a:t>
            </a:r>
            <a:endParaRPr lang="en-US" sz="1200" dirty="0"/>
          </a:p>
        </p:txBody>
      </p:sp>
      <p:sp>
        <p:nvSpPr>
          <p:cNvPr id="26" name="Text 23"/>
          <p:cNvSpPr/>
          <p:nvPr/>
        </p:nvSpPr>
        <p:spPr>
          <a:xfrm>
            <a:off x="4407408" y="5285232"/>
            <a:ext cx="3291840" cy="512064"/>
          </a:xfrm>
          <a:prstGeom prst="rect">
            <a:avLst/>
          </a:prstGeom>
          <a:noFill/>
          <a:ln/>
        </p:spPr>
        <p:txBody>
          <a:bodyPr wrap="square" lIns="0" tIns="0" rIns="0" bIns="0" rtlCol="0" anchor="ctr"/>
          <a:lstStyle/>
          <a:p>
            <a:pPr indent="0" marL="0">
              <a:lnSpc>
                <a:spcPct val="128000"/>
              </a:lnSpc>
              <a:buNone/>
            </a:pPr>
            <a:r>
              <a:rPr lang="en-US" sz="1060" dirty="0">
                <a:solidFill>
                  <a:srgbClr val="3D3D3D"/>
                </a:solidFill>
                <a:latin typeface="Spoqa Han Sans Neo" pitchFamily="34" charset="0"/>
                <a:ea typeface="Spoqa Han Sans Neo" pitchFamily="34" charset="-122"/>
                <a:cs typeface="Spoqa Han Sans Neo" pitchFamily="34" charset="-120"/>
              </a:rPr>
              <a:t>WSTS는 반년 만에 전망을 55% 올렸다. 같은 속도로 내릴 수도 있다는 의미다.</a:t>
            </a:r>
            <a:endParaRPr lang="en-US" sz="1060" dirty="0"/>
          </a:p>
        </p:txBody>
      </p:sp>
      <p:sp>
        <p:nvSpPr>
          <p:cNvPr id="27" name="Text 24"/>
          <p:cNvSpPr/>
          <p:nvPr/>
        </p:nvSpPr>
        <p:spPr>
          <a:xfrm>
            <a:off x="7973568" y="5029200"/>
            <a:ext cx="3291840" cy="237744"/>
          </a:xfrm>
          <a:prstGeom prst="rect">
            <a:avLst/>
          </a:prstGeom>
          <a:noFill/>
          <a:ln/>
        </p:spPr>
        <p:txBody>
          <a:bodyPr wrap="square" lIns="0" tIns="0" rIns="0" bIns="0" rtlCol="0" anchor="ctr"/>
          <a:lstStyle/>
          <a:p>
            <a:pPr indent="0" marL="0">
              <a:buNone/>
            </a:pPr>
            <a:r>
              <a:rPr lang="en-US" sz="1200" b="1" dirty="0">
                <a:solidFill>
                  <a:srgbClr val="043B72"/>
                </a:solidFill>
                <a:latin typeface="Spoqa Han Sans Neo" pitchFamily="34" charset="0"/>
                <a:ea typeface="Spoqa Han Sans Neo" pitchFamily="34" charset="-122"/>
                <a:cs typeface="Spoqa Han Sans Neo" pitchFamily="34" charset="-120"/>
              </a:rPr>
              <a:t>기저효과</a:t>
            </a:r>
            <a:endParaRPr lang="en-US" sz="1200" dirty="0"/>
          </a:p>
        </p:txBody>
      </p:sp>
      <p:sp>
        <p:nvSpPr>
          <p:cNvPr id="28" name="Text 25"/>
          <p:cNvSpPr/>
          <p:nvPr/>
        </p:nvSpPr>
        <p:spPr>
          <a:xfrm>
            <a:off x="7973568" y="5285232"/>
            <a:ext cx="3291840" cy="512064"/>
          </a:xfrm>
          <a:prstGeom prst="rect">
            <a:avLst/>
          </a:prstGeom>
          <a:noFill/>
          <a:ln/>
        </p:spPr>
        <p:txBody>
          <a:bodyPr wrap="square" lIns="0" tIns="0" rIns="0" bIns="0" rtlCol="0" anchor="ctr"/>
          <a:lstStyle/>
          <a:p>
            <a:pPr indent="0" marL="0">
              <a:lnSpc>
                <a:spcPct val="128000"/>
              </a:lnSpc>
              <a:buNone/>
            </a:pPr>
            <a:r>
              <a:rPr lang="en-US" sz="1060" dirty="0">
                <a:solidFill>
                  <a:srgbClr val="3D3D3D"/>
                </a:solidFill>
                <a:latin typeface="Spoqa Han Sans Neo" pitchFamily="34" charset="0"/>
                <a:ea typeface="Spoqa Han Sans Neo" pitchFamily="34" charset="-122"/>
                <a:cs typeface="Spoqa Han Sans Neo" pitchFamily="34" charset="-120"/>
              </a:rPr>
              <a:t>2027년 성장률 둔화(+26.6%)는 업황 악화가 아니라 기저가 높아진 결과일 수 있다.</a:t>
            </a:r>
            <a:endParaRPr lang="en-US" sz="1060" dirty="0"/>
          </a:p>
        </p:txBody>
      </p:sp>
      <p:sp>
        <p:nvSpPr>
          <p:cNvPr id="29" name="Text 26"/>
          <p:cNvSpPr/>
          <p:nvPr/>
        </p:nvSpPr>
        <p:spPr>
          <a:xfrm>
            <a:off x="566928" y="6035040"/>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WSTS 2026년 봄 전망(2026년 6월 발표), 니혼게이자이신문 인용</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3 · 수요의 근원</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수요의 근원 — 빅테크 4곳이 1년에 7,250억 달러를 쓴다</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이 지출이 유지되는지 여부가 이번 사이클의 지속 기간을 결정한다. 가장 중요한 단일 변수다.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16</a:t>
            </a:r>
            <a:endParaRPr lang="en-US" sz="900" dirty="0"/>
          </a:p>
        </p:txBody>
      </p:sp>
      <p:graphicFrame>
        <p:nvGraphicFramePr>
          <p:cNvPr id="8" name="Chart 0" descr=""/>
          <p:cNvGraphicFramePr/>
          <p:nvPr/>
        </p:nvGraphicFramePr>
        <p:xfrm>
          <a:off x="566928" y="1627632"/>
          <a:ext cx="5486400" cy="2615184"/>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 y="4279392"/>
            <a:ext cx="5486400" cy="219456"/>
          </a:xfrm>
          <a:prstGeom prst="rect">
            <a:avLst/>
          </a:prstGeom>
          <a:noFill/>
          <a:ln/>
        </p:spPr>
        <p:txBody>
          <a:bodyPr wrap="square" lIns="0" tIns="0" rIns="0" bIns="0" rtlCol="0" anchor="ctr"/>
          <a:lstStyle/>
          <a:p>
            <a:pPr indent="0" marL="0">
              <a:buNone/>
            </a:pPr>
            <a:r>
              <a:rPr lang="en-US" sz="1000" dirty="0">
                <a:solidFill>
                  <a:srgbClr val="84888B"/>
                </a:solidFill>
                <a:latin typeface="Spoqa Han Sans Neo" pitchFamily="34" charset="0"/>
                <a:ea typeface="Spoqa Han Sans Neo" pitchFamily="34" charset="-122"/>
                <a:cs typeface="Spoqa Han Sans Neo" pitchFamily="34" charset="-120"/>
              </a:rPr>
              <a:t>아마존·구글·MS·메타 합산 설비투자 (억 달러) · 2027E는 애널리스트 추정</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19088" y="1627632"/>
          <a:ext cx="5202936" cy="914400"/>
        </p:xfrm>
        <a:graphic>
          <a:graphicData uri="http://schemas.openxmlformats.org/drawingml/2006/table">
            <a:tbl>
              <a:tblPr/>
              <a:tblGrid>
                <a:gridCol w="1600200"/>
                <a:gridCol w="2231136"/>
                <a:gridCol w="1371600"/>
              </a:tblGrid>
              <a:tr h="384048">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기업</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2026년 CapEx 가이던스</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2025년</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84048">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아마존</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약 2,000억$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1,250억$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84048">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마이크로소프트</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1,100~1,900억$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900억$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84048">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구글(알파벳)</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1,750~1,900억$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910억$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84048">
                <a:tc>
                  <a:txBody>
                    <a:bodyPr/>
                    <a:lstStyle/>
                    <a:p>
                      <a:pPr algn="l" indent="0" marL="0">
                        <a:buNone/>
                      </a:pPr>
                      <a:r>
                        <a:rPr lang="en-US" sz="1080" dirty="0">
                          <a:solidFill>
                            <a:srgbClr val="3D3D3D"/>
                          </a:solidFill>
                          <a:latin typeface="Spoqa Han Sans Neo" pitchFamily="34" charset="0"/>
                          <a:ea typeface="Spoqa Han Sans Neo" pitchFamily="34" charset="-122"/>
                          <a:cs typeface="Spoqa Han Sans Neo" pitchFamily="34" charset="-120"/>
                        </a:rPr>
                        <a:t>메타</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1,250~1,450억$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80" dirty="0">
                          <a:solidFill>
                            <a:srgbClr val="3D3D3D"/>
                          </a:solidFill>
                          <a:latin typeface="Spoqa Han Sans Neo" pitchFamily="34" charset="0"/>
                          <a:ea typeface="Spoqa Han Sans Neo" pitchFamily="34" charset="-122"/>
                          <a:cs typeface="Spoqa Han Sans Neo" pitchFamily="34" charset="-120"/>
                        </a:rPr>
                        <a:t>720억$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84048">
                <a:tc>
                  <a:txBody>
                    <a:bodyPr/>
                    <a:lstStyle/>
                    <a:p>
                      <a:pPr algn="l" indent="0" marL="0">
                        <a:buNone/>
                      </a:pPr>
                      <a:r>
                        <a:rPr lang="en-US" sz="1080" b="1" dirty="0">
                          <a:solidFill>
                            <a:srgbClr val="1A1A1A"/>
                          </a:solidFill>
                          <a:latin typeface="Spoqa Han Sans Neo" pitchFamily="34" charset="0"/>
                          <a:ea typeface="Spoqa Han Sans Neo" pitchFamily="34" charset="-122"/>
                          <a:cs typeface="Spoqa Han Sans Neo" pitchFamily="34" charset="-120"/>
                        </a:rPr>
                        <a:t>합산</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약 7,250억$ (+92%)</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3,780억$</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bl>
          </a:graphicData>
        </a:graphic>
      </p:graphicFrame>
      <p:sp>
        <p:nvSpPr>
          <p:cNvPr id="11" name="Shape 7"/>
          <p:cNvSpPr/>
          <p:nvPr/>
        </p:nvSpPr>
        <p:spPr>
          <a:xfrm>
            <a:off x="6419088" y="4041648"/>
            <a:ext cx="5202936" cy="1883664"/>
          </a:xfrm>
          <a:prstGeom prst="rect">
            <a:avLst/>
          </a:prstGeom>
          <a:solidFill>
            <a:srgbClr val="FFF3E8"/>
          </a:solidFill>
          <a:ln w="9525">
            <a:solidFill>
              <a:srgbClr val="FAB072"/>
            </a:solidFill>
            <a:prstDash val="solid"/>
          </a:ln>
        </p:spPr>
      </p:sp>
      <p:sp>
        <p:nvSpPr>
          <p:cNvPr id="12" name="Text 8"/>
          <p:cNvSpPr/>
          <p:nvPr/>
        </p:nvSpPr>
        <p:spPr>
          <a:xfrm>
            <a:off x="6656832" y="4206240"/>
            <a:ext cx="4754880" cy="256032"/>
          </a:xfrm>
          <a:prstGeom prst="rect">
            <a:avLst/>
          </a:prstGeom>
          <a:noFill/>
          <a:ln/>
        </p:spPr>
        <p:txBody>
          <a:bodyPr wrap="square" lIns="0" tIns="0" rIns="0" bIns="0" rtlCol="0" anchor="ctr"/>
          <a:lstStyle/>
          <a:p>
            <a:pPr indent="0" marL="0">
              <a:buNone/>
            </a:pPr>
            <a:r>
              <a:rPr lang="en-US" sz="1350" b="1" dirty="0">
                <a:solidFill>
                  <a:srgbClr val="CB6015"/>
                </a:solidFill>
                <a:latin typeface="Spoqa Han Sans Neo" pitchFamily="34" charset="0"/>
                <a:ea typeface="Spoqa Han Sans Neo" pitchFamily="34" charset="-122"/>
                <a:cs typeface="Spoqa Han Sans Neo" pitchFamily="34" charset="-120"/>
              </a:rPr>
              <a:t>메모리 산업에 직결되는 지점</a:t>
            </a:r>
            <a:endParaRPr lang="en-US" sz="1350" dirty="0"/>
          </a:p>
        </p:txBody>
      </p:sp>
      <p:sp>
        <p:nvSpPr>
          <p:cNvPr id="13" name="Text 9"/>
          <p:cNvSpPr/>
          <p:nvPr/>
        </p:nvSpPr>
        <p:spPr>
          <a:xfrm>
            <a:off x="6656832" y="4498848"/>
            <a:ext cx="4754880" cy="1316736"/>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메모리가 하이퍼스케일러 데이터센터 지출의 약 30%를 차지 — 2023년 대비 4배</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마이크로소프트 CFO는 추가 지출 중 250억 달러를 메모리·부품 가격 상승분으로 설명</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메타는 부품 가격과 데이터센터 비용 상승을 이유로 가이던스를 상향 조정</a:t>
            </a:r>
            <a:endParaRPr lang="en-US" sz="1060" dirty="0"/>
          </a:p>
          <a:p>
            <a:pPr marL="177800" indent="-177800">
              <a:lnSpc>
                <a:spcPct val="120000"/>
              </a:lnSpc>
              <a:spcAft>
                <a:spcPts val="700"/>
              </a:spcAft>
              <a:buSzPct val="100000"/>
              <a:buChar char="•"/>
            </a:pPr>
            <a:r>
              <a:rPr lang="en-US" sz="1060" dirty="0">
                <a:solidFill>
                  <a:srgbClr val="3D3D3D"/>
                </a:solidFill>
                <a:latin typeface="Spoqa Han Sans Neo" pitchFamily="34" charset="0"/>
                <a:ea typeface="Spoqa Han Sans Neo" pitchFamily="34" charset="-122"/>
                <a:cs typeface="Spoqa Han Sans Neo" pitchFamily="34" charset="-120"/>
              </a:rPr>
              <a:t>즉 메모리 가격 상승분이 곧 빅테크 CapEx 금액을 부풀리고 있다 — 양날의 검</a:t>
            </a:r>
            <a:endParaRPr lang="en-US" sz="1060" dirty="0"/>
          </a:p>
        </p:txBody>
      </p:sp>
      <p:sp>
        <p:nvSpPr>
          <p:cNvPr id="14" name="Shape 10"/>
          <p:cNvSpPr/>
          <p:nvPr/>
        </p:nvSpPr>
        <p:spPr>
          <a:xfrm>
            <a:off x="566928" y="4535424"/>
            <a:ext cx="5486400" cy="1371600"/>
          </a:xfrm>
          <a:prstGeom prst="rect">
            <a:avLst/>
          </a:prstGeom>
          <a:solidFill>
            <a:srgbClr val="F7F8FA"/>
          </a:solidFill>
          <a:ln w="9525">
            <a:solidFill>
              <a:srgbClr val="CDCECB"/>
            </a:solidFill>
            <a:prstDash val="solid"/>
          </a:ln>
        </p:spPr>
      </p:sp>
      <p:sp>
        <p:nvSpPr>
          <p:cNvPr id="15" name="Text 11"/>
          <p:cNvSpPr/>
          <p:nvPr/>
        </p:nvSpPr>
        <p:spPr>
          <a:xfrm>
            <a:off x="822960" y="4700016"/>
            <a:ext cx="4937760" cy="256032"/>
          </a:xfrm>
          <a:prstGeom prst="rect">
            <a:avLst/>
          </a:prstGeom>
          <a:noFill/>
          <a:ln/>
        </p:spPr>
        <p:txBody>
          <a:bodyPr wrap="square" lIns="0" tIns="0" rIns="0" bIns="0" rtlCol="0" anchor="ctr"/>
          <a:lstStyle/>
          <a:p>
            <a:pPr indent="0" marL="0">
              <a:buNone/>
            </a:pPr>
            <a:r>
              <a:rPr lang="en-US" sz="1300" b="1" dirty="0">
                <a:solidFill>
                  <a:srgbClr val="C62828"/>
                </a:solidFill>
                <a:latin typeface="Spoqa Han Sans Neo" pitchFamily="34" charset="0"/>
                <a:ea typeface="Spoqa Han Sans Neo" pitchFamily="34" charset="-122"/>
                <a:cs typeface="Spoqa Han Sans Neo" pitchFamily="34" charset="-120"/>
              </a:rPr>
              <a:t>경계 신호도 함께 나왔다</a:t>
            </a:r>
            <a:endParaRPr lang="en-US" sz="1300" dirty="0"/>
          </a:p>
        </p:txBody>
      </p:sp>
      <p:sp>
        <p:nvSpPr>
          <p:cNvPr id="16" name="Text 12"/>
          <p:cNvSpPr/>
          <p:nvPr/>
        </p:nvSpPr>
        <p:spPr>
          <a:xfrm>
            <a:off x="822960" y="4992624"/>
            <a:ext cx="4974336" cy="822960"/>
          </a:xfrm>
          <a:prstGeom prst="rect">
            <a:avLst/>
          </a:prstGeom>
          <a:noFill/>
          <a:ln/>
        </p:spPr>
        <p:txBody>
          <a:bodyPr wrap="square" lIns="0" tIns="0" rIns="0" bIns="0" rtlCol="0" anchor="ctr"/>
          <a:lstStyle/>
          <a:p>
            <a:pPr indent="0" marL="0">
              <a:lnSpc>
                <a:spcPct val="130000"/>
              </a:lnSpc>
              <a:buNone/>
            </a:pPr>
            <a:r>
              <a:rPr lang="en-US" sz="1080" dirty="0">
                <a:solidFill>
                  <a:srgbClr val="3D3D3D"/>
                </a:solidFill>
                <a:latin typeface="Spoqa Han Sans Neo" pitchFamily="34" charset="0"/>
                <a:ea typeface="Spoqa Han Sans Neo" pitchFamily="34" charset="-122"/>
                <a:cs typeface="Spoqa Han Sans Neo" pitchFamily="34" charset="-120"/>
              </a:rPr>
              <a:t>2026년 상반기 실적 시즌에서 알파벳·메타·MS는 매출은 좋았지만 CapEx 부담으로 잉여현금흐름과 EPS가 기대를 밑돌았다. 메타가 가이던스를 올렸을 때 주가는 오히려 9% 넘게 하락했다. 'AI 투자에 대한 투자자의 인내심'이 처음으로 시험받기 시작한 국면이다.</a:t>
            </a:r>
            <a:endParaRPr lang="en-US" sz="1080" dirty="0"/>
          </a:p>
        </p:txBody>
      </p:sp>
      <p:sp>
        <p:nvSpPr>
          <p:cNvPr id="17" name="Text 13"/>
          <p:cNvSpPr/>
          <p:nvPr/>
        </p:nvSpPr>
        <p:spPr>
          <a:xfrm>
            <a:off x="566928" y="6035040"/>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각 사 실적발표 및 가이던스, FT·Tom's Hardware 집계(2026년), Goldman Sachs 장기 추정. 2026년 합산은 4사 가이던스 상단의 합이며(하단 합 6,100억$·중간값 6,675억$), 2025년 합산은 4사 개별 수치의 합(3,780억$)으로 정정</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3 · 가격</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메모리 대란 — 가격이 산업의 문법을 바꿨다</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18개월 연속 상승. 구형 제품이 신형보다 비싸지는 세대 역전까지 나타났다.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17</a:t>
            </a:r>
            <a:endParaRPr lang="en-US" sz="900" dirty="0"/>
          </a:p>
        </p:txBody>
      </p:sp>
      <p:graphicFrame>
        <p:nvGraphicFramePr>
          <p:cNvPr id="8" name="Chart 0" descr=""/>
          <p:cNvGraphicFramePr/>
          <p:nvPr/>
        </p:nvGraphicFramePr>
        <p:xfrm>
          <a:off x="566928" y="1627632"/>
          <a:ext cx="4114800" cy="24688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 y="4133088"/>
            <a:ext cx="4114800" cy="219456"/>
          </a:xfrm>
          <a:prstGeom prst="rect">
            <a:avLst/>
          </a:prstGeom>
          <a:noFill/>
          <a:ln/>
        </p:spPr>
        <p:txBody>
          <a:bodyPr wrap="square" lIns="0" tIns="0" rIns="0" bIns="0" rtlCol="0" anchor="ctr"/>
          <a:lstStyle/>
          <a:p>
            <a:pPr indent="0" marL="0">
              <a:buNone/>
            </a:pPr>
            <a:r>
              <a:rPr lang="en-US" sz="1000" dirty="0">
                <a:solidFill>
                  <a:srgbClr val="84888B"/>
                </a:solidFill>
                <a:latin typeface="Spoqa Han Sans Neo" pitchFamily="34" charset="0"/>
                <a:ea typeface="Spoqa Han Sans Neo" pitchFamily="34" charset="-122"/>
                <a:cs typeface="Spoqa Han Sans Neo" pitchFamily="34" charset="-120"/>
              </a:rPr>
              <a:t>범용 D램(DDR4 8Gb) 고정거래가격 — 6월 역대 최고 경신</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01768" y="1627632"/>
          <a:ext cx="6620256" cy="914400"/>
        </p:xfrm>
        <a:graphic>
          <a:graphicData uri="http://schemas.openxmlformats.org/drawingml/2006/table">
            <a:tbl>
              <a:tblPr/>
              <a:tblGrid>
                <a:gridCol w="2139696"/>
                <a:gridCol w="1280160"/>
                <a:gridCol w="1188720"/>
                <a:gridCol w="2011680"/>
              </a:tblGrid>
              <a:tr h="384048">
                <a:tc>
                  <a:txBody>
                    <a:bodyP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제품</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2026년 6월</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전월비</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비고</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84048">
                <a:tc>
                  <a:txBody>
                    <a:bodyPr/>
                    <a:lstStyle/>
                    <a:p>
                      <a:pPr algn="l" indent="0" marL="0">
                        <a:buNone/>
                      </a:pPr>
                      <a:r>
                        <a:rPr lang="en-US" sz="1050" dirty="0">
                          <a:solidFill>
                            <a:srgbClr val="3D3D3D"/>
                          </a:solidFill>
                          <a:latin typeface="Spoqa Han Sans Neo" pitchFamily="34" charset="0"/>
                          <a:ea typeface="Spoqa Han Sans Neo" pitchFamily="34" charset="-122"/>
                          <a:cs typeface="Spoqa Han Sans Neo" pitchFamily="34" charset="-120"/>
                        </a:rPr>
                        <a:t>DDR4 8Gb (고정가)</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21.0$</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+5%</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4월 16$ → 2개월 +31%</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D3D3D"/>
                          </a:solidFill>
                          <a:latin typeface="Spoqa Han Sans Neo" pitchFamily="34" charset="0"/>
                          <a:ea typeface="Spoqa Han Sans Neo" pitchFamily="34" charset="-122"/>
                          <a:cs typeface="Spoqa Han Sans Neo" pitchFamily="34" charset="-120"/>
                        </a:rPr>
                        <a:t>NAND 128Gb MLC</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28.82$</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+8.7%</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18개월 연속 상승</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84048">
                <a:tc>
                  <a:txBody>
                    <a:bodyPr/>
                    <a:lstStyle/>
                    <a:p>
                      <a:pPr algn="l" indent="0" marL="0">
                        <a:buNone/>
                      </a:pPr>
                      <a:r>
                        <a:rPr lang="en-US" sz="1050" dirty="0">
                          <a:solidFill>
                            <a:srgbClr val="3D3D3D"/>
                          </a:solidFill>
                          <a:latin typeface="Spoqa Han Sans Neo" pitchFamily="34" charset="0"/>
                          <a:ea typeface="Spoqa Han Sans Neo" pitchFamily="34" charset="-122"/>
                          <a:cs typeface="Spoqa Han Sans Neo" pitchFamily="34" charset="-120"/>
                        </a:rPr>
                        <a:t>SLC 낸드 (차량·산업)</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+28~31%</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한 달 급등</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A1A1A"/>
                          </a:solidFill>
                          <a:latin typeface="Spoqa Han Sans Neo" pitchFamily="34" charset="0"/>
                          <a:ea typeface="Spoqa Han Sans Neo" pitchFamily="34" charset="-122"/>
                          <a:cs typeface="Spoqa Han Sans Neo" pitchFamily="34" charset="-120"/>
                        </a:rPr>
                        <a:t>DDR4 16Gb (현물)</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74.63$</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50" b="1" dirty="0">
                          <a:solidFill>
                            <a:srgbClr val="1A1A1A"/>
                          </a:solidFill>
                          <a:latin typeface="Spoqa Han Sans Neo" pitchFamily="34" charset="0"/>
                          <a:ea typeface="Spoqa Han Sans Neo" pitchFamily="34" charset="-122"/>
                          <a:cs typeface="Spoqa Han Sans Neo" pitchFamily="34" charset="-120"/>
                        </a:rPr>
                        <a:t>DDR5(46.83$)보다 59% 높음</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r h="384048">
                <a:tc>
                  <a:txBody>
                    <a:bodyPr/>
                    <a:lstStyle/>
                    <a:p>
                      <a:pPr algn="l" indent="0" marL="0">
                        <a:buNone/>
                      </a:pPr>
                      <a:r>
                        <a:rPr lang="en-US" sz="1050" dirty="0">
                          <a:solidFill>
                            <a:srgbClr val="3D3D3D"/>
                          </a:solidFill>
                          <a:latin typeface="Spoqa Han Sans Neo" pitchFamily="34" charset="0"/>
                          <a:ea typeface="Spoqa Han Sans Neo" pitchFamily="34" charset="-122"/>
                          <a:cs typeface="Spoqa Han Sans Neo" pitchFamily="34" charset="-120"/>
                        </a:rPr>
                        <a:t>현물 vs 고정가</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+72%</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D3D3D"/>
                          </a:solidFill>
                          <a:latin typeface="Spoqa Han Sans Neo" pitchFamily="34" charset="0"/>
                          <a:ea typeface="Spoqa Han Sans Neo" pitchFamily="34" charset="-122"/>
                          <a:cs typeface="Spoqa Han Sans Neo" pitchFamily="34" charset="-120"/>
                        </a:rPr>
                        <a:t>협상력이 공급사 우위임을 시사</a:t>
                      </a:r>
                      <a:endParaRPr lang="en-US" sz="105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bl>
          </a:graphicData>
        </a:graphic>
      </p:graphicFrame>
      <p:sp>
        <p:nvSpPr>
          <p:cNvPr id="11" name="Shape 7"/>
          <p:cNvSpPr/>
          <p:nvPr/>
        </p:nvSpPr>
        <p:spPr>
          <a:xfrm>
            <a:off x="5001768" y="4041648"/>
            <a:ext cx="6620256" cy="1883664"/>
          </a:xfrm>
          <a:prstGeom prst="rect">
            <a:avLst/>
          </a:prstGeom>
          <a:solidFill>
            <a:srgbClr val="F7F8FA"/>
          </a:solidFill>
          <a:ln w="9525">
            <a:solidFill>
              <a:srgbClr val="CDCECB"/>
            </a:solidFill>
            <a:prstDash val="solid"/>
          </a:ln>
        </p:spPr>
      </p:sp>
      <p:sp>
        <p:nvSpPr>
          <p:cNvPr id="12" name="Text 8"/>
          <p:cNvSpPr/>
          <p:nvPr/>
        </p:nvSpPr>
        <p:spPr>
          <a:xfrm>
            <a:off x="5239512" y="4206240"/>
            <a:ext cx="6126480" cy="256032"/>
          </a:xfrm>
          <a:prstGeom prst="rect">
            <a:avLst/>
          </a:prstGeom>
          <a:noFill/>
          <a:ln/>
        </p:spPr>
        <p:txBody>
          <a:bodyPr wrap="square" lIns="0" tIns="0" rIns="0" bIns="0" rtlCol="0" anchor="ctr"/>
          <a:lstStyle/>
          <a:p>
            <a:pPr indent="0" marL="0">
              <a:buNone/>
            </a:pPr>
            <a:r>
              <a:rPr lang="en-US" sz="1250" b="1" dirty="0">
                <a:solidFill>
                  <a:srgbClr val="043B72"/>
                </a:solidFill>
                <a:latin typeface="Spoqa Han Sans Neo" pitchFamily="34" charset="0"/>
                <a:ea typeface="Spoqa Han Sans Neo" pitchFamily="34" charset="-122"/>
                <a:cs typeface="Spoqa Han Sans Neo" pitchFamily="34" charset="-120"/>
              </a:rPr>
              <a:t>왜 구형(DDR4)이 신형(DDR5)보다 비싸졌나 — 이번 사이클의 성격을 보여주는 단서</a:t>
            </a:r>
            <a:endParaRPr lang="en-US" sz="1250" dirty="0"/>
          </a:p>
        </p:txBody>
      </p:sp>
      <p:sp>
        <p:nvSpPr>
          <p:cNvPr id="13" name="Text 9"/>
          <p:cNvSpPr/>
          <p:nvPr/>
        </p:nvSpPr>
        <p:spPr>
          <a:xfrm>
            <a:off x="5239512" y="4498848"/>
            <a:ext cx="6126480" cy="1280160"/>
          </a:xfrm>
          <a:prstGeom prst="rect">
            <a:avLst/>
          </a:prstGeom>
          <a:noFill/>
          <a:ln/>
        </p:spPr>
        <p:txBody>
          <a:bodyPr wrap="square" lIns="0" tIns="0" rIns="0" bIns="0" rtlCol="0" anchor="ctr"/>
          <a:lstStyle/>
          <a:p>
            <a:pPr indent="0" marL="0">
              <a:lnSpc>
                <a:spcPct val="132000"/>
              </a:lnSpc>
              <a:buNone/>
            </a:pPr>
            <a:r>
              <a:rPr lang="en-US" sz="1080" dirty="0">
                <a:solidFill>
                  <a:srgbClr val="3D3D3D"/>
                </a:solidFill>
                <a:latin typeface="Spoqa Han Sans Neo" pitchFamily="34" charset="0"/>
                <a:ea typeface="Spoqa Han Sans Neo" pitchFamily="34" charset="-122"/>
                <a:cs typeface="Spoqa Han Sans Neo" pitchFamily="34" charset="-120"/>
              </a:rPr>
              <a:t>공급사들이 HBM과 선단 공정에 캐파를 집중하면서 구형 라인을 줄였다. 그런데 산업용 장비·차량용·통신 인프라 등은 여전히 DDR4를 필요로 한다. 수요는 남았는데 생산 라인이 사라진 것이다. 대만 디지타임스는 3분기 DDR4 8Gb 가격이 50% 이상 추가 상승할 수 있다고 보도했다.</a:t>
            </a:r>
            <a:endParaRPr lang="en-US" sz="1080" dirty="0"/>
          </a:p>
          <a:p>
            <a:pPr indent="0" marL="0">
              <a:lnSpc>
                <a:spcPct val="132000"/>
              </a:lnSpc>
              <a:buNone/>
            </a:pPr>
            <a:r>
              <a:rPr lang="en-US" sz="1080" dirty="0">
                <a:solidFill>
                  <a:srgbClr val="3D3D3D"/>
                </a:solidFill>
                <a:latin typeface="Spoqa Han Sans Neo" pitchFamily="34" charset="0"/>
                <a:ea typeface="Spoqa Han Sans Neo" pitchFamily="34" charset="-122"/>
                <a:cs typeface="Spoqa Han Sans Neo" pitchFamily="34" charset="-120"/>
              </a:rPr>
              <a:t>→ 이는 '수요가 과열됐다'는 신호가 아니라 '공급 구조가 재편되고 있다'는 신호로 읽어야 한다.</a:t>
            </a:r>
            <a:endParaRPr lang="en-US" sz="1080" dirty="0"/>
          </a:p>
        </p:txBody>
      </p:sp>
      <p:sp>
        <p:nvSpPr>
          <p:cNvPr id="14" name="Shape 10"/>
          <p:cNvSpPr/>
          <p:nvPr/>
        </p:nvSpPr>
        <p:spPr>
          <a:xfrm>
            <a:off x="566928" y="4480560"/>
            <a:ext cx="4114800" cy="1444752"/>
          </a:xfrm>
          <a:prstGeom prst="rect">
            <a:avLst/>
          </a:prstGeom>
          <a:solidFill>
            <a:srgbClr val="FFF3E8"/>
          </a:solidFill>
          <a:ln w="9525">
            <a:solidFill>
              <a:srgbClr val="FAB072"/>
            </a:solidFill>
            <a:prstDash val="solid"/>
          </a:ln>
        </p:spPr>
      </p:sp>
      <p:sp>
        <p:nvSpPr>
          <p:cNvPr id="15" name="Text 11"/>
          <p:cNvSpPr/>
          <p:nvPr/>
        </p:nvSpPr>
        <p:spPr>
          <a:xfrm>
            <a:off x="804672" y="4645152"/>
            <a:ext cx="3657600" cy="256032"/>
          </a:xfrm>
          <a:prstGeom prst="rect">
            <a:avLst/>
          </a:prstGeom>
          <a:noFill/>
          <a:ln/>
        </p:spPr>
        <p:txBody>
          <a:bodyPr wrap="square" lIns="0" tIns="0" rIns="0" bIns="0" rtlCol="0" anchor="ctr"/>
          <a:lstStyle/>
          <a:p>
            <a:pPr indent="0" marL="0">
              <a:buNone/>
            </a:pPr>
            <a:r>
              <a:rPr lang="en-US" sz="1250" b="1" dirty="0">
                <a:solidFill>
                  <a:srgbClr val="CB6015"/>
                </a:solidFill>
                <a:latin typeface="Spoqa Han Sans Neo" pitchFamily="34" charset="0"/>
                <a:ea typeface="Spoqa Han Sans Neo" pitchFamily="34" charset="-122"/>
                <a:cs typeface="Spoqa Han Sans Neo" pitchFamily="34" charset="-120"/>
              </a:rPr>
              <a:t>소비자·기업에게 전가되는 비용</a:t>
            </a:r>
            <a:endParaRPr lang="en-US" sz="1250" dirty="0"/>
          </a:p>
        </p:txBody>
      </p:sp>
      <p:sp>
        <p:nvSpPr>
          <p:cNvPr id="16" name="Text 12"/>
          <p:cNvSpPr/>
          <p:nvPr/>
        </p:nvSpPr>
        <p:spPr>
          <a:xfrm>
            <a:off x="804672" y="4937760"/>
            <a:ext cx="3657600" cy="877824"/>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30" dirty="0">
                <a:solidFill>
                  <a:srgbClr val="3D3D3D"/>
                </a:solidFill>
                <a:latin typeface="Spoqa Han Sans Neo" pitchFamily="34" charset="0"/>
                <a:ea typeface="Spoqa Han Sans Neo" pitchFamily="34" charset="-122"/>
                <a:cs typeface="Spoqa Han Sans Neo" pitchFamily="34" charset="-120"/>
              </a:rPr>
              <a:t>PC·노트북·스마트폰·SSD 가격 연쇄 인상</a:t>
            </a:r>
            <a:endParaRPr lang="en-US" sz="1030" dirty="0"/>
          </a:p>
          <a:p>
            <a:pPr marL="177800" indent="-177800">
              <a:lnSpc>
                <a:spcPct val="120000"/>
              </a:lnSpc>
              <a:spcAft>
                <a:spcPts val="700"/>
              </a:spcAft>
              <a:buSzPct val="100000"/>
              <a:buChar char="•"/>
            </a:pPr>
            <a:r>
              <a:rPr lang="en-US" sz="1030" dirty="0">
                <a:solidFill>
                  <a:srgbClr val="3D3D3D"/>
                </a:solidFill>
                <a:latin typeface="Spoqa Han Sans Neo" pitchFamily="34" charset="0"/>
                <a:ea typeface="Spoqa Han Sans Neo" pitchFamily="34" charset="-122"/>
                <a:cs typeface="Spoqa Han Sans Neo" pitchFamily="34" charset="-120"/>
              </a:rPr>
              <a:t>애플도 2026년 2분기 제품 가격 인상 발표</a:t>
            </a:r>
            <a:endParaRPr lang="en-US" sz="1030" dirty="0"/>
          </a:p>
          <a:p>
            <a:pPr marL="177800" indent="-177800">
              <a:lnSpc>
                <a:spcPct val="120000"/>
              </a:lnSpc>
              <a:spcAft>
                <a:spcPts val="700"/>
              </a:spcAft>
              <a:buSzPct val="100000"/>
              <a:buChar char="•"/>
            </a:pPr>
            <a:r>
              <a:rPr lang="en-US" sz="1030" dirty="0">
                <a:solidFill>
                  <a:srgbClr val="3D3D3D"/>
                </a:solidFill>
                <a:latin typeface="Spoqa Han Sans Neo" pitchFamily="34" charset="0"/>
                <a:ea typeface="Spoqa Han Sans Neo" pitchFamily="34" charset="-122"/>
                <a:cs typeface="Spoqa Han Sans Neo" pitchFamily="34" charset="-120"/>
              </a:rPr>
              <a:t>AI 서버 구축 비용 상승 → 최종 수요 위축 우려</a:t>
            </a:r>
            <a:endParaRPr lang="en-US" sz="1030" dirty="0"/>
          </a:p>
        </p:txBody>
      </p:sp>
      <p:sp>
        <p:nvSpPr>
          <p:cNvPr id="17" name="Text 13"/>
          <p:cNvSpPr/>
          <p:nvPr/>
        </p:nvSpPr>
        <p:spPr>
          <a:xfrm>
            <a:off x="566928" y="6089904"/>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TrendForce·DRAMeXchange(2026년 6월 기준), 서울경제·이포커스·디지타임스 보도 종합</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3 · 실적</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실적의 재정의 — 한 분기에 60조, 89조를 벌다</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SK하이닉스의 2분기 영업이익률 76%는 제조업에서 사실상 전례가 없는 수준이다.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18</a:t>
            </a:r>
            <a:endParaRPr lang="en-US" sz="900" dirty="0"/>
          </a:p>
        </p:txBody>
      </p:sp>
      <p:sp>
        <p:nvSpPr>
          <p:cNvPr id="8" name="Shape 6"/>
          <p:cNvSpPr/>
          <p:nvPr/>
        </p:nvSpPr>
        <p:spPr>
          <a:xfrm>
            <a:off x="566928" y="1572768"/>
            <a:ext cx="2627300" cy="1591056"/>
          </a:xfrm>
          <a:prstGeom prst="rect">
            <a:avLst/>
          </a:prstGeom>
          <a:solidFill>
            <a:srgbClr val="FFFFFF"/>
          </a:solidFill>
          <a:ln w="9525">
            <a:solidFill>
              <a:srgbClr val="CDCECB"/>
            </a:solidFill>
            <a:prstDash val="solid"/>
          </a:ln>
        </p:spPr>
      </p:sp>
      <p:sp>
        <p:nvSpPr>
          <p:cNvPr id="9" name="Text 7"/>
          <p:cNvSpPr/>
          <p:nvPr/>
        </p:nvSpPr>
        <p:spPr>
          <a:xfrm>
            <a:off x="76809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삼성전자 2Q26 매출</a:t>
            </a:r>
            <a:endParaRPr lang="en-US" sz="1050" dirty="0"/>
          </a:p>
        </p:txBody>
      </p:sp>
      <p:sp>
        <p:nvSpPr>
          <p:cNvPr id="10" name="Text 8"/>
          <p:cNvSpPr/>
          <p:nvPr/>
        </p:nvSpPr>
        <p:spPr>
          <a:xfrm>
            <a:off x="768096" y="1975104"/>
            <a:ext cx="2224964" cy="548640"/>
          </a:xfrm>
          <a:prstGeom prst="rect">
            <a:avLst/>
          </a:prstGeom>
          <a:noFill/>
          <a:ln/>
        </p:spPr>
        <p:txBody>
          <a:bodyPr wrap="square" lIns="0" tIns="0" rIns="0" bIns="0" rtlCol="0" anchor="ctr"/>
          <a:lstStyle/>
          <a:p>
            <a:pPr indent="0" marL="0">
              <a:buNone/>
            </a:pPr>
            <a:r>
              <a:rPr lang="en-US" sz="3000" b="1" dirty="0">
                <a:solidFill>
                  <a:srgbClr val="F58220"/>
                </a:solidFill>
                <a:latin typeface="Spoqa Han Sans Neo" pitchFamily="34" charset="0"/>
                <a:ea typeface="Spoqa Han Sans Neo" pitchFamily="34" charset="-122"/>
                <a:cs typeface="Spoqa Han Sans Neo" pitchFamily="34" charset="-120"/>
              </a:rPr>
              <a:t>171.5조원</a:t>
            </a:r>
            <a:endParaRPr lang="en-US" sz="3000" dirty="0"/>
          </a:p>
        </p:txBody>
      </p:sp>
      <p:sp>
        <p:nvSpPr>
          <p:cNvPr id="11" name="Text 9"/>
          <p:cNvSpPr/>
          <p:nvPr/>
        </p:nvSpPr>
        <p:spPr>
          <a:xfrm>
            <a:off x="768096" y="2596896"/>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전분기비 +28%</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전년동기비 +129%</a:t>
            </a:r>
            <a:endParaRPr lang="en-US" sz="1050" dirty="0"/>
          </a:p>
        </p:txBody>
      </p:sp>
      <p:sp>
        <p:nvSpPr>
          <p:cNvPr id="12" name="Shape 10"/>
          <p:cNvSpPr/>
          <p:nvPr/>
        </p:nvSpPr>
        <p:spPr>
          <a:xfrm>
            <a:off x="3377108" y="1572768"/>
            <a:ext cx="2627300" cy="1591056"/>
          </a:xfrm>
          <a:prstGeom prst="rect">
            <a:avLst/>
          </a:prstGeom>
          <a:solidFill>
            <a:srgbClr val="FFFFFF"/>
          </a:solidFill>
          <a:ln w="9525">
            <a:solidFill>
              <a:srgbClr val="CDCECB"/>
            </a:solidFill>
            <a:prstDash val="solid"/>
          </a:ln>
        </p:spPr>
      </p:sp>
      <p:sp>
        <p:nvSpPr>
          <p:cNvPr id="13" name="Text 11"/>
          <p:cNvSpPr/>
          <p:nvPr/>
        </p:nvSpPr>
        <p:spPr>
          <a:xfrm>
            <a:off x="357827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삼성전자 2Q26 영업이익</a:t>
            </a:r>
            <a:endParaRPr lang="en-US" sz="1050" dirty="0"/>
          </a:p>
        </p:txBody>
      </p:sp>
      <p:sp>
        <p:nvSpPr>
          <p:cNvPr id="14" name="Text 12"/>
          <p:cNvSpPr/>
          <p:nvPr/>
        </p:nvSpPr>
        <p:spPr>
          <a:xfrm>
            <a:off x="3578276" y="1975104"/>
            <a:ext cx="2224964" cy="548640"/>
          </a:xfrm>
          <a:prstGeom prst="rect">
            <a:avLst/>
          </a:prstGeom>
          <a:noFill/>
          <a:ln/>
        </p:spPr>
        <p:txBody>
          <a:bodyPr wrap="square" lIns="0" tIns="0" rIns="0" bIns="0" rtlCol="0" anchor="ctr"/>
          <a:lstStyle/>
          <a:p>
            <a:pPr indent="0" marL="0">
              <a:buNone/>
            </a:pPr>
            <a:r>
              <a:rPr lang="en-US" sz="3000" b="1" dirty="0">
                <a:solidFill>
                  <a:srgbClr val="F58220"/>
                </a:solidFill>
                <a:latin typeface="Spoqa Han Sans Neo" pitchFamily="34" charset="0"/>
                <a:ea typeface="Spoqa Han Sans Neo" pitchFamily="34" charset="-122"/>
                <a:cs typeface="Spoqa Han Sans Neo" pitchFamily="34" charset="-120"/>
              </a:rPr>
              <a:t>89.5조원</a:t>
            </a:r>
            <a:endParaRPr lang="en-US" sz="3000" dirty="0"/>
          </a:p>
        </p:txBody>
      </p:sp>
      <p:sp>
        <p:nvSpPr>
          <p:cNvPr id="15" name="Text 13"/>
          <p:cNvSpPr/>
          <p:nvPr/>
        </p:nvSpPr>
        <p:spPr>
          <a:xfrm>
            <a:off x="3578276" y="2596896"/>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전분기비 +56%</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전년동기비 +1,810%</a:t>
            </a:r>
            <a:endParaRPr lang="en-US" sz="1050" dirty="0"/>
          </a:p>
        </p:txBody>
      </p:sp>
      <p:sp>
        <p:nvSpPr>
          <p:cNvPr id="16" name="Shape 14"/>
          <p:cNvSpPr/>
          <p:nvPr/>
        </p:nvSpPr>
        <p:spPr>
          <a:xfrm>
            <a:off x="6187288" y="1572768"/>
            <a:ext cx="2627300" cy="1591056"/>
          </a:xfrm>
          <a:prstGeom prst="rect">
            <a:avLst/>
          </a:prstGeom>
          <a:solidFill>
            <a:srgbClr val="FFFFFF"/>
          </a:solidFill>
          <a:ln w="9525">
            <a:solidFill>
              <a:srgbClr val="CDCECB"/>
            </a:solidFill>
            <a:prstDash val="solid"/>
          </a:ln>
        </p:spPr>
      </p:sp>
      <p:sp>
        <p:nvSpPr>
          <p:cNvPr id="17" name="Text 15"/>
          <p:cNvSpPr/>
          <p:nvPr/>
        </p:nvSpPr>
        <p:spPr>
          <a:xfrm>
            <a:off x="638845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SK하이닉스 2Q26 매출</a:t>
            </a:r>
            <a:endParaRPr lang="en-US" sz="1050" dirty="0"/>
          </a:p>
        </p:txBody>
      </p:sp>
      <p:sp>
        <p:nvSpPr>
          <p:cNvPr id="18" name="Text 16"/>
          <p:cNvSpPr/>
          <p:nvPr/>
        </p:nvSpPr>
        <p:spPr>
          <a:xfrm>
            <a:off x="6388456" y="1975104"/>
            <a:ext cx="2224964" cy="548640"/>
          </a:xfrm>
          <a:prstGeom prst="rect">
            <a:avLst/>
          </a:prstGeom>
          <a:noFill/>
          <a:ln/>
        </p:spPr>
        <p:txBody>
          <a:bodyPr wrap="square" lIns="0" tIns="0" rIns="0" bIns="0" rtlCol="0" anchor="ctr"/>
          <a:lstStyle/>
          <a:p>
            <a:pPr indent="0" marL="0">
              <a:buNone/>
            </a:pPr>
            <a:r>
              <a:rPr lang="en-US" sz="3000" b="1" dirty="0">
                <a:solidFill>
                  <a:srgbClr val="043B72"/>
                </a:solidFill>
                <a:latin typeface="Spoqa Han Sans Neo" pitchFamily="34" charset="0"/>
                <a:ea typeface="Spoqa Han Sans Neo" pitchFamily="34" charset="-122"/>
                <a:cs typeface="Spoqa Han Sans Neo" pitchFamily="34" charset="-120"/>
              </a:rPr>
              <a:t>79.3조원</a:t>
            </a:r>
            <a:endParaRPr lang="en-US" sz="3000" dirty="0"/>
          </a:p>
        </p:txBody>
      </p:sp>
      <p:sp>
        <p:nvSpPr>
          <p:cNvPr id="19" name="Text 17"/>
          <p:cNvSpPr/>
          <p:nvPr/>
        </p:nvSpPr>
        <p:spPr>
          <a:xfrm>
            <a:off x="6388456" y="2596896"/>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전년동기비 +257%</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상반기 누적 100조 돌파</a:t>
            </a:r>
            <a:endParaRPr lang="en-US" sz="1050" dirty="0"/>
          </a:p>
        </p:txBody>
      </p:sp>
      <p:sp>
        <p:nvSpPr>
          <p:cNvPr id="20" name="Shape 18"/>
          <p:cNvSpPr/>
          <p:nvPr/>
        </p:nvSpPr>
        <p:spPr>
          <a:xfrm>
            <a:off x="8997467" y="1572768"/>
            <a:ext cx="2627300" cy="1591056"/>
          </a:xfrm>
          <a:prstGeom prst="rect">
            <a:avLst/>
          </a:prstGeom>
          <a:solidFill>
            <a:srgbClr val="FFFFFF"/>
          </a:solidFill>
          <a:ln w="9525">
            <a:solidFill>
              <a:srgbClr val="CDCECB"/>
            </a:solidFill>
            <a:prstDash val="solid"/>
          </a:ln>
        </p:spPr>
      </p:sp>
      <p:sp>
        <p:nvSpPr>
          <p:cNvPr id="21" name="Text 19"/>
          <p:cNvSpPr/>
          <p:nvPr/>
        </p:nvSpPr>
        <p:spPr>
          <a:xfrm>
            <a:off x="9198635"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SK하이닉스 영업이익</a:t>
            </a:r>
            <a:endParaRPr lang="en-US" sz="1050" dirty="0"/>
          </a:p>
        </p:txBody>
      </p:sp>
      <p:sp>
        <p:nvSpPr>
          <p:cNvPr id="22" name="Text 20"/>
          <p:cNvSpPr/>
          <p:nvPr/>
        </p:nvSpPr>
        <p:spPr>
          <a:xfrm>
            <a:off x="9198635" y="1975104"/>
            <a:ext cx="2224964" cy="548640"/>
          </a:xfrm>
          <a:prstGeom prst="rect">
            <a:avLst/>
          </a:prstGeom>
          <a:noFill/>
          <a:ln/>
        </p:spPr>
        <p:txBody>
          <a:bodyPr wrap="square" lIns="0" tIns="0" rIns="0" bIns="0" rtlCol="0" anchor="ctr"/>
          <a:lstStyle/>
          <a:p>
            <a:pPr indent="0" marL="0">
              <a:buNone/>
            </a:pPr>
            <a:r>
              <a:rPr lang="en-US" sz="3000" b="1" dirty="0">
                <a:solidFill>
                  <a:srgbClr val="043B72"/>
                </a:solidFill>
                <a:latin typeface="Spoqa Han Sans Neo" pitchFamily="34" charset="0"/>
                <a:ea typeface="Spoqa Han Sans Neo" pitchFamily="34" charset="-122"/>
                <a:cs typeface="Spoqa Han Sans Neo" pitchFamily="34" charset="-120"/>
              </a:rPr>
              <a:t>60.5조원</a:t>
            </a:r>
            <a:endParaRPr lang="en-US" sz="3000" dirty="0"/>
          </a:p>
        </p:txBody>
      </p:sp>
      <p:sp>
        <p:nvSpPr>
          <p:cNvPr id="23" name="Text 21"/>
          <p:cNvSpPr/>
          <p:nvPr/>
        </p:nvSpPr>
        <p:spPr>
          <a:xfrm>
            <a:off x="9198635" y="2596896"/>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영업이익률 76%</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전년동기비 +557%</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3401568"/>
          <a:ext cx="11057839" cy="914400"/>
        </p:xfrm>
        <a:graphic>
          <a:graphicData uri="http://schemas.openxmlformats.org/drawingml/2006/table">
            <a:tbl>
              <a:tblPr/>
              <a:tblGrid>
                <a:gridCol w="1645920"/>
                <a:gridCol w="2194560"/>
                <a:gridCol w="2194560"/>
                <a:gridCol w="2743200"/>
                <a:gridCol w="2279599"/>
              </a:tblGrid>
              <a:tr h="384048">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항목</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삼성전자</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SK하이닉스</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마이크론 (FY26 3Q)</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TSMC</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384048">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매출</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171.5조원</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79.3조원</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414.6억$ (약 64조원)</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1조 2,703억 TWD</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384048">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영업이익</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89.5조원</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60.5조원</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333.2억$ (GAAP)</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7,660억 TWD</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384048">
                <a:tc>
                  <a:txBody>
                    <a:bodyPr/>
                    <a:lstStyle/>
                    <a:p>
                      <a:pPr algn="l" indent="0" marL="0">
                        <a:buNone/>
                      </a:pPr>
                      <a:r>
                        <a:rPr lang="en-US" sz="1060" b="1" dirty="0">
                          <a:solidFill>
                            <a:srgbClr val="1A1A1A"/>
                          </a:solidFill>
                          <a:latin typeface="Spoqa Han Sans Neo" pitchFamily="34" charset="0"/>
                          <a:ea typeface="Spoqa Han Sans Neo" pitchFamily="34" charset="-122"/>
                          <a:cs typeface="Spoqa Han Sans Neo" pitchFamily="34" charset="-120"/>
                        </a:rPr>
                        <a:t>영업이익률</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60" b="1" dirty="0">
                          <a:solidFill>
                            <a:srgbClr val="1A1A1A"/>
                          </a:solidFill>
                          <a:latin typeface="Spoqa Han Sans Neo" pitchFamily="34" charset="0"/>
                          <a:ea typeface="Spoqa Han Sans Neo" pitchFamily="34" charset="-122"/>
                          <a:cs typeface="Spoqa Han Sans Neo" pitchFamily="34" charset="-120"/>
                        </a:rPr>
                        <a:t>52.2%</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60" b="1" dirty="0">
                          <a:solidFill>
                            <a:srgbClr val="1A1A1A"/>
                          </a:solidFill>
                          <a:latin typeface="Spoqa Han Sans Neo" pitchFamily="34" charset="0"/>
                          <a:ea typeface="Spoqa Han Sans Neo" pitchFamily="34" charset="-122"/>
                          <a:cs typeface="Spoqa Han Sans Neo" pitchFamily="34" charset="-120"/>
                        </a:rPr>
                        <a:t>76.3%</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60" b="1" dirty="0">
                          <a:solidFill>
                            <a:srgbClr val="1A1A1A"/>
                          </a:solidFill>
                          <a:latin typeface="Spoqa Han Sans Neo" pitchFamily="34" charset="0"/>
                          <a:ea typeface="Spoqa Han Sans Neo" pitchFamily="34" charset="-122"/>
                          <a:cs typeface="Spoqa Han Sans Neo" pitchFamily="34" charset="-120"/>
                        </a:rPr>
                        <a:t>80.4%</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ctr" indent="0" marL="0">
                        <a:buNone/>
                      </a:pPr>
                      <a:r>
                        <a:rPr lang="en-US" sz="1060" b="1" dirty="0">
                          <a:solidFill>
                            <a:srgbClr val="1A1A1A"/>
                          </a:solidFill>
                          <a:latin typeface="Spoqa Han Sans Neo" pitchFamily="34" charset="0"/>
                          <a:ea typeface="Spoqa Han Sans Neo" pitchFamily="34" charset="-122"/>
                          <a:cs typeface="Spoqa Han Sans Neo" pitchFamily="34" charset="-120"/>
                        </a:rPr>
                        <a:t>60.3%</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r h="384048">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기록</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역대 최대 매출·이익</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5개 분기 연속 최대 경신</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전년동기 대비 4배 이상</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ctr" indent="0" marL="0">
                        <a:buNone/>
                      </a:pPr>
                      <a:r>
                        <a:rPr lang="en-US" sz="1060" dirty="0">
                          <a:solidFill>
                            <a:srgbClr val="3D3D3D"/>
                          </a:solidFill>
                          <a:latin typeface="Spoqa Han Sans Neo" pitchFamily="34" charset="0"/>
                          <a:ea typeface="Spoqa Han Sans Neo" pitchFamily="34" charset="-122"/>
                          <a:cs typeface="Spoqa Han Sans Neo" pitchFamily="34" charset="-120"/>
                        </a:rPr>
                        <a:t>역대 최대 실적</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bl>
          </a:graphicData>
        </a:graphic>
      </p:graphicFrame>
      <p:sp>
        <p:nvSpPr>
          <p:cNvPr id="25" name="Shape 22"/>
          <p:cNvSpPr/>
          <p:nvPr/>
        </p:nvSpPr>
        <p:spPr>
          <a:xfrm>
            <a:off x="566928" y="5394960"/>
            <a:ext cx="11057839" cy="548640"/>
          </a:xfrm>
          <a:prstGeom prst="rect">
            <a:avLst/>
          </a:prstGeom>
          <a:solidFill>
            <a:srgbClr val="ECEFF4"/>
          </a:solidFill>
          <a:ln w="9525">
            <a:solidFill>
              <a:srgbClr val="CDCECB"/>
            </a:solidFill>
            <a:prstDash val="solid"/>
          </a:ln>
        </p:spPr>
      </p:sp>
      <p:sp>
        <p:nvSpPr>
          <p:cNvPr id="26" name="Text 23"/>
          <p:cNvSpPr/>
          <p:nvPr/>
        </p:nvSpPr>
        <p:spPr>
          <a:xfrm>
            <a:off x="841248" y="5394960"/>
            <a:ext cx="10509199" cy="548640"/>
          </a:xfrm>
          <a:prstGeom prst="rect">
            <a:avLst/>
          </a:prstGeom>
          <a:noFill/>
          <a:ln/>
        </p:spPr>
        <p:txBody>
          <a:bodyPr wrap="square" lIns="0" tIns="0" rIns="0" bIns="0" rtlCol="0" anchor="ctr"/>
          <a:lstStyle/>
          <a:p>
            <a:pPr indent="0" marL="0">
              <a:lnSpc>
                <a:spcPct val="125000"/>
              </a:lnSpc>
              <a:buNone/>
            </a:pPr>
            <a:r>
              <a:rPr lang="en-US" sz="1100" dirty="0">
                <a:solidFill>
                  <a:srgbClr val="3D3D3D"/>
                </a:solidFill>
                <a:latin typeface="Spoqa Han Sans Neo" pitchFamily="34" charset="0"/>
                <a:ea typeface="Spoqa Han Sans Neo" pitchFamily="34" charset="-122"/>
                <a:cs typeface="Spoqa Han Sans Neo" pitchFamily="34" charset="-120"/>
              </a:rPr>
              <a:t>숫자 읽기의 함정  SK하이닉스 2분기 순이익 93.9조 원(순이익률 118%)에는 투자자산 매각·평가이익 63.3조 원과 외환이익 1.1조 원 등 일회성 영업외이익이 크게 반영됐다. 영업이익(60.5조 원)과 순이익을 구분해서 보아야 한다.</a:t>
            </a:r>
            <a:endParaRPr lang="en-US" sz="1100" dirty="0"/>
          </a:p>
        </p:txBody>
      </p:sp>
      <p:sp>
        <p:nvSpPr>
          <p:cNvPr id="27" name="Text 24"/>
          <p:cNvSpPr/>
          <p:nvPr/>
        </p:nvSpPr>
        <p:spPr>
          <a:xfrm>
            <a:off x="566928" y="6089904"/>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각 사 2026년 2분기 실적발표. 삼성전자 2분기 영업이익은 반도체 성과급 충당금 제외 시 106조원 이상으로 추산(언론 보도)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3 · HBM</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HBM 전쟁 — 6세대(HBM4)에서 판이 다시 짜인다</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SK하이닉스의 독점 구도에 삼성전자가 세계 최초 양산 출하로 파고들었다. 엔비디아는 공급사 다변화를 원한다.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19</a:t>
            </a:r>
            <a:endParaRPr lang="en-US" sz="900" dirty="0"/>
          </a:p>
        </p:txBody>
      </p:sp>
      <p:sp>
        <p:nvSpPr>
          <p:cNvPr id="8" name="Shape 6"/>
          <p:cNvSpPr/>
          <p:nvPr/>
        </p:nvSpPr>
        <p:spPr>
          <a:xfrm>
            <a:off x="566928" y="1591056"/>
            <a:ext cx="2641016" cy="2011680"/>
          </a:xfrm>
          <a:prstGeom prst="rect">
            <a:avLst/>
          </a:prstGeom>
          <a:solidFill>
            <a:srgbClr val="FFFFFF"/>
          </a:solidFill>
          <a:ln w="9525">
            <a:solidFill>
              <a:srgbClr val="CDCECB"/>
            </a:solidFill>
            <a:prstDash val="solid"/>
          </a:ln>
        </p:spPr>
      </p:sp>
      <p:sp>
        <p:nvSpPr>
          <p:cNvPr id="9" name="Shape 7"/>
          <p:cNvSpPr/>
          <p:nvPr/>
        </p:nvSpPr>
        <p:spPr>
          <a:xfrm>
            <a:off x="566928" y="1591056"/>
            <a:ext cx="2641016" cy="329184"/>
          </a:xfrm>
          <a:prstGeom prst="rect">
            <a:avLst/>
          </a:prstGeom>
          <a:solidFill>
            <a:srgbClr val="84888B"/>
          </a:solidFill>
          <a:ln w="12700">
            <a:solidFill>
              <a:srgbClr val="333333"/>
            </a:solidFill>
            <a:prstDash val="solid"/>
          </a:ln>
        </p:spPr>
      </p:sp>
      <p:sp>
        <p:nvSpPr>
          <p:cNvPr id="10" name="Text 8"/>
          <p:cNvSpPr/>
          <p:nvPr/>
        </p:nvSpPr>
        <p:spPr>
          <a:xfrm>
            <a:off x="566928" y="1591056"/>
            <a:ext cx="2641016"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HBM3E</a:t>
            </a:r>
            <a:endParaRPr lang="en-US" sz="1300" dirty="0"/>
          </a:p>
        </p:txBody>
      </p:sp>
      <p:sp>
        <p:nvSpPr>
          <p:cNvPr id="11" name="Text 9"/>
          <p:cNvSpPr/>
          <p:nvPr/>
        </p:nvSpPr>
        <p:spPr>
          <a:xfrm>
            <a:off x="768096" y="2011680"/>
            <a:ext cx="2238680" cy="237744"/>
          </a:xfrm>
          <a:prstGeom prst="rect">
            <a:avLst/>
          </a:prstGeom>
          <a:noFill/>
          <a:ln/>
        </p:spPr>
        <p:txBody>
          <a:bodyPr wrap="square" lIns="0" tIns="0" rIns="0" bIns="0" rtlCol="0" anchor="ctr"/>
          <a:lstStyle/>
          <a:p>
            <a:pPr indent="0" marL="0">
              <a:buNone/>
            </a:pPr>
            <a:r>
              <a:rPr lang="en-US" sz="1150" b="1" dirty="0">
                <a:solidFill>
                  <a:srgbClr val="84888B"/>
                </a:solidFill>
                <a:latin typeface="Spoqa Han Sans Neo" pitchFamily="34" charset="0"/>
                <a:ea typeface="Spoqa Han Sans Neo" pitchFamily="34" charset="-122"/>
                <a:cs typeface="Spoqa Han Sans Neo" pitchFamily="34" charset="-120"/>
              </a:rPr>
              <a:t>2024~2025</a:t>
            </a:r>
            <a:endParaRPr lang="en-US" sz="1150" dirty="0"/>
          </a:p>
        </p:txBody>
      </p:sp>
      <p:sp>
        <p:nvSpPr>
          <p:cNvPr id="12" name="Text 10"/>
          <p:cNvSpPr/>
          <p:nvPr/>
        </p:nvSpPr>
        <p:spPr>
          <a:xfrm>
            <a:off x="768096" y="2286000"/>
            <a:ext cx="2238680" cy="530352"/>
          </a:xfrm>
          <a:prstGeom prst="rect">
            <a:avLst/>
          </a:prstGeom>
          <a:noFill/>
          <a:ln/>
        </p:spPr>
        <p:txBody>
          <a:bodyPr wrap="square" lIns="0" tIns="0" rIns="0" bIns="0" rtlCol="0" anchor="ctr"/>
          <a:lstStyle/>
          <a:p>
            <a:pPr indent="0" marL="0">
              <a:lnSpc>
                <a:spcPct val="125000"/>
              </a:lnSpc>
              <a:buNone/>
            </a:pPr>
            <a:r>
              <a:rPr lang="en-US" sz="1050" dirty="0">
                <a:solidFill>
                  <a:srgbClr val="1A1A1A"/>
                </a:solidFill>
                <a:latin typeface="Spoqa Han Sans Neo" pitchFamily="34" charset="0"/>
                <a:ea typeface="Spoqa Han Sans Neo" pitchFamily="34" charset="-122"/>
                <a:cs typeface="Spoqa Han Sans Neo" pitchFamily="34" charset="-120"/>
              </a:rPr>
              <a:t>8·12단 · 1.2TB/s급</a:t>
            </a:r>
            <a:endParaRPr lang="en-US" sz="1050" dirty="0"/>
          </a:p>
        </p:txBody>
      </p:sp>
      <p:sp>
        <p:nvSpPr>
          <p:cNvPr id="13" name="Shape 11"/>
          <p:cNvSpPr/>
          <p:nvPr/>
        </p:nvSpPr>
        <p:spPr>
          <a:xfrm>
            <a:off x="768096" y="2852928"/>
            <a:ext cx="2238680" cy="7315"/>
          </a:xfrm>
          <a:prstGeom prst="rect">
            <a:avLst/>
          </a:prstGeom>
          <a:solidFill>
            <a:srgbClr val="E5E4E1"/>
          </a:solidFill>
          <a:ln w="12700">
            <a:solidFill>
              <a:srgbClr val="333333"/>
            </a:solidFill>
            <a:prstDash val="solid"/>
          </a:ln>
        </p:spPr>
      </p:sp>
      <p:sp>
        <p:nvSpPr>
          <p:cNvPr id="14" name="Text 12"/>
          <p:cNvSpPr/>
          <p:nvPr/>
        </p:nvSpPr>
        <p:spPr>
          <a:xfrm>
            <a:off x="768096" y="2926080"/>
            <a:ext cx="2238680" cy="585216"/>
          </a:xfrm>
          <a:prstGeom prst="rect">
            <a:avLst/>
          </a:prstGeom>
          <a:noFill/>
          <a:ln/>
        </p:spPr>
        <p:txBody>
          <a:bodyPr wrap="square" lIns="0" tIns="0" rIns="0" bIns="0" rtlCol="0" anchor="ctr"/>
          <a:lstStyle/>
          <a:p>
            <a:pPr indent="0" marL="0">
              <a:lnSpc>
                <a:spcPct val="128000"/>
              </a:lnSpc>
              <a:buNone/>
            </a:pPr>
            <a:r>
              <a:rPr lang="en-US" sz="1030" dirty="0">
                <a:solidFill>
                  <a:srgbClr val="3D3D3D"/>
                </a:solidFill>
                <a:latin typeface="Spoqa Han Sans Neo" pitchFamily="34" charset="0"/>
                <a:ea typeface="Spoqa Han Sans Neo" pitchFamily="34" charset="-122"/>
                <a:cs typeface="Spoqa Han Sans Neo" pitchFamily="34" charset="-120"/>
              </a:rPr>
              <a:t>현재 단기 실적을 견인</a:t>
            </a:r>
            <a:endParaRPr lang="en-US" sz="1030" dirty="0"/>
          </a:p>
        </p:txBody>
      </p:sp>
      <p:sp>
        <p:nvSpPr>
          <p:cNvPr id="15" name="Shape 13"/>
          <p:cNvSpPr/>
          <p:nvPr/>
        </p:nvSpPr>
        <p:spPr>
          <a:xfrm>
            <a:off x="3372536" y="1591056"/>
            <a:ext cx="2641016" cy="2011680"/>
          </a:xfrm>
          <a:prstGeom prst="rect">
            <a:avLst/>
          </a:prstGeom>
          <a:solidFill>
            <a:srgbClr val="FFF3E8"/>
          </a:solidFill>
          <a:ln w="9525">
            <a:solidFill>
              <a:srgbClr val="FAB072"/>
            </a:solidFill>
            <a:prstDash val="solid"/>
          </a:ln>
        </p:spPr>
      </p:sp>
      <p:sp>
        <p:nvSpPr>
          <p:cNvPr id="16" name="Shape 14"/>
          <p:cNvSpPr/>
          <p:nvPr/>
        </p:nvSpPr>
        <p:spPr>
          <a:xfrm>
            <a:off x="3372536" y="1591056"/>
            <a:ext cx="2641016" cy="329184"/>
          </a:xfrm>
          <a:prstGeom prst="rect">
            <a:avLst/>
          </a:prstGeom>
          <a:solidFill>
            <a:srgbClr val="F58220"/>
          </a:solidFill>
          <a:ln w="12700">
            <a:solidFill>
              <a:srgbClr val="333333"/>
            </a:solidFill>
            <a:prstDash val="solid"/>
          </a:ln>
        </p:spPr>
      </p:sp>
      <p:sp>
        <p:nvSpPr>
          <p:cNvPr id="17" name="Text 15"/>
          <p:cNvSpPr/>
          <p:nvPr/>
        </p:nvSpPr>
        <p:spPr>
          <a:xfrm>
            <a:off x="3372536" y="1591056"/>
            <a:ext cx="2641016"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HBM4</a:t>
            </a:r>
            <a:endParaRPr lang="en-US" sz="1300" dirty="0"/>
          </a:p>
        </p:txBody>
      </p:sp>
      <p:sp>
        <p:nvSpPr>
          <p:cNvPr id="18" name="Text 16"/>
          <p:cNvSpPr/>
          <p:nvPr/>
        </p:nvSpPr>
        <p:spPr>
          <a:xfrm>
            <a:off x="3573704" y="2011680"/>
            <a:ext cx="2238680" cy="237744"/>
          </a:xfrm>
          <a:prstGeom prst="rect">
            <a:avLst/>
          </a:prstGeom>
          <a:noFill/>
          <a:ln/>
        </p:spPr>
        <p:txBody>
          <a:bodyPr wrap="square" lIns="0" tIns="0" rIns="0" bIns="0" rtlCol="0" anchor="ctr"/>
          <a:lstStyle/>
          <a:p>
            <a:pPr indent="0" marL="0">
              <a:buNone/>
            </a:pPr>
            <a:r>
              <a:rPr lang="en-US" sz="1150" b="1" dirty="0">
                <a:solidFill>
                  <a:srgbClr val="F58220"/>
                </a:solidFill>
                <a:latin typeface="Spoqa Han Sans Neo" pitchFamily="34" charset="0"/>
                <a:ea typeface="Spoqa Han Sans Neo" pitchFamily="34" charset="-122"/>
                <a:cs typeface="Spoqa Han Sans Neo" pitchFamily="34" charset="-120"/>
              </a:rPr>
              <a:t>2026년</a:t>
            </a:r>
            <a:endParaRPr lang="en-US" sz="1150" dirty="0"/>
          </a:p>
        </p:txBody>
      </p:sp>
      <p:sp>
        <p:nvSpPr>
          <p:cNvPr id="19" name="Text 17"/>
          <p:cNvSpPr/>
          <p:nvPr/>
        </p:nvSpPr>
        <p:spPr>
          <a:xfrm>
            <a:off x="3573704" y="2286000"/>
            <a:ext cx="2238680" cy="530352"/>
          </a:xfrm>
          <a:prstGeom prst="rect">
            <a:avLst/>
          </a:prstGeom>
          <a:noFill/>
          <a:ln/>
        </p:spPr>
        <p:txBody>
          <a:bodyPr wrap="square" lIns="0" tIns="0" rIns="0" bIns="0" rtlCol="0" anchor="ctr"/>
          <a:lstStyle/>
          <a:p>
            <a:pPr indent="0" marL="0">
              <a:lnSpc>
                <a:spcPct val="125000"/>
              </a:lnSpc>
              <a:buNone/>
            </a:pPr>
            <a:r>
              <a:rPr lang="en-US" sz="1050" dirty="0">
                <a:solidFill>
                  <a:srgbClr val="1A1A1A"/>
                </a:solidFill>
                <a:latin typeface="Spoqa Han Sans Neo" pitchFamily="34" charset="0"/>
                <a:ea typeface="Spoqa Han Sans Neo" pitchFamily="34" charset="-122"/>
                <a:cs typeface="Spoqa Han Sans Neo" pitchFamily="34" charset="-120"/>
              </a:rPr>
              <a:t>12·16단 · 3.0TB/s 이상</a:t>
            </a:r>
            <a:endParaRPr lang="en-US" sz="1050" dirty="0"/>
          </a:p>
          <a:p>
            <a:pPr indent="0" marL="0">
              <a:lnSpc>
                <a:spcPct val="125000"/>
              </a:lnSpc>
              <a:buNone/>
            </a:pPr>
            <a:r>
              <a:rPr lang="en-US" sz="1050" dirty="0">
                <a:solidFill>
                  <a:srgbClr val="1A1A1A"/>
                </a:solidFill>
                <a:latin typeface="Spoqa Han Sans Neo" pitchFamily="34" charset="0"/>
                <a:ea typeface="Spoqa Han Sans Neo" pitchFamily="34" charset="-122"/>
                <a:cs typeface="Spoqa Han Sans Neo" pitchFamily="34" charset="-120"/>
              </a:rPr>
              <a:t>핀당 11Gbps 이상</a:t>
            </a:r>
            <a:endParaRPr lang="en-US" sz="1050" dirty="0"/>
          </a:p>
        </p:txBody>
      </p:sp>
      <p:sp>
        <p:nvSpPr>
          <p:cNvPr id="20" name="Shape 18"/>
          <p:cNvSpPr/>
          <p:nvPr/>
        </p:nvSpPr>
        <p:spPr>
          <a:xfrm>
            <a:off x="3573704" y="2852928"/>
            <a:ext cx="2238680" cy="7315"/>
          </a:xfrm>
          <a:prstGeom prst="rect">
            <a:avLst/>
          </a:prstGeom>
          <a:solidFill>
            <a:srgbClr val="E5E4E1"/>
          </a:solidFill>
          <a:ln w="12700">
            <a:solidFill>
              <a:srgbClr val="333333"/>
            </a:solidFill>
            <a:prstDash val="solid"/>
          </a:ln>
        </p:spPr>
      </p:sp>
      <p:sp>
        <p:nvSpPr>
          <p:cNvPr id="21" name="Text 19"/>
          <p:cNvSpPr/>
          <p:nvPr/>
        </p:nvSpPr>
        <p:spPr>
          <a:xfrm>
            <a:off x="3573704" y="2926080"/>
            <a:ext cx="2238680" cy="585216"/>
          </a:xfrm>
          <a:prstGeom prst="rect">
            <a:avLst/>
          </a:prstGeom>
          <a:noFill/>
          <a:ln/>
        </p:spPr>
        <p:txBody>
          <a:bodyPr wrap="square" lIns="0" tIns="0" rIns="0" bIns="0" rtlCol="0" anchor="ctr"/>
          <a:lstStyle/>
          <a:p>
            <a:pPr indent="0" marL="0">
              <a:lnSpc>
                <a:spcPct val="128000"/>
              </a:lnSpc>
              <a:buNone/>
            </a:pPr>
            <a:r>
              <a:rPr lang="en-US" sz="1030" dirty="0">
                <a:solidFill>
                  <a:srgbClr val="3D3D3D"/>
                </a:solidFill>
                <a:latin typeface="Spoqa Han Sans Neo" pitchFamily="34" charset="0"/>
                <a:ea typeface="Spoqa Han Sans Neo" pitchFamily="34" charset="-122"/>
                <a:cs typeface="Spoqa Han Sans Neo" pitchFamily="34" charset="-120"/>
              </a:rPr>
              <a:t>베라 루빈·MI400 탑재</a:t>
            </a:r>
            <a:endParaRPr lang="en-US" sz="1030" dirty="0"/>
          </a:p>
          <a:p>
            <a:pPr indent="0" marL="0">
              <a:lnSpc>
                <a:spcPct val="128000"/>
              </a:lnSpc>
              <a:buNone/>
            </a:pPr>
            <a:r>
              <a:rPr lang="en-US" sz="1030" dirty="0">
                <a:solidFill>
                  <a:srgbClr val="3D3D3D"/>
                </a:solidFill>
                <a:latin typeface="Spoqa Han Sans Neo" pitchFamily="34" charset="0"/>
                <a:ea typeface="Spoqa Han Sans Neo" pitchFamily="34" charset="-122"/>
                <a:cs typeface="Spoqa Han Sans Neo" pitchFamily="34" charset="-120"/>
              </a:rPr>
              <a:t>2026년 2월 양산 출하 개시</a:t>
            </a:r>
            <a:endParaRPr lang="en-US" sz="1030" dirty="0"/>
          </a:p>
        </p:txBody>
      </p:sp>
      <p:sp>
        <p:nvSpPr>
          <p:cNvPr id="22" name="Shape 20"/>
          <p:cNvSpPr/>
          <p:nvPr/>
        </p:nvSpPr>
        <p:spPr>
          <a:xfrm>
            <a:off x="6178144" y="1591056"/>
            <a:ext cx="2641016" cy="2011680"/>
          </a:xfrm>
          <a:prstGeom prst="rect">
            <a:avLst/>
          </a:prstGeom>
          <a:solidFill>
            <a:srgbClr val="FFFFFF"/>
          </a:solidFill>
          <a:ln w="9525">
            <a:solidFill>
              <a:srgbClr val="CDCECB"/>
            </a:solidFill>
            <a:prstDash val="solid"/>
          </a:ln>
        </p:spPr>
      </p:sp>
      <p:sp>
        <p:nvSpPr>
          <p:cNvPr id="23" name="Shape 21"/>
          <p:cNvSpPr/>
          <p:nvPr/>
        </p:nvSpPr>
        <p:spPr>
          <a:xfrm>
            <a:off x="6178144" y="1591056"/>
            <a:ext cx="2641016" cy="329184"/>
          </a:xfrm>
          <a:prstGeom prst="rect">
            <a:avLst/>
          </a:prstGeom>
          <a:solidFill>
            <a:srgbClr val="043B72"/>
          </a:solidFill>
          <a:ln w="12700">
            <a:solidFill>
              <a:srgbClr val="333333"/>
            </a:solidFill>
            <a:prstDash val="solid"/>
          </a:ln>
        </p:spPr>
      </p:sp>
      <p:sp>
        <p:nvSpPr>
          <p:cNvPr id="24" name="Text 22"/>
          <p:cNvSpPr/>
          <p:nvPr/>
        </p:nvSpPr>
        <p:spPr>
          <a:xfrm>
            <a:off x="6178144" y="1591056"/>
            <a:ext cx="2641016"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HBM4E</a:t>
            </a:r>
            <a:endParaRPr lang="en-US" sz="1300" dirty="0"/>
          </a:p>
        </p:txBody>
      </p:sp>
      <p:sp>
        <p:nvSpPr>
          <p:cNvPr id="25" name="Text 23"/>
          <p:cNvSpPr/>
          <p:nvPr/>
        </p:nvSpPr>
        <p:spPr>
          <a:xfrm>
            <a:off x="6379312" y="2011680"/>
            <a:ext cx="2238680" cy="237744"/>
          </a:xfrm>
          <a:prstGeom prst="rect">
            <a:avLst/>
          </a:prstGeom>
          <a:noFill/>
          <a:ln/>
        </p:spPr>
        <p:txBody>
          <a:bodyPr wrap="square" lIns="0" tIns="0" rIns="0" bIns="0" rtlCol="0" anchor="ctr"/>
          <a:lstStyle/>
          <a:p>
            <a:pPr indent="0" marL="0">
              <a:buNone/>
            </a:pPr>
            <a:r>
              <a:rPr lang="en-US" sz="1150" b="1" dirty="0">
                <a:solidFill>
                  <a:srgbClr val="043B72"/>
                </a:solidFill>
                <a:latin typeface="Spoqa Han Sans Neo" pitchFamily="34" charset="0"/>
                <a:ea typeface="Spoqa Han Sans Neo" pitchFamily="34" charset="-122"/>
                <a:cs typeface="Spoqa Han Sans Neo" pitchFamily="34" charset="-120"/>
              </a:rPr>
              <a:t>2027년~</a:t>
            </a:r>
            <a:endParaRPr lang="en-US" sz="1150" dirty="0"/>
          </a:p>
        </p:txBody>
      </p:sp>
      <p:sp>
        <p:nvSpPr>
          <p:cNvPr id="26" name="Text 24"/>
          <p:cNvSpPr/>
          <p:nvPr/>
        </p:nvSpPr>
        <p:spPr>
          <a:xfrm>
            <a:off x="6379312" y="2286000"/>
            <a:ext cx="2238680" cy="530352"/>
          </a:xfrm>
          <a:prstGeom prst="rect">
            <a:avLst/>
          </a:prstGeom>
          <a:noFill/>
          <a:ln/>
        </p:spPr>
        <p:txBody>
          <a:bodyPr wrap="square" lIns="0" tIns="0" rIns="0" bIns="0" rtlCol="0" anchor="ctr"/>
          <a:lstStyle/>
          <a:p>
            <a:pPr indent="0" marL="0">
              <a:lnSpc>
                <a:spcPct val="125000"/>
              </a:lnSpc>
              <a:buNone/>
            </a:pPr>
            <a:r>
              <a:rPr lang="en-US" sz="1050" dirty="0">
                <a:solidFill>
                  <a:srgbClr val="1A1A1A"/>
                </a:solidFill>
                <a:latin typeface="Spoqa Han Sans Neo" pitchFamily="34" charset="0"/>
                <a:ea typeface="Spoqa Han Sans Neo" pitchFamily="34" charset="-122"/>
                <a:cs typeface="Spoqa Han Sans Neo" pitchFamily="34" charset="-120"/>
              </a:rPr>
              <a:t>핀당 16Gbps · 4.0TB/s</a:t>
            </a:r>
            <a:endParaRPr lang="en-US" sz="1050" dirty="0"/>
          </a:p>
        </p:txBody>
      </p:sp>
      <p:sp>
        <p:nvSpPr>
          <p:cNvPr id="27" name="Shape 25"/>
          <p:cNvSpPr/>
          <p:nvPr/>
        </p:nvSpPr>
        <p:spPr>
          <a:xfrm>
            <a:off x="6379312" y="2852928"/>
            <a:ext cx="2238680" cy="7315"/>
          </a:xfrm>
          <a:prstGeom prst="rect">
            <a:avLst/>
          </a:prstGeom>
          <a:solidFill>
            <a:srgbClr val="E5E4E1"/>
          </a:solidFill>
          <a:ln w="12700">
            <a:solidFill>
              <a:srgbClr val="333333"/>
            </a:solidFill>
            <a:prstDash val="solid"/>
          </a:ln>
        </p:spPr>
      </p:sp>
      <p:sp>
        <p:nvSpPr>
          <p:cNvPr id="28" name="Text 26"/>
          <p:cNvSpPr/>
          <p:nvPr/>
        </p:nvSpPr>
        <p:spPr>
          <a:xfrm>
            <a:off x="6379312" y="2926080"/>
            <a:ext cx="2238680" cy="585216"/>
          </a:xfrm>
          <a:prstGeom prst="rect">
            <a:avLst/>
          </a:prstGeom>
          <a:noFill/>
          <a:ln/>
        </p:spPr>
        <p:txBody>
          <a:bodyPr wrap="square" lIns="0" tIns="0" rIns="0" bIns="0" rtlCol="0" anchor="ctr"/>
          <a:lstStyle/>
          <a:p>
            <a:pPr indent="0" marL="0">
              <a:lnSpc>
                <a:spcPct val="128000"/>
              </a:lnSpc>
              <a:buNone/>
            </a:pPr>
            <a:r>
              <a:rPr lang="en-US" sz="1030" dirty="0">
                <a:solidFill>
                  <a:srgbClr val="3D3D3D"/>
                </a:solidFill>
                <a:latin typeface="Spoqa Han Sans Neo" pitchFamily="34" charset="0"/>
                <a:ea typeface="Spoqa Han Sans Neo" pitchFamily="34" charset="-122"/>
                <a:cs typeface="Spoqa Han Sans Neo" pitchFamily="34" charset="-120"/>
              </a:rPr>
              <a:t>GTC 2026에서 실물 첫 공개</a:t>
            </a:r>
            <a:endParaRPr lang="en-US" sz="1030" dirty="0"/>
          </a:p>
          <a:p>
            <a:pPr indent="0" marL="0">
              <a:lnSpc>
                <a:spcPct val="128000"/>
              </a:lnSpc>
              <a:buNone/>
            </a:pPr>
            <a:r>
              <a:rPr lang="en-US" sz="1030" dirty="0">
                <a:solidFill>
                  <a:srgbClr val="3D3D3D"/>
                </a:solidFill>
                <a:latin typeface="Spoqa Han Sans Neo" pitchFamily="34" charset="0"/>
                <a:ea typeface="Spoqa Han Sans Neo" pitchFamily="34" charset="-122"/>
                <a:cs typeface="Spoqa Han Sans Neo" pitchFamily="34" charset="-120"/>
              </a:rPr>
              <a:t>커스텀 베이스다이 경쟁</a:t>
            </a:r>
            <a:endParaRPr lang="en-US" sz="1030" dirty="0"/>
          </a:p>
        </p:txBody>
      </p:sp>
      <p:sp>
        <p:nvSpPr>
          <p:cNvPr id="29" name="Shape 27"/>
          <p:cNvSpPr/>
          <p:nvPr/>
        </p:nvSpPr>
        <p:spPr>
          <a:xfrm>
            <a:off x="8983751" y="1591056"/>
            <a:ext cx="2641016" cy="2011680"/>
          </a:xfrm>
          <a:prstGeom prst="rect">
            <a:avLst/>
          </a:prstGeom>
          <a:solidFill>
            <a:srgbClr val="FFFFFF"/>
          </a:solidFill>
          <a:ln w="9525">
            <a:solidFill>
              <a:srgbClr val="CDCECB"/>
            </a:solidFill>
            <a:prstDash val="solid"/>
          </a:ln>
        </p:spPr>
      </p:sp>
      <p:sp>
        <p:nvSpPr>
          <p:cNvPr id="30" name="Shape 28"/>
          <p:cNvSpPr/>
          <p:nvPr/>
        </p:nvSpPr>
        <p:spPr>
          <a:xfrm>
            <a:off x="8983751" y="1591056"/>
            <a:ext cx="2641016" cy="329184"/>
          </a:xfrm>
          <a:prstGeom prst="rect">
            <a:avLst/>
          </a:prstGeom>
          <a:solidFill>
            <a:srgbClr val="84888B"/>
          </a:solidFill>
          <a:ln w="12700">
            <a:solidFill>
              <a:srgbClr val="333333"/>
            </a:solidFill>
            <a:prstDash val="solid"/>
          </a:ln>
        </p:spPr>
      </p:sp>
      <p:sp>
        <p:nvSpPr>
          <p:cNvPr id="31" name="Text 29"/>
          <p:cNvSpPr/>
          <p:nvPr/>
        </p:nvSpPr>
        <p:spPr>
          <a:xfrm>
            <a:off x="8983751" y="1591056"/>
            <a:ext cx="2641016"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Spoqa Han Sans Neo" pitchFamily="34" charset="0"/>
                <a:ea typeface="Spoqa Han Sans Neo" pitchFamily="34" charset="-122"/>
                <a:cs typeface="Spoqa Han Sans Neo" pitchFamily="34" charset="-120"/>
              </a:rPr>
              <a:t>HBF</a:t>
            </a:r>
            <a:endParaRPr lang="en-US" sz="1300" dirty="0"/>
          </a:p>
        </p:txBody>
      </p:sp>
      <p:sp>
        <p:nvSpPr>
          <p:cNvPr id="32" name="Text 30"/>
          <p:cNvSpPr/>
          <p:nvPr/>
        </p:nvSpPr>
        <p:spPr>
          <a:xfrm>
            <a:off x="9184919" y="2011680"/>
            <a:ext cx="2238680" cy="237744"/>
          </a:xfrm>
          <a:prstGeom prst="rect">
            <a:avLst/>
          </a:prstGeom>
          <a:noFill/>
          <a:ln/>
        </p:spPr>
        <p:txBody>
          <a:bodyPr wrap="square" lIns="0" tIns="0" rIns="0" bIns="0" rtlCol="0" anchor="ctr"/>
          <a:lstStyle/>
          <a:p>
            <a:pPr indent="0" marL="0">
              <a:buNone/>
            </a:pPr>
            <a:r>
              <a:rPr lang="en-US" sz="1150" b="1" dirty="0">
                <a:solidFill>
                  <a:srgbClr val="84888B"/>
                </a:solidFill>
                <a:latin typeface="Spoqa Han Sans Neo" pitchFamily="34" charset="0"/>
                <a:ea typeface="Spoqa Han Sans Neo" pitchFamily="34" charset="-122"/>
                <a:cs typeface="Spoqa Han Sans Neo" pitchFamily="34" charset="-120"/>
              </a:rPr>
              <a:t>2030년 전후</a:t>
            </a:r>
            <a:endParaRPr lang="en-US" sz="1150" dirty="0"/>
          </a:p>
        </p:txBody>
      </p:sp>
      <p:sp>
        <p:nvSpPr>
          <p:cNvPr id="33" name="Text 31"/>
          <p:cNvSpPr/>
          <p:nvPr/>
        </p:nvSpPr>
        <p:spPr>
          <a:xfrm>
            <a:off x="9184919" y="2286000"/>
            <a:ext cx="2238680" cy="530352"/>
          </a:xfrm>
          <a:prstGeom prst="rect">
            <a:avLst/>
          </a:prstGeom>
          <a:noFill/>
          <a:ln/>
        </p:spPr>
        <p:txBody>
          <a:bodyPr wrap="square" lIns="0" tIns="0" rIns="0" bIns="0" rtlCol="0" anchor="ctr"/>
          <a:lstStyle/>
          <a:p>
            <a:pPr indent="0" marL="0">
              <a:lnSpc>
                <a:spcPct val="125000"/>
              </a:lnSpc>
              <a:buNone/>
            </a:pPr>
            <a:r>
              <a:rPr lang="en-US" sz="1050" dirty="0">
                <a:solidFill>
                  <a:srgbClr val="1A1A1A"/>
                </a:solidFill>
                <a:latin typeface="Spoqa Han Sans Neo" pitchFamily="34" charset="0"/>
                <a:ea typeface="Spoqa Han Sans Neo" pitchFamily="34" charset="-122"/>
                <a:cs typeface="Spoqa Han Sans Neo" pitchFamily="34" charset="-120"/>
              </a:rPr>
              <a:t>낸드 기반 고대역폭 저장</a:t>
            </a:r>
            <a:endParaRPr lang="en-US" sz="1050" dirty="0"/>
          </a:p>
        </p:txBody>
      </p:sp>
      <p:sp>
        <p:nvSpPr>
          <p:cNvPr id="34" name="Shape 32"/>
          <p:cNvSpPr/>
          <p:nvPr/>
        </p:nvSpPr>
        <p:spPr>
          <a:xfrm>
            <a:off x="9184919" y="2852928"/>
            <a:ext cx="2238680" cy="7315"/>
          </a:xfrm>
          <a:prstGeom prst="rect">
            <a:avLst/>
          </a:prstGeom>
          <a:solidFill>
            <a:srgbClr val="E5E4E1"/>
          </a:solidFill>
          <a:ln w="12700">
            <a:solidFill>
              <a:srgbClr val="333333"/>
            </a:solidFill>
            <a:prstDash val="solid"/>
          </a:ln>
        </p:spPr>
      </p:sp>
      <p:sp>
        <p:nvSpPr>
          <p:cNvPr id="35" name="Text 33"/>
          <p:cNvSpPr/>
          <p:nvPr/>
        </p:nvSpPr>
        <p:spPr>
          <a:xfrm>
            <a:off x="9184919" y="2926080"/>
            <a:ext cx="2238680" cy="585216"/>
          </a:xfrm>
          <a:prstGeom prst="rect">
            <a:avLst/>
          </a:prstGeom>
          <a:noFill/>
          <a:ln/>
        </p:spPr>
        <p:txBody>
          <a:bodyPr wrap="square" lIns="0" tIns="0" rIns="0" bIns="0" rtlCol="0" anchor="ctr"/>
          <a:lstStyle/>
          <a:p>
            <a:pPr indent="0" marL="0">
              <a:lnSpc>
                <a:spcPct val="128000"/>
              </a:lnSpc>
              <a:buNone/>
            </a:pPr>
            <a:r>
              <a:rPr lang="en-US" sz="1030" dirty="0">
                <a:solidFill>
                  <a:srgbClr val="3D3D3D"/>
                </a:solidFill>
                <a:latin typeface="Spoqa Han Sans Neo" pitchFamily="34" charset="0"/>
                <a:ea typeface="Spoqa Han Sans Neo" pitchFamily="34" charset="-122"/>
                <a:cs typeface="Spoqa Han Sans Neo" pitchFamily="34" charset="-120"/>
              </a:rPr>
              <a:t>SK하이닉스·샌디스크 OCP 표준화</a:t>
            </a:r>
            <a:endParaRPr lang="en-US" sz="1030" dirty="0"/>
          </a:p>
          <a:p>
            <a:pPr indent="0" marL="0">
              <a:lnSpc>
                <a:spcPct val="128000"/>
              </a:lnSpc>
              <a:buNone/>
            </a:pPr>
            <a:r>
              <a:rPr lang="en-US" sz="1030" dirty="0">
                <a:solidFill>
                  <a:srgbClr val="3D3D3D"/>
                </a:solidFill>
                <a:latin typeface="Spoqa Han Sans Neo" pitchFamily="34" charset="0"/>
                <a:ea typeface="Spoqa Han Sans Neo" pitchFamily="34" charset="-122"/>
                <a:cs typeface="Spoqa Han Sans Neo" pitchFamily="34" charset="-120"/>
              </a:rPr>
              <a:t>2026년 하반기 첫 샘플</a:t>
            </a:r>
            <a:endParaRPr lang="en-US" sz="1030" dirty="0"/>
          </a:p>
        </p:txBody>
      </p:sp>
      <p:sp>
        <p:nvSpPr>
          <p:cNvPr id="36" name="Text 34"/>
          <p:cNvSpPr/>
          <p:nvPr/>
        </p:nvSpPr>
        <p:spPr>
          <a:xfrm>
            <a:off x="566928" y="3712464"/>
            <a:ext cx="548640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3사 포지션 (2026년 8월 현재)</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4005072"/>
          <a:ext cx="11057839" cy="914400"/>
        </p:xfrm>
        <a:graphic>
          <a:graphicData uri="http://schemas.openxmlformats.org/drawingml/2006/table">
            <a:tbl>
              <a:tblPr/>
              <a:tblGrid>
                <a:gridCol w="1554480"/>
                <a:gridCol w="1828800"/>
                <a:gridCol w="3931920"/>
                <a:gridCol w="3742639"/>
              </a:tblGrid>
              <a:tr h="475488">
                <a:tc>
                  <a:txBody>
                    <a:bodyPr/>
                    <a:lstStyle/>
                    <a:p>
                      <a:pPr indent="0" marL="0">
                        <a:buNone/>
                      </a:pP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현재 위치</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HBM4 상황</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관전 포인트</a:t>
                      </a:r>
                      <a:endParaRPr lang="en-US" sz="108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475488">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SK하이닉스</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HBM 시장 선도</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2025년 9월 개발 완료 · 2026년 2월 양산. CES 2026서 16단 48GB·2TB/s 최초 공개</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엔비디아 HBM4 물량 약 2/3 배정 전망. 루빈 감산에 맞춘 공급량 20~30% 조정 추진</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475488">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삼성전자</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점유율 회복 국면</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2026년 2월 세계 최초 양산 출하(1c D램·11.7Gbps). GTC 2026서 HBM4E 실물 공개</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메모리+파운드리+패키징 턴키 제안. HBM 점유율 30%대 회복 전망(Counterpoint)</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475488">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마이크론</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물량 전략</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2026년 HBM4 생산 캐파 전량 선계약 소화</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3D3D"/>
                          </a:solidFill>
                          <a:latin typeface="Spoqa Han Sans Neo" pitchFamily="34" charset="0"/>
                          <a:ea typeface="Spoqa Han Sans Neo" pitchFamily="34" charset="-122"/>
                          <a:cs typeface="Spoqa Han Sans Neo" pitchFamily="34" charset="-120"/>
                        </a:rPr>
                        <a:t>약 200억 달러 설비투자로 전용 캐파 확대</a:t>
                      </a:r>
                      <a:endParaRPr lang="en-US" sz="10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bl>
          </a:graphicData>
        </a:graphic>
      </p:graphicFrame>
      <p:sp>
        <p:nvSpPr>
          <p:cNvPr id="38" name="Text 35"/>
          <p:cNvSpPr/>
          <p:nvPr/>
        </p:nvSpPr>
        <p:spPr>
          <a:xfrm>
            <a:off x="566928" y="6035040"/>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각 사 발표 및 CES/GTC 2026, TrendForce, Counterpoint Research, UBS, 언론 보도 종합</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3 · 병목</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병목의 이동 — GPU에서 메모리로, 그리고 전력으로</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AI 인프라의 한계를 결정하는 요소가 계속 바뀐다. 지금 어디가 막혀 있는지가 곧 투자 지도다.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20</a:t>
            </a:r>
            <a:endParaRPr lang="en-US" sz="900" dirty="0"/>
          </a:p>
        </p:txBody>
      </p:sp>
      <p:sp>
        <p:nvSpPr>
          <p:cNvPr id="8" name="Shape 6"/>
          <p:cNvSpPr/>
          <p:nvPr/>
        </p:nvSpPr>
        <p:spPr>
          <a:xfrm>
            <a:off x="566928" y="1591056"/>
            <a:ext cx="11057839" cy="1060704"/>
          </a:xfrm>
          <a:prstGeom prst="rect">
            <a:avLst/>
          </a:prstGeom>
          <a:solidFill>
            <a:srgbClr val="FFFFFF"/>
          </a:solidFill>
          <a:ln w="9525">
            <a:solidFill>
              <a:srgbClr val="CDCECB"/>
            </a:solidFill>
            <a:prstDash val="solid"/>
          </a:ln>
        </p:spPr>
      </p:sp>
      <p:sp>
        <p:nvSpPr>
          <p:cNvPr id="9" name="Shape 7"/>
          <p:cNvSpPr/>
          <p:nvPr/>
        </p:nvSpPr>
        <p:spPr>
          <a:xfrm>
            <a:off x="566928" y="1591056"/>
            <a:ext cx="1463040" cy="1060704"/>
          </a:xfrm>
          <a:prstGeom prst="rect">
            <a:avLst/>
          </a:prstGeom>
          <a:solidFill>
            <a:srgbClr val="84888B"/>
          </a:solidFill>
          <a:ln w="12700">
            <a:solidFill>
              <a:srgbClr val="333333"/>
            </a:solidFill>
            <a:prstDash val="solid"/>
          </a:ln>
        </p:spPr>
      </p:sp>
      <p:sp>
        <p:nvSpPr>
          <p:cNvPr id="10" name="Text 8"/>
          <p:cNvSpPr/>
          <p:nvPr/>
        </p:nvSpPr>
        <p:spPr>
          <a:xfrm>
            <a:off x="566928" y="1755648"/>
            <a:ext cx="1463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2023~2024</a:t>
            </a:r>
            <a:endParaRPr lang="en-US" sz="1200" dirty="0"/>
          </a:p>
        </p:txBody>
      </p:sp>
      <p:sp>
        <p:nvSpPr>
          <p:cNvPr id="11" name="Text 9"/>
          <p:cNvSpPr/>
          <p:nvPr/>
        </p:nvSpPr>
        <p:spPr>
          <a:xfrm>
            <a:off x="566928" y="2121408"/>
            <a:ext cx="1463040" cy="219456"/>
          </a:xfrm>
          <a:prstGeom prst="rect">
            <a:avLst/>
          </a:prstGeom>
          <a:noFill/>
          <a:ln/>
        </p:spPr>
        <p:txBody>
          <a:bodyPr wrap="square" lIns="0" tIns="0" rIns="0" bIns="0" rtlCol="0" anchor="ctr"/>
          <a:lstStyle/>
          <a:p>
            <a:pPr algn="ctr" indent="0" marL="0">
              <a:buNone/>
            </a:pPr>
            <a:r>
              <a:rPr lang="en-US" sz="900" spc="100" kern="0" dirty="0">
                <a:solidFill>
                  <a:srgbClr val="FFFFFF"/>
                </a:solidFill>
                <a:latin typeface="Spoqa Han Sans Neo" pitchFamily="34" charset="0"/>
                <a:ea typeface="Spoqa Han Sans Neo" pitchFamily="34" charset="-122"/>
                <a:cs typeface="Spoqa Han Sans Neo" pitchFamily="34" charset="-120"/>
              </a:rPr>
              <a:t>STAGE 1</a:t>
            </a:r>
            <a:endParaRPr lang="en-US" sz="900" dirty="0"/>
          </a:p>
        </p:txBody>
      </p:sp>
      <p:sp>
        <p:nvSpPr>
          <p:cNvPr id="12" name="Text 10"/>
          <p:cNvSpPr/>
          <p:nvPr/>
        </p:nvSpPr>
        <p:spPr>
          <a:xfrm>
            <a:off x="2267712" y="1737360"/>
            <a:ext cx="3840480" cy="292608"/>
          </a:xfrm>
          <a:prstGeom prst="rect">
            <a:avLst/>
          </a:prstGeom>
          <a:noFill/>
          <a:ln/>
        </p:spPr>
        <p:txBody>
          <a:bodyPr wrap="square" lIns="0" tIns="0" rIns="0" bIns="0" rtlCol="0" anchor="ctr"/>
          <a:lstStyle/>
          <a:p>
            <a:pPr indent="0" marL="0">
              <a:buNone/>
            </a:pPr>
            <a:r>
              <a:rPr lang="en-US" sz="1600" b="1" dirty="0">
                <a:solidFill>
                  <a:srgbClr val="6C6C6C"/>
                </a:solidFill>
                <a:latin typeface="Spoqa Han Sans Neo" pitchFamily="34" charset="0"/>
                <a:ea typeface="Spoqa Han Sans Neo" pitchFamily="34" charset="-122"/>
                <a:cs typeface="Spoqa Han Sans Neo" pitchFamily="34" charset="-120"/>
              </a:rPr>
              <a:t>GPU 병목</a:t>
            </a:r>
            <a:endParaRPr lang="en-US" sz="1600" dirty="0"/>
          </a:p>
        </p:txBody>
      </p:sp>
      <p:sp>
        <p:nvSpPr>
          <p:cNvPr id="13" name="Text 11"/>
          <p:cNvSpPr/>
          <p:nvPr/>
        </p:nvSpPr>
        <p:spPr>
          <a:xfrm>
            <a:off x="2267712" y="2066544"/>
            <a:ext cx="6035040" cy="493776"/>
          </a:xfrm>
          <a:prstGeom prst="rect">
            <a:avLst/>
          </a:prstGeom>
          <a:noFill/>
          <a:ln/>
        </p:spPr>
        <p:txBody>
          <a:bodyPr wrap="square" lIns="0" tIns="0" rIns="0" bIns="0" rtlCol="0" anchor="ctr"/>
          <a:lstStyle/>
          <a:p>
            <a:pPr indent="0" marL="0">
              <a:lnSpc>
                <a:spcPct val="130000"/>
              </a:lnSpc>
              <a:buNone/>
            </a:pPr>
            <a:r>
              <a:rPr lang="en-US" sz="1100" dirty="0">
                <a:solidFill>
                  <a:srgbClr val="3D3D3D"/>
                </a:solidFill>
                <a:latin typeface="Spoqa Han Sans Neo" pitchFamily="34" charset="0"/>
                <a:ea typeface="Spoqa Han Sans Neo" pitchFamily="34" charset="-122"/>
                <a:cs typeface="Spoqa Han Sans Neo" pitchFamily="34" charset="-120"/>
              </a:rPr>
              <a:t>엔비디아 H100/H200 물량 확보 경쟁. GPU를 구하는 것이 전부였던 시기.</a:t>
            </a:r>
            <a:endParaRPr lang="en-US" sz="1100" dirty="0"/>
          </a:p>
        </p:txBody>
      </p:sp>
      <p:sp>
        <p:nvSpPr>
          <p:cNvPr id="14" name="Text 12"/>
          <p:cNvSpPr/>
          <p:nvPr/>
        </p:nvSpPr>
        <p:spPr>
          <a:xfrm>
            <a:off x="8522208" y="1591056"/>
            <a:ext cx="3017520" cy="1060704"/>
          </a:xfrm>
          <a:prstGeom prst="rect">
            <a:avLst/>
          </a:prstGeom>
          <a:noFill/>
          <a:ln/>
        </p:spPr>
        <p:txBody>
          <a:bodyPr wrap="square" lIns="0" tIns="0" rIns="0" bIns="0" rtlCol="0" anchor="ctr"/>
          <a:lstStyle/>
          <a:p>
            <a:pPr indent="0" marL="0">
              <a:lnSpc>
                <a:spcPct val="125000"/>
              </a:lnSpc>
              <a:buNone/>
            </a:pPr>
            <a:r>
              <a:rPr lang="en-US" sz="1100" b="1" dirty="0">
                <a:solidFill>
                  <a:srgbClr val="043B72"/>
                </a:solidFill>
                <a:latin typeface="Spoqa Han Sans Neo" pitchFamily="34" charset="0"/>
                <a:ea typeface="Spoqa Han Sans Neo" pitchFamily="34" charset="-122"/>
                <a:cs typeface="Spoqa Han Sans Neo" pitchFamily="34" charset="-120"/>
              </a:rPr>
              <a:t>수혜: 엔비디아 · TSMC</a:t>
            </a:r>
            <a:endParaRPr lang="en-US" sz="1100" dirty="0"/>
          </a:p>
        </p:txBody>
      </p:sp>
      <p:sp>
        <p:nvSpPr>
          <p:cNvPr id="15" name="Shape 13"/>
          <p:cNvSpPr/>
          <p:nvPr/>
        </p:nvSpPr>
        <p:spPr>
          <a:xfrm>
            <a:off x="566928" y="2743200"/>
            <a:ext cx="11057839" cy="1060704"/>
          </a:xfrm>
          <a:prstGeom prst="rect">
            <a:avLst/>
          </a:prstGeom>
          <a:solidFill>
            <a:srgbClr val="FFF3E8"/>
          </a:solidFill>
          <a:ln w="9525">
            <a:solidFill>
              <a:srgbClr val="FAB072"/>
            </a:solidFill>
            <a:prstDash val="solid"/>
          </a:ln>
        </p:spPr>
      </p:sp>
      <p:sp>
        <p:nvSpPr>
          <p:cNvPr id="16" name="Shape 14"/>
          <p:cNvSpPr/>
          <p:nvPr/>
        </p:nvSpPr>
        <p:spPr>
          <a:xfrm>
            <a:off x="566928" y="2743200"/>
            <a:ext cx="1463040" cy="1060704"/>
          </a:xfrm>
          <a:prstGeom prst="rect">
            <a:avLst/>
          </a:prstGeom>
          <a:solidFill>
            <a:srgbClr val="F58220"/>
          </a:solidFill>
          <a:ln w="12700">
            <a:solidFill>
              <a:srgbClr val="333333"/>
            </a:solidFill>
            <a:prstDash val="solid"/>
          </a:ln>
        </p:spPr>
      </p:sp>
      <p:sp>
        <p:nvSpPr>
          <p:cNvPr id="17" name="Text 15"/>
          <p:cNvSpPr/>
          <p:nvPr/>
        </p:nvSpPr>
        <p:spPr>
          <a:xfrm>
            <a:off x="566928" y="2907792"/>
            <a:ext cx="1463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2025~2026</a:t>
            </a:r>
            <a:endParaRPr lang="en-US" sz="1200" dirty="0"/>
          </a:p>
        </p:txBody>
      </p:sp>
      <p:sp>
        <p:nvSpPr>
          <p:cNvPr id="18" name="Text 16"/>
          <p:cNvSpPr/>
          <p:nvPr/>
        </p:nvSpPr>
        <p:spPr>
          <a:xfrm>
            <a:off x="566928" y="3273552"/>
            <a:ext cx="1463040" cy="219456"/>
          </a:xfrm>
          <a:prstGeom prst="rect">
            <a:avLst/>
          </a:prstGeom>
          <a:noFill/>
          <a:ln/>
        </p:spPr>
        <p:txBody>
          <a:bodyPr wrap="square" lIns="0" tIns="0" rIns="0" bIns="0" rtlCol="0" anchor="ctr"/>
          <a:lstStyle/>
          <a:p>
            <a:pPr algn="ctr" indent="0" marL="0">
              <a:buNone/>
            </a:pPr>
            <a:r>
              <a:rPr lang="en-US" sz="900" spc="100" kern="0" dirty="0">
                <a:solidFill>
                  <a:srgbClr val="FFFFFF"/>
                </a:solidFill>
                <a:latin typeface="Spoqa Han Sans Neo" pitchFamily="34" charset="0"/>
                <a:ea typeface="Spoqa Han Sans Neo" pitchFamily="34" charset="-122"/>
                <a:cs typeface="Spoqa Han Sans Neo" pitchFamily="34" charset="-120"/>
              </a:rPr>
              <a:t>STAGE 2</a:t>
            </a:r>
            <a:endParaRPr lang="en-US" sz="900" dirty="0"/>
          </a:p>
        </p:txBody>
      </p:sp>
      <p:sp>
        <p:nvSpPr>
          <p:cNvPr id="19" name="Text 17"/>
          <p:cNvSpPr/>
          <p:nvPr/>
        </p:nvSpPr>
        <p:spPr>
          <a:xfrm>
            <a:off x="2267712" y="2889504"/>
            <a:ext cx="3840480" cy="292608"/>
          </a:xfrm>
          <a:prstGeom prst="rect">
            <a:avLst/>
          </a:prstGeom>
          <a:noFill/>
          <a:ln/>
        </p:spPr>
        <p:txBody>
          <a:bodyPr wrap="square" lIns="0" tIns="0" rIns="0" bIns="0" rtlCol="0" anchor="ctr"/>
          <a:lstStyle/>
          <a:p>
            <a:pPr indent="0" marL="0">
              <a:buNone/>
            </a:pPr>
            <a:r>
              <a:rPr lang="en-US" sz="1600" b="1" dirty="0">
                <a:solidFill>
                  <a:srgbClr val="F58220"/>
                </a:solidFill>
                <a:latin typeface="Spoqa Han Sans Neo" pitchFamily="34" charset="0"/>
                <a:ea typeface="Spoqa Han Sans Neo" pitchFamily="34" charset="-122"/>
                <a:cs typeface="Spoqa Han Sans Neo" pitchFamily="34" charset="-120"/>
              </a:rPr>
              <a:t>메모리 병목</a:t>
            </a:r>
            <a:endParaRPr lang="en-US" sz="1600" dirty="0"/>
          </a:p>
        </p:txBody>
      </p:sp>
      <p:sp>
        <p:nvSpPr>
          <p:cNvPr id="20" name="Text 18"/>
          <p:cNvSpPr/>
          <p:nvPr/>
        </p:nvSpPr>
        <p:spPr>
          <a:xfrm>
            <a:off x="2267712" y="3218688"/>
            <a:ext cx="6035040" cy="493776"/>
          </a:xfrm>
          <a:prstGeom prst="rect">
            <a:avLst/>
          </a:prstGeom>
          <a:noFill/>
          <a:ln/>
        </p:spPr>
        <p:txBody>
          <a:bodyPr wrap="square" lIns="0" tIns="0" rIns="0" bIns="0" rtlCol="0" anchor="ctr"/>
          <a:lstStyle/>
          <a:p>
            <a:pPr indent="0" marL="0">
              <a:lnSpc>
                <a:spcPct val="130000"/>
              </a:lnSpc>
              <a:buNone/>
            </a:pPr>
            <a:r>
              <a:rPr lang="en-US" sz="1100" dirty="0">
                <a:solidFill>
                  <a:srgbClr val="3D3D3D"/>
                </a:solidFill>
                <a:latin typeface="Spoqa Han Sans Neo" pitchFamily="34" charset="0"/>
                <a:ea typeface="Spoqa Han Sans Neo" pitchFamily="34" charset="-122"/>
                <a:cs typeface="Spoqa Han Sans Neo" pitchFamily="34" charset="-120"/>
              </a:rPr>
              <a:t>GPU를 만들 수 있어도 HBM이 없으면 출하가 안 된다. 엔비디아가 루빈 생산 목표를 200만 대에서 150만 대로 25% 하향한 사건이 상징적.</a:t>
            </a:r>
            <a:endParaRPr lang="en-US" sz="1100" dirty="0"/>
          </a:p>
        </p:txBody>
      </p:sp>
      <p:sp>
        <p:nvSpPr>
          <p:cNvPr id="21" name="Text 19"/>
          <p:cNvSpPr/>
          <p:nvPr/>
        </p:nvSpPr>
        <p:spPr>
          <a:xfrm>
            <a:off x="8522208" y="2743200"/>
            <a:ext cx="3017520" cy="1060704"/>
          </a:xfrm>
          <a:prstGeom prst="rect">
            <a:avLst/>
          </a:prstGeom>
          <a:noFill/>
          <a:ln/>
        </p:spPr>
        <p:txBody>
          <a:bodyPr wrap="square" lIns="0" tIns="0" rIns="0" bIns="0" rtlCol="0" anchor="ctr"/>
          <a:lstStyle/>
          <a:p>
            <a:pPr indent="0" marL="0">
              <a:lnSpc>
                <a:spcPct val="125000"/>
              </a:lnSpc>
              <a:buNone/>
            </a:pPr>
            <a:r>
              <a:rPr lang="en-US" sz="1100" b="1" dirty="0">
                <a:solidFill>
                  <a:srgbClr val="043B72"/>
                </a:solidFill>
                <a:latin typeface="Spoqa Han Sans Neo" pitchFamily="34" charset="0"/>
                <a:ea typeface="Spoqa Han Sans Neo" pitchFamily="34" charset="-122"/>
                <a:cs typeface="Spoqa Han Sans Neo" pitchFamily="34" charset="-120"/>
              </a:rPr>
              <a:t>수혜: SK하이닉스 · 삼성전자 · 마이크론</a:t>
            </a:r>
            <a:endParaRPr lang="en-US" sz="1100" dirty="0"/>
          </a:p>
        </p:txBody>
      </p:sp>
      <p:sp>
        <p:nvSpPr>
          <p:cNvPr id="22" name="Shape 20"/>
          <p:cNvSpPr/>
          <p:nvPr/>
        </p:nvSpPr>
        <p:spPr>
          <a:xfrm>
            <a:off x="566928" y="3895344"/>
            <a:ext cx="11057839" cy="1060704"/>
          </a:xfrm>
          <a:prstGeom prst="rect">
            <a:avLst/>
          </a:prstGeom>
          <a:solidFill>
            <a:srgbClr val="FFFFFF"/>
          </a:solidFill>
          <a:ln w="9525">
            <a:solidFill>
              <a:srgbClr val="CDCECB"/>
            </a:solidFill>
            <a:prstDash val="solid"/>
          </a:ln>
        </p:spPr>
      </p:sp>
      <p:sp>
        <p:nvSpPr>
          <p:cNvPr id="23" name="Shape 21"/>
          <p:cNvSpPr/>
          <p:nvPr/>
        </p:nvSpPr>
        <p:spPr>
          <a:xfrm>
            <a:off x="566928" y="3895344"/>
            <a:ext cx="1463040" cy="1060704"/>
          </a:xfrm>
          <a:prstGeom prst="rect">
            <a:avLst/>
          </a:prstGeom>
          <a:solidFill>
            <a:srgbClr val="043B72"/>
          </a:solidFill>
          <a:ln w="12700">
            <a:solidFill>
              <a:srgbClr val="333333"/>
            </a:solidFill>
            <a:prstDash val="solid"/>
          </a:ln>
        </p:spPr>
      </p:sp>
      <p:sp>
        <p:nvSpPr>
          <p:cNvPr id="24" name="Text 22"/>
          <p:cNvSpPr/>
          <p:nvPr/>
        </p:nvSpPr>
        <p:spPr>
          <a:xfrm>
            <a:off x="566928" y="4059936"/>
            <a:ext cx="1463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2026~</a:t>
            </a:r>
            <a:endParaRPr lang="en-US" sz="1200" dirty="0"/>
          </a:p>
        </p:txBody>
      </p:sp>
      <p:sp>
        <p:nvSpPr>
          <p:cNvPr id="25" name="Text 23"/>
          <p:cNvSpPr/>
          <p:nvPr/>
        </p:nvSpPr>
        <p:spPr>
          <a:xfrm>
            <a:off x="566928" y="4425696"/>
            <a:ext cx="1463040" cy="219456"/>
          </a:xfrm>
          <a:prstGeom prst="rect">
            <a:avLst/>
          </a:prstGeom>
          <a:noFill/>
          <a:ln/>
        </p:spPr>
        <p:txBody>
          <a:bodyPr wrap="square" lIns="0" tIns="0" rIns="0" bIns="0" rtlCol="0" anchor="ctr"/>
          <a:lstStyle/>
          <a:p>
            <a:pPr algn="ctr" indent="0" marL="0">
              <a:buNone/>
            </a:pPr>
            <a:r>
              <a:rPr lang="en-US" sz="900" spc="100" kern="0" dirty="0">
                <a:solidFill>
                  <a:srgbClr val="FFFFFF"/>
                </a:solidFill>
                <a:latin typeface="Spoqa Han Sans Neo" pitchFamily="34" charset="0"/>
                <a:ea typeface="Spoqa Han Sans Neo" pitchFamily="34" charset="-122"/>
                <a:cs typeface="Spoqa Han Sans Neo" pitchFamily="34" charset="-120"/>
              </a:rPr>
              <a:t>STAGE 3</a:t>
            </a:r>
            <a:endParaRPr lang="en-US" sz="900" dirty="0"/>
          </a:p>
        </p:txBody>
      </p:sp>
      <p:sp>
        <p:nvSpPr>
          <p:cNvPr id="26" name="Text 24"/>
          <p:cNvSpPr/>
          <p:nvPr/>
        </p:nvSpPr>
        <p:spPr>
          <a:xfrm>
            <a:off x="2267712" y="4041648"/>
            <a:ext cx="3840480" cy="292608"/>
          </a:xfrm>
          <a:prstGeom prst="rect">
            <a:avLst/>
          </a:prstGeom>
          <a:noFill/>
          <a:ln/>
        </p:spPr>
        <p:txBody>
          <a:bodyPr wrap="square" lIns="0" tIns="0" rIns="0" bIns="0" rtlCol="0" anchor="ctr"/>
          <a:lstStyle/>
          <a:p>
            <a:pPr indent="0" marL="0">
              <a:buNone/>
            </a:pPr>
            <a:r>
              <a:rPr lang="en-US" sz="1600" b="1" dirty="0">
                <a:solidFill>
                  <a:srgbClr val="043B72"/>
                </a:solidFill>
                <a:latin typeface="Spoqa Han Sans Neo" pitchFamily="34" charset="0"/>
                <a:ea typeface="Spoqa Han Sans Neo" pitchFamily="34" charset="-122"/>
                <a:cs typeface="Spoqa Han Sans Neo" pitchFamily="34" charset="-120"/>
              </a:rPr>
              <a:t>전력 · 인프라 병목</a:t>
            </a:r>
            <a:endParaRPr lang="en-US" sz="1600" dirty="0"/>
          </a:p>
        </p:txBody>
      </p:sp>
      <p:sp>
        <p:nvSpPr>
          <p:cNvPr id="27" name="Text 25"/>
          <p:cNvSpPr/>
          <p:nvPr/>
        </p:nvSpPr>
        <p:spPr>
          <a:xfrm>
            <a:off x="2267712" y="4370832"/>
            <a:ext cx="6035040" cy="493776"/>
          </a:xfrm>
          <a:prstGeom prst="rect">
            <a:avLst/>
          </a:prstGeom>
          <a:noFill/>
          <a:ln/>
        </p:spPr>
        <p:txBody>
          <a:bodyPr wrap="square" lIns="0" tIns="0" rIns="0" bIns="0" rtlCol="0" anchor="ctr"/>
          <a:lstStyle/>
          <a:p>
            <a:pPr indent="0" marL="0">
              <a:lnSpc>
                <a:spcPct val="130000"/>
              </a:lnSpc>
              <a:buNone/>
            </a:pPr>
            <a:r>
              <a:rPr lang="en-US" sz="1100" dirty="0">
                <a:solidFill>
                  <a:srgbClr val="3D3D3D"/>
                </a:solidFill>
                <a:latin typeface="Spoqa Han Sans Neo" pitchFamily="34" charset="0"/>
                <a:ea typeface="Spoqa Han Sans Neo" pitchFamily="34" charset="-122"/>
                <a:cs typeface="Spoqa Han Sans Neo" pitchFamily="34" charset="-120"/>
              </a:rPr>
              <a:t>MS는 전력 제약으로 채울 수 없는 애저 주문 잔고가 약 800억 달러. SK그룹은 데이터센터 인접 자체 발전소 건설을 검토 중.</a:t>
            </a:r>
            <a:endParaRPr lang="en-US" sz="1100" dirty="0"/>
          </a:p>
        </p:txBody>
      </p:sp>
      <p:sp>
        <p:nvSpPr>
          <p:cNvPr id="28" name="Text 26"/>
          <p:cNvSpPr/>
          <p:nvPr/>
        </p:nvSpPr>
        <p:spPr>
          <a:xfrm>
            <a:off x="8522208" y="3895344"/>
            <a:ext cx="3017520" cy="1060704"/>
          </a:xfrm>
          <a:prstGeom prst="rect">
            <a:avLst/>
          </a:prstGeom>
          <a:noFill/>
          <a:ln/>
        </p:spPr>
        <p:txBody>
          <a:bodyPr wrap="square" lIns="0" tIns="0" rIns="0" bIns="0" rtlCol="0" anchor="ctr"/>
          <a:lstStyle/>
          <a:p>
            <a:pPr indent="0" marL="0">
              <a:lnSpc>
                <a:spcPct val="125000"/>
              </a:lnSpc>
              <a:buNone/>
            </a:pPr>
            <a:r>
              <a:rPr lang="en-US" sz="1100" b="1" dirty="0">
                <a:solidFill>
                  <a:srgbClr val="043B72"/>
                </a:solidFill>
                <a:latin typeface="Spoqa Han Sans Neo" pitchFamily="34" charset="0"/>
                <a:ea typeface="Spoqa Han Sans Neo" pitchFamily="34" charset="-122"/>
                <a:cs typeface="Spoqa Han Sans Neo" pitchFamily="34" charset="-120"/>
              </a:rPr>
              <a:t>수혜: 전력기기 · 변압기 · 냉각 · 원전 밸류체인</a:t>
            </a:r>
            <a:endParaRPr lang="en-US" sz="1100" dirty="0"/>
          </a:p>
        </p:txBody>
      </p:sp>
      <p:sp>
        <p:nvSpPr>
          <p:cNvPr id="29" name="Shape 27"/>
          <p:cNvSpPr/>
          <p:nvPr/>
        </p:nvSpPr>
        <p:spPr>
          <a:xfrm>
            <a:off x="566928" y="5138928"/>
            <a:ext cx="11057839" cy="786384"/>
          </a:xfrm>
          <a:prstGeom prst="rect">
            <a:avLst/>
          </a:prstGeom>
          <a:solidFill>
            <a:srgbClr val="ECEFF4"/>
          </a:solidFill>
          <a:ln w="9525">
            <a:solidFill>
              <a:srgbClr val="CDCECB"/>
            </a:solidFill>
            <a:prstDash val="solid"/>
          </a:ln>
        </p:spPr>
      </p:sp>
      <p:sp>
        <p:nvSpPr>
          <p:cNvPr id="30" name="Text 28"/>
          <p:cNvSpPr/>
          <p:nvPr/>
        </p:nvSpPr>
        <p:spPr>
          <a:xfrm>
            <a:off x="841248" y="5266944"/>
            <a:ext cx="1188720" cy="237744"/>
          </a:xfrm>
          <a:prstGeom prst="rect">
            <a:avLst/>
          </a:prstGeom>
          <a:noFill/>
          <a:ln/>
        </p:spPr>
        <p:txBody>
          <a:bodyPr wrap="square" lIns="0" tIns="0" rIns="0" bIns="0" rtlCol="0" anchor="ctr"/>
          <a:lstStyle/>
          <a:p>
            <a:pPr indent="0" marL="0">
              <a:buNone/>
            </a:pPr>
            <a:r>
              <a:rPr lang="en-US" sz="1200" b="1" dirty="0">
                <a:solidFill>
                  <a:srgbClr val="F58220"/>
                </a:solidFill>
                <a:latin typeface="Spoqa Han Sans Neo" pitchFamily="34" charset="0"/>
                <a:ea typeface="Spoqa Han Sans Neo" pitchFamily="34" charset="-122"/>
                <a:cs typeface="Spoqa Han Sans Neo" pitchFamily="34" charset="-120"/>
              </a:rPr>
              <a:t>핵심 통찰</a:t>
            </a:r>
            <a:endParaRPr lang="en-US" sz="1200" dirty="0"/>
          </a:p>
        </p:txBody>
      </p:sp>
      <p:sp>
        <p:nvSpPr>
          <p:cNvPr id="31" name="Text 29"/>
          <p:cNvSpPr/>
          <p:nvPr/>
        </p:nvSpPr>
        <p:spPr>
          <a:xfrm>
            <a:off x="2029968" y="5212080"/>
            <a:ext cx="9320479" cy="640080"/>
          </a:xfrm>
          <a:prstGeom prst="rect">
            <a:avLst/>
          </a:prstGeom>
          <a:noFill/>
          <a:ln/>
        </p:spPr>
        <p:txBody>
          <a:bodyPr wrap="square" lIns="0" tIns="0" rIns="0" bIns="0" rtlCol="0" anchor="ctr"/>
          <a:lstStyle/>
          <a:p>
            <a:pPr indent="0" marL="0">
              <a:lnSpc>
                <a:spcPct val="130000"/>
              </a:lnSpc>
              <a:buNone/>
            </a:pPr>
            <a:r>
              <a:rPr lang="en-US" sz="1100" dirty="0">
                <a:solidFill>
                  <a:srgbClr val="3D3D3D"/>
                </a:solidFill>
                <a:latin typeface="Spoqa Han Sans Neo" pitchFamily="34" charset="0"/>
                <a:ea typeface="Spoqa Han Sans Neo" pitchFamily="34" charset="-122"/>
                <a:cs typeface="Spoqa Han Sans Neo" pitchFamily="34" charset="-120"/>
              </a:rPr>
              <a:t>엔비디아는 AI 반도체 시장의 80% 이상을 장악하고 있지만, 자신의 생산량을 스스로 결정하지 못한다. HBM 공급과 TSMC의 첨단 패키징 캐파가 상한선을 정한다. 이것이 '메모리 기업의 협상력'이 구조적으로 높아진 이유이며, 동시에 다음 병목(전력)이 어디서 수혜를 만들지 예측하는 출발점이다.</a:t>
            </a:r>
            <a:endParaRPr lang="en-US" sz="1100" dirty="0"/>
          </a:p>
        </p:txBody>
      </p:sp>
      <p:sp>
        <p:nvSpPr>
          <p:cNvPr id="32" name="Text 30"/>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Barron's·KeyBanc(2026.4), TrendForce, Microsoft 실적발표, SK그룹 최태원 회장 발언 보도</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3 · 공급</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공급은 왜 빨리 늘지 않는가 — 다섯 가지 구조적 제약</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이번 사이클의 성격을 이해하는 핵심. 가격이 올라도 공급이 즉시 따라오지 못한다.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21</a:t>
            </a:r>
            <a:endParaRPr lang="en-US" sz="900" dirty="0"/>
          </a:p>
        </p:txBody>
      </p:sp>
      <p:sp>
        <p:nvSpPr>
          <p:cNvPr id="8" name="Shape 6"/>
          <p:cNvSpPr/>
          <p:nvPr/>
        </p:nvSpPr>
        <p:spPr>
          <a:xfrm>
            <a:off x="566928" y="1572768"/>
            <a:ext cx="11057839" cy="713232"/>
          </a:xfrm>
          <a:prstGeom prst="rect">
            <a:avLst/>
          </a:prstGeom>
          <a:solidFill>
            <a:srgbClr val="FFFFFF"/>
          </a:solidFill>
          <a:ln w="9525">
            <a:solidFill>
              <a:srgbClr val="CDCECB"/>
            </a:solidFill>
            <a:prstDash val="solid"/>
          </a:ln>
        </p:spPr>
      </p:sp>
      <p:sp>
        <p:nvSpPr>
          <p:cNvPr id="9" name="Shape 7"/>
          <p:cNvSpPr/>
          <p:nvPr/>
        </p:nvSpPr>
        <p:spPr>
          <a:xfrm>
            <a:off x="786384" y="1773936"/>
            <a:ext cx="310896" cy="310896"/>
          </a:xfrm>
          <a:prstGeom prst="rect">
            <a:avLst/>
          </a:prstGeom>
          <a:solidFill>
            <a:srgbClr val="F58220"/>
          </a:solidFill>
          <a:ln w="12700">
            <a:solidFill>
              <a:srgbClr val="333333"/>
            </a:solidFill>
            <a:prstDash val="solid"/>
          </a:ln>
        </p:spPr>
      </p:sp>
      <p:sp>
        <p:nvSpPr>
          <p:cNvPr id="10" name="Text 8"/>
          <p:cNvSpPr/>
          <p:nvPr/>
        </p:nvSpPr>
        <p:spPr>
          <a:xfrm>
            <a:off x="786384" y="17739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1</a:t>
            </a:r>
            <a:endParaRPr lang="en-US" sz="1200" dirty="0"/>
          </a:p>
        </p:txBody>
      </p:sp>
      <p:sp>
        <p:nvSpPr>
          <p:cNvPr id="11" name="Text 9"/>
          <p:cNvSpPr/>
          <p:nvPr/>
        </p:nvSpPr>
        <p:spPr>
          <a:xfrm>
            <a:off x="1225296" y="1700784"/>
            <a:ext cx="3200400" cy="274320"/>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리드타임 3년</a:t>
            </a:r>
            <a:endParaRPr lang="en-US" sz="1300" dirty="0"/>
          </a:p>
        </p:txBody>
      </p:sp>
      <p:sp>
        <p:nvSpPr>
          <p:cNvPr id="12" name="Text 10"/>
          <p:cNvSpPr/>
          <p:nvPr/>
        </p:nvSpPr>
        <p:spPr>
          <a:xfrm>
            <a:off x="4498848" y="1572768"/>
            <a:ext cx="6949440" cy="713232"/>
          </a:xfrm>
          <a:prstGeom prst="rect">
            <a:avLst/>
          </a:prstGeom>
          <a:noFill/>
          <a:ln/>
        </p:spPr>
        <p:txBody>
          <a:bodyPr wrap="square" lIns="0" tIns="0" rIns="0" bIns="0" rtlCol="0" anchor="ctr"/>
          <a:lstStyle/>
          <a:p>
            <a:pPr indent="0" marL="0">
              <a:lnSpc>
                <a:spcPct val="128000"/>
              </a:lnSpc>
              <a:buNone/>
            </a:pPr>
            <a:r>
              <a:rPr lang="en-US" sz="1100" dirty="0">
                <a:solidFill>
                  <a:srgbClr val="3D3D3D"/>
                </a:solidFill>
                <a:latin typeface="Spoqa Han Sans Neo" pitchFamily="34" charset="0"/>
                <a:ea typeface="Spoqa Han Sans Neo" pitchFamily="34" charset="-122"/>
                <a:cs typeface="Spoqa Han Sans Neo" pitchFamily="34" charset="-120"/>
              </a:rPr>
              <a:t>신규 팹 착공부터 웨이퍼 양산까지 3년 이상. 삼성전자는 "2028년까지 큰 폭의 공급을 기대하기 어렵다"고 명시했다.</a:t>
            </a:r>
            <a:endParaRPr lang="en-US" sz="1100" dirty="0"/>
          </a:p>
        </p:txBody>
      </p:sp>
      <p:sp>
        <p:nvSpPr>
          <p:cNvPr id="13" name="Shape 11"/>
          <p:cNvSpPr/>
          <p:nvPr/>
        </p:nvSpPr>
        <p:spPr>
          <a:xfrm>
            <a:off x="566928" y="2359152"/>
            <a:ext cx="11057839" cy="713232"/>
          </a:xfrm>
          <a:prstGeom prst="rect">
            <a:avLst/>
          </a:prstGeom>
          <a:solidFill>
            <a:srgbClr val="FFFFFF"/>
          </a:solidFill>
          <a:ln w="9525">
            <a:solidFill>
              <a:srgbClr val="CDCECB"/>
            </a:solidFill>
            <a:prstDash val="solid"/>
          </a:ln>
        </p:spPr>
      </p:sp>
      <p:sp>
        <p:nvSpPr>
          <p:cNvPr id="14" name="Shape 12"/>
          <p:cNvSpPr/>
          <p:nvPr/>
        </p:nvSpPr>
        <p:spPr>
          <a:xfrm>
            <a:off x="786384" y="2560320"/>
            <a:ext cx="310896" cy="310896"/>
          </a:xfrm>
          <a:prstGeom prst="rect">
            <a:avLst/>
          </a:prstGeom>
          <a:solidFill>
            <a:srgbClr val="F58220"/>
          </a:solidFill>
          <a:ln w="12700">
            <a:solidFill>
              <a:srgbClr val="333333"/>
            </a:solidFill>
            <a:prstDash val="solid"/>
          </a:ln>
        </p:spPr>
      </p:sp>
      <p:sp>
        <p:nvSpPr>
          <p:cNvPr id="15" name="Text 13"/>
          <p:cNvSpPr/>
          <p:nvPr/>
        </p:nvSpPr>
        <p:spPr>
          <a:xfrm>
            <a:off x="786384" y="25603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2</a:t>
            </a:r>
            <a:endParaRPr lang="en-US" sz="1200" dirty="0"/>
          </a:p>
        </p:txBody>
      </p:sp>
      <p:sp>
        <p:nvSpPr>
          <p:cNvPr id="16" name="Text 14"/>
          <p:cNvSpPr/>
          <p:nvPr/>
        </p:nvSpPr>
        <p:spPr>
          <a:xfrm>
            <a:off x="1225296" y="2487168"/>
            <a:ext cx="3200400" cy="274320"/>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HBM이 범용 캐파를 잠식</a:t>
            </a:r>
            <a:endParaRPr lang="en-US" sz="1300" dirty="0"/>
          </a:p>
        </p:txBody>
      </p:sp>
      <p:sp>
        <p:nvSpPr>
          <p:cNvPr id="17" name="Text 15"/>
          <p:cNvSpPr/>
          <p:nvPr/>
        </p:nvSpPr>
        <p:spPr>
          <a:xfrm>
            <a:off x="4498848" y="2359152"/>
            <a:ext cx="6949440" cy="713232"/>
          </a:xfrm>
          <a:prstGeom prst="rect">
            <a:avLst/>
          </a:prstGeom>
          <a:noFill/>
          <a:ln/>
        </p:spPr>
        <p:txBody>
          <a:bodyPr wrap="square" lIns="0" tIns="0" rIns="0" bIns="0" rtlCol="0" anchor="ctr"/>
          <a:lstStyle/>
          <a:p>
            <a:pPr indent="0" marL="0">
              <a:lnSpc>
                <a:spcPct val="128000"/>
              </a:lnSpc>
              <a:buNone/>
            </a:pPr>
            <a:r>
              <a:rPr lang="en-US" sz="1100" dirty="0">
                <a:solidFill>
                  <a:srgbClr val="3D3D3D"/>
                </a:solidFill>
                <a:latin typeface="Spoqa Han Sans Neo" pitchFamily="34" charset="0"/>
                <a:ea typeface="Spoqa Han Sans Neo" pitchFamily="34" charset="-122"/>
                <a:cs typeface="Spoqa Han Sans Neo" pitchFamily="34" charset="-120"/>
              </a:rPr>
              <a:t>HBM은 웨이퍼당 생산 효율이 낮아 같은 캐파로 만들 수 있는 범용 D램 물량을 크게 줄인다. 연간 D램 캐파 증가율은 10~15%.</a:t>
            </a:r>
            <a:endParaRPr lang="en-US" sz="1100" dirty="0"/>
          </a:p>
        </p:txBody>
      </p:sp>
      <p:sp>
        <p:nvSpPr>
          <p:cNvPr id="18" name="Shape 16"/>
          <p:cNvSpPr/>
          <p:nvPr/>
        </p:nvSpPr>
        <p:spPr>
          <a:xfrm>
            <a:off x="566928" y="3145536"/>
            <a:ext cx="11057839" cy="713232"/>
          </a:xfrm>
          <a:prstGeom prst="rect">
            <a:avLst/>
          </a:prstGeom>
          <a:solidFill>
            <a:srgbClr val="FFFFFF"/>
          </a:solidFill>
          <a:ln w="9525">
            <a:solidFill>
              <a:srgbClr val="CDCECB"/>
            </a:solidFill>
            <a:prstDash val="solid"/>
          </a:ln>
        </p:spPr>
      </p:sp>
      <p:sp>
        <p:nvSpPr>
          <p:cNvPr id="19" name="Shape 17"/>
          <p:cNvSpPr/>
          <p:nvPr/>
        </p:nvSpPr>
        <p:spPr>
          <a:xfrm>
            <a:off x="786384" y="3346704"/>
            <a:ext cx="310896" cy="310896"/>
          </a:xfrm>
          <a:prstGeom prst="rect">
            <a:avLst/>
          </a:prstGeom>
          <a:solidFill>
            <a:srgbClr val="F58220"/>
          </a:solidFill>
          <a:ln w="12700">
            <a:solidFill>
              <a:srgbClr val="333333"/>
            </a:solidFill>
            <a:prstDash val="solid"/>
          </a:ln>
        </p:spPr>
      </p:sp>
      <p:sp>
        <p:nvSpPr>
          <p:cNvPr id="20" name="Text 18"/>
          <p:cNvSpPr/>
          <p:nvPr/>
        </p:nvSpPr>
        <p:spPr>
          <a:xfrm>
            <a:off x="786384" y="33467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3</a:t>
            </a:r>
            <a:endParaRPr lang="en-US" sz="1200" dirty="0"/>
          </a:p>
        </p:txBody>
      </p:sp>
      <p:sp>
        <p:nvSpPr>
          <p:cNvPr id="21" name="Text 19"/>
          <p:cNvSpPr/>
          <p:nvPr/>
        </p:nvSpPr>
        <p:spPr>
          <a:xfrm>
            <a:off x="1225296" y="3273552"/>
            <a:ext cx="3200400" cy="274320"/>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투자 공백기의 후유증</a:t>
            </a:r>
            <a:endParaRPr lang="en-US" sz="1300" dirty="0"/>
          </a:p>
        </p:txBody>
      </p:sp>
      <p:sp>
        <p:nvSpPr>
          <p:cNvPr id="22" name="Text 20"/>
          <p:cNvSpPr/>
          <p:nvPr/>
        </p:nvSpPr>
        <p:spPr>
          <a:xfrm>
            <a:off x="4498848" y="3145536"/>
            <a:ext cx="6949440" cy="713232"/>
          </a:xfrm>
          <a:prstGeom prst="rect">
            <a:avLst/>
          </a:prstGeom>
          <a:noFill/>
          <a:ln/>
        </p:spPr>
        <p:txBody>
          <a:bodyPr wrap="square" lIns="0" tIns="0" rIns="0" bIns="0" rtlCol="0" anchor="ctr"/>
          <a:lstStyle/>
          <a:p>
            <a:pPr indent="0" marL="0">
              <a:lnSpc>
                <a:spcPct val="128000"/>
              </a:lnSpc>
              <a:buNone/>
            </a:pPr>
            <a:r>
              <a:rPr lang="en-US" sz="1100" dirty="0">
                <a:solidFill>
                  <a:srgbClr val="3D3D3D"/>
                </a:solidFill>
                <a:latin typeface="Spoqa Han Sans Neo" pitchFamily="34" charset="0"/>
                <a:ea typeface="Spoqa Han Sans Neo" pitchFamily="34" charset="-122"/>
                <a:cs typeface="Spoqa Han Sans Neo" pitchFamily="34" charset="-120"/>
              </a:rPr>
              <a:t>2022~2024년 업황 부진기에 신규 투자가 사실상 멈췄다. 지금의 증설은 확장이 아니라 정상화 과정이라는 해석.</a:t>
            </a:r>
            <a:endParaRPr lang="en-US" sz="1100" dirty="0"/>
          </a:p>
        </p:txBody>
      </p:sp>
      <p:sp>
        <p:nvSpPr>
          <p:cNvPr id="23" name="Shape 21"/>
          <p:cNvSpPr/>
          <p:nvPr/>
        </p:nvSpPr>
        <p:spPr>
          <a:xfrm>
            <a:off x="566928" y="3931920"/>
            <a:ext cx="11057839" cy="713232"/>
          </a:xfrm>
          <a:prstGeom prst="rect">
            <a:avLst/>
          </a:prstGeom>
          <a:solidFill>
            <a:srgbClr val="FFFFFF"/>
          </a:solidFill>
          <a:ln w="9525">
            <a:solidFill>
              <a:srgbClr val="CDCECB"/>
            </a:solidFill>
            <a:prstDash val="solid"/>
          </a:ln>
        </p:spPr>
      </p:sp>
      <p:sp>
        <p:nvSpPr>
          <p:cNvPr id="24" name="Shape 22"/>
          <p:cNvSpPr/>
          <p:nvPr/>
        </p:nvSpPr>
        <p:spPr>
          <a:xfrm>
            <a:off x="786384" y="4133088"/>
            <a:ext cx="310896" cy="310896"/>
          </a:xfrm>
          <a:prstGeom prst="rect">
            <a:avLst/>
          </a:prstGeom>
          <a:solidFill>
            <a:srgbClr val="F58220"/>
          </a:solidFill>
          <a:ln w="12700">
            <a:solidFill>
              <a:srgbClr val="333333"/>
            </a:solidFill>
            <a:prstDash val="solid"/>
          </a:ln>
        </p:spPr>
      </p:sp>
      <p:sp>
        <p:nvSpPr>
          <p:cNvPr id="25" name="Text 23"/>
          <p:cNvSpPr/>
          <p:nvPr/>
        </p:nvSpPr>
        <p:spPr>
          <a:xfrm>
            <a:off x="786384" y="41330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4</a:t>
            </a:r>
            <a:endParaRPr lang="en-US" sz="1200" dirty="0"/>
          </a:p>
        </p:txBody>
      </p:sp>
      <p:sp>
        <p:nvSpPr>
          <p:cNvPr id="26" name="Text 24"/>
          <p:cNvSpPr/>
          <p:nvPr/>
        </p:nvSpPr>
        <p:spPr>
          <a:xfrm>
            <a:off x="1225296" y="4059936"/>
            <a:ext cx="3200400" cy="274320"/>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증설의 실제 반영 시점</a:t>
            </a:r>
            <a:endParaRPr lang="en-US" sz="1300" dirty="0"/>
          </a:p>
        </p:txBody>
      </p:sp>
      <p:sp>
        <p:nvSpPr>
          <p:cNvPr id="27" name="Text 25"/>
          <p:cNvSpPr/>
          <p:nvPr/>
        </p:nvSpPr>
        <p:spPr>
          <a:xfrm>
            <a:off x="4498848" y="3931920"/>
            <a:ext cx="6949440" cy="713232"/>
          </a:xfrm>
          <a:prstGeom prst="rect">
            <a:avLst/>
          </a:prstGeom>
          <a:noFill/>
          <a:ln/>
        </p:spPr>
        <p:txBody>
          <a:bodyPr wrap="square" lIns="0" tIns="0" rIns="0" bIns="0" rtlCol="0" anchor="ctr"/>
          <a:lstStyle/>
          <a:p>
            <a:pPr indent="0" marL="0">
              <a:lnSpc>
                <a:spcPct val="128000"/>
              </a:lnSpc>
              <a:buNone/>
            </a:pPr>
            <a:r>
              <a:rPr lang="en-US" sz="1100" dirty="0">
                <a:solidFill>
                  <a:srgbClr val="3D3D3D"/>
                </a:solidFill>
                <a:latin typeface="Spoqa Han Sans Neo" pitchFamily="34" charset="0"/>
                <a:ea typeface="Spoqa Han Sans Neo" pitchFamily="34" charset="-122"/>
                <a:cs typeface="Spoqa Han Sans Neo" pitchFamily="34" charset="-120"/>
              </a:rPr>
              <a:t>2026년 하반기 SK하이닉스 M15X·삼성 P4 일부가 기여 시작, 2027년 Y1·P4 후속, 2028년 이후 P5·Y2. 최근 발표된 대규모 투자는 대부분 2028년 이후 공급이다.</a:t>
            </a:r>
            <a:endParaRPr lang="en-US" sz="1100" dirty="0"/>
          </a:p>
        </p:txBody>
      </p:sp>
      <p:sp>
        <p:nvSpPr>
          <p:cNvPr id="28" name="Shape 26"/>
          <p:cNvSpPr/>
          <p:nvPr/>
        </p:nvSpPr>
        <p:spPr>
          <a:xfrm>
            <a:off x="566928" y="4718304"/>
            <a:ext cx="11057839" cy="713232"/>
          </a:xfrm>
          <a:prstGeom prst="rect">
            <a:avLst/>
          </a:prstGeom>
          <a:solidFill>
            <a:srgbClr val="FFFFFF"/>
          </a:solidFill>
          <a:ln w="9525">
            <a:solidFill>
              <a:srgbClr val="CDCECB"/>
            </a:solidFill>
            <a:prstDash val="solid"/>
          </a:ln>
        </p:spPr>
      </p:sp>
      <p:sp>
        <p:nvSpPr>
          <p:cNvPr id="29" name="Shape 27"/>
          <p:cNvSpPr/>
          <p:nvPr/>
        </p:nvSpPr>
        <p:spPr>
          <a:xfrm>
            <a:off x="786384" y="4919472"/>
            <a:ext cx="310896" cy="310896"/>
          </a:xfrm>
          <a:prstGeom prst="rect">
            <a:avLst/>
          </a:prstGeom>
          <a:solidFill>
            <a:srgbClr val="F58220"/>
          </a:solidFill>
          <a:ln w="12700">
            <a:solidFill>
              <a:srgbClr val="333333"/>
            </a:solidFill>
            <a:prstDash val="solid"/>
          </a:ln>
        </p:spPr>
      </p:sp>
      <p:sp>
        <p:nvSpPr>
          <p:cNvPr id="30" name="Text 28"/>
          <p:cNvSpPr/>
          <p:nvPr/>
        </p:nvSpPr>
        <p:spPr>
          <a:xfrm>
            <a:off x="786384" y="49194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5</a:t>
            </a:r>
            <a:endParaRPr lang="en-US" sz="1200" dirty="0"/>
          </a:p>
        </p:txBody>
      </p:sp>
      <p:sp>
        <p:nvSpPr>
          <p:cNvPr id="31" name="Text 29"/>
          <p:cNvSpPr/>
          <p:nvPr/>
        </p:nvSpPr>
        <p:spPr>
          <a:xfrm>
            <a:off x="1225296" y="4846320"/>
            <a:ext cx="3200400" cy="274320"/>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공급사의 전략 전환</a:t>
            </a:r>
            <a:endParaRPr lang="en-US" sz="1300" dirty="0"/>
          </a:p>
        </p:txBody>
      </p:sp>
      <p:sp>
        <p:nvSpPr>
          <p:cNvPr id="32" name="Text 30"/>
          <p:cNvSpPr/>
          <p:nvPr/>
        </p:nvSpPr>
        <p:spPr>
          <a:xfrm>
            <a:off x="4498848" y="4718304"/>
            <a:ext cx="6949440" cy="713232"/>
          </a:xfrm>
          <a:prstGeom prst="rect">
            <a:avLst/>
          </a:prstGeom>
          <a:noFill/>
          <a:ln/>
        </p:spPr>
        <p:txBody>
          <a:bodyPr wrap="square" lIns="0" tIns="0" rIns="0" bIns="0" rtlCol="0" anchor="ctr"/>
          <a:lstStyle/>
          <a:p>
            <a:pPr indent="0" marL="0">
              <a:lnSpc>
                <a:spcPct val="128000"/>
              </a:lnSpc>
              <a:buNone/>
            </a:pPr>
            <a:r>
              <a:rPr lang="en-US" sz="1100" dirty="0">
                <a:solidFill>
                  <a:srgbClr val="3D3D3D"/>
                </a:solidFill>
                <a:latin typeface="Spoqa Han Sans Neo" pitchFamily="34" charset="0"/>
                <a:ea typeface="Spoqa Han Sans Neo" pitchFamily="34" charset="-122"/>
                <a:cs typeface="Spoqa Han Sans Neo" pitchFamily="34" charset="-120"/>
              </a:rPr>
              <a:t>삼성전자는 집행 중인 메모리 시설투자의 약 70%가 장기공급계약(LTA)에 기반한다고 밝혔다. SK하이닉스도 "확인된 수요에 기반해 탄력적으로" 증설한다는 원칙.</a:t>
            </a:r>
            <a:endParaRPr lang="en-US" sz="1100" dirty="0"/>
          </a:p>
        </p:txBody>
      </p:sp>
      <p:sp>
        <p:nvSpPr>
          <p:cNvPr id="33" name="Shape 31"/>
          <p:cNvSpPr/>
          <p:nvPr/>
        </p:nvSpPr>
        <p:spPr>
          <a:xfrm>
            <a:off x="566928" y="5541264"/>
            <a:ext cx="11057839" cy="420624"/>
          </a:xfrm>
          <a:prstGeom prst="rect">
            <a:avLst/>
          </a:prstGeom>
          <a:solidFill>
            <a:srgbClr val="ECEFF4"/>
          </a:solidFill>
          <a:ln w="9525">
            <a:solidFill>
              <a:srgbClr val="CDCECB"/>
            </a:solidFill>
            <a:prstDash val="solid"/>
          </a:ln>
        </p:spPr>
      </p:sp>
      <p:sp>
        <p:nvSpPr>
          <p:cNvPr id="34" name="Text 32"/>
          <p:cNvSpPr/>
          <p:nvPr/>
        </p:nvSpPr>
        <p:spPr>
          <a:xfrm>
            <a:off x="841248" y="5541264"/>
            <a:ext cx="10509199" cy="420624"/>
          </a:xfrm>
          <a:prstGeom prst="rect">
            <a:avLst/>
          </a:prstGeom>
          <a:noFill/>
          <a:ln/>
        </p:spPr>
        <p:txBody>
          <a:bodyPr wrap="square" lIns="0" tIns="0" rIns="0" bIns="0" rtlCol="0" anchor="ctr"/>
          <a:lstStyle/>
          <a:p>
            <a:pPr indent="0" marL="0">
              <a:buNone/>
            </a:pPr>
            <a:r>
              <a:rPr lang="en-US" sz="1100" b="1" dirty="0">
                <a:solidFill>
                  <a:srgbClr val="043B72"/>
                </a:solidFill>
                <a:latin typeface="Spoqa Han Sans Neo" pitchFamily="34" charset="0"/>
                <a:ea typeface="Spoqa Han Sans Neo" pitchFamily="34" charset="-122"/>
                <a:cs typeface="Spoqa Han Sans Neo" pitchFamily="34" charset="-120"/>
              </a:rPr>
              <a:t>종합  "2027년 공급 부족은 올해보다 심화될 것" (삼성전자 2Q26 컨퍼런스콜) · "2027년 범용 D램 공급 증가율 1% 수준" (DS투자증권)</a:t>
            </a:r>
            <a:endParaRPr lang="en-US" sz="1100" dirty="0"/>
          </a:p>
        </p:txBody>
      </p:sp>
      <p:sp>
        <p:nvSpPr>
          <p:cNvPr id="35" name="Text 33"/>
          <p:cNvSpPr/>
          <p:nvPr/>
        </p:nvSpPr>
        <p:spPr>
          <a:xfrm>
            <a:off x="566928" y="6089904"/>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삼성전자·SK하이닉스 2026년 2분기 실적 컨퍼런스콜, DS투자증권 리포트, 언론 보도 종합</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4 · 사이클 논쟁</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이번 호황은 순환(Cyclical)인가 구조(Structural)인가</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이 질문에 대한 답이 곧 투자 전략이다. 그리고 아직 어느 쪽도 확정되지 않았다.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22</a:t>
            </a:r>
            <a:endParaRPr lang="en-US" sz="900" dirty="0"/>
          </a:p>
        </p:txBody>
      </p:sp>
      <p:sp>
        <p:nvSpPr>
          <p:cNvPr id="8" name="Shape 6"/>
          <p:cNvSpPr/>
          <p:nvPr/>
        </p:nvSpPr>
        <p:spPr>
          <a:xfrm>
            <a:off x="566928" y="1572768"/>
            <a:ext cx="5391760" cy="3072384"/>
          </a:xfrm>
          <a:prstGeom prst="rect">
            <a:avLst/>
          </a:prstGeom>
          <a:solidFill>
            <a:srgbClr val="F7F8FA"/>
          </a:solidFill>
          <a:ln w="9525">
            <a:solidFill>
              <a:srgbClr val="CDCECB"/>
            </a:solidFill>
            <a:prstDash val="solid"/>
          </a:ln>
        </p:spPr>
      </p:sp>
      <p:sp>
        <p:nvSpPr>
          <p:cNvPr id="9" name="Shape 7"/>
          <p:cNvSpPr/>
          <p:nvPr/>
        </p:nvSpPr>
        <p:spPr>
          <a:xfrm>
            <a:off x="566928" y="1572768"/>
            <a:ext cx="5391760" cy="402336"/>
          </a:xfrm>
          <a:prstGeom prst="rect">
            <a:avLst/>
          </a:prstGeom>
          <a:solidFill>
            <a:srgbClr val="84888B"/>
          </a:solidFill>
          <a:ln w="12700">
            <a:solidFill>
              <a:srgbClr val="333333"/>
            </a:solidFill>
            <a:prstDash val="solid"/>
          </a:ln>
        </p:spPr>
      </p:sp>
      <p:sp>
        <p:nvSpPr>
          <p:cNvPr id="10" name="Text 8"/>
          <p:cNvSpPr/>
          <p:nvPr/>
        </p:nvSpPr>
        <p:spPr>
          <a:xfrm>
            <a:off x="804672" y="1572768"/>
            <a:ext cx="4916272" cy="402336"/>
          </a:xfrm>
          <a:prstGeom prst="rect">
            <a:avLst/>
          </a:prstGeom>
          <a:noFill/>
          <a:ln/>
        </p:spPr>
        <p:txBody>
          <a:bodyPr wrap="square" lIns="0" tIns="0" rIns="0" bIns="0" rtlCol="0" anchor="ctr"/>
          <a:lstStyle/>
          <a:p>
            <a:pPr indent="0" marL="0">
              <a:buNone/>
            </a:pPr>
            <a:r>
              <a:rPr lang="en-US" sz="1450" b="1" dirty="0">
                <a:solidFill>
                  <a:srgbClr val="FFFFFF"/>
                </a:solidFill>
                <a:latin typeface="Spoqa Han Sans Neo" pitchFamily="34" charset="0"/>
                <a:ea typeface="Spoqa Han Sans Neo" pitchFamily="34" charset="-122"/>
                <a:cs typeface="Spoqa Han Sans Neo" pitchFamily="34" charset="-120"/>
              </a:rPr>
              <a:t>순환론 — "결국 반복된다"</a:t>
            </a:r>
            <a:endParaRPr lang="en-US" sz="1450" dirty="0"/>
          </a:p>
        </p:txBody>
      </p:sp>
      <p:sp>
        <p:nvSpPr>
          <p:cNvPr id="11" name="Text 9"/>
          <p:cNvSpPr/>
          <p:nvPr/>
        </p:nvSpPr>
        <p:spPr>
          <a:xfrm>
            <a:off x="804672" y="2103120"/>
            <a:ext cx="4916272" cy="2432304"/>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메모리는 역사적으로 4~5년 주기로 호황과 불황을 반복해 왔다</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가격 급등 → 전원 증설 → 공급 과잉 → 가격 폭락의 문법</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2017~2018년에도 "이번엔 다르다"는 논리가 있었고, 결국 2019년 급락으로 끝났다</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지금 발표되는 대규모 CapEx가 2028년 이후 공급 과잉의 씨앗</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AI 투자 자체가 수익성 검증을 통과하지 못하면 수요는 급격히 사라진다</a:t>
            </a:r>
            <a:endParaRPr lang="en-US" sz="1120" dirty="0"/>
          </a:p>
        </p:txBody>
      </p:sp>
      <p:sp>
        <p:nvSpPr>
          <p:cNvPr id="12" name="Shape 10"/>
          <p:cNvSpPr/>
          <p:nvPr/>
        </p:nvSpPr>
        <p:spPr>
          <a:xfrm>
            <a:off x="6233008" y="1572768"/>
            <a:ext cx="5391760" cy="3072384"/>
          </a:xfrm>
          <a:prstGeom prst="rect">
            <a:avLst/>
          </a:prstGeom>
          <a:solidFill>
            <a:srgbClr val="FFF3E8"/>
          </a:solidFill>
          <a:ln w="9525">
            <a:solidFill>
              <a:srgbClr val="FAB072"/>
            </a:solidFill>
            <a:prstDash val="solid"/>
          </a:ln>
        </p:spPr>
      </p:sp>
      <p:sp>
        <p:nvSpPr>
          <p:cNvPr id="13" name="Shape 11"/>
          <p:cNvSpPr/>
          <p:nvPr/>
        </p:nvSpPr>
        <p:spPr>
          <a:xfrm>
            <a:off x="6233008" y="1572768"/>
            <a:ext cx="5391760" cy="402336"/>
          </a:xfrm>
          <a:prstGeom prst="rect">
            <a:avLst/>
          </a:prstGeom>
          <a:solidFill>
            <a:srgbClr val="F58220"/>
          </a:solidFill>
          <a:ln w="12700">
            <a:solidFill>
              <a:srgbClr val="333333"/>
            </a:solidFill>
            <a:prstDash val="solid"/>
          </a:ln>
        </p:spPr>
      </p:sp>
      <p:sp>
        <p:nvSpPr>
          <p:cNvPr id="14" name="Text 12"/>
          <p:cNvSpPr/>
          <p:nvPr/>
        </p:nvSpPr>
        <p:spPr>
          <a:xfrm>
            <a:off x="6470752" y="1572768"/>
            <a:ext cx="4916272" cy="402336"/>
          </a:xfrm>
          <a:prstGeom prst="rect">
            <a:avLst/>
          </a:prstGeom>
          <a:noFill/>
          <a:ln/>
        </p:spPr>
        <p:txBody>
          <a:bodyPr wrap="square" lIns="0" tIns="0" rIns="0" bIns="0" rtlCol="0" anchor="ctr"/>
          <a:lstStyle/>
          <a:p>
            <a:pPr indent="0" marL="0">
              <a:buNone/>
            </a:pPr>
            <a:r>
              <a:rPr lang="en-US" sz="1450" b="1" dirty="0">
                <a:solidFill>
                  <a:srgbClr val="FFFFFF"/>
                </a:solidFill>
                <a:latin typeface="Spoqa Han Sans Neo" pitchFamily="34" charset="0"/>
                <a:ea typeface="Spoqa Han Sans Neo" pitchFamily="34" charset="-122"/>
                <a:cs typeface="Spoqa Han Sans Neo" pitchFamily="34" charset="-120"/>
              </a:rPr>
              <a:t>구조론 — "산업의 성격이 바뀌었다"</a:t>
            </a:r>
            <a:endParaRPr lang="en-US" sz="1450" dirty="0"/>
          </a:p>
        </p:txBody>
      </p:sp>
      <p:sp>
        <p:nvSpPr>
          <p:cNvPr id="15" name="Text 13"/>
          <p:cNvSpPr/>
          <p:nvPr/>
        </p:nvSpPr>
        <p:spPr>
          <a:xfrm>
            <a:off x="6470752" y="2103120"/>
            <a:ext cx="4916272" cy="2432304"/>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HBM은 표준품이 아니라 고객 맞춤 주문 제작 — 재고 리스크가 근본적으로 다르다</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장기공급계약(LTA)이 가격·물량을 다년간 고정 (삼성 시설투자의 약 70%)</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수요 주체가 개인·스마트폰에서 자본력이 압도적인 하이퍼스케일러로 이동</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AI 인프라는 한 번 구축하면 지속적 교체·증설 수요를 만든다</a:t>
            </a:r>
            <a:endParaRPr lang="en-US" sz="1120" dirty="0"/>
          </a:p>
          <a:p>
            <a:pPr marL="177800" indent="-177800">
              <a:lnSpc>
                <a:spcPct val="120000"/>
              </a:lnSpc>
              <a:spcAft>
                <a:spcPts val="700"/>
              </a:spcAft>
              <a:buSzPct val="100000"/>
              <a:buChar char="•"/>
            </a:pPr>
            <a:r>
              <a:rPr lang="en-US" sz="1120" dirty="0">
                <a:solidFill>
                  <a:srgbClr val="3D3D3D"/>
                </a:solidFill>
                <a:latin typeface="Spoqa Han Sans Neo" pitchFamily="34" charset="0"/>
                <a:ea typeface="Spoqa Han Sans Neo" pitchFamily="34" charset="-122"/>
                <a:cs typeface="Spoqa Han Sans Neo" pitchFamily="34" charset="-120"/>
              </a:rPr>
              <a:t>증설의 기술적 장벽(EUV·적층·패키징)이 과거보다 훨씬 높다</a:t>
            </a:r>
            <a:endParaRPr lang="en-US" sz="1120" dirty="0"/>
          </a:p>
        </p:txBody>
      </p:sp>
      <p:sp>
        <p:nvSpPr>
          <p:cNvPr id="16" name="Shape 14"/>
          <p:cNvSpPr/>
          <p:nvPr/>
        </p:nvSpPr>
        <p:spPr>
          <a:xfrm>
            <a:off x="566928" y="4809744"/>
            <a:ext cx="11057839" cy="1115568"/>
          </a:xfrm>
          <a:prstGeom prst="rect">
            <a:avLst/>
          </a:prstGeom>
          <a:solidFill>
            <a:srgbClr val="FFFFFF"/>
          </a:solidFill>
          <a:ln w="9525">
            <a:solidFill>
              <a:srgbClr val="043B72"/>
            </a:solidFill>
            <a:prstDash val="solid"/>
          </a:ln>
        </p:spPr>
      </p:sp>
      <p:sp>
        <p:nvSpPr>
          <p:cNvPr id="17" name="Text 15"/>
          <p:cNvSpPr/>
          <p:nvPr/>
        </p:nvSpPr>
        <p:spPr>
          <a:xfrm>
            <a:off x="841248" y="4974336"/>
            <a:ext cx="5486400" cy="256032"/>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현재 시장의 평가 — 국제금융센터</a:t>
            </a:r>
            <a:endParaRPr lang="en-US" sz="1300" dirty="0"/>
          </a:p>
        </p:txBody>
      </p:sp>
      <p:sp>
        <p:nvSpPr>
          <p:cNvPr id="18" name="Text 16"/>
          <p:cNvSpPr/>
          <p:nvPr/>
        </p:nvSpPr>
        <p:spPr>
          <a:xfrm>
            <a:off x="841248" y="5248656"/>
            <a:ext cx="10509199" cy="603504"/>
          </a:xfrm>
          <a:prstGeom prst="rect">
            <a:avLst/>
          </a:prstGeom>
          <a:noFill/>
          <a:ln/>
        </p:spPr>
        <p:txBody>
          <a:bodyPr wrap="square" lIns="0" tIns="0" rIns="0" bIns="0" rtlCol="0" anchor="ctr"/>
          <a:lstStyle/>
          <a:p>
            <a:pPr indent="0" marL="0">
              <a:lnSpc>
                <a:spcPct val="132000"/>
              </a:lnSpc>
              <a:buNone/>
            </a:pPr>
            <a:r>
              <a:rPr lang="en-US" sz="1100" dirty="0">
                <a:solidFill>
                  <a:srgbClr val="3D3D3D"/>
                </a:solidFill>
                <a:latin typeface="Spoqa Han Sans Neo" pitchFamily="34" charset="0"/>
                <a:ea typeface="Spoqa Han Sans Neo" pitchFamily="34" charset="-122"/>
                <a:cs typeface="Spoqa Han Sans Neo" pitchFamily="34" charset="-120"/>
              </a:rPr>
              <a:t>"아직까지 메모리 반도체 사이클의 기존 순환적 흐름 유지 여부와 구조적 호황 진입 여부를 단정하기 어렵다. 다만 주식시장은 금번 업사이클이 예상보다 안정적으로 장기화될 가능성을 상당 부분 반영 중인 것으로 평가된다."</a:t>
            </a:r>
            <a:endParaRPr lang="en-US" sz="1100" dirty="0"/>
          </a:p>
          <a:p>
            <a:pPr indent="0" marL="0">
              <a:lnSpc>
                <a:spcPct val="132000"/>
              </a:lnSpc>
              <a:buNone/>
            </a:pPr>
            <a:r>
              <a:rPr lang="en-US" sz="1100" dirty="0">
                <a:solidFill>
                  <a:srgbClr val="3D3D3D"/>
                </a:solidFill>
                <a:latin typeface="Spoqa Han Sans Neo" pitchFamily="34" charset="0"/>
                <a:ea typeface="Spoqa Han Sans Neo" pitchFamily="34" charset="-122"/>
                <a:cs typeface="Spoqa Han Sans Neo" pitchFamily="34" charset="-120"/>
              </a:rPr>
              <a:t>→ 즉 주가에는 이미 '구조론'이 상당 부분 들어가 있다. 확인이 필요한 것은 논리가 아니라 실제 데이터다.</a:t>
            </a:r>
            <a:endParaRPr lang="en-US" sz="1100" dirty="0"/>
          </a:p>
        </p:txBody>
      </p:sp>
      <p:sp>
        <p:nvSpPr>
          <p:cNvPr id="19" name="Text 17"/>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국제금융센터 「메모리 반도체 업황에 대한 시장 시각」, 각 사 실적발표</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4 · 사이클 비교</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과거 사이클과 무엇이 다른가 — 세 가지 실질적 변화</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"이번엔 다르다"는 말은 위험한 표현이다. 하지만 계약 구조와 수요 주체는 실제로 달라졌다.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7839" cy="914400"/>
        </p:xfrm>
        <a:graphic>
          <a:graphicData uri="http://schemas.openxmlformats.org/drawingml/2006/table">
            <a:tbl>
              <a:tblPr/>
              <a:tblGrid>
                <a:gridCol w="1828800"/>
                <a:gridCol w="2651760"/>
                <a:gridCol w="3017520"/>
                <a:gridCol w="3559759"/>
              </a:tblGrid>
              <a:tr h="416052">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구분</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2017~2018년 사이클</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2025~2026년 사이클</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의미</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416052">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수요 주체</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스마트폰 · 데이터센터 초기</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하이퍼스케일러 · AI 기업</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자본력과 투자 지속성이 비교되지 않는다</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416052">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계약 구조</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대부분 분기 단위 고정거래가</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다년 장기공급계약(LTA) 확대</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가격 하락기에도 이익이 즉시 무너지지 않는다</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416052">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제품 성격</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표준 규격품(commodity)</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HBM = 고객 맞춤 주문 제작</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재고·가격 리스크가 공급사에서 고객으로 일부 이전</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416052">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공급 반응 속도</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증설 결정 → 1~2년 내 공급</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증설 결정 → 3년 이상</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가격 신호가 공급으로 전환되는 시간이 길어졌다</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416052">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경쟁 구도</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3사 치킨게임 가능</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HBM 진입장벽 상승 + 중국 신규 진입</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60" dirty="0">
                          <a:solidFill>
                            <a:srgbClr val="3D3D3D"/>
                          </a:solidFill>
                          <a:latin typeface="Spoqa Han Sans Neo" pitchFamily="34" charset="0"/>
                          <a:ea typeface="Spoqa Han Sans Neo" pitchFamily="34" charset="-122"/>
                          <a:cs typeface="Spoqa Han Sans Neo" pitchFamily="34" charset="-120"/>
                        </a:rPr>
                        <a:t>치킨게임 가능성은 낮아졌으나 중국 변수 추가</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416052">
                <a:tc>
                  <a:txBody>
                    <a:bodyPr/>
                    <a:lstStyle/>
                    <a:p>
                      <a:pPr algn="l" indent="0" marL="0">
                        <a:buNone/>
                      </a:pPr>
                      <a:r>
                        <a:rPr lang="en-US" sz="1060" b="1" dirty="0">
                          <a:solidFill>
                            <a:srgbClr val="1A1A1A"/>
                          </a:solidFill>
                          <a:latin typeface="Spoqa Han Sans Neo" pitchFamily="34" charset="0"/>
                          <a:ea typeface="Spoqa Han Sans Neo" pitchFamily="34" charset="-122"/>
                          <a:cs typeface="Spoqa Han Sans Neo" pitchFamily="34" charset="-120"/>
                        </a:rPr>
                        <a:t>밸류에이션 출발점</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60" b="1" dirty="0">
                          <a:solidFill>
                            <a:srgbClr val="1A1A1A"/>
                          </a:solidFill>
                          <a:latin typeface="Spoqa Han Sans Neo" pitchFamily="34" charset="0"/>
                          <a:ea typeface="Spoqa Han Sans Neo" pitchFamily="34" charset="-122"/>
                          <a:cs typeface="Spoqa Han Sans Neo" pitchFamily="34" charset="-120"/>
                        </a:rPr>
                        <a:t>PER 상승 후 급락</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60" b="1" dirty="0">
                          <a:solidFill>
                            <a:srgbClr val="1A1A1A"/>
                          </a:solidFill>
                          <a:latin typeface="Spoqa Han Sans Neo" pitchFamily="34" charset="0"/>
                          <a:ea typeface="Spoqa Han Sans Neo" pitchFamily="34" charset="-122"/>
                          <a:cs typeface="Spoqa Han Sans Neo" pitchFamily="34" charset="-120"/>
                        </a:rPr>
                        <a:t>이익 급증에도 PER 4~5배대</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60" b="1" dirty="0">
                          <a:solidFill>
                            <a:srgbClr val="1A1A1A"/>
                          </a:solidFill>
                          <a:latin typeface="Spoqa Han Sans Neo" pitchFamily="34" charset="0"/>
                          <a:ea typeface="Spoqa Han Sans Neo" pitchFamily="34" charset="-122"/>
                          <a:cs typeface="Spoqa Han Sans Neo" pitchFamily="34" charset="-120"/>
                        </a:rPr>
                        <a:t>시장은 이미 '이익의 지속 불가'를 가정하고 있다</a:t>
                      </a:r>
                      <a:endParaRPr lang="en-US" sz="106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bl>
          </a:graphicData>
        </a:graphic>
      </p:graphicFrame>
      <p:sp>
        <p:nvSpPr>
          <p:cNvPr id="9" name="Shape 6"/>
          <p:cNvSpPr/>
          <p:nvPr/>
        </p:nvSpPr>
        <p:spPr>
          <a:xfrm>
            <a:off x="566928" y="4773168"/>
            <a:ext cx="5349240" cy="1152144"/>
          </a:xfrm>
          <a:prstGeom prst="rect">
            <a:avLst/>
          </a:prstGeom>
          <a:solidFill>
            <a:srgbClr val="FFF3E8"/>
          </a:solidFill>
          <a:ln w="9525">
            <a:solidFill>
              <a:srgbClr val="FAB072"/>
            </a:solidFill>
            <a:prstDash val="solid"/>
          </a:ln>
        </p:spPr>
      </p:sp>
      <p:sp>
        <p:nvSpPr>
          <p:cNvPr id="10" name="Text 7"/>
          <p:cNvSpPr/>
          <p:nvPr/>
        </p:nvSpPr>
        <p:spPr>
          <a:xfrm>
            <a:off x="804672" y="4937760"/>
            <a:ext cx="4846320" cy="237744"/>
          </a:xfrm>
          <a:prstGeom prst="rect">
            <a:avLst/>
          </a:prstGeom>
          <a:noFill/>
          <a:ln/>
        </p:spPr>
        <p:txBody>
          <a:bodyPr wrap="square" lIns="0" tIns="0" rIns="0" bIns="0" rtlCol="0" anchor="ctr"/>
          <a:lstStyle/>
          <a:p>
            <a:pPr indent="0" marL="0">
              <a:buNone/>
            </a:pPr>
            <a:r>
              <a:rPr lang="en-US" sz="1250" b="1" dirty="0">
                <a:solidFill>
                  <a:srgbClr val="CB6015"/>
                </a:solidFill>
                <a:latin typeface="Spoqa Han Sans Neo" pitchFamily="34" charset="0"/>
                <a:ea typeface="Spoqa Han Sans Neo" pitchFamily="34" charset="-122"/>
                <a:cs typeface="Spoqa Han Sans Neo" pitchFamily="34" charset="-120"/>
              </a:rPr>
              <a:t>그래도 조심해야 할 지점</a:t>
            </a:r>
            <a:endParaRPr lang="en-US" sz="1250" dirty="0"/>
          </a:p>
        </p:txBody>
      </p:sp>
      <p:sp>
        <p:nvSpPr>
          <p:cNvPr id="11" name="Text 8"/>
          <p:cNvSpPr/>
          <p:nvPr/>
        </p:nvSpPr>
        <p:spPr>
          <a:xfrm>
            <a:off x="804672" y="5193792"/>
            <a:ext cx="4892040" cy="658368"/>
          </a:xfrm>
          <a:prstGeom prst="rect">
            <a:avLst/>
          </a:prstGeom>
          <a:noFill/>
          <a:ln/>
        </p:spPr>
        <p:txBody>
          <a:bodyPr wrap="square" lIns="0" tIns="0" rIns="0" bIns="0" rtlCol="0" anchor="ctr"/>
          <a:lstStyle/>
          <a:p>
            <a:pPr indent="0" marL="0">
              <a:lnSpc>
                <a:spcPct val="128000"/>
              </a:lnSpc>
              <a:buNone/>
            </a:pPr>
            <a:r>
              <a:rPr lang="en-US" sz="1060" dirty="0">
                <a:solidFill>
                  <a:srgbClr val="3D3D3D"/>
                </a:solidFill>
                <a:latin typeface="Spoqa Han Sans Neo" pitchFamily="34" charset="0"/>
                <a:ea typeface="Spoqa Han Sans Neo" pitchFamily="34" charset="-122"/>
                <a:cs typeface="Spoqa Han Sans Neo" pitchFamily="34" charset="-120"/>
              </a:rPr>
              <a:t>LTA는 가격을 고정하는 동시에 상승 여력도 제한한다. 실제로 증권가는 "계약가격은 LTA를 기반으로 현물가 대비 완만한 상승세를 보일 것"으로 본다. 즉 이익의 변동성은 낮아지지만 이익의 폭발력도 함께 낮아진다.</a:t>
            </a:r>
            <a:endParaRPr lang="en-US" sz="1060" dirty="0"/>
          </a:p>
        </p:txBody>
      </p:sp>
      <p:sp>
        <p:nvSpPr>
          <p:cNvPr id="12" name="Shape 9"/>
          <p:cNvSpPr/>
          <p:nvPr/>
        </p:nvSpPr>
        <p:spPr>
          <a:xfrm>
            <a:off x="6272784" y="4773168"/>
            <a:ext cx="5349240" cy="1152144"/>
          </a:xfrm>
          <a:prstGeom prst="rect">
            <a:avLst/>
          </a:prstGeom>
          <a:solidFill>
            <a:srgbClr val="F7F8FA"/>
          </a:solidFill>
          <a:ln w="9525">
            <a:solidFill>
              <a:srgbClr val="CDCECB"/>
            </a:solidFill>
            <a:prstDash val="solid"/>
          </a:ln>
        </p:spPr>
      </p:sp>
      <p:sp>
        <p:nvSpPr>
          <p:cNvPr id="13" name="Text 10"/>
          <p:cNvSpPr/>
          <p:nvPr/>
        </p:nvSpPr>
        <p:spPr>
          <a:xfrm>
            <a:off x="6510528" y="4937760"/>
            <a:ext cx="4846320" cy="237744"/>
          </a:xfrm>
          <a:prstGeom prst="rect">
            <a:avLst/>
          </a:prstGeom>
          <a:noFill/>
          <a:ln/>
        </p:spPr>
        <p:txBody>
          <a:bodyPr wrap="square" lIns="0" tIns="0" rIns="0" bIns="0" rtlCol="0" anchor="ctr"/>
          <a:lstStyle/>
          <a:p>
            <a:pPr indent="0" marL="0">
              <a:buNone/>
            </a:pPr>
            <a:r>
              <a:rPr lang="en-US" sz="1250" b="1" dirty="0">
                <a:solidFill>
                  <a:srgbClr val="043B72"/>
                </a:solidFill>
                <a:latin typeface="Spoqa Han Sans Neo" pitchFamily="34" charset="0"/>
                <a:ea typeface="Spoqa Han Sans Neo" pitchFamily="34" charset="-122"/>
                <a:cs typeface="Spoqa Han Sans Neo" pitchFamily="34" charset="-120"/>
              </a:rPr>
              <a:t>가장 중요한 단일 전제</a:t>
            </a:r>
            <a:endParaRPr lang="en-US" sz="1250" dirty="0"/>
          </a:p>
        </p:txBody>
      </p:sp>
      <p:sp>
        <p:nvSpPr>
          <p:cNvPr id="14" name="Text 11"/>
          <p:cNvSpPr/>
          <p:nvPr/>
        </p:nvSpPr>
        <p:spPr>
          <a:xfrm>
            <a:off x="6510528" y="5193792"/>
            <a:ext cx="4892040" cy="658368"/>
          </a:xfrm>
          <a:prstGeom prst="rect">
            <a:avLst/>
          </a:prstGeom>
          <a:noFill/>
          <a:ln/>
        </p:spPr>
        <p:txBody>
          <a:bodyPr wrap="square" lIns="0" tIns="0" rIns="0" bIns="0" rtlCol="0" anchor="ctr"/>
          <a:lstStyle/>
          <a:p>
            <a:pPr indent="0" marL="0">
              <a:lnSpc>
                <a:spcPct val="128000"/>
              </a:lnSpc>
              <a:buNone/>
            </a:pPr>
            <a:r>
              <a:rPr lang="en-US" sz="1060" dirty="0">
                <a:solidFill>
                  <a:srgbClr val="3D3D3D"/>
                </a:solidFill>
                <a:latin typeface="Spoqa Han Sans Neo" pitchFamily="34" charset="0"/>
                <a:ea typeface="Spoqa Han Sans Neo" pitchFamily="34" charset="-122"/>
                <a:cs typeface="Spoqa Han Sans Neo" pitchFamily="34" charset="-120"/>
              </a:rPr>
              <a:t>구조론의 모든 논리는 "AI 서비스가 투자 대비 수익(ROI)을 계속 정당화한다"는 하나의 전제 위에 서 있다. 이 전제가 흔들리면 LTA도, 진입장벽도 수요 감소를 막아주지 못한다. 매 분기 빅테크의 CapEx 가이던스와 AI 매출을 확인해야 하는 이유다.</a:t>
            </a:r>
            <a:endParaRPr lang="en-US" sz="1060" dirty="0"/>
          </a:p>
        </p:txBody>
      </p:sp>
      <p:sp>
        <p:nvSpPr>
          <p:cNvPr id="15" name="Text 12"/>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증권가 리포트 종합(2026년 7월), 삼성전자·SK하이닉스 실적 컨퍼런스콜</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4 · 사례 분석</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2026년 7월 급락의 해부 — 사상 최대 실적과 최악의 주가</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실적은 사상 최대였다. 그런데 7월 코스피는 역대급 변동성을 기록했다. 무엇이 어긋났나.</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24</a:t>
            </a:r>
            <a:endParaRPr lang="en-US" sz="900" dirty="0"/>
          </a:p>
        </p:txBody>
      </p:sp>
      <p:sp>
        <p:nvSpPr>
          <p:cNvPr id="8" name="Text 6"/>
          <p:cNvSpPr/>
          <p:nvPr/>
        </p:nvSpPr>
        <p:spPr>
          <a:xfrm>
            <a:off x="566928" y="1554480"/>
            <a:ext cx="2743200" cy="256032"/>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타임라인</a:t>
            </a:r>
            <a:endParaRPr lang="en-US" sz="1300" dirty="0"/>
          </a:p>
        </p:txBody>
      </p:sp>
      <p:sp>
        <p:nvSpPr>
          <p:cNvPr id="9" name="Shape 7"/>
          <p:cNvSpPr/>
          <p:nvPr/>
        </p:nvSpPr>
        <p:spPr>
          <a:xfrm>
            <a:off x="566928" y="1847088"/>
            <a:ext cx="5349240" cy="493776"/>
          </a:xfrm>
          <a:prstGeom prst="rect">
            <a:avLst/>
          </a:prstGeom>
          <a:solidFill>
            <a:srgbClr val="FFFFFF"/>
          </a:solidFill>
          <a:ln w="9525">
            <a:solidFill>
              <a:srgbClr val="CDCECB"/>
            </a:solidFill>
            <a:prstDash val="solid"/>
          </a:ln>
        </p:spPr>
      </p:sp>
      <p:sp>
        <p:nvSpPr>
          <p:cNvPr id="10" name="Text 8"/>
          <p:cNvSpPr/>
          <p:nvPr/>
        </p:nvSpPr>
        <p:spPr>
          <a:xfrm>
            <a:off x="749808" y="1847088"/>
            <a:ext cx="822960" cy="493776"/>
          </a:xfrm>
          <a:prstGeom prst="rect">
            <a:avLst/>
          </a:prstGeom>
          <a:noFill/>
          <a:ln/>
        </p:spPr>
        <p:txBody>
          <a:bodyPr wrap="square" lIns="0" tIns="0" rIns="0" bIns="0" rtlCol="0" anchor="ctr"/>
          <a:lstStyle/>
          <a:p>
            <a:pPr indent="0" marL="0">
              <a:buNone/>
            </a:pPr>
            <a:r>
              <a:rPr lang="en-US" sz="1100" b="1" dirty="0">
                <a:solidFill>
                  <a:srgbClr val="043B72"/>
                </a:solidFill>
                <a:latin typeface="Spoqa Han Sans Neo" pitchFamily="34" charset="0"/>
                <a:ea typeface="Spoqa Han Sans Neo" pitchFamily="34" charset="-122"/>
                <a:cs typeface="Spoqa Han Sans Neo" pitchFamily="34" charset="-120"/>
              </a:rPr>
              <a:t>6월</a:t>
            </a:r>
            <a:endParaRPr lang="en-US" sz="1100" dirty="0"/>
          </a:p>
        </p:txBody>
      </p:sp>
      <p:sp>
        <p:nvSpPr>
          <p:cNvPr id="11" name="Text 9"/>
          <p:cNvSpPr/>
          <p:nvPr/>
        </p:nvSpPr>
        <p:spPr>
          <a:xfrm>
            <a:off x="1627632" y="1847088"/>
            <a:ext cx="4133088" cy="493776"/>
          </a:xfrm>
          <a:prstGeom prst="rect">
            <a:avLst/>
          </a:prstGeom>
          <a:noFill/>
          <a:ln/>
        </p:spPr>
        <p:txBody>
          <a:bodyPr wrap="square" lIns="0" tIns="0" rIns="0" bIns="0" rtlCol="0" anchor="ctr"/>
          <a:lstStyle/>
          <a:p>
            <a:pPr indent="0" marL="0">
              <a:lnSpc>
                <a:spcPct val="118000"/>
              </a:lnSpc>
              <a:buNone/>
            </a:pPr>
            <a:r>
              <a:rPr lang="en-US" sz="1020" dirty="0">
                <a:solidFill>
                  <a:srgbClr val="3D3D3D"/>
                </a:solidFill>
                <a:latin typeface="Spoqa Han Sans Neo" pitchFamily="34" charset="0"/>
                <a:ea typeface="Spoqa Han Sans Neo" pitchFamily="34" charset="-122"/>
                <a:cs typeface="Spoqa Han Sans Neo" pitchFamily="34" charset="-120"/>
              </a:rPr>
              <a:t>코스피 사상 최고 9,385.59 기록</a:t>
            </a:r>
            <a:endParaRPr lang="en-US" sz="1020" dirty="0"/>
          </a:p>
        </p:txBody>
      </p:sp>
      <p:sp>
        <p:nvSpPr>
          <p:cNvPr id="12" name="Shape 10"/>
          <p:cNvSpPr/>
          <p:nvPr/>
        </p:nvSpPr>
        <p:spPr>
          <a:xfrm>
            <a:off x="566928" y="2395728"/>
            <a:ext cx="5349240" cy="493776"/>
          </a:xfrm>
          <a:prstGeom prst="rect">
            <a:avLst/>
          </a:prstGeom>
          <a:solidFill>
            <a:srgbClr val="FFFFFF"/>
          </a:solidFill>
          <a:ln w="9525">
            <a:solidFill>
              <a:srgbClr val="CDCECB"/>
            </a:solidFill>
            <a:prstDash val="solid"/>
          </a:ln>
        </p:spPr>
      </p:sp>
      <p:sp>
        <p:nvSpPr>
          <p:cNvPr id="13" name="Text 11"/>
          <p:cNvSpPr/>
          <p:nvPr/>
        </p:nvSpPr>
        <p:spPr>
          <a:xfrm>
            <a:off x="749808" y="2395728"/>
            <a:ext cx="822960" cy="493776"/>
          </a:xfrm>
          <a:prstGeom prst="rect">
            <a:avLst/>
          </a:prstGeom>
          <a:noFill/>
          <a:ln/>
        </p:spPr>
        <p:txBody>
          <a:bodyPr wrap="square" lIns="0" tIns="0" rIns="0" bIns="0" rtlCol="0" anchor="ctr"/>
          <a:lstStyle/>
          <a:p>
            <a:pPr indent="0" marL="0">
              <a:buNone/>
            </a:pPr>
            <a:r>
              <a:rPr lang="en-US" sz="1100" b="1" dirty="0">
                <a:solidFill>
                  <a:srgbClr val="043B72"/>
                </a:solidFill>
                <a:latin typeface="Spoqa Han Sans Neo" pitchFamily="34" charset="0"/>
                <a:ea typeface="Spoqa Han Sans Neo" pitchFamily="34" charset="-122"/>
                <a:cs typeface="Spoqa Han Sans Neo" pitchFamily="34" charset="-120"/>
              </a:rPr>
              <a:t>7.10</a:t>
            </a:r>
            <a:endParaRPr lang="en-US" sz="1100" dirty="0"/>
          </a:p>
        </p:txBody>
      </p:sp>
      <p:sp>
        <p:nvSpPr>
          <p:cNvPr id="14" name="Text 12"/>
          <p:cNvSpPr/>
          <p:nvPr/>
        </p:nvSpPr>
        <p:spPr>
          <a:xfrm>
            <a:off x="1627632" y="2395728"/>
            <a:ext cx="4133088" cy="493776"/>
          </a:xfrm>
          <a:prstGeom prst="rect">
            <a:avLst/>
          </a:prstGeom>
          <a:noFill/>
          <a:ln/>
        </p:spPr>
        <p:txBody>
          <a:bodyPr wrap="square" lIns="0" tIns="0" rIns="0" bIns="0" rtlCol="0" anchor="ctr"/>
          <a:lstStyle/>
          <a:p>
            <a:pPr indent="0" marL="0">
              <a:lnSpc>
                <a:spcPct val="118000"/>
              </a:lnSpc>
              <a:buNone/>
            </a:pPr>
            <a:r>
              <a:rPr lang="en-US" sz="1020" dirty="0">
                <a:solidFill>
                  <a:srgbClr val="3D3D3D"/>
                </a:solidFill>
                <a:latin typeface="Spoqa Han Sans Neo" pitchFamily="34" charset="0"/>
                <a:ea typeface="Spoqa Han Sans Neo" pitchFamily="34" charset="-122"/>
                <a:cs typeface="Spoqa Han Sans Neo" pitchFamily="34" charset="-120"/>
              </a:rPr>
              <a:t>SK하이닉스 나스닥 ADR 상장(SKHY) — 공모가 149달러, 첫날 +13%, 조달 약 265억 달러</a:t>
            </a:r>
            <a:endParaRPr lang="en-US" sz="1020" dirty="0"/>
          </a:p>
        </p:txBody>
      </p:sp>
      <p:sp>
        <p:nvSpPr>
          <p:cNvPr id="15" name="Shape 13"/>
          <p:cNvSpPr/>
          <p:nvPr/>
        </p:nvSpPr>
        <p:spPr>
          <a:xfrm>
            <a:off x="566928" y="2944368"/>
            <a:ext cx="5349240" cy="493776"/>
          </a:xfrm>
          <a:prstGeom prst="rect">
            <a:avLst/>
          </a:prstGeom>
          <a:solidFill>
            <a:srgbClr val="FFFFFF"/>
          </a:solidFill>
          <a:ln w="9525">
            <a:solidFill>
              <a:srgbClr val="CDCECB"/>
            </a:solidFill>
            <a:prstDash val="solid"/>
          </a:ln>
        </p:spPr>
      </p:sp>
      <p:sp>
        <p:nvSpPr>
          <p:cNvPr id="16" name="Text 14"/>
          <p:cNvSpPr/>
          <p:nvPr/>
        </p:nvSpPr>
        <p:spPr>
          <a:xfrm>
            <a:off x="749808" y="2944368"/>
            <a:ext cx="822960" cy="493776"/>
          </a:xfrm>
          <a:prstGeom prst="rect">
            <a:avLst/>
          </a:prstGeom>
          <a:noFill/>
          <a:ln/>
        </p:spPr>
        <p:txBody>
          <a:bodyPr wrap="square" lIns="0" tIns="0" rIns="0" bIns="0" rtlCol="0" anchor="ctr"/>
          <a:lstStyle/>
          <a:p>
            <a:pPr indent="0" marL="0">
              <a:buNone/>
            </a:pPr>
            <a:r>
              <a:rPr lang="en-US" sz="1100" b="1" dirty="0">
                <a:solidFill>
                  <a:srgbClr val="043B72"/>
                </a:solidFill>
                <a:latin typeface="Spoqa Han Sans Neo" pitchFamily="34" charset="0"/>
                <a:ea typeface="Spoqa Han Sans Neo" pitchFamily="34" charset="-122"/>
                <a:cs typeface="Spoqa Han Sans Neo" pitchFamily="34" charset="-120"/>
              </a:rPr>
              <a:t>7.13</a:t>
            </a:r>
            <a:endParaRPr lang="en-US" sz="1100" dirty="0"/>
          </a:p>
        </p:txBody>
      </p:sp>
      <p:sp>
        <p:nvSpPr>
          <p:cNvPr id="17" name="Text 15"/>
          <p:cNvSpPr/>
          <p:nvPr/>
        </p:nvSpPr>
        <p:spPr>
          <a:xfrm>
            <a:off x="1627632" y="2944368"/>
            <a:ext cx="4133088" cy="493776"/>
          </a:xfrm>
          <a:prstGeom prst="rect">
            <a:avLst/>
          </a:prstGeom>
          <a:noFill/>
          <a:ln/>
        </p:spPr>
        <p:txBody>
          <a:bodyPr wrap="square" lIns="0" tIns="0" rIns="0" bIns="0" rtlCol="0" anchor="ctr"/>
          <a:lstStyle/>
          <a:p>
            <a:pPr indent="0" marL="0">
              <a:lnSpc>
                <a:spcPct val="118000"/>
              </a:lnSpc>
              <a:buNone/>
            </a:pPr>
            <a:r>
              <a:rPr lang="en-US" sz="1020" dirty="0">
                <a:solidFill>
                  <a:srgbClr val="3D3D3D"/>
                </a:solidFill>
                <a:latin typeface="Spoqa Han Sans Neo" pitchFamily="34" charset="0"/>
                <a:ea typeface="Spoqa Han Sans Neo" pitchFamily="34" charset="-122"/>
                <a:cs typeface="Spoqa Han Sans Neo" pitchFamily="34" charset="-120"/>
              </a:rPr>
              <a:t>코스피 -8.95% 서킷브레이커. 삼성전자 -10.70%, SK하이닉스 -15.37%(역대 최대 하락률)</a:t>
            </a:r>
            <a:endParaRPr lang="en-US" sz="1020" dirty="0"/>
          </a:p>
        </p:txBody>
      </p:sp>
      <p:sp>
        <p:nvSpPr>
          <p:cNvPr id="18" name="Shape 16"/>
          <p:cNvSpPr/>
          <p:nvPr/>
        </p:nvSpPr>
        <p:spPr>
          <a:xfrm>
            <a:off x="566928" y="3493008"/>
            <a:ext cx="5349240" cy="493776"/>
          </a:xfrm>
          <a:prstGeom prst="rect">
            <a:avLst/>
          </a:prstGeom>
          <a:solidFill>
            <a:srgbClr val="FFFFFF"/>
          </a:solidFill>
          <a:ln w="9525">
            <a:solidFill>
              <a:srgbClr val="CDCECB"/>
            </a:solidFill>
            <a:prstDash val="solid"/>
          </a:ln>
        </p:spPr>
      </p:sp>
      <p:sp>
        <p:nvSpPr>
          <p:cNvPr id="19" name="Text 17"/>
          <p:cNvSpPr/>
          <p:nvPr/>
        </p:nvSpPr>
        <p:spPr>
          <a:xfrm>
            <a:off x="749808" y="3493008"/>
            <a:ext cx="822960" cy="493776"/>
          </a:xfrm>
          <a:prstGeom prst="rect">
            <a:avLst/>
          </a:prstGeom>
          <a:noFill/>
          <a:ln/>
        </p:spPr>
        <p:txBody>
          <a:bodyPr wrap="square" lIns="0" tIns="0" rIns="0" bIns="0" rtlCol="0" anchor="ctr"/>
          <a:lstStyle/>
          <a:p>
            <a:pPr indent="0" marL="0">
              <a:buNone/>
            </a:pPr>
            <a:r>
              <a:rPr lang="en-US" sz="1100" b="1" dirty="0">
                <a:solidFill>
                  <a:srgbClr val="043B72"/>
                </a:solidFill>
                <a:latin typeface="Spoqa Han Sans Neo" pitchFamily="34" charset="0"/>
                <a:ea typeface="Spoqa Han Sans Neo" pitchFamily="34" charset="-122"/>
                <a:cs typeface="Spoqa Han Sans Neo" pitchFamily="34" charset="-120"/>
              </a:rPr>
              <a:t>7.27</a:t>
            </a:r>
            <a:endParaRPr lang="en-US" sz="1100" dirty="0"/>
          </a:p>
        </p:txBody>
      </p:sp>
      <p:sp>
        <p:nvSpPr>
          <p:cNvPr id="20" name="Text 18"/>
          <p:cNvSpPr/>
          <p:nvPr/>
        </p:nvSpPr>
        <p:spPr>
          <a:xfrm>
            <a:off x="1627632" y="3493008"/>
            <a:ext cx="4133088" cy="493776"/>
          </a:xfrm>
          <a:prstGeom prst="rect">
            <a:avLst/>
          </a:prstGeom>
          <a:noFill/>
          <a:ln/>
        </p:spPr>
        <p:txBody>
          <a:bodyPr wrap="square" lIns="0" tIns="0" rIns="0" bIns="0" rtlCol="0" anchor="ctr"/>
          <a:lstStyle/>
          <a:p>
            <a:pPr indent="0" marL="0">
              <a:lnSpc>
                <a:spcPct val="118000"/>
              </a:lnSpc>
              <a:buNone/>
            </a:pPr>
            <a:r>
              <a:rPr lang="en-US" sz="1020" dirty="0">
                <a:solidFill>
                  <a:srgbClr val="3D3D3D"/>
                </a:solidFill>
                <a:latin typeface="Spoqa Han Sans Neo" pitchFamily="34" charset="0"/>
                <a:ea typeface="Spoqa Han Sans Neo" pitchFamily="34" charset="-122"/>
                <a:cs typeface="Spoqa Han Sans Neo" pitchFamily="34" charset="-120"/>
              </a:rPr>
              <a:t>중국 CXMT 상하이 상장 — 첫날 중국 증시 시가총액 1위</a:t>
            </a:r>
            <a:endParaRPr lang="en-US" sz="1020" dirty="0"/>
          </a:p>
        </p:txBody>
      </p:sp>
      <p:sp>
        <p:nvSpPr>
          <p:cNvPr id="21" name="Shape 19"/>
          <p:cNvSpPr/>
          <p:nvPr/>
        </p:nvSpPr>
        <p:spPr>
          <a:xfrm>
            <a:off x="566928" y="4041648"/>
            <a:ext cx="5349240" cy="493776"/>
          </a:xfrm>
          <a:prstGeom prst="rect">
            <a:avLst/>
          </a:prstGeom>
          <a:solidFill>
            <a:srgbClr val="FFFFFF"/>
          </a:solidFill>
          <a:ln w="9525">
            <a:solidFill>
              <a:srgbClr val="CDCECB"/>
            </a:solidFill>
            <a:prstDash val="solid"/>
          </a:ln>
        </p:spPr>
      </p:sp>
      <p:sp>
        <p:nvSpPr>
          <p:cNvPr id="22" name="Text 20"/>
          <p:cNvSpPr/>
          <p:nvPr/>
        </p:nvSpPr>
        <p:spPr>
          <a:xfrm>
            <a:off x="749808" y="4041648"/>
            <a:ext cx="822960" cy="493776"/>
          </a:xfrm>
          <a:prstGeom prst="rect">
            <a:avLst/>
          </a:prstGeom>
          <a:noFill/>
          <a:ln/>
        </p:spPr>
        <p:txBody>
          <a:bodyPr wrap="square" lIns="0" tIns="0" rIns="0" bIns="0" rtlCol="0" anchor="ctr"/>
          <a:lstStyle/>
          <a:p>
            <a:pPr indent="0" marL="0">
              <a:buNone/>
            </a:pPr>
            <a:r>
              <a:rPr lang="en-US" sz="1100" b="1" dirty="0">
                <a:solidFill>
                  <a:srgbClr val="043B72"/>
                </a:solidFill>
                <a:latin typeface="Spoqa Han Sans Neo" pitchFamily="34" charset="0"/>
                <a:ea typeface="Spoqa Han Sans Neo" pitchFamily="34" charset="-122"/>
                <a:cs typeface="Spoqa Han Sans Neo" pitchFamily="34" charset="-120"/>
              </a:rPr>
              <a:t>7월 말</a:t>
            </a:r>
            <a:endParaRPr lang="en-US" sz="1100" dirty="0"/>
          </a:p>
        </p:txBody>
      </p:sp>
      <p:sp>
        <p:nvSpPr>
          <p:cNvPr id="23" name="Text 21"/>
          <p:cNvSpPr/>
          <p:nvPr/>
        </p:nvSpPr>
        <p:spPr>
          <a:xfrm>
            <a:off x="1627632" y="4041648"/>
            <a:ext cx="4133088" cy="493776"/>
          </a:xfrm>
          <a:prstGeom prst="rect">
            <a:avLst/>
          </a:prstGeom>
          <a:noFill/>
          <a:ln/>
        </p:spPr>
        <p:txBody>
          <a:bodyPr wrap="square" lIns="0" tIns="0" rIns="0" bIns="0" rtlCol="0" anchor="ctr"/>
          <a:lstStyle/>
          <a:p>
            <a:pPr indent="0" marL="0">
              <a:lnSpc>
                <a:spcPct val="118000"/>
              </a:lnSpc>
              <a:buNone/>
            </a:pPr>
            <a:r>
              <a:rPr lang="en-US" sz="1020" dirty="0">
                <a:solidFill>
                  <a:srgbClr val="3D3D3D"/>
                </a:solidFill>
                <a:latin typeface="Spoqa Han Sans Neo" pitchFamily="34" charset="0"/>
                <a:ea typeface="Spoqa Han Sans Neo" pitchFamily="34" charset="-122"/>
                <a:cs typeface="Spoqa Han Sans Neo" pitchFamily="34" charset="-120"/>
              </a:rPr>
              <a:t>2거래일 연속 서킷브레이커, 장중 저점 5,262.77</a:t>
            </a:r>
            <a:endParaRPr lang="en-US" sz="1020" dirty="0"/>
          </a:p>
        </p:txBody>
      </p:sp>
      <p:sp>
        <p:nvSpPr>
          <p:cNvPr id="24" name="Shape 22"/>
          <p:cNvSpPr/>
          <p:nvPr/>
        </p:nvSpPr>
        <p:spPr>
          <a:xfrm>
            <a:off x="566928" y="4590288"/>
            <a:ext cx="5349240" cy="493776"/>
          </a:xfrm>
          <a:prstGeom prst="rect">
            <a:avLst/>
          </a:prstGeom>
          <a:solidFill>
            <a:srgbClr val="FFF3E8"/>
          </a:solidFill>
          <a:ln w="9525">
            <a:solidFill>
              <a:srgbClr val="FAB072"/>
            </a:solidFill>
            <a:prstDash val="solid"/>
          </a:ln>
        </p:spPr>
      </p:sp>
      <p:sp>
        <p:nvSpPr>
          <p:cNvPr id="25" name="Text 23"/>
          <p:cNvSpPr/>
          <p:nvPr/>
        </p:nvSpPr>
        <p:spPr>
          <a:xfrm>
            <a:off x="749808" y="4590288"/>
            <a:ext cx="822960" cy="493776"/>
          </a:xfrm>
          <a:prstGeom prst="rect">
            <a:avLst/>
          </a:prstGeom>
          <a:noFill/>
          <a:ln/>
        </p:spPr>
        <p:txBody>
          <a:bodyPr wrap="square" lIns="0" tIns="0" rIns="0" bIns="0" rtlCol="0" anchor="ctr"/>
          <a:lstStyle/>
          <a:p>
            <a:pPr indent="0" marL="0">
              <a:buNone/>
            </a:pPr>
            <a:r>
              <a:rPr lang="en-US" sz="1100" b="1" dirty="0">
                <a:solidFill>
                  <a:srgbClr val="CB6015"/>
                </a:solidFill>
                <a:latin typeface="Spoqa Han Sans Neo" pitchFamily="34" charset="0"/>
                <a:ea typeface="Spoqa Han Sans Neo" pitchFamily="34" charset="-122"/>
                <a:cs typeface="Spoqa Han Sans Neo" pitchFamily="34" charset="-120"/>
              </a:rPr>
              <a:t>7.31</a:t>
            </a:r>
            <a:endParaRPr lang="en-US" sz="1100" dirty="0"/>
          </a:p>
        </p:txBody>
      </p:sp>
      <p:sp>
        <p:nvSpPr>
          <p:cNvPr id="26" name="Text 24"/>
          <p:cNvSpPr/>
          <p:nvPr/>
        </p:nvSpPr>
        <p:spPr>
          <a:xfrm>
            <a:off x="1627632" y="4590288"/>
            <a:ext cx="4133088" cy="493776"/>
          </a:xfrm>
          <a:prstGeom prst="rect">
            <a:avLst/>
          </a:prstGeom>
          <a:noFill/>
          <a:ln/>
        </p:spPr>
        <p:txBody>
          <a:bodyPr wrap="square" lIns="0" tIns="0" rIns="0" bIns="0" rtlCol="0" anchor="ctr"/>
          <a:lstStyle/>
          <a:p>
            <a:pPr indent="0" marL="0">
              <a:lnSpc>
                <a:spcPct val="118000"/>
              </a:lnSpc>
              <a:buNone/>
            </a:pPr>
            <a:r>
              <a:rPr lang="en-US" sz="1020" dirty="0">
                <a:solidFill>
                  <a:srgbClr val="3D3D3D"/>
                </a:solidFill>
                <a:latin typeface="Spoqa Han Sans Neo" pitchFamily="34" charset="0"/>
                <a:ea typeface="Spoqa Han Sans Neo" pitchFamily="34" charset="-122"/>
                <a:cs typeface="Spoqa Han Sans Neo" pitchFamily="34" charset="-120"/>
              </a:rPr>
              <a:t>6,595.45 마감 (+1,001.89p, +17.91%) — 사상 첫 1,000p 이상 상승, SK하이닉스 17년 만에 상한가</a:t>
            </a:r>
            <a:endParaRPr lang="en-US" sz="1020" dirty="0"/>
          </a:p>
        </p:txBody>
      </p:sp>
      <p:sp>
        <p:nvSpPr>
          <p:cNvPr id="27" name="Text 25"/>
          <p:cNvSpPr/>
          <p:nvPr/>
        </p:nvSpPr>
        <p:spPr>
          <a:xfrm>
            <a:off x="6272784" y="1554480"/>
            <a:ext cx="4572000" cy="256032"/>
          </a:xfrm>
          <a:prstGeom prst="rect">
            <a:avLst/>
          </a:prstGeom>
          <a:noFill/>
          <a:ln/>
        </p:spPr>
        <p:txBody>
          <a:bodyPr wrap="square" lIns="0" tIns="0" rIns="0" bIns="0" rtlCol="0" anchor="ctr"/>
          <a:lstStyle/>
          <a:p>
            <a:pPr indent="0" marL="0">
              <a:buNone/>
            </a:pPr>
            <a:r>
              <a:rPr lang="en-US" sz="1300" b="1" dirty="0">
                <a:solidFill>
                  <a:srgbClr val="C62828"/>
                </a:solidFill>
                <a:latin typeface="Spoqa Han Sans Neo" pitchFamily="34" charset="0"/>
                <a:ea typeface="Spoqa Han Sans Neo" pitchFamily="34" charset="-122"/>
                <a:cs typeface="Spoqa Han Sans Neo" pitchFamily="34" charset="-120"/>
              </a:rPr>
              <a:t>하락을 만든 다섯 가지 서사</a:t>
            </a:r>
            <a:endParaRPr lang="en-US" sz="1300" dirty="0"/>
          </a:p>
        </p:txBody>
      </p:sp>
      <p:sp>
        <p:nvSpPr>
          <p:cNvPr id="28" name="Shape 26"/>
          <p:cNvSpPr/>
          <p:nvPr/>
        </p:nvSpPr>
        <p:spPr>
          <a:xfrm>
            <a:off x="6272784" y="1847088"/>
            <a:ext cx="5349240" cy="621792"/>
          </a:xfrm>
          <a:prstGeom prst="rect">
            <a:avLst/>
          </a:prstGeom>
          <a:solidFill>
            <a:srgbClr val="FFFFFF"/>
          </a:solidFill>
          <a:ln w="9525">
            <a:solidFill>
              <a:srgbClr val="CDCECB"/>
            </a:solidFill>
            <a:prstDash val="solid"/>
          </a:ln>
        </p:spPr>
      </p:sp>
      <p:sp>
        <p:nvSpPr>
          <p:cNvPr id="29" name="Shape 27"/>
          <p:cNvSpPr/>
          <p:nvPr/>
        </p:nvSpPr>
        <p:spPr>
          <a:xfrm>
            <a:off x="6437376" y="2011680"/>
            <a:ext cx="292608" cy="292608"/>
          </a:xfrm>
          <a:prstGeom prst="rect">
            <a:avLst/>
          </a:prstGeom>
          <a:solidFill>
            <a:srgbClr val="C62828"/>
          </a:solidFill>
          <a:ln w="12700">
            <a:solidFill>
              <a:srgbClr val="333333"/>
            </a:solidFill>
            <a:prstDash val="solid"/>
          </a:ln>
        </p:spPr>
      </p:sp>
      <p:sp>
        <p:nvSpPr>
          <p:cNvPr id="30" name="Text 28"/>
          <p:cNvSpPr/>
          <p:nvPr/>
        </p:nvSpPr>
        <p:spPr>
          <a:xfrm>
            <a:off x="6437376" y="2011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1</a:t>
            </a:r>
            <a:endParaRPr lang="en-US" sz="1200" dirty="0"/>
          </a:p>
        </p:txBody>
      </p:sp>
      <p:sp>
        <p:nvSpPr>
          <p:cNvPr id="31" name="Text 29"/>
          <p:cNvSpPr/>
          <p:nvPr/>
        </p:nvSpPr>
        <p:spPr>
          <a:xfrm>
            <a:off x="6821424" y="1920240"/>
            <a:ext cx="1783080" cy="256032"/>
          </a:xfrm>
          <a:prstGeom prst="rect">
            <a:avLst/>
          </a:prstGeom>
          <a:noFill/>
          <a:ln/>
        </p:spPr>
        <p:txBody>
          <a:bodyPr wrap="square" lIns="0" tIns="0" rIns="0" bIns="0" rtlCol="0" anchor="ct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피크아웃 리포트</a:t>
            </a:r>
            <a:endParaRPr lang="en-US" sz="1100" dirty="0"/>
          </a:p>
        </p:txBody>
      </p:sp>
      <p:sp>
        <p:nvSpPr>
          <p:cNvPr id="32" name="Text 30"/>
          <p:cNvSpPr/>
          <p:nvPr/>
        </p:nvSpPr>
        <p:spPr>
          <a:xfrm>
            <a:off x="8650224" y="1847088"/>
            <a:ext cx="2834640" cy="621792"/>
          </a:xfrm>
          <a:prstGeom prst="rect">
            <a:avLst/>
          </a:prstGeom>
          <a:noFill/>
          <a:ln/>
        </p:spPr>
        <p:txBody>
          <a:bodyPr wrap="square" lIns="0" tIns="0" rIns="0" bIns="0" rtlCol="0" anchor="ctr"/>
          <a:lstStyle/>
          <a:p>
            <a:pPr indent="0" marL="0">
              <a:lnSpc>
                <a:spcPct val="118000"/>
              </a:lnSpc>
              <a:buNone/>
            </a:pPr>
            <a:r>
              <a:rPr lang="en-US" sz="1010" dirty="0">
                <a:solidFill>
                  <a:srgbClr val="3D3D3D"/>
                </a:solidFill>
                <a:latin typeface="Spoqa Han Sans Neo" pitchFamily="34" charset="0"/>
                <a:ea typeface="Spoqa Han Sans Neo" pitchFamily="34" charset="-122"/>
                <a:cs typeface="Spoqa Han Sans Neo" pitchFamily="34" charset="-120"/>
              </a:rPr>
              <a:t>모건스탠리 등이 메모리 가격 상승률 둔화를 근거로 업황 정점 근접을 제시</a:t>
            </a:r>
            <a:endParaRPr lang="en-US" sz="1010" dirty="0"/>
          </a:p>
        </p:txBody>
      </p:sp>
      <p:sp>
        <p:nvSpPr>
          <p:cNvPr id="33" name="Shape 31"/>
          <p:cNvSpPr/>
          <p:nvPr/>
        </p:nvSpPr>
        <p:spPr>
          <a:xfrm>
            <a:off x="6272784" y="2523744"/>
            <a:ext cx="5349240" cy="621792"/>
          </a:xfrm>
          <a:prstGeom prst="rect">
            <a:avLst/>
          </a:prstGeom>
          <a:solidFill>
            <a:srgbClr val="FFFFFF"/>
          </a:solidFill>
          <a:ln w="9525">
            <a:solidFill>
              <a:srgbClr val="CDCECB"/>
            </a:solidFill>
            <a:prstDash val="solid"/>
          </a:ln>
        </p:spPr>
      </p:sp>
      <p:sp>
        <p:nvSpPr>
          <p:cNvPr id="34" name="Shape 32"/>
          <p:cNvSpPr/>
          <p:nvPr/>
        </p:nvSpPr>
        <p:spPr>
          <a:xfrm>
            <a:off x="6437376" y="2688336"/>
            <a:ext cx="292608" cy="292608"/>
          </a:xfrm>
          <a:prstGeom prst="rect">
            <a:avLst/>
          </a:prstGeom>
          <a:solidFill>
            <a:srgbClr val="C62828"/>
          </a:solidFill>
          <a:ln w="12700">
            <a:solidFill>
              <a:srgbClr val="333333"/>
            </a:solidFill>
            <a:prstDash val="solid"/>
          </a:ln>
        </p:spPr>
      </p:sp>
      <p:sp>
        <p:nvSpPr>
          <p:cNvPr id="35" name="Text 33"/>
          <p:cNvSpPr/>
          <p:nvPr/>
        </p:nvSpPr>
        <p:spPr>
          <a:xfrm>
            <a:off x="6437376" y="26883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2</a:t>
            </a:r>
            <a:endParaRPr lang="en-US" sz="1200" dirty="0"/>
          </a:p>
        </p:txBody>
      </p:sp>
      <p:sp>
        <p:nvSpPr>
          <p:cNvPr id="36" name="Text 34"/>
          <p:cNvSpPr/>
          <p:nvPr/>
        </p:nvSpPr>
        <p:spPr>
          <a:xfrm>
            <a:off x="6821424" y="2596896"/>
            <a:ext cx="1783080" cy="256032"/>
          </a:xfrm>
          <a:prstGeom prst="rect">
            <a:avLst/>
          </a:prstGeom>
          <a:noFill/>
          <a:ln/>
        </p:spPr>
        <p:txBody>
          <a:bodyPr wrap="square" lIns="0" tIns="0" rIns="0" bIns="0" rtlCol="0" anchor="ct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중국 공급 우려</a:t>
            </a:r>
            <a:endParaRPr lang="en-US" sz="1100" dirty="0"/>
          </a:p>
        </p:txBody>
      </p:sp>
      <p:sp>
        <p:nvSpPr>
          <p:cNvPr id="37" name="Text 35"/>
          <p:cNvSpPr/>
          <p:nvPr/>
        </p:nvSpPr>
        <p:spPr>
          <a:xfrm>
            <a:off x="8650224" y="2523744"/>
            <a:ext cx="2834640" cy="621792"/>
          </a:xfrm>
          <a:prstGeom prst="rect">
            <a:avLst/>
          </a:prstGeom>
          <a:noFill/>
          <a:ln/>
        </p:spPr>
        <p:txBody>
          <a:bodyPr wrap="square" lIns="0" tIns="0" rIns="0" bIns="0" rtlCol="0" anchor="ctr"/>
          <a:lstStyle/>
          <a:p>
            <a:pPr indent="0" marL="0">
              <a:lnSpc>
                <a:spcPct val="118000"/>
              </a:lnSpc>
              <a:buNone/>
            </a:pPr>
            <a:r>
              <a:rPr lang="en-US" sz="1010" dirty="0">
                <a:solidFill>
                  <a:srgbClr val="3D3D3D"/>
                </a:solidFill>
                <a:latin typeface="Spoqa Han Sans Neo" pitchFamily="34" charset="0"/>
                <a:ea typeface="Spoqa Han Sans Neo" pitchFamily="34" charset="-122"/>
                <a:cs typeface="Spoqa Han Sans Neo" pitchFamily="34" charset="-120"/>
              </a:rPr>
              <a:t>CXMT 상장으로 조달한 약 14조 원이 향후 범용 D램 공급 확대로 이어질 가능성</a:t>
            </a:r>
            <a:endParaRPr lang="en-US" sz="1010" dirty="0"/>
          </a:p>
        </p:txBody>
      </p:sp>
      <p:sp>
        <p:nvSpPr>
          <p:cNvPr id="38" name="Shape 36"/>
          <p:cNvSpPr/>
          <p:nvPr/>
        </p:nvSpPr>
        <p:spPr>
          <a:xfrm>
            <a:off x="6272784" y="3200400"/>
            <a:ext cx="5349240" cy="621792"/>
          </a:xfrm>
          <a:prstGeom prst="rect">
            <a:avLst/>
          </a:prstGeom>
          <a:solidFill>
            <a:srgbClr val="FFFFFF"/>
          </a:solidFill>
          <a:ln w="9525">
            <a:solidFill>
              <a:srgbClr val="CDCECB"/>
            </a:solidFill>
            <a:prstDash val="solid"/>
          </a:ln>
        </p:spPr>
      </p:sp>
      <p:sp>
        <p:nvSpPr>
          <p:cNvPr id="39" name="Shape 37"/>
          <p:cNvSpPr/>
          <p:nvPr/>
        </p:nvSpPr>
        <p:spPr>
          <a:xfrm>
            <a:off x="6437376" y="3364992"/>
            <a:ext cx="292608" cy="292608"/>
          </a:xfrm>
          <a:prstGeom prst="rect">
            <a:avLst/>
          </a:prstGeom>
          <a:solidFill>
            <a:srgbClr val="C62828"/>
          </a:solidFill>
          <a:ln w="12700">
            <a:solidFill>
              <a:srgbClr val="333333"/>
            </a:solidFill>
            <a:prstDash val="solid"/>
          </a:ln>
        </p:spPr>
      </p:sp>
      <p:sp>
        <p:nvSpPr>
          <p:cNvPr id="40" name="Text 38"/>
          <p:cNvSpPr/>
          <p:nvPr/>
        </p:nvSpPr>
        <p:spPr>
          <a:xfrm>
            <a:off x="6437376" y="3364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3</a:t>
            </a:r>
            <a:endParaRPr lang="en-US" sz="1200" dirty="0"/>
          </a:p>
        </p:txBody>
      </p:sp>
      <p:sp>
        <p:nvSpPr>
          <p:cNvPr id="41" name="Text 39"/>
          <p:cNvSpPr/>
          <p:nvPr/>
        </p:nvSpPr>
        <p:spPr>
          <a:xfrm>
            <a:off x="6821424" y="3273552"/>
            <a:ext cx="1783080" cy="256032"/>
          </a:xfrm>
          <a:prstGeom prst="rect">
            <a:avLst/>
          </a:prstGeom>
          <a:noFill/>
          <a:ln/>
        </p:spPr>
        <p:txBody>
          <a:bodyPr wrap="square" lIns="0" tIns="0" rIns="0" bIns="0" rtlCol="0" anchor="ct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빅테크 CapEx 부담</a:t>
            </a:r>
            <a:endParaRPr lang="en-US" sz="1100" dirty="0"/>
          </a:p>
        </p:txBody>
      </p:sp>
      <p:sp>
        <p:nvSpPr>
          <p:cNvPr id="42" name="Text 40"/>
          <p:cNvSpPr/>
          <p:nvPr/>
        </p:nvSpPr>
        <p:spPr>
          <a:xfrm>
            <a:off x="8650224" y="3200400"/>
            <a:ext cx="2834640" cy="621792"/>
          </a:xfrm>
          <a:prstGeom prst="rect">
            <a:avLst/>
          </a:prstGeom>
          <a:noFill/>
          <a:ln/>
        </p:spPr>
        <p:txBody>
          <a:bodyPr wrap="square" lIns="0" tIns="0" rIns="0" bIns="0" rtlCol="0" anchor="ctr"/>
          <a:lstStyle/>
          <a:p>
            <a:pPr indent="0" marL="0">
              <a:lnSpc>
                <a:spcPct val="118000"/>
              </a:lnSpc>
              <a:buNone/>
            </a:pPr>
            <a:r>
              <a:rPr lang="en-US" sz="1010" dirty="0">
                <a:solidFill>
                  <a:srgbClr val="3D3D3D"/>
                </a:solidFill>
                <a:latin typeface="Spoqa Han Sans Neo" pitchFamily="34" charset="0"/>
                <a:ea typeface="Spoqa Han Sans Neo" pitchFamily="34" charset="-122"/>
                <a:cs typeface="Spoqa Han Sans Neo" pitchFamily="34" charset="-120"/>
              </a:rPr>
              <a:t>알파벳·메타·MS의 잉여현금흐름·EPS가 기대 미달. 메타는 CapEx 상향에 주가 -9%</a:t>
            </a:r>
            <a:endParaRPr lang="en-US" sz="1010" dirty="0"/>
          </a:p>
        </p:txBody>
      </p:sp>
      <p:sp>
        <p:nvSpPr>
          <p:cNvPr id="43" name="Shape 41"/>
          <p:cNvSpPr/>
          <p:nvPr/>
        </p:nvSpPr>
        <p:spPr>
          <a:xfrm>
            <a:off x="6272784" y="3877056"/>
            <a:ext cx="5349240" cy="621792"/>
          </a:xfrm>
          <a:prstGeom prst="rect">
            <a:avLst/>
          </a:prstGeom>
          <a:solidFill>
            <a:srgbClr val="FFFFFF"/>
          </a:solidFill>
          <a:ln w="9525">
            <a:solidFill>
              <a:srgbClr val="CDCECB"/>
            </a:solidFill>
            <a:prstDash val="solid"/>
          </a:ln>
        </p:spPr>
      </p:sp>
      <p:sp>
        <p:nvSpPr>
          <p:cNvPr id="44" name="Shape 42"/>
          <p:cNvSpPr/>
          <p:nvPr/>
        </p:nvSpPr>
        <p:spPr>
          <a:xfrm>
            <a:off x="6437376" y="4041648"/>
            <a:ext cx="292608" cy="292608"/>
          </a:xfrm>
          <a:prstGeom prst="rect">
            <a:avLst/>
          </a:prstGeom>
          <a:solidFill>
            <a:srgbClr val="C62828"/>
          </a:solidFill>
          <a:ln w="12700">
            <a:solidFill>
              <a:srgbClr val="333333"/>
            </a:solidFill>
            <a:prstDash val="solid"/>
          </a:ln>
        </p:spPr>
      </p:sp>
      <p:sp>
        <p:nvSpPr>
          <p:cNvPr id="45" name="Text 43"/>
          <p:cNvSpPr/>
          <p:nvPr/>
        </p:nvSpPr>
        <p:spPr>
          <a:xfrm>
            <a:off x="6437376" y="404164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4</a:t>
            </a:r>
            <a:endParaRPr lang="en-US" sz="1200" dirty="0"/>
          </a:p>
        </p:txBody>
      </p:sp>
      <p:sp>
        <p:nvSpPr>
          <p:cNvPr id="46" name="Text 44"/>
          <p:cNvSpPr/>
          <p:nvPr/>
        </p:nvSpPr>
        <p:spPr>
          <a:xfrm>
            <a:off x="6821424" y="3950208"/>
            <a:ext cx="1783080" cy="256032"/>
          </a:xfrm>
          <a:prstGeom prst="rect">
            <a:avLst/>
          </a:prstGeom>
          <a:noFill/>
          <a:ln/>
        </p:spPr>
        <p:txBody>
          <a:bodyPr wrap="square" lIns="0" tIns="0" rIns="0" bIns="0" rtlCol="0" anchor="ct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최종 수요 위축 우려</a:t>
            </a:r>
            <a:endParaRPr lang="en-US" sz="1100" dirty="0"/>
          </a:p>
        </p:txBody>
      </p:sp>
      <p:sp>
        <p:nvSpPr>
          <p:cNvPr id="47" name="Text 45"/>
          <p:cNvSpPr/>
          <p:nvPr/>
        </p:nvSpPr>
        <p:spPr>
          <a:xfrm>
            <a:off x="8650224" y="3877056"/>
            <a:ext cx="2834640" cy="621792"/>
          </a:xfrm>
          <a:prstGeom prst="rect">
            <a:avLst/>
          </a:prstGeom>
          <a:noFill/>
          <a:ln/>
        </p:spPr>
        <p:txBody>
          <a:bodyPr wrap="square" lIns="0" tIns="0" rIns="0" bIns="0" rtlCol="0" anchor="ctr"/>
          <a:lstStyle/>
          <a:p>
            <a:pPr indent="0" marL="0">
              <a:lnSpc>
                <a:spcPct val="118000"/>
              </a:lnSpc>
              <a:buNone/>
            </a:pPr>
            <a:r>
              <a:rPr lang="en-US" sz="1010" dirty="0">
                <a:solidFill>
                  <a:srgbClr val="3D3D3D"/>
                </a:solidFill>
                <a:latin typeface="Spoqa Han Sans Neo" pitchFamily="34" charset="0"/>
                <a:ea typeface="Spoqa Han Sans Neo" pitchFamily="34" charset="-122"/>
                <a:cs typeface="Spoqa Han Sans Neo" pitchFamily="34" charset="-120"/>
              </a:rPr>
              <a:t>메모리 가격 급등이 PC·스마트폰 판매 둔화로 되돌아올 수 있다는 논리</a:t>
            </a:r>
            <a:endParaRPr lang="en-US" sz="1010" dirty="0"/>
          </a:p>
        </p:txBody>
      </p:sp>
      <p:sp>
        <p:nvSpPr>
          <p:cNvPr id="48" name="Shape 46"/>
          <p:cNvSpPr/>
          <p:nvPr/>
        </p:nvSpPr>
        <p:spPr>
          <a:xfrm>
            <a:off x="6272784" y="4553712"/>
            <a:ext cx="5349240" cy="621792"/>
          </a:xfrm>
          <a:prstGeom prst="rect">
            <a:avLst/>
          </a:prstGeom>
          <a:solidFill>
            <a:srgbClr val="FFFFFF"/>
          </a:solidFill>
          <a:ln w="9525">
            <a:solidFill>
              <a:srgbClr val="CDCECB"/>
            </a:solidFill>
            <a:prstDash val="solid"/>
          </a:ln>
        </p:spPr>
      </p:sp>
      <p:sp>
        <p:nvSpPr>
          <p:cNvPr id="49" name="Shape 47"/>
          <p:cNvSpPr/>
          <p:nvPr/>
        </p:nvSpPr>
        <p:spPr>
          <a:xfrm>
            <a:off x="6437376" y="4718304"/>
            <a:ext cx="292608" cy="292608"/>
          </a:xfrm>
          <a:prstGeom prst="rect">
            <a:avLst/>
          </a:prstGeom>
          <a:solidFill>
            <a:srgbClr val="C62828"/>
          </a:solidFill>
          <a:ln w="12700">
            <a:solidFill>
              <a:srgbClr val="333333"/>
            </a:solidFill>
            <a:prstDash val="solid"/>
          </a:ln>
        </p:spPr>
      </p:sp>
      <p:sp>
        <p:nvSpPr>
          <p:cNvPr id="50" name="Text 48"/>
          <p:cNvSpPr/>
          <p:nvPr/>
        </p:nvSpPr>
        <p:spPr>
          <a:xfrm>
            <a:off x="6437376" y="47183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Spoqa Han Sans Neo" pitchFamily="34" charset="0"/>
                <a:ea typeface="Spoqa Han Sans Neo" pitchFamily="34" charset="-122"/>
                <a:cs typeface="Spoqa Han Sans Neo" pitchFamily="34" charset="-120"/>
              </a:rPr>
              <a:t>5</a:t>
            </a:r>
            <a:endParaRPr lang="en-US" sz="1200" dirty="0"/>
          </a:p>
        </p:txBody>
      </p:sp>
      <p:sp>
        <p:nvSpPr>
          <p:cNvPr id="51" name="Text 49"/>
          <p:cNvSpPr/>
          <p:nvPr/>
        </p:nvSpPr>
        <p:spPr>
          <a:xfrm>
            <a:off x="6821424" y="4626864"/>
            <a:ext cx="1783080" cy="256032"/>
          </a:xfrm>
          <a:prstGeom prst="rect">
            <a:avLst/>
          </a:prstGeom>
          <a:noFill/>
          <a:ln/>
        </p:spPr>
        <p:txBody>
          <a:bodyPr wrap="square" lIns="0" tIns="0" rIns="0" bIns="0" rtlCol="0" anchor="ct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지정학 · 수급 쏠림</a:t>
            </a:r>
            <a:endParaRPr lang="en-US" sz="1100" dirty="0"/>
          </a:p>
        </p:txBody>
      </p:sp>
      <p:sp>
        <p:nvSpPr>
          <p:cNvPr id="52" name="Text 50"/>
          <p:cNvSpPr/>
          <p:nvPr/>
        </p:nvSpPr>
        <p:spPr>
          <a:xfrm>
            <a:off x="8650224" y="4553712"/>
            <a:ext cx="2834640" cy="621792"/>
          </a:xfrm>
          <a:prstGeom prst="rect">
            <a:avLst/>
          </a:prstGeom>
          <a:noFill/>
          <a:ln/>
        </p:spPr>
        <p:txBody>
          <a:bodyPr wrap="square" lIns="0" tIns="0" rIns="0" bIns="0" rtlCol="0" anchor="ctr"/>
          <a:lstStyle/>
          <a:p>
            <a:pPr indent="0" marL="0">
              <a:lnSpc>
                <a:spcPct val="118000"/>
              </a:lnSpc>
              <a:buNone/>
            </a:pPr>
            <a:r>
              <a:rPr lang="en-US" sz="1010" dirty="0">
                <a:solidFill>
                  <a:srgbClr val="3D3D3D"/>
                </a:solidFill>
                <a:latin typeface="Spoqa Han Sans Neo" pitchFamily="34" charset="0"/>
                <a:ea typeface="Spoqa Han Sans Neo" pitchFamily="34" charset="-122"/>
                <a:cs typeface="Spoqa Han Sans Neo" pitchFamily="34" charset="-120"/>
              </a:rPr>
              <a:t>미-이란 갈등에 따른 유가 급등, 단일종목 레버리지 ETF 쏠림이 낙폭을 증폭</a:t>
            </a:r>
            <a:endParaRPr lang="en-US" sz="1010" dirty="0"/>
          </a:p>
        </p:txBody>
      </p:sp>
      <p:sp>
        <p:nvSpPr>
          <p:cNvPr id="53" name="Shape 51"/>
          <p:cNvSpPr/>
          <p:nvPr/>
        </p:nvSpPr>
        <p:spPr>
          <a:xfrm>
            <a:off x="566928" y="5358384"/>
            <a:ext cx="11057839" cy="457200"/>
          </a:xfrm>
          <a:prstGeom prst="rect">
            <a:avLst/>
          </a:prstGeom>
          <a:solidFill>
            <a:srgbClr val="043B72"/>
          </a:solidFill>
          <a:ln w="9525">
            <a:solidFill>
              <a:srgbClr val="CDCECB"/>
            </a:solidFill>
            <a:prstDash val="solid"/>
          </a:ln>
        </p:spPr>
      </p:sp>
      <p:sp>
        <p:nvSpPr>
          <p:cNvPr id="54" name="Text 52"/>
          <p:cNvSpPr/>
          <p:nvPr/>
        </p:nvSpPr>
        <p:spPr>
          <a:xfrm>
            <a:off x="841248" y="5358384"/>
            <a:ext cx="10509199" cy="457200"/>
          </a:xfrm>
          <a:prstGeom prst="rect">
            <a:avLst/>
          </a:prstGeom>
          <a:noFill/>
          <a:ln/>
        </p:spPr>
        <p:txBody>
          <a:bodyPr wrap="square" lIns="0" tIns="0" rIns="0" bIns="0" rtlCol="0" anchor="ctr"/>
          <a:lstStyle/>
          <a:p>
            <a:pPr indent="0" marL="0">
              <a:buNone/>
            </a:pPr>
            <a:r>
              <a:rPr lang="en-US" sz="1100" b="1" dirty="0">
                <a:solidFill>
                  <a:srgbClr val="FFFFFF"/>
                </a:solidFill>
                <a:latin typeface="Spoqa Han Sans Neo" pitchFamily="34" charset="0"/>
                <a:ea typeface="Spoqa Han Sans Neo" pitchFamily="34" charset="-122"/>
                <a:cs typeface="Spoqa Han Sans Neo" pitchFamily="34" charset="-120"/>
              </a:rPr>
              <a:t>구조적 관찰  삼성전자·SK하이닉스 합산 시가총액은 고점 대비 -25.7%, 두 종목 제외 코스피는 -14.6%. 지수 변동성의 대부분이 반도체 2종목에서 나왔다.</a:t>
            </a:r>
            <a:endParaRPr lang="en-US" sz="1100" dirty="0"/>
          </a:p>
        </p:txBody>
      </p:sp>
      <p:sp>
        <p:nvSpPr>
          <p:cNvPr id="55" name="Text 53"/>
          <p:cNvSpPr/>
          <p:nvPr/>
        </p:nvSpPr>
        <p:spPr>
          <a:xfrm>
            <a:off x="566928" y="6108192"/>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한국거래소, Investing.com, 흥국증권·키움증권·유안타증권 리포트, 언론 보도 종합. 지수 레벨은 종가·장중 혼용. 시가총액 낙폭(-25.7%/-14.6%)은 기준일·기준가가 달라 지수 등락률과 직접 비교되지 않는다.</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4 · 밸류에이션</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밸류에이션의 역설 — 이익은 사상 최대, PER은 사상 최저</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시장은 지금의 이익이 지속되지 않는다고 가정하고 가격을 매기고 있다.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25</a:t>
            </a:r>
            <a:endParaRPr lang="en-US" sz="900" dirty="0"/>
          </a:p>
        </p:txBody>
      </p:sp>
      <p:sp>
        <p:nvSpPr>
          <p:cNvPr id="8" name="Shape 6"/>
          <p:cNvSpPr/>
          <p:nvPr/>
        </p:nvSpPr>
        <p:spPr>
          <a:xfrm>
            <a:off x="566928" y="1572768"/>
            <a:ext cx="2627300" cy="1609344"/>
          </a:xfrm>
          <a:prstGeom prst="rect">
            <a:avLst/>
          </a:prstGeom>
          <a:solidFill>
            <a:srgbClr val="FFFFFF"/>
          </a:solidFill>
          <a:ln w="9525">
            <a:solidFill>
              <a:srgbClr val="CDCECB"/>
            </a:solidFill>
            <a:prstDash val="solid"/>
          </a:ln>
        </p:spPr>
      </p:sp>
      <p:sp>
        <p:nvSpPr>
          <p:cNvPr id="9" name="Text 7"/>
          <p:cNvSpPr/>
          <p:nvPr/>
        </p:nvSpPr>
        <p:spPr>
          <a:xfrm>
            <a:off x="76809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삼성전자 12M Fwd PER</a:t>
            </a:r>
            <a:endParaRPr lang="en-US" sz="1050" dirty="0"/>
          </a:p>
        </p:txBody>
      </p:sp>
      <p:sp>
        <p:nvSpPr>
          <p:cNvPr id="10" name="Text 8"/>
          <p:cNvSpPr/>
          <p:nvPr/>
        </p:nvSpPr>
        <p:spPr>
          <a:xfrm>
            <a:off x="768096" y="1975104"/>
            <a:ext cx="2224964" cy="548640"/>
          </a:xfrm>
          <a:prstGeom prst="rect">
            <a:avLst/>
          </a:prstGeom>
          <a:noFill/>
          <a:ln/>
        </p:spPr>
        <p:txBody>
          <a:bodyPr wrap="square" lIns="0" tIns="0" rIns="0" bIns="0" rtlCol="0" anchor="ctr"/>
          <a:lstStyle/>
          <a:p>
            <a:pPr indent="0" marL="0">
              <a:buNone/>
            </a:pPr>
            <a:r>
              <a:rPr lang="en-US" sz="3000" b="1" dirty="0">
                <a:solidFill>
                  <a:srgbClr val="F58220"/>
                </a:solidFill>
                <a:latin typeface="Spoqa Han Sans Neo" pitchFamily="34" charset="0"/>
                <a:ea typeface="Spoqa Han Sans Neo" pitchFamily="34" charset="-122"/>
                <a:cs typeface="Spoqa Han Sans Neo" pitchFamily="34" charset="-120"/>
              </a:rPr>
              <a:t>4.2배</a:t>
            </a:r>
            <a:endParaRPr lang="en-US" sz="3000" dirty="0"/>
          </a:p>
        </p:txBody>
      </p:sp>
      <p:sp>
        <p:nvSpPr>
          <p:cNvPr id="11" name="Text 9"/>
          <p:cNvSpPr/>
          <p:nvPr/>
        </p:nvSpPr>
        <p:spPr>
          <a:xfrm>
            <a:off x="768096" y="2615184"/>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2026년 7월 초 기준</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역사적 최저 구간</a:t>
            </a:r>
            <a:endParaRPr lang="en-US" sz="1050" dirty="0"/>
          </a:p>
        </p:txBody>
      </p:sp>
      <p:sp>
        <p:nvSpPr>
          <p:cNvPr id="12" name="Shape 10"/>
          <p:cNvSpPr/>
          <p:nvPr/>
        </p:nvSpPr>
        <p:spPr>
          <a:xfrm>
            <a:off x="3377108" y="1572768"/>
            <a:ext cx="2627300" cy="1609344"/>
          </a:xfrm>
          <a:prstGeom prst="rect">
            <a:avLst/>
          </a:prstGeom>
          <a:solidFill>
            <a:srgbClr val="FFFFFF"/>
          </a:solidFill>
          <a:ln w="9525">
            <a:solidFill>
              <a:srgbClr val="CDCECB"/>
            </a:solidFill>
            <a:prstDash val="solid"/>
          </a:ln>
        </p:spPr>
      </p:sp>
      <p:sp>
        <p:nvSpPr>
          <p:cNvPr id="13" name="Text 11"/>
          <p:cNvSpPr/>
          <p:nvPr/>
        </p:nvSpPr>
        <p:spPr>
          <a:xfrm>
            <a:off x="357827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코스피 2026 영업이익 컨센서스</a:t>
            </a:r>
            <a:endParaRPr lang="en-US" sz="1050" dirty="0"/>
          </a:p>
        </p:txBody>
      </p:sp>
      <p:sp>
        <p:nvSpPr>
          <p:cNvPr id="14" name="Text 12"/>
          <p:cNvSpPr/>
          <p:nvPr/>
        </p:nvSpPr>
        <p:spPr>
          <a:xfrm>
            <a:off x="3578276" y="1975104"/>
            <a:ext cx="2224964" cy="548640"/>
          </a:xfrm>
          <a:prstGeom prst="rect">
            <a:avLst/>
          </a:prstGeom>
          <a:noFill/>
          <a:ln/>
        </p:spPr>
        <p:txBody>
          <a:bodyPr wrap="square" lIns="0" tIns="0" rIns="0" bIns="0" rtlCol="0" anchor="ctr"/>
          <a:lstStyle/>
          <a:p>
            <a:pPr indent="0" marL="0">
              <a:buNone/>
            </a:pPr>
            <a:r>
              <a:rPr lang="en-US" sz="3000" b="1" dirty="0">
                <a:solidFill>
                  <a:srgbClr val="043B72"/>
                </a:solidFill>
                <a:latin typeface="Spoqa Han Sans Neo" pitchFamily="34" charset="0"/>
                <a:ea typeface="Spoqa Han Sans Neo" pitchFamily="34" charset="-122"/>
                <a:cs typeface="Spoqa Han Sans Neo" pitchFamily="34" charset="-120"/>
              </a:rPr>
              <a:t>967조원</a:t>
            </a:r>
            <a:endParaRPr lang="en-US" sz="3000" dirty="0"/>
          </a:p>
        </p:txBody>
      </p:sp>
      <p:sp>
        <p:nvSpPr>
          <p:cNvPr id="15" name="Text 13"/>
          <p:cNvSpPr/>
          <p:nvPr/>
        </p:nvSpPr>
        <p:spPr>
          <a:xfrm>
            <a:off x="3578276" y="2615184"/>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고점 970조원 대비 -3조원</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실적 시즌 중 재상향 가능성</a:t>
            </a:r>
            <a:endParaRPr lang="en-US" sz="1050" dirty="0"/>
          </a:p>
        </p:txBody>
      </p:sp>
      <p:sp>
        <p:nvSpPr>
          <p:cNvPr id="16" name="Shape 14"/>
          <p:cNvSpPr/>
          <p:nvPr/>
        </p:nvSpPr>
        <p:spPr>
          <a:xfrm>
            <a:off x="6187288" y="1572768"/>
            <a:ext cx="2627300" cy="1609344"/>
          </a:xfrm>
          <a:prstGeom prst="rect">
            <a:avLst/>
          </a:prstGeom>
          <a:solidFill>
            <a:srgbClr val="FFFFFF"/>
          </a:solidFill>
          <a:ln w="9525">
            <a:solidFill>
              <a:srgbClr val="CDCECB"/>
            </a:solidFill>
            <a:prstDash val="solid"/>
          </a:ln>
        </p:spPr>
      </p:sp>
      <p:sp>
        <p:nvSpPr>
          <p:cNvPr id="17" name="Text 15"/>
          <p:cNvSpPr/>
          <p:nvPr/>
        </p:nvSpPr>
        <p:spPr>
          <a:xfrm>
            <a:off x="6388456"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반도체 2종목 시총 하락률</a:t>
            </a:r>
            <a:endParaRPr lang="en-US" sz="1050" dirty="0"/>
          </a:p>
        </p:txBody>
      </p:sp>
      <p:sp>
        <p:nvSpPr>
          <p:cNvPr id="18" name="Text 16"/>
          <p:cNvSpPr/>
          <p:nvPr/>
        </p:nvSpPr>
        <p:spPr>
          <a:xfrm>
            <a:off x="6388456" y="1975104"/>
            <a:ext cx="2224964" cy="548640"/>
          </a:xfrm>
          <a:prstGeom prst="rect">
            <a:avLst/>
          </a:prstGeom>
          <a:noFill/>
          <a:ln/>
        </p:spPr>
        <p:txBody>
          <a:bodyPr wrap="square" lIns="0" tIns="0" rIns="0" bIns="0" rtlCol="0" anchor="ctr"/>
          <a:lstStyle/>
          <a:p>
            <a:pPr indent="0" marL="0">
              <a:buNone/>
            </a:pPr>
            <a:r>
              <a:rPr lang="en-US" sz="3000" b="1" dirty="0">
                <a:solidFill>
                  <a:srgbClr val="C62828"/>
                </a:solidFill>
                <a:latin typeface="Spoqa Han Sans Neo" pitchFamily="34" charset="0"/>
                <a:ea typeface="Spoqa Han Sans Neo" pitchFamily="34" charset="-122"/>
                <a:cs typeface="Spoqa Han Sans Neo" pitchFamily="34" charset="-120"/>
              </a:rPr>
              <a:t>-25.7%</a:t>
            </a:r>
            <a:endParaRPr lang="en-US" sz="3000" dirty="0"/>
          </a:p>
        </p:txBody>
      </p:sp>
      <p:sp>
        <p:nvSpPr>
          <p:cNvPr id="19" name="Text 17"/>
          <p:cNvSpPr/>
          <p:nvPr/>
        </p:nvSpPr>
        <p:spPr>
          <a:xfrm>
            <a:off x="6388456" y="2615184"/>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고점 대비</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(그 외 코스피는 -14.6%)</a:t>
            </a:r>
            <a:endParaRPr lang="en-US" sz="1050" dirty="0"/>
          </a:p>
        </p:txBody>
      </p:sp>
      <p:sp>
        <p:nvSpPr>
          <p:cNvPr id="20" name="Shape 18"/>
          <p:cNvSpPr/>
          <p:nvPr/>
        </p:nvSpPr>
        <p:spPr>
          <a:xfrm>
            <a:off x="8997467" y="1572768"/>
            <a:ext cx="2627300" cy="1609344"/>
          </a:xfrm>
          <a:prstGeom prst="rect">
            <a:avLst/>
          </a:prstGeom>
          <a:solidFill>
            <a:srgbClr val="FFFFFF"/>
          </a:solidFill>
          <a:ln w="9525">
            <a:solidFill>
              <a:srgbClr val="CDCECB"/>
            </a:solidFill>
            <a:prstDash val="solid"/>
          </a:ln>
        </p:spPr>
      </p:sp>
      <p:sp>
        <p:nvSpPr>
          <p:cNvPr id="21" name="Text 19"/>
          <p:cNvSpPr/>
          <p:nvPr/>
        </p:nvSpPr>
        <p:spPr>
          <a:xfrm>
            <a:off x="9198635" y="1737360"/>
            <a:ext cx="2224964" cy="219456"/>
          </a:xfrm>
          <a:prstGeom prst="rect">
            <a:avLst/>
          </a:prstGeom>
          <a:noFill/>
          <a:ln/>
        </p:spPr>
        <p:txBody>
          <a:bodyPr wrap="square" lIns="0" tIns="0" rIns="0" bIns="0" rtlCol="0" anchor="ctr"/>
          <a:lstStyle/>
          <a:p>
            <a:pPr indent="0" marL="0">
              <a:buNone/>
            </a:pPr>
            <a:r>
              <a:rPr lang="en-US" sz="1050" b="1" spc="60" kern="0" dirty="0">
                <a:solidFill>
                  <a:srgbClr val="6C6C6C"/>
                </a:solidFill>
                <a:latin typeface="Spoqa Han Sans Neo" pitchFamily="34" charset="0"/>
                <a:ea typeface="Spoqa Han Sans Neo" pitchFamily="34" charset="-122"/>
                <a:cs typeface="Spoqa Han Sans Neo" pitchFamily="34" charset="-120"/>
              </a:rPr>
              <a:t>2026년 서킷브레이커</a:t>
            </a:r>
            <a:endParaRPr lang="en-US" sz="1050" dirty="0"/>
          </a:p>
        </p:txBody>
      </p:sp>
      <p:sp>
        <p:nvSpPr>
          <p:cNvPr id="22" name="Text 20"/>
          <p:cNvSpPr/>
          <p:nvPr/>
        </p:nvSpPr>
        <p:spPr>
          <a:xfrm>
            <a:off x="9198635" y="1975104"/>
            <a:ext cx="2224964" cy="548640"/>
          </a:xfrm>
          <a:prstGeom prst="rect">
            <a:avLst/>
          </a:prstGeom>
          <a:noFill/>
          <a:ln/>
        </p:spPr>
        <p:txBody>
          <a:bodyPr wrap="square" lIns="0" tIns="0" rIns="0" bIns="0" rtlCol="0" anchor="ctr"/>
          <a:lstStyle/>
          <a:p>
            <a:pPr indent="0" marL="0">
              <a:buNone/>
            </a:pPr>
            <a:r>
              <a:rPr lang="en-US" sz="3000" b="1" dirty="0">
                <a:solidFill>
                  <a:srgbClr val="C62828"/>
                </a:solidFill>
                <a:latin typeface="Spoqa Han Sans Neo" pitchFamily="34" charset="0"/>
                <a:ea typeface="Spoqa Han Sans Neo" pitchFamily="34" charset="-122"/>
                <a:cs typeface="Spoqa Han Sans Neo" pitchFamily="34" charset="-120"/>
              </a:rPr>
              <a:t>6회</a:t>
            </a:r>
            <a:endParaRPr lang="en-US" sz="3000" dirty="0"/>
          </a:p>
        </p:txBody>
      </p:sp>
      <p:sp>
        <p:nvSpPr>
          <p:cNvPr id="23" name="Text 21"/>
          <p:cNvSpPr/>
          <p:nvPr/>
        </p:nvSpPr>
        <p:spPr>
          <a:xfrm>
            <a:off x="9198635" y="2615184"/>
            <a:ext cx="2224964" cy="457200"/>
          </a:xfrm>
          <a:prstGeom prst="rect">
            <a:avLst/>
          </a:prstGeom>
          <a:noFill/>
          <a:ln/>
        </p:spPr>
        <p:txBody>
          <a:bodyPr wrap="square" lIns="0" tIns="0" rIns="0" bIns="0" rtlCol="0" anchor="t"/>
          <a:lstStyle/>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제도 도입 후 총 12회 중 절반</a:t>
            </a:r>
            <a:endParaRPr lang="en-US" sz="1050" dirty="0"/>
          </a:p>
          <a:p>
            <a:pPr indent="0" marL="0">
              <a:lnSpc>
                <a:spcPct val="115000"/>
              </a:lnSpc>
              <a:buNone/>
            </a:pPr>
            <a:r>
              <a:rPr lang="en-US" sz="1050" dirty="0">
                <a:solidFill>
                  <a:srgbClr val="6C6C6C"/>
                </a:solidFill>
                <a:latin typeface="Spoqa Han Sans Neo" pitchFamily="34" charset="0"/>
                <a:ea typeface="Spoqa Han Sans Neo" pitchFamily="34" charset="-122"/>
                <a:cs typeface="Spoqa Han Sans Neo" pitchFamily="34" charset="-120"/>
              </a:rPr>
              <a:t>6월 3회 · 7월 다수</a:t>
            </a:r>
            <a:endParaRPr lang="en-US" sz="1050" dirty="0"/>
          </a:p>
        </p:txBody>
      </p:sp>
      <p:sp>
        <p:nvSpPr>
          <p:cNvPr id="24" name="Shape 22"/>
          <p:cNvSpPr/>
          <p:nvPr/>
        </p:nvSpPr>
        <p:spPr>
          <a:xfrm>
            <a:off x="566928" y="3283204"/>
            <a:ext cx="5349240" cy="1485900"/>
          </a:xfrm>
          <a:prstGeom prst="rect">
            <a:avLst/>
          </a:prstGeom>
          <a:solidFill>
            <a:srgbClr val="F7F8FA"/>
          </a:solidFill>
          <a:ln w="9525">
            <a:solidFill>
              <a:srgbClr val="CDCECB"/>
            </a:solidFill>
            <a:prstDash val="solid"/>
          </a:ln>
        </p:spPr>
      </p:sp>
      <p:sp>
        <p:nvSpPr>
          <p:cNvPr id="25" name="Text 23"/>
          <p:cNvSpPr/>
          <p:nvPr/>
        </p:nvSpPr>
        <p:spPr>
          <a:xfrm>
            <a:off x="804672" y="3447796"/>
            <a:ext cx="4846320" cy="256032"/>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왜 PER이 이렇게 낮은가 — 세 가지 설명</a:t>
            </a:r>
            <a:endParaRPr lang="en-US" sz="1300" dirty="0"/>
          </a:p>
        </p:txBody>
      </p:sp>
      <p:sp>
        <p:nvSpPr>
          <p:cNvPr id="26" name="Text 24"/>
          <p:cNvSpPr/>
          <p:nvPr/>
        </p:nvSpPr>
        <p:spPr>
          <a:xfrm>
            <a:off x="804672" y="3740404"/>
            <a:ext cx="4892040" cy="841248"/>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메모리는 전통적으로 이익 정점에서 가장 낮은 PER을 받는다 (이익이 곧 꺾인다는 전제)</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분모(EPS)가 1년 만에 5~10배로 커져 분자가 따라가지 못한 기술적 효과</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AI 사이클의 지속성에 대한 시장의 근본적 불신</a:t>
            </a:r>
            <a:endParaRPr lang="en-US" sz="1080" dirty="0"/>
          </a:p>
        </p:txBody>
      </p:sp>
      <p:sp>
        <p:nvSpPr>
          <p:cNvPr id="27" name="Shape 25"/>
          <p:cNvSpPr/>
          <p:nvPr/>
        </p:nvSpPr>
        <p:spPr>
          <a:xfrm>
            <a:off x="6272784" y="3283204"/>
            <a:ext cx="5349240" cy="1485900"/>
          </a:xfrm>
          <a:prstGeom prst="rect">
            <a:avLst/>
          </a:prstGeom>
          <a:solidFill>
            <a:srgbClr val="FFF3E8"/>
          </a:solidFill>
          <a:ln w="9525">
            <a:solidFill>
              <a:srgbClr val="FAB072"/>
            </a:solidFill>
            <a:prstDash val="solid"/>
          </a:ln>
        </p:spPr>
      </p:sp>
      <p:sp>
        <p:nvSpPr>
          <p:cNvPr id="28" name="Text 26"/>
          <p:cNvSpPr/>
          <p:nvPr/>
        </p:nvSpPr>
        <p:spPr>
          <a:xfrm>
            <a:off x="6510528" y="3447796"/>
            <a:ext cx="4846320" cy="256032"/>
          </a:xfrm>
          <a:prstGeom prst="rect">
            <a:avLst/>
          </a:prstGeom>
          <a:noFill/>
          <a:ln/>
        </p:spPr>
        <p:txBody>
          <a:bodyPr wrap="square" lIns="0" tIns="0" rIns="0" bIns="0" rtlCol="0" anchor="ctr"/>
          <a:lstStyle/>
          <a:p>
            <a:pPr indent="0" marL="0">
              <a:buNone/>
            </a:pPr>
            <a:r>
              <a:rPr lang="en-US" sz="1300" b="1" dirty="0">
                <a:solidFill>
                  <a:srgbClr val="CB6015"/>
                </a:solidFill>
                <a:latin typeface="Spoqa Han Sans Neo" pitchFamily="34" charset="0"/>
                <a:ea typeface="Spoqa Han Sans Neo" pitchFamily="34" charset="-122"/>
                <a:cs typeface="Spoqa Han Sans Neo" pitchFamily="34" charset="-120"/>
              </a:rPr>
              <a:t>낮은 PER이 곧 저평가는 아니다</a:t>
            </a:r>
            <a:endParaRPr lang="en-US" sz="1300" dirty="0"/>
          </a:p>
        </p:txBody>
      </p:sp>
      <p:sp>
        <p:nvSpPr>
          <p:cNvPr id="29" name="Text 27"/>
          <p:cNvSpPr/>
          <p:nvPr/>
        </p:nvSpPr>
        <p:spPr>
          <a:xfrm>
            <a:off x="6510528" y="3740404"/>
            <a:ext cx="4892040" cy="841248"/>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PER 4배는 '앞으로 4년치 이익이면 원금 회수'가 아니라 '이익이 곧 정상화된다'는 시장의 예측이다</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정상화된 이익(normalized EPS) 기준으로 계산하면 배수는 훨씬 높아진다</a:t>
            </a:r>
            <a:endParaRPr lang="en-US" sz="1080" dirty="0"/>
          </a:p>
          <a:p>
            <a:pPr marL="177800" indent="-177800">
              <a:lnSpc>
                <a:spcPct val="120000"/>
              </a:lnSpc>
              <a:spcAft>
                <a:spcPts val="700"/>
              </a:spcAft>
              <a:buSzPct val="100000"/>
              <a:buChar char="•"/>
            </a:pPr>
            <a:r>
              <a:rPr lang="en-US" sz="1080" dirty="0">
                <a:solidFill>
                  <a:srgbClr val="3D3D3D"/>
                </a:solidFill>
                <a:latin typeface="Spoqa Han Sans Neo" pitchFamily="34" charset="0"/>
                <a:ea typeface="Spoqa Han Sans Neo" pitchFamily="34" charset="-122"/>
                <a:cs typeface="Spoqa Han Sans Neo" pitchFamily="34" charset="-120"/>
              </a:rPr>
              <a:t>사이클 산업은 PER보다 PBR·EV/EBITDA·이익의 지속기간이 더 유용한 잣대다</a:t>
            </a:r>
            <a:endParaRPr lang="en-US" sz="1080" dirty="0"/>
          </a:p>
        </p:txBody>
      </p:sp>
      <p:sp>
        <p:nvSpPr>
          <p:cNvPr id="30" name="Shape 28"/>
          <p:cNvSpPr/>
          <p:nvPr/>
        </p:nvSpPr>
        <p:spPr>
          <a:xfrm>
            <a:off x="566928" y="4884420"/>
            <a:ext cx="11057839" cy="1060704"/>
          </a:xfrm>
          <a:prstGeom prst="rect">
            <a:avLst/>
          </a:prstGeom>
          <a:solidFill>
            <a:srgbClr val="FFFFFF"/>
          </a:solidFill>
          <a:ln w="9525">
            <a:solidFill>
              <a:srgbClr val="043B72"/>
            </a:solidFill>
            <a:prstDash val="solid"/>
          </a:ln>
        </p:spPr>
      </p:sp>
      <p:sp>
        <p:nvSpPr>
          <p:cNvPr id="31" name="Text 29"/>
          <p:cNvSpPr/>
          <p:nvPr/>
        </p:nvSpPr>
        <p:spPr>
          <a:xfrm>
            <a:off x="841248" y="5030724"/>
            <a:ext cx="4572000" cy="256032"/>
          </a:xfrm>
          <a:prstGeom prst="rect">
            <a:avLst/>
          </a:prstGeom>
          <a:noFill/>
          <a:ln/>
        </p:spPr>
        <p:txBody>
          <a:bodyPr wrap="square" lIns="0" tIns="0" rIns="0" bIns="0" rtlCol="0" anchor="ctr"/>
          <a:lstStyle/>
          <a:p>
            <a:pPr indent="0" marL="0">
              <a:buNone/>
            </a:pPr>
            <a:r>
              <a:rPr lang="en-US" sz="1300" b="1" dirty="0">
                <a:solidFill>
                  <a:srgbClr val="043B72"/>
                </a:solidFill>
                <a:latin typeface="Spoqa Han Sans Neo" pitchFamily="34" charset="0"/>
                <a:ea typeface="Spoqa Han Sans Neo" pitchFamily="34" charset="-122"/>
                <a:cs typeface="Spoqa Han Sans Neo" pitchFamily="34" charset="-120"/>
              </a:rPr>
              <a:t>주주환원이라는 새 변수</a:t>
            </a:r>
            <a:endParaRPr lang="en-US" sz="1300" dirty="0"/>
          </a:p>
        </p:txBody>
      </p:sp>
      <p:sp>
        <p:nvSpPr>
          <p:cNvPr id="32" name="Text 30"/>
          <p:cNvSpPr/>
          <p:nvPr/>
        </p:nvSpPr>
        <p:spPr>
          <a:xfrm>
            <a:off x="841248" y="5305044"/>
            <a:ext cx="10509199" cy="566928"/>
          </a:xfrm>
          <a:prstGeom prst="rect">
            <a:avLst/>
          </a:prstGeom>
          <a:noFill/>
          <a:ln/>
        </p:spPr>
        <p:txBody>
          <a:bodyPr wrap="square" lIns="0" tIns="0" rIns="0" bIns="0" rtlCol="0" anchor="ctr"/>
          <a:lstStyle/>
          <a:p>
            <a:pPr indent="0" marL="0">
              <a:lnSpc>
                <a:spcPct val="130000"/>
              </a:lnSpc>
              <a:buNone/>
            </a:pPr>
            <a:r>
              <a:rPr lang="en-US" sz="1080" dirty="0">
                <a:solidFill>
                  <a:srgbClr val="3D3D3D"/>
                </a:solidFill>
                <a:latin typeface="Spoqa Han Sans Neo" pitchFamily="34" charset="0"/>
                <a:ea typeface="Spoqa Han Sans Neo" pitchFamily="34" charset="-122"/>
                <a:cs typeface="Spoqa Han Sans Neo" pitchFamily="34" charset="-120"/>
              </a:rPr>
              <a:t>역대급 실적에도 주가 반등이 미미하자 삼성전자는 2026년 2분기 실적발표에서 특별배당을 포함한 주주환원 방안 검토를 공식 언급했다. SK하이닉스는 2분기 말 현금성자산 88조 원(전분기 대비 +33.6조 원), 차입금 18.6조 원으로 재무 여력이 크게 개선됐다. 이익의 지속성에 대한 확신이 부족한 국면에서는, 배당·자기주식 같은 '현금으로 증명하는 방식'이 밸류에이션 재평가의 촉매가 될 수 있다.</a:t>
            </a:r>
            <a:endParaRPr lang="en-US" sz="1080" dirty="0"/>
          </a:p>
        </p:txBody>
      </p:sp>
      <p:sp>
        <p:nvSpPr>
          <p:cNvPr id="33" name="Text 31"/>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흥국증권·키움증권 리포트(2026년 7월), 삼성전자·SK하이닉스 2Q26 실적발표. PER은 발표 시점 기준으로 이후 변동됨.</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4 · 시각 비교</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지금 시장의 두 목소리 — 강세론과 신중론</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어느 한쪽을 고르는 것이 아니라, 각자가 무엇을 근거로 삼는지 아는 것이 중요하다.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7839" cy="914400"/>
        </p:xfrm>
        <a:graphic>
          <a:graphicData uri="http://schemas.openxmlformats.org/drawingml/2006/table">
            <a:tbl>
              <a:tblPr/>
              <a:tblGrid>
                <a:gridCol w="1554480"/>
                <a:gridCol w="4754880"/>
                <a:gridCol w="4748479"/>
              </a:tblGrid>
              <a:tr h="566928">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구분</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강세론 (Bull)</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c>
                  <a:txBody>
                    <a:bodyPr/>
                    <a:lstStyle/>
                    <a:p>
                      <a:pPr indent="0" marL="0">
                        <a:buNone/>
                      </a:pPr>
                      <a:r>
                        <a:rPr lang="en-US" sz="1100" b="1" dirty="0">
                          <a:solidFill>
                            <a:srgbClr val="1A1A1A"/>
                          </a:solidFill>
                          <a:latin typeface="Spoqa Han Sans Neo" pitchFamily="34" charset="0"/>
                          <a:ea typeface="Spoqa Han Sans Neo" pitchFamily="34" charset="-122"/>
                          <a:cs typeface="Spoqa Han Sans Neo" pitchFamily="34" charset="-120"/>
                        </a:rPr>
                        <a:t>신중론 (Bear)</a:t>
                      </a:r>
                      <a:endParaRPr lang="en-US" sz="110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AB072"/>
                    </a:solidFill>
                  </a:tcPr>
                </a:tc>
              </a:tr>
              <a:tr h="566928">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업황 판단</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공급 부족은 2027년에도 지속, 재고 누적은 논할 단계조차 아님</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메모리 가격 상승률 둔화가 이미 시작 — 업황 정점 근접</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566928">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기업 발언</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삼성전자: 2028년까지 공급 부족 · 2027년은 올해보다 심화</a:t>
                      </a:r>
                      <a:endParaRPr lang="en-US" sz="1040" dirty="0">
                        <a:latin typeface="Spoqa Han Sans Neo" charset="0"/>
                        <a:ea typeface="Spoqa Han Sans Neo" charset="0"/>
                        <a:cs typeface="Spoqa Han Sans Neo" charset="0"/>
                      </a:endParaRPr>
                    </a:p>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SK하이닉스: 빅테크 AI 투자 2027년 이후에도 견조</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가격 상승분이 빅테크 CapEx를 부풀리고 있어, 결국 지출 축소 압력으로 되돌아온다</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566928">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숫자 근거</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2027년 범용 D램 공급 증가율 1% 수준(DS투자증권)</a:t>
                      </a:r>
                      <a:endParaRPr lang="en-US" sz="1040" dirty="0">
                        <a:latin typeface="Spoqa Han Sans Neo" charset="0"/>
                        <a:ea typeface="Spoqa Han Sans Neo" charset="0"/>
                        <a:cs typeface="Spoqa Han Sans Neo" charset="0"/>
                      </a:endParaRPr>
                    </a:p>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증설 대부분 2028년 이후 반영</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2026년 발표된 대규모 CapEx가 2028~2029년 공급 과잉의 원인이 된다</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FFFFF"/>
                    </a:solidFill>
                  </a:tcPr>
                </a:tc>
              </a:tr>
              <a:tr h="566928">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중국 변수</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HBM 격차 5년, 범용 D램 3년 — 단기 위협 아님</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c>
                  <a:txBody>
                    <a:bodyPr/>
                    <a:lstStyle/>
                    <a:p>
                      <a:pPr algn="l" indent="0" marL="0">
                        <a:buNone/>
                      </a:pPr>
                      <a:r>
                        <a:rPr lang="en-US" sz="1040" dirty="0">
                          <a:solidFill>
                            <a:srgbClr val="3D3D3D"/>
                          </a:solidFill>
                          <a:latin typeface="Spoqa Han Sans Neo" pitchFamily="34" charset="0"/>
                          <a:ea typeface="Spoqa Han Sans Neo" pitchFamily="34" charset="-122"/>
                          <a:cs typeface="Spoqa Han Sans Neo" pitchFamily="34" charset="-120"/>
                        </a:rPr>
                        <a:t>CXMT가 IPO 자금 14조 원으로 캐파를 늘리면 범용 D램 초과이익이 축소</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F7F8FA"/>
                    </a:solidFill>
                  </a:tcPr>
                </a:tc>
              </a:tr>
              <a:tr h="566928">
                <a:tc>
                  <a:txBody>
                    <a:bodyPr/>
                    <a:lstStyle/>
                    <a:p>
                      <a:pPr algn="l" indent="0" marL="0">
                        <a:buNone/>
                      </a:pPr>
                      <a:r>
                        <a:rPr lang="en-US" sz="1040" b="1" dirty="0">
                          <a:solidFill>
                            <a:srgbClr val="1A1A1A"/>
                          </a:solidFill>
                          <a:latin typeface="Spoqa Han Sans Neo" pitchFamily="34" charset="0"/>
                          <a:ea typeface="Spoqa Han Sans Neo" pitchFamily="34" charset="-122"/>
                          <a:cs typeface="Spoqa Han Sans Neo" pitchFamily="34" charset="-120"/>
                        </a:rPr>
                        <a:t>투자 전략</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40" b="1" dirty="0">
                          <a:solidFill>
                            <a:srgbClr val="1A1A1A"/>
                          </a:solidFill>
                          <a:latin typeface="Spoqa Han Sans Neo" pitchFamily="34" charset="0"/>
                          <a:ea typeface="Spoqa Han Sans Neo" pitchFamily="34" charset="-122"/>
                          <a:cs typeface="Spoqa Han Sans Neo" pitchFamily="34" charset="-120"/>
                        </a:rPr>
                        <a:t>실적이 확인되는 반도체 + 낙폭 과대 성장주 분할 접근</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c>
                  <a:txBody>
                    <a:bodyPr/>
                    <a:lstStyle/>
                    <a:p>
                      <a:pPr algn="l" indent="0" marL="0">
                        <a:buNone/>
                      </a:pPr>
                      <a:r>
                        <a:rPr lang="en-US" sz="1040" b="1" dirty="0">
                          <a:solidFill>
                            <a:srgbClr val="1A1A1A"/>
                          </a:solidFill>
                          <a:latin typeface="Spoqa Han Sans Neo" pitchFamily="34" charset="0"/>
                          <a:ea typeface="Spoqa Han Sans Neo" pitchFamily="34" charset="-122"/>
                          <a:cs typeface="Spoqa Han Sans Neo" pitchFamily="34" charset="-120"/>
                        </a:rPr>
                        <a:t>이익의 정점에서는 밸류에이션이 아니라 이익의 방향이 주가를 결정</a:t>
                      </a:r>
                      <a:endParaRPr lang="en-US" sz="1040" dirty="0">
                        <a:latin typeface="Spoqa Han Sans Neo" charset="0"/>
                        <a:ea typeface="Spoqa Han Sans Neo" charset="0"/>
                        <a:cs typeface="Spoqa Han Sans Neo" charset="0"/>
                      </a:endParaRPr>
                    </a:p>
                  </a:txBody>
                  <a:tcPr marL="91440" marR="91440" marT="45720" marB="45720" anchor="ctr">
                    <a:lnL w="6350" cap="flat" cmpd="sng" algn="ctr">
                      <a:solidFill>
                        <a:srgbClr val="E5E4E1"/>
                      </a:solidFill>
                      <a:prstDash val="solid"/>
                      <a:round/>
                      <a:headEnd type="none" w="med" len="med"/>
                      <a:tailEnd type="none" w="med" len="med"/>
                    </a:lnL>
                    <a:lnR w="6350" cap="flat" cmpd="sng" algn="ctr">
                      <a:solidFill>
                        <a:srgbClr val="E5E4E1"/>
                      </a:solidFill>
                      <a:prstDash val="solid"/>
                      <a:round/>
                      <a:headEnd type="none" w="med" len="med"/>
                      <a:tailEnd type="none" w="med" len="med"/>
                    </a:lnR>
                    <a:lnT w="6350" cap="flat" cmpd="sng" algn="ctr">
                      <a:solidFill>
                        <a:srgbClr val="E5E4E1"/>
                      </a:solidFill>
                      <a:prstDash val="solid"/>
                      <a:round/>
                      <a:headEnd type="none" w="med" len="med"/>
                      <a:tailEnd type="none" w="med" len="med"/>
                    </a:lnT>
                    <a:lnB w="6350" cap="flat" cmpd="sng" algn="ctr">
                      <a:solidFill>
                        <a:srgbClr val="E5E4E1"/>
                      </a:solidFill>
                      <a:prstDash val="solid"/>
                      <a:round/>
                      <a:headEnd type="none" w="med" len="med"/>
                      <a:tailEnd type="none" w="med" len="med"/>
                    </a:lnB>
                    <a:solidFill>
                      <a:srgbClr val="D7D7D7"/>
                    </a:solidFill>
                  </a:tcPr>
                </a:tc>
              </a:tr>
            </a:tbl>
          </a:graphicData>
        </a:graphic>
      </p:graphicFrame>
      <p:sp>
        <p:nvSpPr>
          <p:cNvPr id="9" name="Shape 6"/>
          <p:cNvSpPr/>
          <p:nvPr/>
        </p:nvSpPr>
        <p:spPr>
          <a:xfrm>
            <a:off x="566928" y="5321808"/>
            <a:ext cx="11057839" cy="512064"/>
          </a:xfrm>
          <a:prstGeom prst="rect">
            <a:avLst/>
          </a:prstGeom>
          <a:solidFill>
            <a:srgbClr val="ECEFF4"/>
          </a:solidFill>
          <a:ln w="9525">
            <a:solidFill>
              <a:srgbClr val="CDCECB"/>
            </a:solidFill>
            <a:prstDash val="solid"/>
          </a:ln>
        </p:spPr>
      </p:sp>
      <p:sp>
        <p:nvSpPr>
          <p:cNvPr id="10" name="Text 7"/>
          <p:cNvSpPr/>
          <p:nvPr/>
        </p:nvSpPr>
        <p:spPr>
          <a:xfrm>
            <a:off x="841248" y="5321808"/>
            <a:ext cx="10509199" cy="512064"/>
          </a:xfrm>
          <a:prstGeom prst="rect">
            <a:avLst/>
          </a:prstGeom>
          <a:noFill/>
          <a:ln/>
        </p:spPr>
        <p:txBody>
          <a:bodyPr wrap="square" lIns="0" tIns="0" rIns="0" bIns="0" rtlCol="0" anchor="ctr"/>
          <a:lstStyle/>
          <a:p>
            <a:pPr indent="0" marL="0">
              <a:buNone/>
            </a:pPr>
            <a:r>
              <a:rPr lang="en-US" sz="1100" b="1" dirty="0">
                <a:solidFill>
                  <a:srgbClr val="043B72"/>
                </a:solidFill>
                <a:latin typeface="Spoqa Han Sans Neo" pitchFamily="34" charset="0"/>
                <a:ea typeface="Spoqa Han Sans Neo" pitchFamily="34" charset="-122"/>
                <a:cs typeface="Spoqa Han Sans Neo" pitchFamily="34" charset="-120"/>
              </a:rPr>
              <a:t>실무적 결론  두 진영 모두 '수요가 지금 붕괴하고 있다'고는 말하지 않는다. 쟁점은 시점(언제)과 폭(얼마나)이다. 따라서 방향 예측보다 분할 접근·비중 관리·확인 지표 점검이 실효성 있는 대응이다.</a:t>
            </a:r>
            <a:endParaRPr lang="en-US" sz="1100" dirty="0"/>
          </a:p>
        </p:txBody>
      </p:sp>
      <p:sp>
        <p:nvSpPr>
          <p:cNvPr id="11" name="Text 8"/>
          <p:cNvSpPr/>
          <p:nvPr/>
        </p:nvSpPr>
        <p:spPr>
          <a:xfrm>
            <a:off x="566928" y="6108192"/>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각 증권사 리포트 및 기업 컨퍼런스콜 발언 인용(2026년 7월~8월). 특정 종목의 매수·매도를 권유하는 내용이 아님.</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4 · 대응 원칙</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사이클 산업을 다루는 네 가지 원칙</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반도체는 '좋은 기업을 사서 오래 들고 있는다'는 원칙이 가장 잘 통하지 않는 업종 중 하나다.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27</a:t>
            </a:r>
            <a:endParaRPr lang="en-US" sz="900" dirty="0"/>
          </a:p>
        </p:txBody>
      </p:sp>
      <p:sp>
        <p:nvSpPr>
          <p:cNvPr id="8" name="Shape 6"/>
          <p:cNvSpPr/>
          <p:nvPr/>
        </p:nvSpPr>
        <p:spPr>
          <a:xfrm>
            <a:off x="566928" y="1591056"/>
            <a:ext cx="5391760" cy="1371600"/>
          </a:xfrm>
          <a:prstGeom prst="rect">
            <a:avLst/>
          </a:prstGeom>
          <a:solidFill>
            <a:srgbClr val="FFFFFF"/>
          </a:solidFill>
          <a:ln w="9525">
            <a:solidFill>
              <a:srgbClr val="CDCECB"/>
            </a:solidFill>
            <a:prstDash val="solid"/>
          </a:ln>
        </p:spPr>
      </p:sp>
      <p:sp>
        <p:nvSpPr>
          <p:cNvPr id="9" name="Text 7"/>
          <p:cNvSpPr/>
          <p:nvPr/>
        </p:nvSpPr>
        <p:spPr>
          <a:xfrm>
            <a:off x="804672" y="1737360"/>
            <a:ext cx="822960" cy="365760"/>
          </a:xfrm>
          <a:prstGeom prst="rect">
            <a:avLst/>
          </a:prstGeom>
          <a:noFill/>
          <a:ln/>
        </p:spPr>
        <p:txBody>
          <a:bodyPr wrap="square" lIns="0" tIns="0" rIns="0" bIns="0" rtlCol="0" anchor="ctr"/>
          <a:lstStyle/>
          <a:p>
            <a:pPr indent="0" marL="0">
              <a:buNone/>
            </a:pPr>
            <a:r>
              <a:rPr lang="en-US" sz="2200" b="1" dirty="0">
                <a:solidFill>
                  <a:srgbClr val="FAB072"/>
                </a:solidFill>
                <a:latin typeface="Spoqa Han Sans Neo" pitchFamily="34" charset="0"/>
                <a:ea typeface="Spoqa Han Sans Neo" pitchFamily="34" charset="-122"/>
                <a:cs typeface="Spoqa Han Sans Neo" pitchFamily="34" charset="-120"/>
              </a:rPr>
              <a:t>01</a:t>
            </a:r>
            <a:endParaRPr lang="en-US" sz="2200" dirty="0"/>
          </a:p>
        </p:txBody>
      </p:sp>
      <p:sp>
        <p:nvSpPr>
          <p:cNvPr id="10" name="Text 8"/>
          <p:cNvSpPr/>
          <p:nvPr/>
        </p:nvSpPr>
        <p:spPr>
          <a:xfrm>
            <a:off x="1664208" y="1755648"/>
            <a:ext cx="4020160" cy="365760"/>
          </a:xfrm>
          <a:prstGeom prst="rect">
            <a:avLst/>
          </a:prstGeom>
          <a:noFill/>
          <a:ln/>
        </p:spPr>
        <p:txBody>
          <a:bodyPr wrap="square" lIns="0" tIns="0" rIns="0" bIns="0" rtlCol="0" anchor="ctr"/>
          <a:lstStyle/>
          <a:p>
            <a:pPr indent="0" marL="0">
              <a:buNone/>
            </a:pPr>
            <a:r>
              <a:rPr lang="en-US" sz="1400" b="1" dirty="0">
                <a:solidFill>
                  <a:srgbClr val="043B72"/>
                </a:solidFill>
                <a:latin typeface="Spoqa Han Sans Neo" pitchFamily="34" charset="0"/>
                <a:ea typeface="Spoqa Han Sans Neo" pitchFamily="34" charset="-122"/>
                <a:cs typeface="Spoqa Han Sans Neo" pitchFamily="34" charset="-120"/>
              </a:rPr>
              <a:t>이익의 수준이 아니라 방향을 본다</a:t>
            </a:r>
            <a:endParaRPr lang="en-US" sz="1400" dirty="0"/>
          </a:p>
        </p:txBody>
      </p:sp>
      <p:sp>
        <p:nvSpPr>
          <p:cNvPr id="11" name="Text 9"/>
          <p:cNvSpPr/>
          <p:nvPr/>
        </p:nvSpPr>
        <p:spPr>
          <a:xfrm>
            <a:off x="804672" y="2212848"/>
            <a:ext cx="4916272" cy="640080"/>
          </a:xfrm>
          <a:prstGeom prst="rect">
            <a:avLst/>
          </a:prstGeom>
          <a:noFill/>
          <a:ln/>
        </p:spPr>
        <p:txBody>
          <a:bodyPr wrap="square" lIns="0" tIns="0" rIns="0" bIns="0" rtlCol="0" anchor="ctr"/>
          <a:lstStyle/>
          <a:p>
            <a:pPr indent="0" marL="0">
              <a:lnSpc>
                <a:spcPct val="132000"/>
              </a:lnSpc>
              <a:buNone/>
            </a:pPr>
            <a:r>
              <a:rPr lang="en-US" sz="1100" dirty="0">
                <a:solidFill>
                  <a:srgbClr val="3D3D3D"/>
                </a:solidFill>
                <a:latin typeface="Spoqa Han Sans Neo" pitchFamily="34" charset="0"/>
                <a:ea typeface="Spoqa Han Sans Neo" pitchFamily="34" charset="-122"/>
                <a:cs typeface="Spoqa Han Sans Neo" pitchFamily="34" charset="-120"/>
              </a:rPr>
              <a:t>사이클 산업의 주가는 이익의 절대 크기보다 이익 증가율의 변화(2차 미분)에 반응한다. 사상 최대 실적 발표일에 주가가 빠지는 이유다.</a:t>
            </a:r>
            <a:endParaRPr lang="en-US" sz="1100" dirty="0"/>
          </a:p>
        </p:txBody>
      </p:sp>
      <p:sp>
        <p:nvSpPr>
          <p:cNvPr id="12" name="Shape 10"/>
          <p:cNvSpPr/>
          <p:nvPr/>
        </p:nvSpPr>
        <p:spPr>
          <a:xfrm>
            <a:off x="6233008" y="1591056"/>
            <a:ext cx="5391760" cy="1371600"/>
          </a:xfrm>
          <a:prstGeom prst="rect">
            <a:avLst/>
          </a:prstGeom>
          <a:solidFill>
            <a:srgbClr val="FFFFFF"/>
          </a:solidFill>
          <a:ln w="9525">
            <a:solidFill>
              <a:srgbClr val="CDCECB"/>
            </a:solidFill>
            <a:prstDash val="solid"/>
          </a:ln>
        </p:spPr>
      </p:sp>
      <p:sp>
        <p:nvSpPr>
          <p:cNvPr id="13" name="Text 11"/>
          <p:cNvSpPr/>
          <p:nvPr/>
        </p:nvSpPr>
        <p:spPr>
          <a:xfrm>
            <a:off x="6470752" y="1737360"/>
            <a:ext cx="822960" cy="365760"/>
          </a:xfrm>
          <a:prstGeom prst="rect">
            <a:avLst/>
          </a:prstGeom>
          <a:noFill/>
          <a:ln/>
        </p:spPr>
        <p:txBody>
          <a:bodyPr wrap="square" lIns="0" tIns="0" rIns="0" bIns="0" rtlCol="0" anchor="ctr"/>
          <a:lstStyle/>
          <a:p>
            <a:pPr indent="0" marL="0">
              <a:buNone/>
            </a:pPr>
            <a:r>
              <a:rPr lang="en-US" sz="2200" b="1" dirty="0">
                <a:solidFill>
                  <a:srgbClr val="FAB072"/>
                </a:solidFill>
                <a:latin typeface="Spoqa Han Sans Neo" pitchFamily="34" charset="0"/>
                <a:ea typeface="Spoqa Han Sans Neo" pitchFamily="34" charset="-122"/>
                <a:cs typeface="Spoqa Han Sans Neo" pitchFamily="34" charset="-120"/>
              </a:rPr>
              <a:t>02</a:t>
            </a:r>
            <a:endParaRPr lang="en-US" sz="2200" dirty="0"/>
          </a:p>
        </p:txBody>
      </p:sp>
      <p:sp>
        <p:nvSpPr>
          <p:cNvPr id="14" name="Text 12"/>
          <p:cNvSpPr/>
          <p:nvPr/>
        </p:nvSpPr>
        <p:spPr>
          <a:xfrm>
            <a:off x="7330288" y="1755648"/>
            <a:ext cx="4020160" cy="365760"/>
          </a:xfrm>
          <a:prstGeom prst="rect">
            <a:avLst/>
          </a:prstGeom>
          <a:noFill/>
          <a:ln/>
        </p:spPr>
        <p:txBody>
          <a:bodyPr wrap="square" lIns="0" tIns="0" rIns="0" bIns="0" rtlCol="0" anchor="ctr"/>
          <a:lstStyle/>
          <a:p>
            <a:pPr indent="0" marL="0">
              <a:buNone/>
            </a:pPr>
            <a:r>
              <a:rPr lang="en-US" sz="1400" b="1" dirty="0">
                <a:solidFill>
                  <a:srgbClr val="043B72"/>
                </a:solidFill>
                <a:latin typeface="Spoqa Han Sans Neo" pitchFamily="34" charset="0"/>
                <a:ea typeface="Spoqa Han Sans Neo" pitchFamily="34" charset="-122"/>
                <a:cs typeface="Spoqa Han Sans Neo" pitchFamily="34" charset="-120"/>
              </a:rPr>
              <a:t>밸류에이션은 정상화 이익으로 재계산한다</a:t>
            </a:r>
            <a:endParaRPr lang="en-US" sz="1400" dirty="0"/>
          </a:p>
        </p:txBody>
      </p:sp>
      <p:sp>
        <p:nvSpPr>
          <p:cNvPr id="15" name="Text 13"/>
          <p:cNvSpPr/>
          <p:nvPr/>
        </p:nvSpPr>
        <p:spPr>
          <a:xfrm>
            <a:off x="6470752" y="2212848"/>
            <a:ext cx="4916272" cy="640080"/>
          </a:xfrm>
          <a:prstGeom prst="rect">
            <a:avLst/>
          </a:prstGeom>
          <a:noFill/>
          <a:ln/>
        </p:spPr>
        <p:txBody>
          <a:bodyPr wrap="square" lIns="0" tIns="0" rIns="0" bIns="0" rtlCol="0" anchor="ctr"/>
          <a:lstStyle/>
          <a:p>
            <a:pPr indent="0" marL="0">
              <a:lnSpc>
                <a:spcPct val="132000"/>
              </a:lnSpc>
              <a:buNone/>
            </a:pPr>
            <a:r>
              <a:rPr lang="en-US" sz="1100" dirty="0">
                <a:solidFill>
                  <a:srgbClr val="3D3D3D"/>
                </a:solidFill>
                <a:latin typeface="Spoqa Han Sans Neo" pitchFamily="34" charset="0"/>
                <a:ea typeface="Spoqa Han Sans Neo" pitchFamily="34" charset="-122"/>
                <a:cs typeface="Spoqa Han Sans Neo" pitchFamily="34" charset="-120"/>
              </a:rPr>
              <a:t>PER 4배는 신호가 아니라 질문이다. '이 이익이 몇 년 유지되는가'를 가정한 뒤에야 배수가 의미를 갖는다. 사이클 산업에는 PBR과 EV/EBITDA를 병행한다.</a:t>
            </a:r>
            <a:endParaRPr lang="en-US" sz="1100" dirty="0"/>
          </a:p>
        </p:txBody>
      </p:sp>
      <p:sp>
        <p:nvSpPr>
          <p:cNvPr id="16" name="Shape 14"/>
          <p:cNvSpPr/>
          <p:nvPr/>
        </p:nvSpPr>
        <p:spPr>
          <a:xfrm>
            <a:off x="566928" y="3108960"/>
            <a:ext cx="5391760" cy="1371600"/>
          </a:xfrm>
          <a:prstGeom prst="rect">
            <a:avLst/>
          </a:prstGeom>
          <a:solidFill>
            <a:srgbClr val="FFFFFF"/>
          </a:solidFill>
          <a:ln w="9525">
            <a:solidFill>
              <a:srgbClr val="CDCECB"/>
            </a:solidFill>
            <a:prstDash val="solid"/>
          </a:ln>
        </p:spPr>
      </p:sp>
      <p:sp>
        <p:nvSpPr>
          <p:cNvPr id="17" name="Text 15"/>
          <p:cNvSpPr/>
          <p:nvPr/>
        </p:nvSpPr>
        <p:spPr>
          <a:xfrm>
            <a:off x="804672" y="3255264"/>
            <a:ext cx="822960" cy="365760"/>
          </a:xfrm>
          <a:prstGeom prst="rect">
            <a:avLst/>
          </a:prstGeom>
          <a:noFill/>
          <a:ln/>
        </p:spPr>
        <p:txBody>
          <a:bodyPr wrap="square" lIns="0" tIns="0" rIns="0" bIns="0" rtlCol="0" anchor="ctr"/>
          <a:lstStyle/>
          <a:p>
            <a:pPr indent="0" marL="0">
              <a:buNone/>
            </a:pPr>
            <a:r>
              <a:rPr lang="en-US" sz="2200" b="1" dirty="0">
                <a:solidFill>
                  <a:srgbClr val="FAB072"/>
                </a:solidFill>
                <a:latin typeface="Spoqa Han Sans Neo" pitchFamily="34" charset="0"/>
                <a:ea typeface="Spoqa Han Sans Neo" pitchFamily="34" charset="-122"/>
                <a:cs typeface="Spoqa Han Sans Neo" pitchFamily="34" charset="-120"/>
              </a:rPr>
              <a:t>03</a:t>
            </a:r>
            <a:endParaRPr lang="en-US" sz="2200" dirty="0"/>
          </a:p>
        </p:txBody>
      </p:sp>
      <p:sp>
        <p:nvSpPr>
          <p:cNvPr id="18" name="Text 16"/>
          <p:cNvSpPr/>
          <p:nvPr/>
        </p:nvSpPr>
        <p:spPr>
          <a:xfrm>
            <a:off x="1664208" y="3273552"/>
            <a:ext cx="4020160" cy="365760"/>
          </a:xfrm>
          <a:prstGeom prst="rect">
            <a:avLst/>
          </a:prstGeom>
          <a:noFill/>
          <a:ln/>
        </p:spPr>
        <p:txBody>
          <a:bodyPr wrap="square" lIns="0" tIns="0" rIns="0" bIns="0" rtlCol="0" anchor="ctr"/>
          <a:lstStyle/>
          <a:p>
            <a:pPr indent="0" marL="0">
              <a:buNone/>
            </a:pPr>
            <a:r>
              <a:rPr lang="en-US" sz="1400" b="1" dirty="0">
                <a:solidFill>
                  <a:srgbClr val="043B72"/>
                </a:solidFill>
                <a:latin typeface="Spoqa Han Sans Neo" pitchFamily="34" charset="0"/>
                <a:ea typeface="Spoqa Han Sans Neo" pitchFamily="34" charset="-122"/>
                <a:cs typeface="Spoqa Han Sans Neo" pitchFamily="34" charset="-120"/>
              </a:rPr>
              <a:t>한 종목이 아니라 밸류체인 구간으로 접근한다</a:t>
            </a:r>
            <a:endParaRPr lang="en-US" sz="1400" dirty="0"/>
          </a:p>
        </p:txBody>
      </p:sp>
      <p:sp>
        <p:nvSpPr>
          <p:cNvPr id="19" name="Text 17"/>
          <p:cNvSpPr/>
          <p:nvPr/>
        </p:nvSpPr>
        <p:spPr>
          <a:xfrm>
            <a:off x="804672" y="3730752"/>
            <a:ext cx="4916272" cy="640080"/>
          </a:xfrm>
          <a:prstGeom prst="rect">
            <a:avLst/>
          </a:prstGeom>
          <a:noFill/>
          <a:ln/>
        </p:spPr>
        <p:txBody>
          <a:bodyPr wrap="square" lIns="0" tIns="0" rIns="0" bIns="0" rtlCol="0" anchor="ctr"/>
          <a:lstStyle/>
          <a:p>
            <a:pPr indent="0" marL="0">
              <a:lnSpc>
                <a:spcPct val="132000"/>
              </a:lnSpc>
              <a:buNone/>
            </a:pPr>
            <a:r>
              <a:rPr lang="en-US" sz="1100" dirty="0">
                <a:solidFill>
                  <a:srgbClr val="3D3D3D"/>
                </a:solidFill>
                <a:latin typeface="Spoqa Han Sans Neo" pitchFamily="34" charset="0"/>
                <a:ea typeface="Spoqa Han Sans Neo" pitchFamily="34" charset="-122"/>
                <a:cs typeface="Spoqa Han Sans Neo" pitchFamily="34" charset="-120"/>
              </a:rPr>
              <a:t>메모리·파운드리·장비·후공정·전력은 사이클 국면마다 수혜 시점이 다르다. 병목이 어디로 이동하는지가 구간 선택의 기준이 된다.</a:t>
            </a:r>
            <a:endParaRPr lang="en-US" sz="1100" dirty="0"/>
          </a:p>
        </p:txBody>
      </p:sp>
      <p:sp>
        <p:nvSpPr>
          <p:cNvPr id="20" name="Shape 18"/>
          <p:cNvSpPr/>
          <p:nvPr/>
        </p:nvSpPr>
        <p:spPr>
          <a:xfrm>
            <a:off x="6233008" y="3108960"/>
            <a:ext cx="5391760" cy="1371600"/>
          </a:xfrm>
          <a:prstGeom prst="rect">
            <a:avLst/>
          </a:prstGeom>
          <a:solidFill>
            <a:srgbClr val="FFFFFF"/>
          </a:solidFill>
          <a:ln w="9525">
            <a:solidFill>
              <a:srgbClr val="CDCECB"/>
            </a:solidFill>
            <a:prstDash val="solid"/>
          </a:ln>
        </p:spPr>
      </p:sp>
      <p:sp>
        <p:nvSpPr>
          <p:cNvPr id="21" name="Text 19"/>
          <p:cNvSpPr/>
          <p:nvPr/>
        </p:nvSpPr>
        <p:spPr>
          <a:xfrm>
            <a:off x="6470752" y="3255264"/>
            <a:ext cx="822960" cy="365760"/>
          </a:xfrm>
          <a:prstGeom prst="rect">
            <a:avLst/>
          </a:prstGeom>
          <a:noFill/>
          <a:ln/>
        </p:spPr>
        <p:txBody>
          <a:bodyPr wrap="square" lIns="0" tIns="0" rIns="0" bIns="0" rtlCol="0" anchor="ctr"/>
          <a:lstStyle/>
          <a:p>
            <a:pPr indent="0" marL="0">
              <a:buNone/>
            </a:pPr>
            <a:r>
              <a:rPr lang="en-US" sz="2200" b="1" dirty="0">
                <a:solidFill>
                  <a:srgbClr val="FAB072"/>
                </a:solidFill>
                <a:latin typeface="Spoqa Han Sans Neo" pitchFamily="34" charset="0"/>
                <a:ea typeface="Spoqa Han Sans Neo" pitchFamily="34" charset="-122"/>
                <a:cs typeface="Spoqa Han Sans Neo" pitchFamily="34" charset="-120"/>
              </a:rPr>
              <a:t>04</a:t>
            </a:r>
            <a:endParaRPr lang="en-US" sz="2200" dirty="0"/>
          </a:p>
        </p:txBody>
      </p:sp>
      <p:sp>
        <p:nvSpPr>
          <p:cNvPr id="22" name="Text 20"/>
          <p:cNvSpPr/>
          <p:nvPr/>
        </p:nvSpPr>
        <p:spPr>
          <a:xfrm>
            <a:off x="7330288" y="3273552"/>
            <a:ext cx="4020160" cy="365760"/>
          </a:xfrm>
          <a:prstGeom prst="rect">
            <a:avLst/>
          </a:prstGeom>
          <a:noFill/>
          <a:ln/>
        </p:spPr>
        <p:txBody>
          <a:bodyPr wrap="square" lIns="0" tIns="0" rIns="0" bIns="0" rtlCol="0" anchor="ctr"/>
          <a:lstStyle/>
          <a:p>
            <a:pPr indent="0" marL="0">
              <a:buNone/>
            </a:pPr>
            <a:r>
              <a:rPr lang="en-US" sz="1400" b="1" dirty="0">
                <a:solidFill>
                  <a:srgbClr val="043B72"/>
                </a:solidFill>
                <a:latin typeface="Spoqa Han Sans Neo" pitchFamily="34" charset="0"/>
                <a:ea typeface="Spoqa Han Sans Neo" pitchFamily="34" charset="-122"/>
                <a:cs typeface="Spoqa Han Sans Neo" pitchFamily="34" charset="-120"/>
              </a:rPr>
              <a:t>변동성을 비용이 아니라 조건으로 받아들인다</a:t>
            </a:r>
            <a:endParaRPr lang="en-US" sz="1400" dirty="0"/>
          </a:p>
        </p:txBody>
      </p:sp>
      <p:sp>
        <p:nvSpPr>
          <p:cNvPr id="23" name="Text 21"/>
          <p:cNvSpPr/>
          <p:nvPr/>
        </p:nvSpPr>
        <p:spPr>
          <a:xfrm>
            <a:off x="6470752" y="3730752"/>
            <a:ext cx="4916272" cy="640080"/>
          </a:xfrm>
          <a:prstGeom prst="rect">
            <a:avLst/>
          </a:prstGeom>
          <a:noFill/>
          <a:ln/>
        </p:spPr>
        <p:txBody>
          <a:bodyPr wrap="square" lIns="0" tIns="0" rIns="0" bIns="0" rtlCol="0" anchor="ctr"/>
          <a:lstStyle/>
          <a:p>
            <a:pPr indent="0" marL="0">
              <a:lnSpc>
                <a:spcPct val="132000"/>
              </a:lnSpc>
              <a:buNone/>
            </a:pPr>
            <a:r>
              <a:rPr lang="en-US" sz="1100" dirty="0">
                <a:solidFill>
                  <a:srgbClr val="3D3D3D"/>
                </a:solidFill>
                <a:latin typeface="Spoqa Han Sans Neo" pitchFamily="34" charset="0"/>
                <a:ea typeface="Spoqa Han Sans Neo" pitchFamily="34" charset="-122"/>
                <a:cs typeface="Spoqa Han Sans Neo" pitchFamily="34" charset="-120"/>
              </a:rPr>
              <a:t>2026년 7월 한 달에 서킷브레이커가 반복되고 하루 +17.9%의 반등이 나왔다. 이런 자산은 편입 비중과 분할 매수 계획을 사전에 정해두어야 한다.</a:t>
            </a:r>
            <a:endParaRPr lang="en-US" sz="1100" dirty="0"/>
          </a:p>
        </p:txBody>
      </p:sp>
      <p:sp>
        <p:nvSpPr>
          <p:cNvPr id="24" name="Shape 22"/>
          <p:cNvSpPr/>
          <p:nvPr/>
        </p:nvSpPr>
        <p:spPr>
          <a:xfrm>
            <a:off x="566928" y="4626864"/>
            <a:ext cx="11057839" cy="1298448"/>
          </a:xfrm>
          <a:prstGeom prst="rect">
            <a:avLst/>
          </a:prstGeom>
          <a:solidFill>
            <a:srgbClr val="F7F8FA"/>
          </a:solidFill>
          <a:ln w="9525">
            <a:solidFill>
              <a:srgbClr val="CDCECB"/>
            </a:solidFill>
            <a:prstDash val="solid"/>
          </a:ln>
        </p:spPr>
      </p:sp>
      <p:sp>
        <p:nvSpPr>
          <p:cNvPr id="25" name="Text 23"/>
          <p:cNvSpPr/>
          <p:nvPr/>
        </p:nvSpPr>
        <p:spPr>
          <a:xfrm>
            <a:off x="841248" y="4791456"/>
            <a:ext cx="6400800" cy="256032"/>
          </a:xfrm>
          <a:prstGeom prst="rect">
            <a:avLst/>
          </a:prstGeom>
          <a:noFill/>
          <a:ln/>
        </p:spPr>
        <p:txBody>
          <a:bodyPr wrap="square" lIns="0" tIns="0" rIns="0" bIns="0" rtlCol="0" anchor="ctr"/>
          <a:lstStyle/>
          <a:p>
            <a:pPr indent="0" marL="0">
              <a:buNone/>
            </a:pPr>
            <a:r>
              <a:rPr lang="en-US" sz="1300" b="1" dirty="0">
                <a:solidFill>
                  <a:srgbClr val="F58220"/>
                </a:solidFill>
                <a:latin typeface="Spoqa Han Sans Neo" pitchFamily="34" charset="0"/>
                <a:ea typeface="Spoqa Han Sans Neo" pitchFamily="34" charset="-122"/>
                <a:cs typeface="Spoqa Han Sans Neo" pitchFamily="34" charset="-120"/>
              </a:rPr>
              <a:t>고객 상담에서 자주 나오는 질문과 답의 방향</a:t>
            </a:r>
            <a:endParaRPr lang="en-US" sz="1300" dirty="0"/>
          </a:p>
        </p:txBody>
      </p:sp>
      <p:sp>
        <p:nvSpPr>
          <p:cNvPr id="26" name="Text 24"/>
          <p:cNvSpPr/>
          <p:nvPr/>
        </p:nvSpPr>
        <p:spPr>
          <a:xfrm>
            <a:off x="841248" y="5120640"/>
            <a:ext cx="3108960" cy="237744"/>
          </a:xfrm>
          <a:prstGeom prst="rect">
            <a:avLst/>
          </a:prstGeom>
          <a:noFill/>
          <a:ln/>
        </p:spPr>
        <p:txBody>
          <a:bodyPr wrap="square" lIns="0" tIns="0" rIns="0" bIns="0" rtlCol="0" anchor="ct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"지금 들어가도 되나요?"</a:t>
            </a:r>
            <a:endParaRPr lang="en-US" sz="1080" dirty="0"/>
          </a:p>
        </p:txBody>
      </p:sp>
      <p:sp>
        <p:nvSpPr>
          <p:cNvPr id="27" name="Text 25"/>
          <p:cNvSpPr/>
          <p:nvPr/>
        </p:nvSpPr>
        <p:spPr>
          <a:xfrm>
            <a:off x="4087368" y="5120640"/>
            <a:ext cx="7223760" cy="237744"/>
          </a:xfrm>
          <a:prstGeom prst="rect">
            <a:avLst/>
          </a:prstGeom>
          <a:noFill/>
          <a:ln/>
        </p:spPr>
        <p:txBody>
          <a:bodyPr wrap="square" lIns="0" tIns="0" rIns="0" bIns="0" rtlCol="0" anchor="ctr"/>
          <a:lstStyle/>
          <a:p>
            <a:pPr indent="0" marL="0">
              <a:buNone/>
            </a:pPr>
            <a:r>
              <a:rPr lang="en-US" sz="1060" dirty="0">
                <a:solidFill>
                  <a:srgbClr val="3D3D3D"/>
                </a:solidFill>
                <a:latin typeface="Spoqa Han Sans Neo" pitchFamily="34" charset="0"/>
                <a:ea typeface="Spoqa Han Sans Neo" pitchFamily="34" charset="-122"/>
                <a:cs typeface="Spoqa Han Sans Neo" pitchFamily="34" charset="-120"/>
              </a:rPr>
              <a:t>→ 타이밍 질문을 비중 질문으로 바꾼다. 전체 자산에서 몇 %까지 감당할 수 있는지가 먼저다.</a:t>
            </a:r>
            <a:endParaRPr lang="en-US" sz="1060" dirty="0"/>
          </a:p>
        </p:txBody>
      </p:sp>
      <p:sp>
        <p:nvSpPr>
          <p:cNvPr id="28" name="Text 26"/>
          <p:cNvSpPr/>
          <p:nvPr/>
        </p:nvSpPr>
        <p:spPr>
          <a:xfrm>
            <a:off x="841248" y="5394960"/>
            <a:ext cx="3108960" cy="237744"/>
          </a:xfrm>
          <a:prstGeom prst="rect">
            <a:avLst/>
          </a:prstGeom>
          <a:noFill/>
          <a:ln/>
        </p:spPr>
        <p:txBody>
          <a:bodyPr wrap="square" lIns="0" tIns="0" rIns="0" bIns="0" rtlCol="0" anchor="ct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"PER 4배면 싼 거죠?"</a:t>
            </a:r>
            <a:endParaRPr lang="en-US" sz="1080" dirty="0"/>
          </a:p>
        </p:txBody>
      </p:sp>
      <p:sp>
        <p:nvSpPr>
          <p:cNvPr id="29" name="Text 27"/>
          <p:cNvSpPr/>
          <p:nvPr/>
        </p:nvSpPr>
        <p:spPr>
          <a:xfrm>
            <a:off x="4087368" y="5394960"/>
            <a:ext cx="7223760" cy="237744"/>
          </a:xfrm>
          <a:prstGeom prst="rect">
            <a:avLst/>
          </a:prstGeom>
          <a:noFill/>
          <a:ln/>
        </p:spPr>
        <p:txBody>
          <a:bodyPr wrap="square" lIns="0" tIns="0" rIns="0" bIns="0" rtlCol="0" anchor="ctr"/>
          <a:lstStyle/>
          <a:p>
            <a:pPr indent="0" marL="0">
              <a:buNone/>
            </a:pPr>
            <a:r>
              <a:rPr lang="en-US" sz="1060" dirty="0">
                <a:solidFill>
                  <a:srgbClr val="3D3D3D"/>
                </a:solidFill>
                <a:latin typeface="Spoqa Han Sans Neo" pitchFamily="34" charset="0"/>
                <a:ea typeface="Spoqa Han Sans Neo" pitchFamily="34" charset="-122"/>
                <a:cs typeface="Spoqa Han Sans Neo" pitchFamily="34" charset="-120"/>
              </a:rPr>
              <a:t>→ 이익 지속기간에 대한 가정을 함께 세워야 의미가 생긴다는 점을 설명한다.</a:t>
            </a:r>
            <a:endParaRPr lang="en-US" sz="1060" dirty="0"/>
          </a:p>
        </p:txBody>
      </p:sp>
      <p:sp>
        <p:nvSpPr>
          <p:cNvPr id="30" name="Text 28"/>
          <p:cNvSpPr/>
          <p:nvPr/>
        </p:nvSpPr>
        <p:spPr>
          <a:xfrm>
            <a:off x="841248" y="5669280"/>
            <a:ext cx="3108960" cy="237744"/>
          </a:xfrm>
          <a:prstGeom prst="rect">
            <a:avLst/>
          </a:prstGeom>
          <a:noFill/>
          <a:ln/>
        </p:spPr>
        <p:txBody>
          <a:bodyPr wrap="square" lIns="0" tIns="0" rIns="0" bIns="0" rtlCol="0" anchor="ctr"/>
          <a:lstStyle/>
          <a:p>
            <a:pPr indent="0" marL="0">
              <a:buNone/>
            </a:pPr>
            <a:r>
              <a:rPr lang="en-US" sz="1080" b="1" dirty="0">
                <a:solidFill>
                  <a:srgbClr val="1A1A1A"/>
                </a:solidFill>
                <a:latin typeface="Spoqa Han Sans Neo" pitchFamily="34" charset="0"/>
                <a:ea typeface="Spoqa Han Sans Neo" pitchFamily="34" charset="-122"/>
                <a:cs typeface="Spoqa Han Sans Neo" pitchFamily="34" charset="-120"/>
              </a:rPr>
              <a:t>"중국이 따라오면 끝인가요?"</a:t>
            </a:r>
            <a:endParaRPr lang="en-US" sz="1080" dirty="0"/>
          </a:p>
        </p:txBody>
      </p:sp>
      <p:sp>
        <p:nvSpPr>
          <p:cNvPr id="31" name="Text 29"/>
          <p:cNvSpPr/>
          <p:nvPr/>
        </p:nvSpPr>
        <p:spPr>
          <a:xfrm>
            <a:off x="4087368" y="5669280"/>
            <a:ext cx="7223760" cy="237744"/>
          </a:xfrm>
          <a:prstGeom prst="rect">
            <a:avLst/>
          </a:prstGeom>
          <a:noFill/>
          <a:ln/>
        </p:spPr>
        <p:txBody>
          <a:bodyPr wrap="square" lIns="0" tIns="0" rIns="0" bIns="0" rtlCol="0" anchor="ctr"/>
          <a:lstStyle/>
          <a:p>
            <a:pPr indent="0" marL="0">
              <a:buNone/>
            </a:pPr>
            <a:r>
              <a:rPr lang="en-US" sz="1060" dirty="0">
                <a:solidFill>
                  <a:srgbClr val="3D3D3D"/>
                </a:solidFill>
                <a:latin typeface="Spoqa Han Sans Neo" pitchFamily="34" charset="0"/>
                <a:ea typeface="Spoqa Han Sans Neo" pitchFamily="34" charset="-122"/>
                <a:cs typeface="Spoqa Han Sans Neo" pitchFamily="34" charset="-120"/>
              </a:rPr>
              <a:t>→ 범용 D램(약 3년)과 HBM(약 5년)의 격차를 구분해 설명한다.</a:t>
            </a:r>
            <a:endParaRPr lang="en-US" sz="1060" dirty="0"/>
          </a:p>
        </p:txBody>
      </p:sp>
      <p:sp>
        <p:nvSpPr>
          <p:cNvPr id="32" name="Text 30"/>
          <p:cNvSpPr/>
          <p:nvPr/>
        </p:nvSpPr>
        <p:spPr>
          <a:xfrm>
            <a:off x="566928" y="6053328"/>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주: 일반적인 자산관리 원칙에 관한 설명이며, 특정 종목의 투자 권유가 아닙니다.</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4 · 체크리스트</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매월 확인할 여덟 개 지표</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전망을 맞히는 것보다, 전제가 깨지는 순간을 빨리 아는 것이 실전에서 중요하다.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28</a:t>
            </a:r>
            <a:endParaRPr lang="en-US" sz="900" dirty="0"/>
          </a:p>
        </p:txBody>
      </p:sp>
      <p:sp>
        <p:nvSpPr>
          <p:cNvPr id="8" name="Shape 6"/>
          <p:cNvSpPr/>
          <p:nvPr/>
        </p:nvSpPr>
        <p:spPr>
          <a:xfrm>
            <a:off x="566928" y="1572768"/>
            <a:ext cx="5391760" cy="749808"/>
          </a:xfrm>
          <a:prstGeom prst="rect">
            <a:avLst/>
          </a:prstGeom>
          <a:solidFill>
            <a:srgbClr val="FFFFFF"/>
          </a:solidFill>
          <a:ln w="9525">
            <a:solidFill>
              <a:srgbClr val="CDCECB"/>
            </a:solidFill>
            <a:prstDash val="solid"/>
          </a:ln>
        </p:spPr>
      </p:sp>
      <p:sp>
        <p:nvSpPr>
          <p:cNvPr id="9" name="Shape 7"/>
          <p:cNvSpPr/>
          <p:nvPr/>
        </p:nvSpPr>
        <p:spPr>
          <a:xfrm>
            <a:off x="566928" y="1572768"/>
            <a:ext cx="54864" cy="749808"/>
          </a:xfrm>
          <a:prstGeom prst="rect">
            <a:avLst/>
          </a:prstGeom>
          <a:solidFill>
            <a:srgbClr val="F58220"/>
          </a:solidFill>
          <a:ln w="12700">
            <a:solidFill>
              <a:srgbClr val="333333"/>
            </a:solidFill>
            <a:prstDash val="solid"/>
          </a:ln>
        </p:spPr>
      </p:sp>
      <p:sp>
        <p:nvSpPr>
          <p:cNvPr id="10" name="Text 8"/>
          <p:cNvSpPr/>
          <p:nvPr/>
        </p:nvSpPr>
        <p:spPr>
          <a:xfrm>
            <a:off x="786384" y="1664208"/>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01</a:t>
            </a:r>
            <a:endParaRPr lang="en-US" sz="1300" dirty="0"/>
          </a:p>
        </p:txBody>
      </p:sp>
      <p:sp>
        <p:nvSpPr>
          <p:cNvPr id="11" name="Text 9"/>
          <p:cNvSpPr/>
          <p:nvPr/>
        </p:nvSpPr>
        <p:spPr>
          <a:xfrm>
            <a:off x="1280160" y="1664208"/>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D램·낸드 고정거래가격</a:t>
            </a:r>
            <a:endParaRPr lang="en-US" sz="1200" dirty="0"/>
          </a:p>
        </p:txBody>
      </p:sp>
      <p:sp>
        <p:nvSpPr>
          <p:cNvPr id="12" name="Text 10"/>
          <p:cNvSpPr/>
          <p:nvPr/>
        </p:nvSpPr>
        <p:spPr>
          <a:xfrm>
            <a:off x="1280160" y="1956816"/>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TrendForce · DRAMeXchange</a:t>
            </a:r>
            <a:endParaRPr lang="en-US" sz="950" dirty="0"/>
          </a:p>
        </p:txBody>
      </p:sp>
      <p:sp>
        <p:nvSpPr>
          <p:cNvPr id="13" name="Text 11"/>
          <p:cNvSpPr/>
          <p:nvPr/>
        </p:nvSpPr>
        <p:spPr>
          <a:xfrm>
            <a:off x="3675888" y="1956816"/>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상승률 둔화가 3개월 이상 이어지는지</a:t>
            </a:r>
            <a:endParaRPr lang="en-US" sz="980" dirty="0"/>
          </a:p>
        </p:txBody>
      </p:sp>
      <p:sp>
        <p:nvSpPr>
          <p:cNvPr id="14" name="Shape 12"/>
          <p:cNvSpPr/>
          <p:nvPr/>
        </p:nvSpPr>
        <p:spPr>
          <a:xfrm>
            <a:off x="6233008" y="1572768"/>
            <a:ext cx="5391760" cy="749808"/>
          </a:xfrm>
          <a:prstGeom prst="rect">
            <a:avLst/>
          </a:prstGeom>
          <a:solidFill>
            <a:srgbClr val="FFFFFF"/>
          </a:solidFill>
          <a:ln w="9525">
            <a:solidFill>
              <a:srgbClr val="CDCECB"/>
            </a:solidFill>
            <a:prstDash val="solid"/>
          </a:ln>
        </p:spPr>
      </p:sp>
      <p:sp>
        <p:nvSpPr>
          <p:cNvPr id="15" name="Shape 13"/>
          <p:cNvSpPr/>
          <p:nvPr/>
        </p:nvSpPr>
        <p:spPr>
          <a:xfrm>
            <a:off x="6233008" y="1572768"/>
            <a:ext cx="54864" cy="749808"/>
          </a:xfrm>
          <a:prstGeom prst="rect">
            <a:avLst/>
          </a:prstGeom>
          <a:solidFill>
            <a:srgbClr val="043B72"/>
          </a:solidFill>
          <a:ln w="12700">
            <a:solidFill>
              <a:srgbClr val="333333"/>
            </a:solidFill>
            <a:prstDash val="solid"/>
          </a:ln>
        </p:spPr>
      </p:sp>
      <p:sp>
        <p:nvSpPr>
          <p:cNvPr id="16" name="Text 14"/>
          <p:cNvSpPr/>
          <p:nvPr/>
        </p:nvSpPr>
        <p:spPr>
          <a:xfrm>
            <a:off x="6452464" y="1664208"/>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02</a:t>
            </a:r>
            <a:endParaRPr lang="en-US" sz="1300" dirty="0"/>
          </a:p>
        </p:txBody>
      </p:sp>
      <p:sp>
        <p:nvSpPr>
          <p:cNvPr id="17" name="Text 15"/>
          <p:cNvSpPr/>
          <p:nvPr/>
        </p:nvSpPr>
        <p:spPr>
          <a:xfrm>
            <a:off x="6946240" y="1664208"/>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현물가와 고정거래가의 격차</a:t>
            </a:r>
            <a:endParaRPr lang="en-US" sz="1200" dirty="0"/>
          </a:p>
        </p:txBody>
      </p:sp>
      <p:sp>
        <p:nvSpPr>
          <p:cNvPr id="18" name="Text 16"/>
          <p:cNvSpPr/>
          <p:nvPr/>
        </p:nvSpPr>
        <p:spPr>
          <a:xfrm>
            <a:off x="6946240" y="1956816"/>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DRAMeXchange</a:t>
            </a:r>
            <a:endParaRPr lang="en-US" sz="950" dirty="0"/>
          </a:p>
        </p:txBody>
      </p:sp>
      <p:sp>
        <p:nvSpPr>
          <p:cNvPr id="19" name="Text 17"/>
          <p:cNvSpPr/>
          <p:nvPr/>
        </p:nvSpPr>
        <p:spPr>
          <a:xfrm>
            <a:off x="9341968" y="1956816"/>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현물 프리미엄 축소는 수급 완화의 선행 신호</a:t>
            </a:r>
            <a:endParaRPr lang="en-US" sz="980" dirty="0"/>
          </a:p>
        </p:txBody>
      </p:sp>
      <p:sp>
        <p:nvSpPr>
          <p:cNvPr id="20" name="Shape 18"/>
          <p:cNvSpPr/>
          <p:nvPr/>
        </p:nvSpPr>
        <p:spPr>
          <a:xfrm>
            <a:off x="566928" y="2432304"/>
            <a:ext cx="5391760" cy="749808"/>
          </a:xfrm>
          <a:prstGeom prst="rect">
            <a:avLst/>
          </a:prstGeom>
          <a:solidFill>
            <a:srgbClr val="FFFFFF"/>
          </a:solidFill>
          <a:ln w="9525">
            <a:solidFill>
              <a:srgbClr val="CDCECB"/>
            </a:solidFill>
            <a:prstDash val="solid"/>
          </a:ln>
        </p:spPr>
      </p:sp>
      <p:sp>
        <p:nvSpPr>
          <p:cNvPr id="21" name="Shape 19"/>
          <p:cNvSpPr/>
          <p:nvPr/>
        </p:nvSpPr>
        <p:spPr>
          <a:xfrm>
            <a:off x="566928" y="2432304"/>
            <a:ext cx="54864" cy="749808"/>
          </a:xfrm>
          <a:prstGeom prst="rect">
            <a:avLst/>
          </a:prstGeom>
          <a:solidFill>
            <a:srgbClr val="F58220"/>
          </a:solidFill>
          <a:ln w="12700">
            <a:solidFill>
              <a:srgbClr val="333333"/>
            </a:solidFill>
            <a:prstDash val="solid"/>
          </a:ln>
        </p:spPr>
      </p:sp>
      <p:sp>
        <p:nvSpPr>
          <p:cNvPr id="22" name="Text 20"/>
          <p:cNvSpPr/>
          <p:nvPr/>
        </p:nvSpPr>
        <p:spPr>
          <a:xfrm>
            <a:off x="786384" y="2523744"/>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03</a:t>
            </a:r>
            <a:endParaRPr lang="en-US" sz="1300" dirty="0"/>
          </a:p>
        </p:txBody>
      </p:sp>
      <p:sp>
        <p:nvSpPr>
          <p:cNvPr id="23" name="Text 21"/>
          <p:cNvSpPr/>
          <p:nvPr/>
        </p:nvSpPr>
        <p:spPr>
          <a:xfrm>
            <a:off x="1280160" y="2523744"/>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한국 반도체 월간 수출</a:t>
            </a:r>
            <a:endParaRPr lang="en-US" sz="1200" dirty="0"/>
          </a:p>
        </p:txBody>
      </p:sp>
      <p:sp>
        <p:nvSpPr>
          <p:cNvPr id="24" name="Text 22"/>
          <p:cNvSpPr/>
          <p:nvPr/>
        </p:nvSpPr>
        <p:spPr>
          <a:xfrm>
            <a:off x="1280160" y="2816352"/>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산업통상자원부 (매월 1일)</a:t>
            </a:r>
            <a:endParaRPr lang="en-US" sz="950" dirty="0"/>
          </a:p>
        </p:txBody>
      </p:sp>
      <p:sp>
        <p:nvSpPr>
          <p:cNvPr id="25" name="Text 23"/>
          <p:cNvSpPr/>
          <p:nvPr/>
        </p:nvSpPr>
        <p:spPr>
          <a:xfrm>
            <a:off x="3675888" y="2816352"/>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물량과 단가를 분리해서 볼 것</a:t>
            </a:r>
            <a:endParaRPr lang="en-US" sz="980" dirty="0"/>
          </a:p>
        </p:txBody>
      </p:sp>
      <p:sp>
        <p:nvSpPr>
          <p:cNvPr id="26" name="Shape 24"/>
          <p:cNvSpPr/>
          <p:nvPr/>
        </p:nvSpPr>
        <p:spPr>
          <a:xfrm>
            <a:off x="6233008" y="2432304"/>
            <a:ext cx="5391760" cy="749808"/>
          </a:xfrm>
          <a:prstGeom prst="rect">
            <a:avLst/>
          </a:prstGeom>
          <a:solidFill>
            <a:srgbClr val="FFFFFF"/>
          </a:solidFill>
          <a:ln w="9525">
            <a:solidFill>
              <a:srgbClr val="CDCECB"/>
            </a:solidFill>
            <a:prstDash val="solid"/>
          </a:ln>
        </p:spPr>
      </p:sp>
      <p:sp>
        <p:nvSpPr>
          <p:cNvPr id="27" name="Shape 25"/>
          <p:cNvSpPr/>
          <p:nvPr/>
        </p:nvSpPr>
        <p:spPr>
          <a:xfrm>
            <a:off x="6233008" y="2432304"/>
            <a:ext cx="54864" cy="749808"/>
          </a:xfrm>
          <a:prstGeom prst="rect">
            <a:avLst/>
          </a:prstGeom>
          <a:solidFill>
            <a:srgbClr val="043B72"/>
          </a:solidFill>
          <a:ln w="12700">
            <a:solidFill>
              <a:srgbClr val="333333"/>
            </a:solidFill>
            <a:prstDash val="solid"/>
          </a:ln>
        </p:spPr>
      </p:sp>
      <p:sp>
        <p:nvSpPr>
          <p:cNvPr id="28" name="Text 26"/>
          <p:cNvSpPr/>
          <p:nvPr/>
        </p:nvSpPr>
        <p:spPr>
          <a:xfrm>
            <a:off x="6452464" y="2523744"/>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04</a:t>
            </a:r>
            <a:endParaRPr lang="en-US" sz="1300" dirty="0"/>
          </a:p>
        </p:txBody>
      </p:sp>
      <p:sp>
        <p:nvSpPr>
          <p:cNvPr id="29" name="Text 27"/>
          <p:cNvSpPr/>
          <p:nvPr/>
        </p:nvSpPr>
        <p:spPr>
          <a:xfrm>
            <a:off x="6946240" y="2523744"/>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빅테크 CapEx 가이던스</a:t>
            </a:r>
            <a:endParaRPr lang="en-US" sz="1200" dirty="0"/>
          </a:p>
        </p:txBody>
      </p:sp>
      <p:sp>
        <p:nvSpPr>
          <p:cNvPr id="30" name="Text 28"/>
          <p:cNvSpPr/>
          <p:nvPr/>
        </p:nvSpPr>
        <p:spPr>
          <a:xfrm>
            <a:off x="6946240" y="2816352"/>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각 사 분기 실적발표</a:t>
            </a:r>
            <a:endParaRPr lang="en-US" sz="950" dirty="0"/>
          </a:p>
        </p:txBody>
      </p:sp>
      <p:sp>
        <p:nvSpPr>
          <p:cNvPr id="31" name="Text 29"/>
          <p:cNvSpPr/>
          <p:nvPr/>
        </p:nvSpPr>
        <p:spPr>
          <a:xfrm>
            <a:off x="9341968" y="2816352"/>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하향 조정 여부가 가장 중요한 단일 변수</a:t>
            </a:r>
            <a:endParaRPr lang="en-US" sz="980" dirty="0"/>
          </a:p>
        </p:txBody>
      </p:sp>
      <p:sp>
        <p:nvSpPr>
          <p:cNvPr id="32" name="Shape 30"/>
          <p:cNvSpPr/>
          <p:nvPr/>
        </p:nvSpPr>
        <p:spPr>
          <a:xfrm>
            <a:off x="566928" y="3291840"/>
            <a:ext cx="5391760" cy="749808"/>
          </a:xfrm>
          <a:prstGeom prst="rect">
            <a:avLst/>
          </a:prstGeom>
          <a:solidFill>
            <a:srgbClr val="FFFFFF"/>
          </a:solidFill>
          <a:ln w="9525">
            <a:solidFill>
              <a:srgbClr val="CDCECB"/>
            </a:solidFill>
            <a:prstDash val="solid"/>
          </a:ln>
        </p:spPr>
      </p:sp>
      <p:sp>
        <p:nvSpPr>
          <p:cNvPr id="33" name="Shape 31"/>
          <p:cNvSpPr/>
          <p:nvPr/>
        </p:nvSpPr>
        <p:spPr>
          <a:xfrm>
            <a:off x="566928" y="3291840"/>
            <a:ext cx="54864" cy="749808"/>
          </a:xfrm>
          <a:prstGeom prst="rect">
            <a:avLst/>
          </a:prstGeom>
          <a:solidFill>
            <a:srgbClr val="F58220"/>
          </a:solidFill>
          <a:ln w="12700">
            <a:solidFill>
              <a:srgbClr val="333333"/>
            </a:solidFill>
            <a:prstDash val="solid"/>
          </a:ln>
        </p:spPr>
      </p:sp>
      <p:sp>
        <p:nvSpPr>
          <p:cNvPr id="34" name="Text 32"/>
          <p:cNvSpPr/>
          <p:nvPr/>
        </p:nvSpPr>
        <p:spPr>
          <a:xfrm>
            <a:off x="786384" y="3383280"/>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05</a:t>
            </a:r>
            <a:endParaRPr lang="en-US" sz="1300" dirty="0"/>
          </a:p>
        </p:txBody>
      </p:sp>
      <p:sp>
        <p:nvSpPr>
          <p:cNvPr id="35" name="Text 33"/>
          <p:cNvSpPr/>
          <p:nvPr/>
        </p:nvSpPr>
        <p:spPr>
          <a:xfrm>
            <a:off x="1280160" y="3383280"/>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엔비디아 데이터센터 매출·가이던스</a:t>
            </a:r>
            <a:endParaRPr lang="en-US" sz="1200" dirty="0"/>
          </a:p>
        </p:txBody>
      </p:sp>
      <p:sp>
        <p:nvSpPr>
          <p:cNvPr id="36" name="Text 34"/>
          <p:cNvSpPr/>
          <p:nvPr/>
        </p:nvSpPr>
        <p:spPr>
          <a:xfrm>
            <a:off x="1280160" y="3675888"/>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NVIDIA 분기 실적</a:t>
            </a:r>
            <a:endParaRPr lang="en-US" sz="950" dirty="0"/>
          </a:p>
        </p:txBody>
      </p:sp>
      <p:sp>
        <p:nvSpPr>
          <p:cNvPr id="37" name="Text 35"/>
          <p:cNvSpPr/>
          <p:nvPr/>
        </p:nvSpPr>
        <p:spPr>
          <a:xfrm>
            <a:off x="3675888" y="3675888"/>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AI 가속기 출하량이 곧 HBM 수요</a:t>
            </a:r>
            <a:endParaRPr lang="en-US" sz="980" dirty="0"/>
          </a:p>
        </p:txBody>
      </p:sp>
      <p:sp>
        <p:nvSpPr>
          <p:cNvPr id="38" name="Shape 36"/>
          <p:cNvSpPr/>
          <p:nvPr/>
        </p:nvSpPr>
        <p:spPr>
          <a:xfrm>
            <a:off x="6233008" y="3291840"/>
            <a:ext cx="5391760" cy="749808"/>
          </a:xfrm>
          <a:prstGeom prst="rect">
            <a:avLst/>
          </a:prstGeom>
          <a:solidFill>
            <a:srgbClr val="FFFFFF"/>
          </a:solidFill>
          <a:ln w="9525">
            <a:solidFill>
              <a:srgbClr val="CDCECB"/>
            </a:solidFill>
            <a:prstDash val="solid"/>
          </a:ln>
        </p:spPr>
      </p:sp>
      <p:sp>
        <p:nvSpPr>
          <p:cNvPr id="39" name="Shape 37"/>
          <p:cNvSpPr/>
          <p:nvPr/>
        </p:nvSpPr>
        <p:spPr>
          <a:xfrm>
            <a:off x="6233008" y="3291840"/>
            <a:ext cx="54864" cy="749808"/>
          </a:xfrm>
          <a:prstGeom prst="rect">
            <a:avLst/>
          </a:prstGeom>
          <a:solidFill>
            <a:srgbClr val="043B72"/>
          </a:solidFill>
          <a:ln w="12700">
            <a:solidFill>
              <a:srgbClr val="333333"/>
            </a:solidFill>
            <a:prstDash val="solid"/>
          </a:ln>
        </p:spPr>
      </p:sp>
      <p:sp>
        <p:nvSpPr>
          <p:cNvPr id="40" name="Text 38"/>
          <p:cNvSpPr/>
          <p:nvPr/>
        </p:nvSpPr>
        <p:spPr>
          <a:xfrm>
            <a:off x="6452464" y="3383280"/>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06</a:t>
            </a:r>
            <a:endParaRPr lang="en-US" sz="1300" dirty="0"/>
          </a:p>
        </p:txBody>
      </p:sp>
      <p:sp>
        <p:nvSpPr>
          <p:cNvPr id="41" name="Text 39"/>
          <p:cNvSpPr/>
          <p:nvPr/>
        </p:nvSpPr>
        <p:spPr>
          <a:xfrm>
            <a:off x="6946240" y="3383280"/>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ASML 수주·가이던스</a:t>
            </a:r>
            <a:endParaRPr lang="en-US" sz="1200" dirty="0"/>
          </a:p>
        </p:txBody>
      </p:sp>
      <p:sp>
        <p:nvSpPr>
          <p:cNvPr id="42" name="Text 40"/>
          <p:cNvSpPr/>
          <p:nvPr/>
        </p:nvSpPr>
        <p:spPr>
          <a:xfrm>
            <a:off x="6946240" y="3675888"/>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ASML 분기 실적</a:t>
            </a:r>
            <a:endParaRPr lang="en-US" sz="950" dirty="0"/>
          </a:p>
        </p:txBody>
      </p:sp>
      <p:sp>
        <p:nvSpPr>
          <p:cNvPr id="43" name="Text 41"/>
          <p:cNvSpPr/>
          <p:nvPr/>
        </p:nvSpPr>
        <p:spPr>
          <a:xfrm>
            <a:off x="9341968" y="3675888"/>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1~2년 뒤 공급량을 미리 알려주는 지표</a:t>
            </a:r>
            <a:endParaRPr lang="en-US" sz="980" dirty="0"/>
          </a:p>
        </p:txBody>
      </p:sp>
      <p:sp>
        <p:nvSpPr>
          <p:cNvPr id="44" name="Shape 42"/>
          <p:cNvSpPr/>
          <p:nvPr/>
        </p:nvSpPr>
        <p:spPr>
          <a:xfrm>
            <a:off x="566928" y="4151376"/>
            <a:ext cx="5391760" cy="749808"/>
          </a:xfrm>
          <a:prstGeom prst="rect">
            <a:avLst/>
          </a:prstGeom>
          <a:solidFill>
            <a:srgbClr val="FFFFFF"/>
          </a:solidFill>
          <a:ln w="9525">
            <a:solidFill>
              <a:srgbClr val="CDCECB"/>
            </a:solidFill>
            <a:prstDash val="solid"/>
          </a:ln>
        </p:spPr>
      </p:sp>
      <p:sp>
        <p:nvSpPr>
          <p:cNvPr id="45" name="Shape 43"/>
          <p:cNvSpPr/>
          <p:nvPr/>
        </p:nvSpPr>
        <p:spPr>
          <a:xfrm>
            <a:off x="566928" y="4151376"/>
            <a:ext cx="54864" cy="749808"/>
          </a:xfrm>
          <a:prstGeom prst="rect">
            <a:avLst/>
          </a:prstGeom>
          <a:solidFill>
            <a:srgbClr val="F58220"/>
          </a:solidFill>
          <a:ln w="12700">
            <a:solidFill>
              <a:srgbClr val="333333"/>
            </a:solidFill>
            <a:prstDash val="solid"/>
          </a:ln>
        </p:spPr>
      </p:sp>
      <p:sp>
        <p:nvSpPr>
          <p:cNvPr id="46" name="Text 44"/>
          <p:cNvSpPr/>
          <p:nvPr/>
        </p:nvSpPr>
        <p:spPr>
          <a:xfrm>
            <a:off x="786384" y="4242816"/>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07</a:t>
            </a:r>
            <a:endParaRPr lang="en-US" sz="1300" dirty="0"/>
          </a:p>
        </p:txBody>
      </p:sp>
      <p:sp>
        <p:nvSpPr>
          <p:cNvPr id="47" name="Text 45"/>
          <p:cNvSpPr/>
          <p:nvPr/>
        </p:nvSpPr>
        <p:spPr>
          <a:xfrm>
            <a:off x="1280160" y="4242816"/>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HBM 인증·공급 배분 뉴스</a:t>
            </a:r>
            <a:endParaRPr lang="en-US" sz="1200" dirty="0"/>
          </a:p>
        </p:txBody>
      </p:sp>
      <p:sp>
        <p:nvSpPr>
          <p:cNvPr id="48" name="Text 46"/>
          <p:cNvSpPr/>
          <p:nvPr/>
        </p:nvSpPr>
        <p:spPr>
          <a:xfrm>
            <a:off x="1280160" y="4535424"/>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각 사 발표 · TrendForce</a:t>
            </a:r>
            <a:endParaRPr lang="en-US" sz="950" dirty="0"/>
          </a:p>
        </p:txBody>
      </p:sp>
      <p:sp>
        <p:nvSpPr>
          <p:cNvPr id="49" name="Text 47"/>
          <p:cNvSpPr/>
          <p:nvPr/>
        </p:nvSpPr>
        <p:spPr>
          <a:xfrm>
            <a:off x="3675888" y="4535424"/>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삼성의 HBM4 점유율 회복 속도</a:t>
            </a:r>
            <a:endParaRPr lang="en-US" sz="980" dirty="0"/>
          </a:p>
        </p:txBody>
      </p:sp>
      <p:sp>
        <p:nvSpPr>
          <p:cNvPr id="50" name="Shape 48"/>
          <p:cNvSpPr/>
          <p:nvPr/>
        </p:nvSpPr>
        <p:spPr>
          <a:xfrm>
            <a:off x="6233008" y="4151376"/>
            <a:ext cx="5391760" cy="749808"/>
          </a:xfrm>
          <a:prstGeom prst="rect">
            <a:avLst/>
          </a:prstGeom>
          <a:solidFill>
            <a:srgbClr val="FFFFFF"/>
          </a:solidFill>
          <a:ln w="9525">
            <a:solidFill>
              <a:srgbClr val="CDCECB"/>
            </a:solidFill>
            <a:prstDash val="solid"/>
          </a:ln>
        </p:spPr>
      </p:sp>
      <p:sp>
        <p:nvSpPr>
          <p:cNvPr id="51" name="Shape 49"/>
          <p:cNvSpPr/>
          <p:nvPr/>
        </p:nvSpPr>
        <p:spPr>
          <a:xfrm>
            <a:off x="6233008" y="4151376"/>
            <a:ext cx="54864" cy="749808"/>
          </a:xfrm>
          <a:prstGeom prst="rect">
            <a:avLst/>
          </a:prstGeom>
          <a:solidFill>
            <a:srgbClr val="043B72"/>
          </a:solidFill>
          <a:ln w="12700">
            <a:solidFill>
              <a:srgbClr val="333333"/>
            </a:solidFill>
            <a:prstDash val="solid"/>
          </a:ln>
        </p:spPr>
      </p:sp>
      <p:sp>
        <p:nvSpPr>
          <p:cNvPr id="52" name="Text 50"/>
          <p:cNvSpPr/>
          <p:nvPr/>
        </p:nvSpPr>
        <p:spPr>
          <a:xfrm>
            <a:off x="6452464" y="4242816"/>
            <a:ext cx="457200" cy="256032"/>
          </a:xfrm>
          <a:prstGeom prst="rect">
            <a:avLst/>
          </a:prstGeom>
          <a:noFill/>
          <a:ln/>
        </p:spPr>
        <p:txBody>
          <a:bodyPr wrap="square" lIns="0" tIns="0" rIns="0" bIns="0" rtlCol="0" anchor="ctr"/>
          <a:lstStyle/>
          <a:p>
            <a:pPr indent="0" marL="0">
              <a:buNone/>
            </a:pPr>
            <a:r>
              <a:rPr lang="en-US" sz="1300" b="1" dirty="0">
                <a:solidFill>
                  <a:srgbClr val="FAB072"/>
                </a:solidFill>
                <a:latin typeface="Spoqa Han Sans Neo" pitchFamily="34" charset="0"/>
                <a:ea typeface="Spoqa Han Sans Neo" pitchFamily="34" charset="-122"/>
                <a:cs typeface="Spoqa Han Sans Neo" pitchFamily="34" charset="-120"/>
              </a:rPr>
              <a:t>08</a:t>
            </a:r>
            <a:endParaRPr lang="en-US" sz="1300" dirty="0"/>
          </a:p>
        </p:txBody>
      </p:sp>
      <p:sp>
        <p:nvSpPr>
          <p:cNvPr id="53" name="Text 51"/>
          <p:cNvSpPr/>
          <p:nvPr/>
        </p:nvSpPr>
        <p:spPr>
          <a:xfrm>
            <a:off x="6946240" y="4242816"/>
            <a:ext cx="3017520" cy="256032"/>
          </a:xfrm>
          <a:prstGeom prst="rect">
            <a:avLst/>
          </a:prstGeom>
          <a:noFill/>
          <a:ln/>
        </p:spPr>
        <p:txBody>
          <a:bodyPr wrap="square" lIns="0" tIns="0" rIns="0" bIns="0" rtlCol="0" anchor="ctr"/>
          <a:lstStyle/>
          <a:p>
            <a:pPr indent="0" marL="0">
              <a:buNone/>
            </a:pPr>
            <a:r>
              <a:rPr lang="en-US" sz="1200" b="1" dirty="0">
                <a:solidFill>
                  <a:srgbClr val="1A1A1A"/>
                </a:solidFill>
                <a:latin typeface="Spoqa Han Sans Neo" pitchFamily="34" charset="0"/>
                <a:ea typeface="Spoqa Han Sans Neo" pitchFamily="34" charset="-122"/>
                <a:cs typeface="Spoqa Han Sans Neo" pitchFamily="34" charset="-120"/>
              </a:rPr>
              <a:t>CXMT 등 중국 캐파 진행 상황</a:t>
            </a:r>
            <a:endParaRPr lang="en-US" sz="1200" dirty="0"/>
          </a:p>
        </p:txBody>
      </p:sp>
      <p:sp>
        <p:nvSpPr>
          <p:cNvPr id="54" name="Text 52"/>
          <p:cNvSpPr/>
          <p:nvPr/>
        </p:nvSpPr>
        <p:spPr>
          <a:xfrm>
            <a:off x="6946240" y="4535424"/>
            <a:ext cx="2286000" cy="237744"/>
          </a:xfrm>
          <a:prstGeom prst="rect">
            <a:avLst/>
          </a:prstGeom>
          <a:noFill/>
          <a:ln/>
        </p:spPr>
        <p:txBody>
          <a:bodyPr wrap="square" lIns="0" tIns="0" rIns="0" bIns="0" rtlCol="0" anchor="ctr"/>
          <a:lstStyle/>
          <a:p>
            <a:pPr indent="0" marL="0">
              <a:buNone/>
            </a:pPr>
            <a:r>
              <a:rPr lang="en-US" sz="950" dirty="0">
                <a:solidFill>
                  <a:srgbClr val="84888B"/>
                </a:solidFill>
                <a:latin typeface="Spoqa Han Sans Neo" pitchFamily="34" charset="0"/>
                <a:ea typeface="Spoqa Han Sans Neo" pitchFamily="34" charset="-122"/>
                <a:cs typeface="Spoqa Han Sans Neo" pitchFamily="34" charset="-120"/>
              </a:rPr>
              <a:t>언론 · 시장조사기관</a:t>
            </a:r>
            <a:endParaRPr lang="en-US" sz="950" dirty="0"/>
          </a:p>
        </p:txBody>
      </p:sp>
      <p:sp>
        <p:nvSpPr>
          <p:cNvPr id="55" name="Text 53"/>
          <p:cNvSpPr/>
          <p:nvPr/>
        </p:nvSpPr>
        <p:spPr>
          <a:xfrm>
            <a:off x="9341968" y="4535424"/>
            <a:ext cx="2286000" cy="274320"/>
          </a:xfrm>
          <a:prstGeom prst="rect">
            <a:avLst/>
          </a:prstGeom>
          <a:noFill/>
          <a:ln/>
        </p:spPr>
        <p:txBody>
          <a:bodyPr wrap="square" lIns="0" tIns="0" rIns="0" bIns="0" rtlCol="0" anchor="ctr"/>
          <a:lstStyle/>
          <a:p>
            <a:pPr indent="0" marL="0">
              <a:lnSpc>
                <a:spcPct val="115000"/>
              </a:lnSpc>
              <a:buNone/>
            </a:pPr>
            <a:r>
              <a:rPr lang="en-US" sz="980" dirty="0">
                <a:solidFill>
                  <a:srgbClr val="043B72"/>
                </a:solidFill>
                <a:latin typeface="Spoqa Han Sans Neo" pitchFamily="34" charset="0"/>
                <a:ea typeface="Spoqa Han Sans Neo" pitchFamily="34" charset="-122"/>
                <a:cs typeface="Spoqa Han Sans Neo" pitchFamily="34" charset="-120"/>
              </a:rPr>
              <a:t>범용 D램 공급 증가 시점</a:t>
            </a:r>
            <a:endParaRPr lang="en-US" sz="980" dirty="0"/>
          </a:p>
        </p:txBody>
      </p:sp>
      <p:sp>
        <p:nvSpPr>
          <p:cNvPr id="56" name="Shape 54"/>
          <p:cNvSpPr/>
          <p:nvPr/>
        </p:nvSpPr>
        <p:spPr>
          <a:xfrm>
            <a:off x="566928" y="5120640"/>
            <a:ext cx="11057839" cy="786384"/>
          </a:xfrm>
          <a:prstGeom prst="rect">
            <a:avLst/>
          </a:prstGeom>
          <a:solidFill>
            <a:srgbClr val="043B72"/>
          </a:solidFill>
          <a:ln w="9525">
            <a:solidFill>
              <a:srgbClr val="CDCECB"/>
            </a:solidFill>
            <a:prstDash val="solid"/>
          </a:ln>
        </p:spPr>
      </p:sp>
      <p:sp>
        <p:nvSpPr>
          <p:cNvPr id="57" name="Text 55"/>
          <p:cNvSpPr/>
          <p:nvPr/>
        </p:nvSpPr>
        <p:spPr>
          <a:xfrm>
            <a:off x="841248" y="5248656"/>
            <a:ext cx="1280160" cy="237744"/>
          </a:xfrm>
          <a:prstGeom prst="rect">
            <a:avLst/>
          </a:prstGeom>
          <a:noFill/>
          <a:ln/>
        </p:spPr>
        <p:txBody>
          <a:bodyPr wrap="square" lIns="0" tIns="0" rIns="0" bIns="0" rtlCol="0" anchor="ctr"/>
          <a:lstStyle/>
          <a:p>
            <a:pPr indent="0" marL="0">
              <a:buNone/>
            </a:pPr>
            <a:r>
              <a:rPr lang="en-US" sz="1200" b="1" dirty="0">
                <a:solidFill>
                  <a:srgbClr val="FAB072"/>
                </a:solidFill>
                <a:latin typeface="Spoqa Han Sans Neo" pitchFamily="34" charset="0"/>
                <a:ea typeface="Spoqa Han Sans Neo" pitchFamily="34" charset="-122"/>
                <a:cs typeface="Spoqa Han Sans Neo" pitchFamily="34" charset="-120"/>
              </a:rPr>
              <a:t>우선순위</a:t>
            </a:r>
            <a:endParaRPr lang="en-US" sz="1200" dirty="0"/>
          </a:p>
        </p:txBody>
      </p:sp>
      <p:sp>
        <p:nvSpPr>
          <p:cNvPr id="58" name="Text 56"/>
          <p:cNvSpPr/>
          <p:nvPr/>
        </p:nvSpPr>
        <p:spPr>
          <a:xfrm>
            <a:off x="2167128" y="5193792"/>
            <a:ext cx="9183319" cy="640080"/>
          </a:xfrm>
          <a:prstGeom prst="rect">
            <a:avLst/>
          </a:prstGeom>
          <a:noFill/>
          <a:ln/>
        </p:spPr>
        <p:txBody>
          <a:bodyPr wrap="square" lIns="0" tIns="0" rIns="0" bIns="0" rtlCol="0" anchor="ctr"/>
          <a:lstStyle/>
          <a:p>
            <a:pPr indent="0" marL="0">
              <a:lnSpc>
                <a:spcPct val="130000"/>
              </a:lnSpc>
              <a:buNone/>
            </a:pPr>
            <a:r>
              <a:rPr lang="en-US" sz="1150" dirty="0">
                <a:solidFill>
                  <a:srgbClr val="FFFFFF"/>
                </a:solidFill>
                <a:latin typeface="Spoqa Han Sans Neo" pitchFamily="34" charset="0"/>
                <a:ea typeface="Spoqa Han Sans Neo" pitchFamily="34" charset="-122"/>
                <a:cs typeface="Spoqa Han Sans Neo" pitchFamily="34" charset="-120"/>
              </a:rPr>
              <a:t>여덟 개를 다 볼 수 없다면 04번(빅테크 CapEx)과 01번(메모리 가격)만 본다. 이번 사이클은 'AI 투자가 계속되는가'와 '그 결과로 메모리 가격이 유지되는가' 두 축으로 압축된다.</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37744"/>
            <a:ext cx="11057839" cy="237744"/>
          </a:xfrm>
          <a:prstGeom prst="rect">
            <a:avLst/>
          </a:prstGeom>
          <a:noFill/>
          <a:ln/>
        </p:spPr>
        <p:txBody>
          <a:bodyPr wrap="square" lIns="0" tIns="0" rIns="0" bIns="0" rtlCol="0" anchor="ctr"/>
          <a:lstStyle/>
          <a:p>
            <a:pPr indent="0" marL="0">
              <a:buNone/>
            </a:pPr>
            <a:r>
              <a:rPr lang="en-US" sz="1050" b="1" spc="120" kern="0" dirty="0">
                <a:solidFill>
                  <a:srgbClr val="F58220"/>
                </a:solidFill>
                <a:latin typeface="Spoqa Han Sans Neo" pitchFamily="34" charset="0"/>
                <a:ea typeface="Spoqa Han Sans Neo" pitchFamily="34" charset="-122"/>
                <a:cs typeface="Spoqa Han Sans Neo" pitchFamily="34" charset="-120"/>
              </a:rPr>
              <a:t>PART 5 · 한국</a:t>
            </a:r>
            <a:endParaRPr lang="en-US" sz="1050" dirty="0"/>
          </a:p>
        </p:txBody>
      </p:sp>
      <p:sp>
        <p:nvSpPr>
          <p:cNvPr id="3" name="Shape 1"/>
          <p:cNvSpPr/>
          <p:nvPr/>
        </p:nvSpPr>
        <p:spPr>
          <a:xfrm>
            <a:off x="566928" y="566928"/>
            <a:ext cx="11057839" cy="10973"/>
          </a:xfrm>
          <a:prstGeom prst="rect">
            <a:avLst/>
          </a:prstGeom>
          <a:solidFill>
            <a:srgbClr val="F58220"/>
          </a:solidFill>
          <a:ln w="12700">
            <a:solidFill>
              <a:srgbClr val="333333"/>
            </a:solidFill>
            <a:prstDash val="solid"/>
          </a:ln>
        </p:spPr>
      </p:sp>
      <p:sp>
        <p:nvSpPr>
          <p:cNvPr id="4" name="Text 2"/>
          <p:cNvSpPr/>
          <p:nvPr/>
        </p:nvSpPr>
        <p:spPr>
          <a:xfrm>
            <a:off x="566928" y="621792"/>
            <a:ext cx="11057839" cy="475488"/>
          </a:xfrm>
          <a:prstGeom prst="rect">
            <a:avLst/>
          </a:prstGeom>
          <a:noFill/>
          <a:ln/>
        </p:spPr>
        <p:txBody>
          <a:bodyPr wrap="square" lIns="0" tIns="0" rIns="0" bIns="0" rtlCol="0" anchor="ctr"/>
          <a:lstStyle/>
          <a:p>
            <a:pPr indent="0" marL="0">
              <a:buNone/>
            </a:pPr>
            <a:r>
              <a:rPr lang="en-US" sz="2600" b="1" dirty="0">
                <a:solidFill>
                  <a:srgbClr val="1A1A1A"/>
                </a:solidFill>
                <a:latin typeface="Spoqa Han Sans Neo" pitchFamily="34" charset="0"/>
                <a:ea typeface="Spoqa Han Sans Neo" pitchFamily="34" charset="-122"/>
                <a:cs typeface="Spoqa Han Sans Neo" pitchFamily="34" charset="-120"/>
              </a:rPr>
              <a:t>한국 반도체의 세 가지 과제</a:t>
            </a:r>
            <a:endParaRPr lang="en-US" sz="2600" dirty="0"/>
          </a:p>
        </p:txBody>
      </p:sp>
      <p:sp>
        <p:nvSpPr>
          <p:cNvPr id="5" name="Text 3"/>
          <p:cNvSpPr/>
          <p:nvPr/>
        </p:nvSpPr>
        <p:spPr>
          <a:xfrm>
            <a:off x="566928" y="1115568"/>
            <a:ext cx="11057839" cy="274320"/>
          </a:xfrm>
          <a:prstGeom prst="rect">
            <a:avLst/>
          </a:prstGeom>
          <a:noFill/>
          <a:ln/>
        </p:spPr>
        <p:txBody>
          <a:bodyPr wrap="square" lIns="0" tIns="0" rIns="0" bIns="0" rtlCol="0" anchor="ctr"/>
          <a:lstStyle/>
          <a:p>
            <a:pPr indent="0" marL="0">
              <a:buNone/>
            </a:pPr>
            <a:r>
              <a:rPr lang="en-US" sz="1250" dirty="0">
                <a:solidFill>
                  <a:srgbClr val="6C6C6C"/>
                </a:solidFill>
                <a:latin typeface="Spoqa Han Sans Neo" pitchFamily="34" charset="0"/>
                <a:ea typeface="Spoqa Han Sans Neo" pitchFamily="34" charset="-122"/>
                <a:cs typeface="Spoqa Han Sans Neo" pitchFamily="34" charset="-120"/>
              </a:rPr>
              <a:t>수출의 40%를 한 품목이 담당하는 구조는 강점이자 위험이다.</a:t>
            </a:r>
            <a:endParaRPr lang="en-US" sz="1250" dirty="0"/>
          </a:p>
        </p:txBody>
      </p:sp>
      <p:sp>
        <p:nvSpPr>
          <p:cNvPr id="6" name="Text 4"/>
          <p:cNvSpPr/>
          <p:nvPr/>
        </p:nvSpPr>
        <p:spPr>
          <a:xfrm>
            <a:off x="566928" y="6364224"/>
            <a:ext cx="5486400" cy="219456"/>
          </a:xfrm>
          <a:prstGeom prst="rect">
            <a:avLst/>
          </a:prstGeom>
          <a:noFill/>
          <a:ln/>
        </p:spPr>
        <p:txBody>
          <a:bodyPr wrap="square" lIns="0" tIns="0" rIns="0" bIns="0" rtlCol="0" anchor="ctr"/>
          <a:lstStyle/>
          <a:p>
            <a:pPr indent="0" marL="0">
              <a:buNone/>
            </a:pPr>
            <a:r>
              <a:rPr lang="en-US" sz="900" dirty="0">
                <a:solidFill>
                  <a:srgbClr val="84888B"/>
                </a:solidFill>
                <a:latin typeface="Spoqa Han Sans Neo" pitchFamily="34" charset="0"/>
                <a:ea typeface="Spoqa Han Sans Neo" pitchFamily="34" charset="-122"/>
                <a:cs typeface="Spoqa Han Sans Neo" pitchFamily="34" charset="-120"/>
              </a:rPr>
              <a:t>반도체 산업의 이해</a:t>
            </a:r>
            <a:endParaRPr lang="en-US" sz="900" dirty="0"/>
          </a:p>
        </p:txBody>
      </p:sp>
      <p:sp>
        <p:nvSpPr>
          <p:cNvPr id="7" name="Text 5"/>
          <p:cNvSpPr/>
          <p:nvPr/>
        </p:nvSpPr>
        <p:spPr>
          <a:xfrm>
            <a:off x="10527487" y="6364224"/>
            <a:ext cx="1097280" cy="219456"/>
          </a:xfrm>
          <a:prstGeom prst="rect">
            <a:avLst/>
          </a:prstGeom>
          <a:noFill/>
          <a:ln/>
        </p:spPr>
        <p:txBody>
          <a:bodyPr wrap="square" lIns="0" tIns="0" rIns="0" bIns="0" rtlCol="0" anchor="ctr"/>
          <a:lstStyle/>
          <a:p>
            <a:pPr algn="r" indent="0" marL="0">
              <a:buNone/>
            </a:pPr>
            <a:r>
              <a:rPr lang="en-US" sz="900" dirty="0">
                <a:solidFill>
                  <a:srgbClr val="84888B"/>
                </a:solidFill>
                <a:latin typeface="Spoqa Han Sans Neo" pitchFamily="34" charset="0"/>
                <a:ea typeface="Spoqa Han Sans Neo" pitchFamily="34" charset="-122"/>
                <a:cs typeface="Spoqa Han Sans Neo" pitchFamily="34" charset="-120"/>
              </a:rPr>
              <a:t>29</a:t>
            </a:r>
            <a:endParaRPr lang="en-US" sz="900" dirty="0"/>
          </a:p>
        </p:txBody>
      </p:sp>
      <p:sp>
        <p:nvSpPr>
          <p:cNvPr id="8" name="Shape 6"/>
          <p:cNvSpPr/>
          <p:nvPr/>
        </p:nvSpPr>
        <p:spPr>
          <a:xfrm>
            <a:off x="566928" y="1591056"/>
            <a:ext cx="3564026" cy="2834640"/>
          </a:xfrm>
          <a:prstGeom prst="rect">
            <a:avLst/>
          </a:prstGeom>
          <a:solidFill>
            <a:srgbClr val="FFFFFF"/>
          </a:solidFill>
          <a:ln w="9525">
            <a:solidFill>
              <a:srgbClr val="CDCECB"/>
            </a:solidFill>
            <a:prstDash val="solid"/>
          </a:ln>
        </p:spPr>
      </p:sp>
      <p:sp>
        <p:nvSpPr>
          <p:cNvPr id="9" name="Shape 7"/>
          <p:cNvSpPr/>
          <p:nvPr/>
        </p:nvSpPr>
        <p:spPr>
          <a:xfrm>
            <a:off x="566928" y="1591056"/>
            <a:ext cx="3564026" cy="457200"/>
          </a:xfrm>
          <a:prstGeom prst="rect">
            <a:avLst/>
          </a:prstGeom>
          <a:solidFill>
            <a:srgbClr val="F58220"/>
          </a:solidFill>
          <a:ln w="12700">
            <a:solidFill>
              <a:srgbClr val="333333"/>
            </a:solidFill>
            <a:prstDash val="solid"/>
          </a:ln>
        </p:spPr>
      </p:sp>
      <p:sp>
        <p:nvSpPr>
          <p:cNvPr id="10" name="Text 8"/>
          <p:cNvSpPr/>
          <p:nvPr/>
        </p:nvSpPr>
        <p:spPr>
          <a:xfrm>
            <a:off x="804672" y="1591056"/>
            <a:ext cx="1828800" cy="457200"/>
          </a:xfrm>
          <a:prstGeom prst="rect">
            <a:avLst/>
          </a:prstGeom>
          <a:noFill/>
          <a:ln/>
        </p:spPr>
        <p:txBody>
          <a:bodyPr wrap="square" lIns="0" tIns="0" rIns="0" bIns="0" rtlCol="0" anchor="ctr"/>
          <a:lstStyle/>
          <a:p>
            <a:pPr indent="0" marL="0">
              <a:buNone/>
            </a:pPr>
            <a:r>
              <a:rPr lang="en-US" sz="1700" b="1" dirty="0">
                <a:solidFill>
                  <a:srgbClr val="FFFFFF"/>
                </a:solidFill>
                <a:latin typeface="Spoqa Han Sans Neo" pitchFamily="34" charset="0"/>
                <a:ea typeface="Spoqa Han Sans Neo" pitchFamily="34" charset="-122"/>
                <a:cs typeface="Spoqa Han Sans Neo" pitchFamily="34" charset="-120"/>
              </a:rPr>
              <a:t>전력</a:t>
            </a:r>
            <a:endParaRPr lang="en-US" sz="1700" dirty="0"/>
          </a:p>
        </p:txBody>
      </p:sp>
      <p:sp>
        <p:nvSpPr>
          <p:cNvPr id="11" name="Text 9"/>
          <p:cNvSpPr/>
          <p:nvPr/>
        </p:nvSpPr>
        <p:spPr>
          <a:xfrm>
            <a:off x="2119274" y="1591056"/>
            <a:ext cx="1773936" cy="457200"/>
          </a:xfrm>
          <a:prstGeom prst="rect">
            <a:avLst/>
          </a:prstGeom>
          <a:noFill/>
          <a:ln/>
        </p:spPr>
        <p:txBody>
          <a:bodyPr wrap="square" lIns="0" tIns="0" rIns="0" bIns="0" rtlCol="0" anchor="ctr"/>
          <a:lstStyle/>
          <a:p>
            <a:pPr algn="r" indent="0" marL="0">
              <a:buNone/>
            </a:pPr>
            <a:r>
              <a:rPr lang="en-US" sz="1100" dirty="0">
                <a:solidFill>
                  <a:srgbClr val="FFE8D4"/>
                </a:solidFill>
                <a:latin typeface="Spoqa Han Sans Neo" pitchFamily="34" charset="0"/>
                <a:ea typeface="Spoqa Han Sans Neo" pitchFamily="34" charset="-122"/>
                <a:cs typeface="Spoqa Han Sans Neo" pitchFamily="34" charset="-120"/>
              </a:rPr>
              <a:t>다음 병목</a:t>
            </a:r>
            <a:endParaRPr lang="en-US" sz="1100" dirty="0"/>
          </a:p>
        </p:txBody>
      </p:sp>
      <p:sp>
        <p:nvSpPr>
          <p:cNvPr id="12" name="Text 10"/>
          <p:cNvSpPr/>
          <p:nvPr/>
        </p:nvSpPr>
        <p:spPr>
          <a:xfrm>
            <a:off x="804672" y="2194560"/>
            <a:ext cx="3088538" cy="2139696"/>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AI 데이터센터와 팹 증설은 모두 대규모 전력을 요구한다</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SK그룹은 데이터센터 인접 자체 발전소 건설을 검토 — "전력 부족은 재앙"</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송배전망 확충과 입지 확보가 증설 속도를 실질적으로 제약</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원전·전력기기·변압기 밸류체인으로 수혜가 확산되는 배경</a:t>
            </a:r>
            <a:endParaRPr lang="en-US" sz="1100" dirty="0"/>
          </a:p>
        </p:txBody>
      </p:sp>
      <p:sp>
        <p:nvSpPr>
          <p:cNvPr id="13" name="Shape 11"/>
          <p:cNvSpPr/>
          <p:nvPr/>
        </p:nvSpPr>
        <p:spPr>
          <a:xfrm>
            <a:off x="4313834" y="1591056"/>
            <a:ext cx="3564026" cy="2834640"/>
          </a:xfrm>
          <a:prstGeom prst="rect">
            <a:avLst/>
          </a:prstGeom>
          <a:solidFill>
            <a:srgbClr val="FFFFFF"/>
          </a:solidFill>
          <a:ln w="9525">
            <a:solidFill>
              <a:srgbClr val="CDCECB"/>
            </a:solidFill>
            <a:prstDash val="solid"/>
          </a:ln>
        </p:spPr>
      </p:sp>
      <p:sp>
        <p:nvSpPr>
          <p:cNvPr id="14" name="Shape 12"/>
          <p:cNvSpPr/>
          <p:nvPr/>
        </p:nvSpPr>
        <p:spPr>
          <a:xfrm>
            <a:off x="4313834" y="1591056"/>
            <a:ext cx="3564026" cy="457200"/>
          </a:xfrm>
          <a:prstGeom prst="rect">
            <a:avLst/>
          </a:prstGeom>
          <a:solidFill>
            <a:srgbClr val="043B72"/>
          </a:solidFill>
          <a:ln w="12700">
            <a:solidFill>
              <a:srgbClr val="333333"/>
            </a:solidFill>
            <a:prstDash val="solid"/>
          </a:ln>
        </p:spPr>
      </p:sp>
      <p:sp>
        <p:nvSpPr>
          <p:cNvPr id="15" name="Text 13"/>
          <p:cNvSpPr/>
          <p:nvPr/>
        </p:nvSpPr>
        <p:spPr>
          <a:xfrm>
            <a:off x="4551578" y="1591056"/>
            <a:ext cx="1828800" cy="457200"/>
          </a:xfrm>
          <a:prstGeom prst="rect">
            <a:avLst/>
          </a:prstGeom>
          <a:noFill/>
          <a:ln/>
        </p:spPr>
        <p:txBody>
          <a:bodyPr wrap="square" lIns="0" tIns="0" rIns="0" bIns="0" rtlCol="0" anchor="ctr"/>
          <a:lstStyle/>
          <a:p>
            <a:pPr indent="0" marL="0">
              <a:buNone/>
            </a:pPr>
            <a:r>
              <a:rPr lang="en-US" sz="1700" b="1" dirty="0">
                <a:solidFill>
                  <a:srgbClr val="FFFFFF"/>
                </a:solidFill>
                <a:latin typeface="Spoqa Han Sans Neo" pitchFamily="34" charset="0"/>
                <a:ea typeface="Spoqa Han Sans Neo" pitchFamily="34" charset="-122"/>
                <a:cs typeface="Spoqa Han Sans Neo" pitchFamily="34" charset="-120"/>
              </a:rPr>
              <a:t>인력 · 제도</a:t>
            </a:r>
            <a:endParaRPr lang="en-US" sz="1700" dirty="0"/>
          </a:p>
        </p:txBody>
      </p:sp>
      <p:sp>
        <p:nvSpPr>
          <p:cNvPr id="16" name="Text 14"/>
          <p:cNvSpPr/>
          <p:nvPr/>
        </p:nvSpPr>
        <p:spPr>
          <a:xfrm>
            <a:off x="5866181" y="1591056"/>
            <a:ext cx="1773936" cy="457200"/>
          </a:xfrm>
          <a:prstGeom prst="rect">
            <a:avLst/>
          </a:prstGeom>
          <a:noFill/>
          <a:ln/>
        </p:spPr>
        <p:txBody>
          <a:bodyPr wrap="square" lIns="0" tIns="0" rIns="0" bIns="0" rtlCol="0" anchor="ctr"/>
          <a:lstStyle/>
          <a:p>
            <a:pPr algn="r" indent="0" marL="0">
              <a:buNone/>
            </a:pPr>
            <a:r>
              <a:rPr lang="en-US" sz="1100" dirty="0">
                <a:solidFill>
                  <a:srgbClr val="FFE8D4"/>
                </a:solidFill>
                <a:latin typeface="Spoqa Han Sans Neo" pitchFamily="34" charset="0"/>
                <a:ea typeface="Spoqa Han Sans Neo" pitchFamily="34" charset="-122"/>
                <a:cs typeface="Spoqa Han Sans Neo" pitchFamily="34" charset="-120"/>
              </a:rPr>
              <a:t>속도의 문제</a:t>
            </a:r>
            <a:endParaRPr lang="en-US" sz="1100" dirty="0"/>
          </a:p>
        </p:txBody>
      </p:sp>
      <p:sp>
        <p:nvSpPr>
          <p:cNvPr id="17" name="Text 15"/>
          <p:cNvSpPr/>
          <p:nvPr/>
        </p:nvSpPr>
        <p:spPr>
          <a:xfrm>
            <a:off x="4551578" y="2194560"/>
            <a:ext cx="3088538" cy="2139696"/>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반도체특별법(국가첨단전략산업법 개정안) 2026년 1월 29일 국회 통과</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다만 최대 쟁점이었던 R&amp;D 주52시간 예외는 최종 제외</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K-칩스법 세액공제 등 지원 패키지는 유지</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석·박사급 설계 인력 부족은 시스템반도체 경쟁력의 근본 제약</a:t>
            </a:r>
            <a:endParaRPr lang="en-US" sz="1100" dirty="0"/>
          </a:p>
        </p:txBody>
      </p:sp>
      <p:sp>
        <p:nvSpPr>
          <p:cNvPr id="18" name="Shape 16"/>
          <p:cNvSpPr/>
          <p:nvPr/>
        </p:nvSpPr>
        <p:spPr>
          <a:xfrm>
            <a:off x="8060741" y="1591056"/>
            <a:ext cx="3564026" cy="2834640"/>
          </a:xfrm>
          <a:prstGeom prst="rect">
            <a:avLst/>
          </a:prstGeom>
          <a:solidFill>
            <a:srgbClr val="FFFFFF"/>
          </a:solidFill>
          <a:ln w="9525">
            <a:solidFill>
              <a:srgbClr val="CDCECB"/>
            </a:solidFill>
            <a:prstDash val="solid"/>
          </a:ln>
        </p:spPr>
      </p:sp>
      <p:sp>
        <p:nvSpPr>
          <p:cNvPr id="19" name="Shape 17"/>
          <p:cNvSpPr/>
          <p:nvPr/>
        </p:nvSpPr>
        <p:spPr>
          <a:xfrm>
            <a:off x="8060741" y="1591056"/>
            <a:ext cx="3564026" cy="457200"/>
          </a:xfrm>
          <a:prstGeom prst="rect">
            <a:avLst/>
          </a:prstGeom>
          <a:solidFill>
            <a:srgbClr val="F58220"/>
          </a:solidFill>
          <a:ln w="12700">
            <a:solidFill>
              <a:srgbClr val="333333"/>
            </a:solidFill>
            <a:prstDash val="solid"/>
          </a:ln>
        </p:spPr>
      </p:sp>
      <p:sp>
        <p:nvSpPr>
          <p:cNvPr id="20" name="Text 18"/>
          <p:cNvSpPr/>
          <p:nvPr/>
        </p:nvSpPr>
        <p:spPr>
          <a:xfrm>
            <a:off x="8298485" y="1591056"/>
            <a:ext cx="1828800" cy="457200"/>
          </a:xfrm>
          <a:prstGeom prst="rect">
            <a:avLst/>
          </a:prstGeom>
          <a:noFill/>
          <a:ln/>
        </p:spPr>
        <p:txBody>
          <a:bodyPr wrap="square" lIns="0" tIns="0" rIns="0" bIns="0" rtlCol="0" anchor="ctr"/>
          <a:lstStyle/>
          <a:p>
            <a:pPr indent="0" marL="0">
              <a:buNone/>
            </a:pPr>
            <a:r>
              <a:rPr lang="en-US" sz="1700" b="1" dirty="0">
                <a:solidFill>
                  <a:srgbClr val="FFFFFF"/>
                </a:solidFill>
                <a:latin typeface="Spoqa Han Sans Neo" pitchFamily="34" charset="0"/>
                <a:ea typeface="Spoqa Han Sans Neo" pitchFamily="34" charset="-122"/>
                <a:cs typeface="Spoqa Han Sans Neo" pitchFamily="34" charset="-120"/>
              </a:rPr>
              <a:t>격차 유지</a:t>
            </a:r>
            <a:endParaRPr lang="en-US" sz="1700" dirty="0"/>
          </a:p>
        </p:txBody>
      </p:sp>
      <p:sp>
        <p:nvSpPr>
          <p:cNvPr id="21" name="Text 19"/>
          <p:cNvSpPr/>
          <p:nvPr/>
        </p:nvSpPr>
        <p:spPr>
          <a:xfrm>
            <a:off x="9613087" y="1591056"/>
            <a:ext cx="1773936" cy="457200"/>
          </a:xfrm>
          <a:prstGeom prst="rect">
            <a:avLst/>
          </a:prstGeom>
          <a:noFill/>
          <a:ln/>
        </p:spPr>
        <p:txBody>
          <a:bodyPr wrap="square" lIns="0" tIns="0" rIns="0" bIns="0" rtlCol="0" anchor="ctr"/>
          <a:lstStyle/>
          <a:p>
            <a:pPr algn="r" indent="0" marL="0">
              <a:buNone/>
            </a:pPr>
            <a:r>
              <a:rPr lang="en-US" sz="1100" dirty="0">
                <a:solidFill>
                  <a:srgbClr val="FFE8D4"/>
                </a:solidFill>
                <a:latin typeface="Spoqa Han Sans Neo" pitchFamily="34" charset="0"/>
                <a:ea typeface="Spoqa Han Sans Neo" pitchFamily="34" charset="-122"/>
                <a:cs typeface="Spoqa Han Sans Neo" pitchFamily="34" charset="-120"/>
              </a:rPr>
              <a:t>구조의 문제</a:t>
            </a:r>
            <a:endParaRPr lang="en-US" sz="1100" dirty="0"/>
          </a:p>
        </p:txBody>
      </p:sp>
      <p:sp>
        <p:nvSpPr>
          <p:cNvPr id="22" name="Text 20"/>
          <p:cNvSpPr/>
          <p:nvPr/>
        </p:nvSpPr>
        <p:spPr>
          <a:xfrm>
            <a:off x="8298485" y="2194560"/>
            <a:ext cx="3088538" cy="2139696"/>
          </a:xfrm>
          <a:prstGeom prst="rect">
            <a:avLst/>
          </a:prstGeom>
          <a:noFill/>
          <a:ln/>
        </p:spPr>
        <p:txBody>
          <a:bodyPr wrap="square" lIns="0" tIns="0" rIns="0" bIns="0" rtlCol="0" anchor="ctr"/>
          <a:lstStyle/>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메모리는 세계 1·2위이나 파운드리는 6.5%, 팹리스 존재감은 미약</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시스템반도체 편중 해소 없이는 사이클 의존도가 낮아지지 않는다</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중국의 추격 속도(범용 D램 3년, HBM 5년)를 유지·확대해야 한다</a:t>
            </a:r>
            <a:endParaRPr lang="en-US" sz="1100" dirty="0"/>
          </a:p>
          <a:p>
            <a:pPr marL="177800" indent="-177800">
              <a:lnSpc>
                <a:spcPct val="120000"/>
              </a:lnSpc>
              <a:spcAft>
                <a:spcPts val="700"/>
              </a:spcAft>
              <a:buSzPct val="100000"/>
              <a:buChar char="•"/>
            </a:pPr>
            <a:r>
              <a:rPr lang="en-US" sz="1100" dirty="0">
                <a:solidFill>
                  <a:srgbClr val="3D3D3D"/>
                </a:solidFill>
                <a:latin typeface="Spoqa Han Sans Neo" pitchFamily="34" charset="0"/>
                <a:ea typeface="Spoqa Han Sans Neo" pitchFamily="34" charset="-122"/>
                <a:cs typeface="Spoqa Han Sans Neo" pitchFamily="34" charset="-120"/>
              </a:rPr>
              <a:t>지정학: 대중 수출통제와 미국 내 생산 요구 사이에서의 균형</a:t>
            </a:r>
            <a:endParaRPr lang="en-US" sz="1100" dirty="0"/>
          </a:p>
        </p:txBody>
      </p:sp>
      <p:sp>
        <p:nvSpPr>
          <p:cNvPr id="23" name="Shape 21"/>
          <p:cNvSpPr/>
          <p:nvPr/>
        </p:nvSpPr>
        <p:spPr>
          <a:xfrm>
            <a:off x="566928" y="4590288"/>
            <a:ext cx="11057839" cy="1335024"/>
          </a:xfrm>
          <a:prstGeom prst="rect">
            <a:avLst/>
          </a:prstGeom>
          <a:solidFill>
            <a:srgbClr val="ECEFF4"/>
          </a:solidFill>
          <a:ln w="9525">
            <a:solidFill>
              <a:srgbClr val="CDCECB"/>
            </a:solidFill>
            <a:prstDash val="solid"/>
          </a:ln>
        </p:spPr>
      </p:sp>
      <p:sp>
        <p:nvSpPr>
          <p:cNvPr id="24" name="Text 22"/>
          <p:cNvSpPr/>
          <p:nvPr/>
        </p:nvSpPr>
        <p:spPr>
          <a:xfrm>
            <a:off x="841248" y="4754880"/>
            <a:ext cx="6400800" cy="256032"/>
          </a:xfrm>
          <a:prstGeom prst="rect">
            <a:avLst/>
          </a:prstGeom>
          <a:noFill/>
          <a:ln/>
        </p:spPr>
        <p:txBody>
          <a:bodyPr wrap="square" lIns="0" tIns="0" rIns="0" bIns="0" rtlCol="0" anchor="ctr"/>
          <a:lstStyle/>
          <a:p>
            <a:pPr indent="0" marL="0">
              <a:buNone/>
            </a:pPr>
            <a:r>
              <a:rPr lang="en-US" sz="1350" b="1" dirty="0">
                <a:solidFill>
                  <a:srgbClr val="043B72"/>
                </a:solidFill>
                <a:latin typeface="Spoqa Han Sans Neo" pitchFamily="34" charset="0"/>
                <a:ea typeface="Spoqa Han Sans Neo" pitchFamily="34" charset="-122"/>
                <a:cs typeface="Spoqa Han Sans Neo" pitchFamily="34" charset="-120"/>
              </a:rPr>
              <a:t>숫자로 보는 한국 반도체의 위상 (2026년 7월)</a:t>
            </a:r>
            <a:endParaRPr lang="en-US" sz="1350" dirty="0"/>
          </a:p>
        </p:txBody>
      </p:sp>
      <p:sp>
        <p:nvSpPr>
          <p:cNvPr id="25" name="Text 23"/>
          <p:cNvSpPr/>
          <p:nvPr/>
        </p:nvSpPr>
        <p:spPr>
          <a:xfrm>
            <a:off x="841248" y="5084064"/>
            <a:ext cx="24901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반도체 수출</a:t>
            </a:r>
            <a:endParaRPr lang="en-US" sz="1050" dirty="0"/>
          </a:p>
        </p:txBody>
      </p:sp>
      <p:sp>
        <p:nvSpPr>
          <p:cNvPr id="26" name="Text 24"/>
          <p:cNvSpPr/>
          <p:nvPr/>
        </p:nvSpPr>
        <p:spPr>
          <a:xfrm>
            <a:off x="841248" y="5285232"/>
            <a:ext cx="2490140" cy="310896"/>
          </a:xfrm>
          <a:prstGeom prst="rect">
            <a:avLst/>
          </a:prstGeom>
          <a:noFill/>
          <a:ln/>
        </p:spPr>
        <p:txBody>
          <a:bodyPr wrap="square" lIns="0" tIns="0" rIns="0" bIns="0" rtlCol="0" anchor="ctr"/>
          <a:lstStyle/>
          <a:p>
            <a:pPr indent="0" marL="0">
              <a:buNone/>
            </a:pPr>
            <a:r>
              <a:rPr lang="en-US" sz="1900" b="1" dirty="0">
                <a:solidFill>
                  <a:srgbClr val="F58220"/>
                </a:solidFill>
                <a:latin typeface="Spoqa Han Sans Neo" pitchFamily="34" charset="0"/>
                <a:ea typeface="Spoqa Han Sans Neo" pitchFamily="34" charset="-122"/>
                <a:cs typeface="Spoqa Han Sans Neo" pitchFamily="34" charset="-120"/>
              </a:rPr>
              <a:t>410.1억$</a:t>
            </a:r>
            <a:endParaRPr lang="en-US" sz="1900" dirty="0"/>
          </a:p>
        </p:txBody>
      </p:sp>
      <p:sp>
        <p:nvSpPr>
          <p:cNvPr id="27" name="Text 25"/>
          <p:cNvSpPr/>
          <p:nvPr/>
        </p:nvSpPr>
        <p:spPr>
          <a:xfrm>
            <a:off x="841248" y="5596128"/>
            <a:ext cx="2490140" cy="237744"/>
          </a:xfrm>
          <a:prstGeom prst="rect">
            <a:avLst/>
          </a:prstGeom>
          <a:noFill/>
          <a:ln/>
        </p:spPr>
        <p:txBody>
          <a:bodyPr wrap="square" lIns="0" tIns="0" rIns="0" bIns="0" rtlCol="0" anchor="ctr"/>
          <a:lstStyle/>
          <a:p>
            <a:pPr indent="0" marL="0">
              <a:buNone/>
            </a:pPr>
            <a:r>
              <a:rPr lang="en-US" sz="1000" dirty="0">
                <a:solidFill>
                  <a:srgbClr val="3D3D3D"/>
                </a:solidFill>
                <a:latin typeface="Spoqa Han Sans Neo" pitchFamily="34" charset="0"/>
                <a:ea typeface="Spoqa Han Sans Neo" pitchFamily="34" charset="-122"/>
                <a:cs typeface="Spoqa Han Sans Neo" pitchFamily="34" charset="-120"/>
              </a:rPr>
              <a:t>전년동월비 +178.8%</a:t>
            </a:r>
            <a:endParaRPr lang="en-US" sz="1000" dirty="0"/>
          </a:p>
        </p:txBody>
      </p:sp>
      <p:sp>
        <p:nvSpPr>
          <p:cNvPr id="28" name="Text 26"/>
          <p:cNvSpPr/>
          <p:nvPr/>
        </p:nvSpPr>
        <p:spPr>
          <a:xfrm>
            <a:off x="3514268" y="5084064"/>
            <a:ext cx="24901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전체 수출</a:t>
            </a:r>
            <a:endParaRPr lang="en-US" sz="1050" dirty="0"/>
          </a:p>
        </p:txBody>
      </p:sp>
      <p:sp>
        <p:nvSpPr>
          <p:cNvPr id="29" name="Text 27"/>
          <p:cNvSpPr/>
          <p:nvPr/>
        </p:nvSpPr>
        <p:spPr>
          <a:xfrm>
            <a:off x="3514268" y="5285232"/>
            <a:ext cx="2490140" cy="310896"/>
          </a:xfrm>
          <a:prstGeom prst="rect">
            <a:avLst/>
          </a:prstGeom>
          <a:noFill/>
          <a:ln/>
        </p:spPr>
        <p:txBody>
          <a:bodyPr wrap="square" lIns="0" tIns="0" rIns="0" bIns="0" rtlCol="0" anchor="ctr"/>
          <a:lstStyle/>
          <a:p>
            <a:pPr indent="0" marL="0">
              <a:buNone/>
            </a:pPr>
            <a:r>
              <a:rPr lang="en-US" sz="1900" b="1" dirty="0">
                <a:solidFill>
                  <a:srgbClr val="F58220"/>
                </a:solidFill>
                <a:latin typeface="Spoqa Han Sans Neo" pitchFamily="34" charset="0"/>
                <a:ea typeface="Spoqa Han Sans Neo" pitchFamily="34" charset="-122"/>
                <a:cs typeface="Spoqa Han Sans Neo" pitchFamily="34" charset="-120"/>
              </a:rPr>
              <a:t>988.9억$</a:t>
            </a:r>
            <a:endParaRPr lang="en-US" sz="1900" dirty="0"/>
          </a:p>
        </p:txBody>
      </p:sp>
      <p:sp>
        <p:nvSpPr>
          <p:cNvPr id="30" name="Text 28"/>
          <p:cNvSpPr/>
          <p:nvPr/>
        </p:nvSpPr>
        <p:spPr>
          <a:xfrm>
            <a:off x="3514268" y="5596128"/>
            <a:ext cx="2490140" cy="237744"/>
          </a:xfrm>
          <a:prstGeom prst="rect">
            <a:avLst/>
          </a:prstGeom>
          <a:noFill/>
          <a:ln/>
        </p:spPr>
        <p:txBody>
          <a:bodyPr wrap="square" lIns="0" tIns="0" rIns="0" bIns="0" rtlCol="0" anchor="ctr"/>
          <a:lstStyle/>
          <a:p>
            <a:pPr indent="0" marL="0">
              <a:buNone/>
            </a:pPr>
            <a:r>
              <a:rPr lang="en-US" sz="1000" dirty="0">
                <a:solidFill>
                  <a:srgbClr val="3D3D3D"/>
                </a:solidFill>
                <a:latin typeface="Spoqa Han Sans Neo" pitchFamily="34" charset="0"/>
                <a:ea typeface="Spoqa Han Sans Neo" pitchFamily="34" charset="-122"/>
                <a:cs typeface="Spoqa Han Sans Neo" pitchFamily="34" charset="-120"/>
              </a:rPr>
              <a:t>역대 2위 (6월 1,022.5억$ 최고)</a:t>
            </a:r>
            <a:endParaRPr lang="en-US" sz="1000" dirty="0"/>
          </a:p>
        </p:txBody>
      </p:sp>
      <p:sp>
        <p:nvSpPr>
          <p:cNvPr id="31" name="Text 29"/>
          <p:cNvSpPr/>
          <p:nvPr/>
        </p:nvSpPr>
        <p:spPr>
          <a:xfrm>
            <a:off x="6187288" y="5084064"/>
            <a:ext cx="24901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무역흑자</a:t>
            </a:r>
            <a:endParaRPr lang="en-US" sz="1050" dirty="0"/>
          </a:p>
        </p:txBody>
      </p:sp>
      <p:sp>
        <p:nvSpPr>
          <p:cNvPr id="32" name="Text 30"/>
          <p:cNvSpPr/>
          <p:nvPr/>
        </p:nvSpPr>
        <p:spPr>
          <a:xfrm>
            <a:off x="6187288" y="5285232"/>
            <a:ext cx="2490140" cy="310896"/>
          </a:xfrm>
          <a:prstGeom prst="rect">
            <a:avLst/>
          </a:prstGeom>
          <a:noFill/>
          <a:ln/>
        </p:spPr>
        <p:txBody>
          <a:bodyPr wrap="square" lIns="0" tIns="0" rIns="0" bIns="0" rtlCol="0" anchor="ctr"/>
          <a:lstStyle/>
          <a:p>
            <a:pPr indent="0" marL="0">
              <a:buNone/>
            </a:pPr>
            <a:r>
              <a:rPr lang="en-US" sz="1900" b="1" dirty="0">
                <a:solidFill>
                  <a:srgbClr val="F58220"/>
                </a:solidFill>
                <a:latin typeface="Spoqa Han Sans Neo" pitchFamily="34" charset="0"/>
                <a:ea typeface="Spoqa Han Sans Neo" pitchFamily="34" charset="-122"/>
                <a:cs typeface="Spoqa Han Sans Neo" pitchFamily="34" charset="-120"/>
              </a:rPr>
              <a:t>303.2억$</a:t>
            </a:r>
            <a:endParaRPr lang="en-US" sz="1900" dirty="0"/>
          </a:p>
        </p:txBody>
      </p:sp>
      <p:sp>
        <p:nvSpPr>
          <p:cNvPr id="33" name="Text 31"/>
          <p:cNvSpPr/>
          <p:nvPr/>
        </p:nvSpPr>
        <p:spPr>
          <a:xfrm>
            <a:off x="6187288" y="5596128"/>
            <a:ext cx="2490140" cy="237744"/>
          </a:xfrm>
          <a:prstGeom prst="rect">
            <a:avLst/>
          </a:prstGeom>
          <a:noFill/>
          <a:ln/>
        </p:spPr>
        <p:txBody>
          <a:bodyPr wrap="square" lIns="0" tIns="0" rIns="0" bIns="0" rtlCol="0" anchor="ctr"/>
          <a:lstStyle/>
          <a:p>
            <a:pPr indent="0" marL="0">
              <a:buNone/>
            </a:pPr>
            <a:r>
              <a:rPr lang="en-US" sz="1000" dirty="0">
                <a:solidFill>
                  <a:srgbClr val="3D3D3D"/>
                </a:solidFill>
                <a:latin typeface="Spoqa Han Sans Neo" pitchFamily="34" charset="0"/>
                <a:ea typeface="Spoqa Han Sans Neo" pitchFamily="34" charset="-122"/>
                <a:cs typeface="Spoqa Han Sans Neo" pitchFamily="34" charset="-120"/>
              </a:rPr>
              <a:t>누적 1,680억$</a:t>
            </a:r>
            <a:endParaRPr lang="en-US" sz="1000" dirty="0"/>
          </a:p>
        </p:txBody>
      </p:sp>
      <p:sp>
        <p:nvSpPr>
          <p:cNvPr id="34" name="Text 32"/>
          <p:cNvSpPr/>
          <p:nvPr/>
        </p:nvSpPr>
        <p:spPr>
          <a:xfrm>
            <a:off x="8860307" y="5084064"/>
            <a:ext cx="2490140" cy="219456"/>
          </a:xfrm>
          <a:prstGeom prst="rect">
            <a:avLst/>
          </a:prstGeom>
          <a:noFill/>
          <a:ln/>
        </p:spPr>
        <p:txBody>
          <a:bodyPr wrap="square" lIns="0" tIns="0" rIns="0" bIns="0" rtlCol="0" anchor="ctr"/>
          <a:lstStyle/>
          <a:p>
            <a:pPr indent="0" marL="0">
              <a:buNone/>
            </a:pPr>
            <a:r>
              <a:rPr lang="en-US" sz="1050" dirty="0">
                <a:solidFill>
                  <a:srgbClr val="6C6C6C"/>
                </a:solidFill>
                <a:latin typeface="Spoqa Han Sans Neo" pitchFamily="34" charset="0"/>
                <a:ea typeface="Spoqa Han Sans Neo" pitchFamily="34" charset="-122"/>
                <a:cs typeface="Spoqa Han Sans Neo" pitchFamily="34" charset="-120"/>
              </a:rPr>
              <a:t>대중국 수출</a:t>
            </a:r>
            <a:endParaRPr lang="en-US" sz="1050" dirty="0"/>
          </a:p>
        </p:txBody>
      </p:sp>
      <p:sp>
        <p:nvSpPr>
          <p:cNvPr id="35" name="Text 33"/>
          <p:cNvSpPr/>
          <p:nvPr/>
        </p:nvSpPr>
        <p:spPr>
          <a:xfrm>
            <a:off x="8860307" y="5285232"/>
            <a:ext cx="2490140" cy="310896"/>
          </a:xfrm>
          <a:prstGeom prst="rect">
            <a:avLst/>
          </a:prstGeom>
          <a:noFill/>
          <a:ln/>
        </p:spPr>
        <p:txBody>
          <a:bodyPr wrap="square" lIns="0" tIns="0" rIns="0" bIns="0" rtlCol="0" anchor="ctr"/>
          <a:lstStyle/>
          <a:p>
            <a:pPr indent="0" marL="0">
              <a:buNone/>
            </a:pPr>
            <a:r>
              <a:rPr lang="en-US" sz="1900" b="1" dirty="0">
                <a:solidFill>
                  <a:srgbClr val="F58220"/>
                </a:solidFill>
                <a:latin typeface="Spoqa Han Sans Neo" pitchFamily="34" charset="0"/>
                <a:ea typeface="Spoqa Han Sans Neo" pitchFamily="34" charset="-122"/>
                <a:cs typeface="Spoqa Han Sans Neo" pitchFamily="34" charset="-120"/>
              </a:rPr>
              <a:t>216.8억$</a:t>
            </a:r>
            <a:endParaRPr lang="en-US" sz="1900" dirty="0"/>
          </a:p>
        </p:txBody>
      </p:sp>
      <p:sp>
        <p:nvSpPr>
          <p:cNvPr id="36" name="Text 34"/>
          <p:cNvSpPr/>
          <p:nvPr/>
        </p:nvSpPr>
        <p:spPr>
          <a:xfrm>
            <a:off x="8860307" y="5596128"/>
            <a:ext cx="2490140" cy="237744"/>
          </a:xfrm>
          <a:prstGeom prst="rect">
            <a:avLst/>
          </a:prstGeom>
          <a:noFill/>
          <a:ln/>
        </p:spPr>
        <p:txBody>
          <a:bodyPr wrap="square" lIns="0" tIns="0" rIns="0" bIns="0" rtlCol="0" anchor="ctr"/>
          <a:lstStyle/>
          <a:p>
            <a:pPr indent="0" marL="0">
              <a:buNone/>
            </a:pPr>
            <a:r>
              <a:rPr lang="en-US" sz="1000" dirty="0">
                <a:solidFill>
                  <a:srgbClr val="3D3D3D"/>
                </a:solidFill>
                <a:latin typeface="Spoqa Han Sans Neo" pitchFamily="34" charset="0"/>
                <a:ea typeface="Spoqa Han Sans Neo" pitchFamily="34" charset="-122"/>
                <a:cs typeface="Spoqa Han Sans Neo" pitchFamily="34" charset="-120"/>
              </a:rPr>
              <a:t>반도체 중심 +96.2%</a:t>
            </a:r>
            <a:endParaRPr lang="en-US" sz="1000" dirty="0"/>
          </a:p>
        </p:txBody>
      </p:sp>
      <p:sp>
        <p:nvSpPr>
          <p:cNvPr id="37" name="Text 35"/>
          <p:cNvSpPr/>
          <p:nvPr/>
        </p:nvSpPr>
        <p:spPr>
          <a:xfrm>
            <a:off x="566928" y="6089904"/>
            <a:ext cx="11057839" cy="219456"/>
          </a:xfrm>
          <a:prstGeom prst="rect">
            <a:avLst/>
          </a:prstGeom>
          <a:noFill/>
          <a:ln/>
        </p:spPr>
        <p:txBody>
          <a:bodyPr wrap="square" lIns="0" tIns="0" rIns="0" bIns="0" rtlCol="0" anchor="ctr"/>
          <a:lstStyle/>
          <a:p>
            <a:pPr indent="0" marL="0">
              <a:buNone/>
            </a:pPr>
            <a:r>
              <a:rPr lang="en-US" sz="850" dirty="0">
                <a:solidFill>
                  <a:srgbClr val="84888B"/>
                </a:solidFill>
                <a:latin typeface="Spoqa Han Sans Neo" pitchFamily="34" charset="0"/>
                <a:ea typeface="Spoqa Han Sans Neo" pitchFamily="34" charset="-122"/>
                <a:cs typeface="Spoqa Han Sans Neo" pitchFamily="34" charset="-120"/>
              </a:rPr>
              <a:t>자료: 산업통상자원부 「2026년 7월 수출입 동향」(2026.8.1), TrendForce, 국회 의안정보시스템</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43B7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F58220"/>
          </a:solidFill>
          <a:ln w="12700">
            <a:solidFill>
              <a:srgbClr val="333333"/>
            </a:solidFill>
            <a:prstDash val="solid"/>
          </a:ln>
        </p:spPr>
      </p:sp>
      <p:sp>
        <p:nvSpPr>
          <p:cNvPr id="3" name="Text 1"/>
          <p:cNvSpPr/>
          <p:nvPr/>
        </p:nvSpPr>
        <p:spPr>
          <a:xfrm>
            <a:off x="841248" y="384048"/>
            <a:ext cx="5486400" cy="256032"/>
          </a:xfrm>
          <a:prstGeom prst="rect">
            <a:avLst/>
          </a:prstGeom>
          <a:noFill/>
          <a:ln/>
        </p:spPr>
        <p:txBody>
          <a:bodyPr wrap="square" lIns="0" tIns="0" rIns="0" bIns="0" rtlCol="0" anchor="ctr"/>
          <a:lstStyle/>
          <a:p>
            <a:pPr indent="0" marL="0">
              <a:buNone/>
            </a:pPr>
            <a:r>
              <a:rPr lang="en-US" sz="1100" b="1" spc="200" kern="0" dirty="0">
                <a:solidFill>
                  <a:srgbClr val="FAB072"/>
                </a:solidFill>
                <a:latin typeface="Spoqa Han Sans Neo" pitchFamily="34" charset="0"/>
                <a:ea typeface="Spoqa Han Sans Neo" pitchFamily="34" charset="-122"/>
                <a:cs typeface="Spoqa Han Sans Neo" pitchFamily="34" charset="-120"/>
              </a:rPr>
              <a:t>SUMMARY</a:t>
            </a:r>
            <a:endParaRPr lang="en-US" sz="1100" dirty="0"/>
          </a:p>
        </p:txBody>
      </p:sp>
      <p:sp>
        <p:nvSpPr>
          <p:cNvPr id="4" name="Text 2"/>
          <p:cNvSpPr/>
          <p:nvPr/>
        </p:nvSpPr>
        <p:spPr>
          <a:xfrm>
            <a:off x="841248" y="658368"/>
            <a:ext cx="10607040" cy="475488"/>
          </a:xfrm>
          <a:prstGeom prst="rect">
            <a:avLst/>
          </a:prstGeom>
          <a:noFill/>
          <a:ln/>
        </p:spPr>
        <p:txBody>
          <a:bodyPr wrap="square" lIns="0" tIns="0" rIns="0" bIns="0" rtlCol="0" anchor="ctr"/>
          <a:lstStyle/>
          <a:p>
            <a:pPr indent="0" marL="0">
              <a:buNone/>
            </a:pPr>
            <a:r>
              <a:rPr lang="en-US" sz="3100" b="1" spc="-80" kern="0" dirty="0">
                <a:solidFill>
                  <a:srgbClr val="FFFFFF"/>
                </a:solidFill>
                <a:latin typeface="Spoqa Han Sans Neo" pitchFamily="34" charset="0"/>
                <a:ea typeface="Spoqa Han Sans Neo" pitchFamily="34" charset="-122"/>
                <a:cs typeface="Spoqa Han Sans Neo" pitchFamily="34" charset="-120"/>
              </a:rPr>
              <a:t>열 줄로 정리하는 반도체 산업</a:t>
            </a:r>
            <a:endParaRPr lang="en-US" sz="3100" dirty="0"/>
          </a:p>
        </p:txBody>
      </p:sp>
      <p:sp>
        <p:nvSpPr>
          <p:cNvPr id="5" name="Shape 3"/>
          <p:cNvSpPr/>
          <p:nvPr/>
        </p:nvSpPr>
        <p:spPr>
          <a:xfrm>
            <a:off x="841248" y="1280160"/>
            <a:ext cx="10515600" cy="10973"/>
          </a:xfrm>
          <a:prstGeom prst="rect">
            <a:avLst/>
          </a:prstGeom>
          <a:solidFill>
            <a:srgbClr val="F58220"/>
          </a:solidFill>
          <a:ln w="12700">
            <a:solidFill>
              <a:srgbClr val="333333"/>
            </a:solidFill>
            <a:prstDash val="solid"/>
          </a:ln>
        </p:spPr>
      </p:sp>
      <p:sp>
        <p:nvSpPr>
          <p:cNvPr id="6" name="Shape 4"/>
          <p:cNvSpPr/>
          <p:nvPr/>
        </p:nvSpPr>
        <p:spPr>
          <a:xfrm>
            <a:off x="841248" y="1517904"/>
            <a:ext cx="786384" cy="274320"/>
          </a:xfrm>
          <a:prstGeom prst="rect">
            <a:avLst/>
          </a:prstGeom>
          <a:solidFill>
            <a:srgbClr val="F58220"/>
          </a:solidFill>
          <a:ln w="12700">
            <a:solidFill>
              <a:srgbClr val="333333"/>
            </a:solidFill>
            <a:prstDash val="solid"/>
          </a:ln>
        </p:spPr>
      </p:sp>
      <p:sp>
        <p:nvSpPr>
          <p:cNvPr id="7" name="Text 5"/>
          <p:cNvSpPr/>
          <p:nvPr/>
        </p:nvSpPr>
        <p:spPr>
          <a:xfrm>
            <a:off x="841248" y="1517904"/>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기초</a:t>
            </a:r>
            <a:endParaRPr lang="en-US" sz="1050" dirty="0"/>
          </a:p>
        </p:txBody>
      </p:sp>
      <p:sp>
        <p:nvSpPr>
          <p:cNvPr id="8" name="Text 6"/>
          <p:cNvSpPr/>
          <p:nvPr/>
        </p:nvSpPr>
        <p:spPr>
          <a:xfrm>
            <a:off x="1773936" y="1481328"/>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반도체는 메모리(저장)와 시스템반도체(연산)로 나뉘고, 한국은 메모리에서 압도적, 시스템에서 열세다.</a:t>
            </a:r>
            <a:endParaRPr lang="en-US" sz="1220" dirty="0"/>
          </a:p>
        </p:txBody>
      </p:sp>
      <p:sp>
        <p:nvSpPr>
          <p:cNvPr id="9" name="Shape 7"/>
          <p:cNvSpPr/>
          <p:nvPr/>
        </p:nvSpPr>
        <p:spPr>
          <a:xfrm>
            <a:off x="841248" y="1915668"/>
            <a:ext cx="786384" cy="274320"/>
          </a:xfrm>
          <a:prstGeom prst="rect">
            <a:avLst/>
          </a:prstGeom>
          <a:solidFill>
            <a:srgbClr val="1F5286"/>
          </a:solidFill>
          <a:ln w="12700">
            <a:solidFill>
              <a:srgbClr val="333333"/>
            </a:solidFill>
            <a:prstDash val="solid"/>
          </a:ln>
        </p:spPr>
      </p:sp>
      <p:sp>
        <p:nvSpPr>
          <p:cNvPr id="10" name="Text 8"/>
          <p:cNvSpPr/>
          <p:nvPr/>
        </p:nvSpPr>
        <p:spPr>
          <a:xfrm>
            <a:off x="841248" y="1915668"/>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구조</a:t>
            </a:r>
            <a:endParaRPr lang="en-US" sz="1050" dirty="0"/>
          </a:p>
        </p:txBody>
      </p:sp>
      <p:sp>
        <p:nvSpPr>
          <p:cNvPr id="11" name="Text 9"/>
          <p:cNvSpPr/>
          <p:nvPr/>
        </p:nvSpPr>
        <p:spPr>
          <a:xfrm>
            <a:off x="1773936" y="1879092"/>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설계와 제조가 분리된 산업이며, 이익은 독점 구간(ASML의 EUV, TSMC의 선단 공정)에 집중된다.</a:t>
            </a:r>
            <a:endParaRPr lang="en-US" sz="1220" dirty="0"/>
          </a:p>
        </p:txBody>
      </p:sp>
      <p:sp>
        <p:nvSpPr>
          <p:cNvPr id="12" name="Shape 10"/>
          <p:cNvSpPr/>
          <p:nvPr/>
        </p:nvSpPr>
        <p:spPr>
          <a:xfrm>
            <a:off x="841248" y="2313432"/>
            <a:ext cx="786384" cy="274320"/>
          </a:xfrm>
          <a:prstGeom prst="rect">
            <a:avLst/>
          </a:prstGeom>
          <a:solidFill>
            <a:srgbClr val="F58220"/>
          </a:solidFill>
          <a:ln w="12700">
            <a:solidFill>
              <a:srgbClr val="333333"/>
            </a:solidFill>
            <a:prstDash val="solid"/>
          </a:ln>
        </p:spPr>
      </p:sp>
      <p:sp>
        <p:nvSpPr>
          <p:cNvPr id="13" name="Text 11"/>
          <p:cNvSpPr/>
          <p:nvPr/>
        </p:nvSpPr>
        <p:spPr>
          <a:xfrm>
            <a:off x="841248" y="2313432"/>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기술</a:t>
            </a:r>
            <a:endParaRPr lang="en-US" sz="1050" dirty="0"/>
          </a:p>
        </p:txBody>
      </p:sp>
      <p:sp>
        <p:nvSpPr>
          <p:cNvPr id="14" name="Text 12"/>
          <p:cNvSpPr/>
          <p:nvPr/>
        </p:nvSpPr>
        <p:spPr>
          <a:xfrm>
            <a:off x="1773936" y="2276856"/>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미세화가 한계에 부딪히면서 성능 경쟁의 무대가 '조립'(첨단 패키징)으로 옮겨왔다.</a:t>
            </a:r>
            <a:endParaRPr lang="en-US" sz="1220" dirty="0"/>
          </a:p>
        </p:txBody>
      </p:sp>
      <p:sp>
        <p:nvSpPr>
          <p:cNvPr id="15" name="Shape 13"/>
          <p:cNvSpPr/>
          <p:nvPr/>
        </p:nvSpPr>
        <p:spPr>
          <a:xfrm>
            <a:off x="841248" y="2711196"/>
            <a:ext cx="786384" cy="274320"/>
          </a:xfrm>
          <a:prstGeom prst="rect">
            <a:avLst/>
          </a:prstGeom>
          <a:solidFill>
            <a:srgbClr val="1F5286"/>
          </a:solidFill>
          <a:ln w="12700">
            <a:solidFill>
              <a:srgbClr val="333333"/>
            </a:solidFill>
            <a:prstDash val="solid"/>
          </a:ln>
        </p:spPr>
      </p:sp>
      <p:sp>
        <p:nvSpPr>
          <p:cNvPr id="16" name="Text 14"/>
          <p:cNvSpPr/>
          <p:nvPr/>
        </p:nvSpPr>
        <p:spPr>
          <a:xfrm>
            <a:off x="841248" y="2711196"/>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수요</a:t>
            </a:r>
            <a:endParaRPr lang="en-US" sz="1050" dirty="0"/>
          </a:p>
        </p:txBody>
      </p:sp>
      <p:sp>
        <p:nvSpPr>
          <p:cNvPr id="17" name="Text 15"/>
          <p:cNvSpPr/>
          <p:nvPr/>
        </p:nvSpPr>
        <p:spPr>
          <a:xfrm>
            <a:off x="1773936" y="2674620"/>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2026년 빅4 하이퍼스케일러 CapEx는 약 7,250억 달러(+92%, 가이던스 상단 기준). 이 지출이 이번 사이클의 심장이다.</a:t>
            </a:r>
            <a:endParaRPr lang="en-US" sz="1220" dirty="0"/>
          </a:p>
        </p:txBody>
      </p:sp>
      <p:sp>
        <p:nvSpPr>
          <p:cNvPr id="18" name="Shape 16"/>
          <p:cNvSpPr/>
          <p:nvPr/>
        </p:nvSpPr>
        <p:spPr>
          <a:xfrm>
            <a:off x="841248" y="3108960"/>
            <a:ext cx="786384" cy="274320"/>
          </a:xfrm>
          <a:prstGeom prst="rect">
            <a:avLst/>
          </a:prstGeom>
          <a:solidFill>
            <a:srgbClr val="F58220"/>
          </a:solidFill>
          <a:ln w="12700">
            <a:solidFill>
              <a:srgbClr val="333333"/>
            </a:solidFill>
            <a:prstDash val="solid"/>
          </a:ln>
        </p:spPr>
      </p:sp>
      <p:sp>
        <p:nvSpPr>
          <p:cNvPr id="19" name="Text 17"/>
          <p:cNvSpPr/>
          <p:nvPr/>
        </p:nvSpPr>
        <p:spPr>
          <a:xfrm>
            <a:off x="841248" y="3108960"/>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시장</a:t>
            </a:r>
            <a:endParaRPr lang="en-US" sz="1050" dirty="0"/>
          </a:p>
        </p:txBody>
      </p:sp>
      <p:sp>
        <p:nvSpPr>
          <p:cNvPr id="20" name="Text 18"/>
          <p:cNvSpPr/>
          <p:nvPr/>
        </p:nvSpPr>
        <p:spPr>
          <a:xfrm>
            <a:off x="1773936" y="3072384"/>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세계 반도체 시장은 2026년 1조 5,112억 달러(+89.9%)로 사상 첫 1조 달러를 돌파했다.</a:t>
            </a:r>
            <a:endParaRPr lang="en-US" sz="1220" dirty="0"/>
          </a:p>
        </p:txBody>
      </p:sp>
      <p:sp>
        <p:nvSpPr>
          <p:cNvPr id="21" name="Shape 19"/>
          <p:cNvSpPr/>
          <p:nvPr/>
        </p:nvSpPr>
        <p:spPr>
          <a:xfrm>
            <a:off x="841248" y="3506724"/>
            <a:ext cx="786384" cy="274320"/>
          </a:xfrm>
          <a:prstGeom prst="rect">
            <a:avLst/>
          </a:prstGeom>
          <a:solidFill>
            <a:srgbClr val="1F5286"/>
          </a:solidFill>
          <a:ln w="12700">
            <a:solidFill>
              <a:srgbClr val="333333"/>
            </a:solidFill>
            <a:prstDash val="solid"/>
          </a:ln>
        </p:spPr>
      </p:sp>
      <p:sp>
        <p:nvSpPr>
          <p:cNvPr id="22" name="Text 20"/>
          <p:cNvSpPr/>
          <p:nvPr/>
        </p:nvSpPr>
        <p:spPr>
          <a:xfrm>
            <a:off x="841248" y="3506724"/>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가격</a:t>
            </a:r>
            <a:endParaRPr lang="en-US" sz="1050" dirty="0"/>
          </a:p>
        </p:txBody>
      </p:sp>
      <p:sp>
        <p:nvSpPr>
          <p:cNvPr id="23" name="Text 21"/>
          <p:cNvSpPr/>
          <p:nvPr/>
        </p:nvSpPr>
        <p:spPr>
          <a:xfrm>
            <a:off x="1773936" y="3470148"/>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메모리 가격은 18개월 연속 상승, 구형 DDR4가 신형 DDR5보다 비싸지는 세대 역전까지 발생했다.</a:t>
            </a:r>
            <a:endParaRPr lang="en-US" sz="1220" dirty="0"/>
          </a:p>
        </p:txBody>
      </p:sp>
      <p:sp>
        <p:nvSpPr>
          <p:cNvPr id="24" name="Shape 22"/>
          <p:cNvSpPr/>
          <p:nvPr/>
        </p:nvSpPr>
        <p:spPr>
          <a:xfrm>
            <a:off x="841248" y="3904488"/>
            <a:ext cx="786384" cy="274320"/>
          </a:xfrm>
          <a:prstGeom prst="rect">
            <a:avLst/>
          </a:prstGeom>
          <a:solidFill>
            <a:srgbClr val="F58220"/>
          </a:solidFill>
          <a:ln w="12700">
            <a:solidFill>
              <a:srgbClr val="333333"/>
            </a:solidFill>
            <a:prstDash val="solid"/>
          </a:ln>
        </p:spPr>
      </p:sp>
      <p:sp>
        <p:nvSpPr>
          <p:cNvPr id="25" name="Text 23"/>
          <p:cNvSpPr/>
          <p:nvPr/>
        </p:nvSpPr>
        <p:spPr>
          <a:xfrm>
            <a:off x="841248" y="3904488"/>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실적</a:t>
            </a:r>
            <a:endParaRPr lang="en-US" sz="1050" dirty="0"/>
          </a:p>
        </p:txBody>
      </p:sp>
      <p:sp>
        <p:nvSpPr>
          <p:cNvPr id="26" name="Text 24"/>
          <p:cNvSpPr/>
          <p:nvPr/>
        </p:nvSpPr>
        <p:spPr>
          <a:xfrm>
            <a:off x="1773936" y="3867912"/>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SK하이닉스 2분기 영업이익 60.5조 원(영업이익률 76%), 삼성전자 89.5조 원 — 제조업의 상식을 벗어난 수준.</a:t>
            </a:r>
            <a:endParaRPr lang="en-US" sz="1220" dirty="0"/>
          </a:p>
        </p:txBody>
      </p:sp>
      <p:sp>
        <p:nvSpPr>
          <p:cNvPr id="27" name="Shape 25"/>
          <p:cNvSpPr/>
          <p:nvPr/>
        </p:nvSpPr>
        <p:spPr>
          <a:xfrm>
            <a:off x="841248" y="4302252"/>
            <a:ext cx="786384" cy="274320"/>
          </a:xfrm>
          <a:prstGeom prst="rect">
            <a:avLst/>
          </a:prstGeom>
          <a:solidFill>
            <a:srgbClr val="1F5286"/>
          </a:solidFill>
          <a:ln w="12700">
            <a:solidFill>
              <a:srgbClr val="333333"/>
            </a:solidFill>
            <a:prstDash val="solid"/>
          </a:ln>
        </p:spPr>
      </p:sp>
      <p:sp>
        <p:nvSpPr>
          <p:cNvPr id="28" name="Text 26"/>
          <p:cNvSpPr/>
          <p:nvPr/>
        </p:nvSpPr>
        <p:spPr>
          <a:xfrm>
            <a:off x="841248" y="4302252"/>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공급</a:t>
            </a:r>
            <a:endParaRPr lang="en-US" sz="1050" dirty="0"/>
          </a:p>
        </p:txBody>
      </p:sp>
      <p:sp>
        <p:nvSpPr>
          <p:cNvPr id="29" name="Text 27"/>
          <p:cNvSpPr/>
          <p:nvPr/>
        </p:nvSpPr>
        <p:spPr>
          <a:xfrm>
            <a:off x="1773936" y="4265676"/>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리드타임 3년, HBM의 캐파 잠식, LTA 확대로 공급이 즉시 늘지 않는다. 삼성은 2028년까지 부족을 전망한다.</a:t>
            </a:r>
            <a:endParaRPr lang="en-US" sz="1220" dirty="0"/>
          </a:p>
        </p:txBody>
      </p:sp>
      <p:sp>
        <p:nvSpPr>
          <p:cNvPr id="30" name="Shape 28"/>
          <p:cNvSpPr/>
          <p:nvPr/>
        </p:nvSpPr>
        <p:spPr>
          <a:xfrm>
            <a:off x="841248" y="4700016"/>
            <a:ext cx="786384" cy="274320"/>
          </a:xfrm>
          <a:prstGeom prst="rect">
            <a:avLst/>
          </a:prstGeom>
          <a:solidFill>
            <a:srgbClr val="F58220"/>
          </a:solidFill>
          <a:ln w="12700">
            <a:solidFill>
              <a:srgbClr val="333333"/>
            </a:solidFill>
            <a:prstDash val="solid"/>
          </a:ln>
        </p:spPr>
      </p:sp>
      <p:sp>
        <p:nvSpPr>
          <p:cNvPr id="31" name="Text 29"/>
          <p:cNvSpPr/>
          <p:nvPr/>
        </p:nvSpPr>
        <p:spPr>
          <a:xfrm>
            <a:off x="841248" y="4700016"/>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쟁점</a:t>
            </a:r>
            <a:endParaRPr lang="en-US" sz="1050" dirty="0"/>
          </a:p>
        </p:txBody>
      </p:sp>
      <p:sp>
        <p:nvSpPr>
          <p:cNvPr id="32" name="Text 30"/>
          <p:cNvSpPr/>
          <p:nvPr/>
        </p:nvSpPr>
        <p:spPr>
          <a:xfrm>
            <a:off x="1773936" y="4663440"/>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순환이냐 구조냐는 아직 미결. 다만 주가에는 이미 '이익이 곧 꺾인다'는 가정(PER 4~5배)이 들어가 있다.</a:t>
            </a:r>
            <a:endParaRPr lang="en-US" sz="1220" dirty="0"/>
          </a:p>
        </p:txBody>
      </p:sp>
      <p:sp>
        <p:nvSpPr>
          <p:cNvPr id="33" name="Shape 31"/>
          <p:cNvSpPr/>
          <p:nvPr/>
        </p:nvSpPr>
        <p:spPr>
          <a:xfrm>
            <a:off x="841248" y="5097780"/>
            <a:ext cx="786384" cy="274320"/>
          </a:xfrm>
          <a:prstGeom prst="rect">
            <a:avLst/>
          </a:prstGeom>
          <a:solidFill>
            <a:srgbClr val="1F5286"/>
          </a:solidFill>
          <a:ln w="12700">
            <a:solidFill>
              <a:srgbClr val="333333"/>
            </a:solidFill>
            <a:prstDash val="solid"/>
          </a:ln>
        </p:spPr>
      </p:sp>
      <p:sp>
        <p:nvSpPr>
          <p:cNvPr id="34" name="Text 32"/>
          <p:cNvSpPr/>
          <p:nvPr/>
        </p:nvSpPr>
        <p:spPr>
          <a:xfrm>
            <a:off x="841248" y="5097780"/>
            <a:ext cx="786384"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대응</a:t>
            </a:r>
            <a:endParaRPr lang="en-US" sz="1050" dirty="0"/>
          </a:p>
        </p:txBody>
      </p:sp>
      <p:sp>
        <p:nvSpPr>
          <p:cNvPr id="35" name="Text 33"/>
          <p:cNvSpPr/>
          <p:nvPr/>
        </p:nvSpPr>
        <p:spPr>
          <a:xfrm>
            <a:off x="1773936" y="5061204"/>
            <a:ext cx="9601200" cy="347472"/>
          </a:xfrm>
          <a:prstGeom prst="rect">
            <a:avLst/>
          </a:prstGeom>
          <a:noFill/>
          <a:ln/>
        </p:spPr>
        <p:txBody>
          <a:bodyPr wrap="square" lIns="0" tIns="0" rIns="0" bIns="0" rtlCol="0" anchor="ctr"/>
          <a:lstStyle/>
          <a:p>
            <a:pPr indent="0" marL="0">
              <a:buNone/>
            </a:pPr>
            <a:r>
              <a:rPr lang="en-US" sz="1220" dirty="0">
                <a:solidFill>
                  <a:srgbClr val="E6EDF4"/>
                </a:solidFill>
                <a:latin typeface="Spoqa Han Sans Neo" pitchFamily="34" charset="0"/>
                <a:ea typeface="Spoqa Han Sans Neo" pitchFamily="34" charset="-122"/>
                <a:cs typeface="Spoqa Han Sans Neo" pitchFamily="34" charset="-120"/>
              </a:rPr>
              <a:t>방향을 맞히려 하지 말고, 빅테크 CapEx와 메모리 가격 두 지표로 전제가 깨지는 순간을 확인한다.</a:t>
            </a:r>
            <a:endParaRPr lang="en-US" sz="1220" dirty="0"/>
          </a:p>
        </p:txBody>
      </p:sp>
      <p:sp>
        <p:nvSpPr>
          <p:cNvPr id="36" name="Shape 34"/>
          <p:cNvSpPr/>
          <p:nvPr/>
        </p:nvSpPr>
        <p:spPr>
          <a:xfrm>
            <a:off x="841248" y="5614416"/>
            <a:ext cx="10515600" cy="9144"/>
          </a:xfrm>
          <a:prstGeom prst="rect">
            <a:avLst/>
          </a:prstGeom>
          <a:solidFill>
            <a:srgbClr val="1F5286"/>
          </a:solidFill>
          <a:ln w="12700">
            <a:solidFill>
              <a:srgbClr val="333333"/>
            </a:solidFill>
            <a:prstDash val="solid"/>
          </a:ln>
        </p:spPr>
      </p:sp>
      <p:sp>
        <p:nvSpPr>
          <p:cNvPr id="37" name="Text 35"/>
          <p:cNvSpPr/>
          <p:nvPr/>
        </p:nvSpPr>
        <p:spPr>
          <a:xfrm>
            <a:off x="841248" y="5760720"/>
            <a:ext cx="10515600" cy="548640"/>
          </a:xfrm>
          <a:prstGeom prst="rect">
            <a:avLst/>
          </a:prstGeom>
          <a:noFill/>
          <a:ln/>
        </p:spPr>
        <p:txBody>
          <a:bodyPr wrap="square" lIns="0" tIns="0" rIns="0" bIns="0" rtlCol="0" anchor="ctr"/>
          <a:lstStyle/>
          <a:p>
            <a:pPr indent="0" marL="0">
              <a:lnSpc>
                <a:spcPct val="130000"/>
              </a:lnSpc>
              <a:buNone/>
            </a:pPr>
            <a:r>
              <a:rPr lang="en-US" sz="950" dirty="0">
                <a:solidFill>
                  <a:srgbClr val="9FB4C9"/>
                </a:solidFill>
                <a:latin typeface="Spoqa Han Sans Neo" pitchFamily="34" charset="0"/>
                <a:ea typeface="Spoqa Han Sans Neo" pitchFamily="34" charset="-122"/>
                <a:cs typeface="Spoqa Han Sans Neo" pitchFamily="34" charset="-120"/>
              </a:rPr>
              <a:t>본 자료는 2026년 8월 3일까지 공개된 자료를 바탕으로 작성된 교육·정보 제공 목적의 문서이며, 특정 종목의 매수·매도를 권유하지 않습니다. 언급된 수치는 발표 시점 기준으로 이후 변동될 수 있으며, 투자 판단의 최종 책임은 투자자 본인에게 있습니다. 과거의 실적이 미래의 수익을 보장하지 않습니다.</a:t>
            </a:r>
            <a:endParaRPr lang="en-US" sz="950" dirty="0"/>
          </a:p>
        </p:txBody>
      </p:sp>
      <p:sp>
        <p:nvSpPr>
          <p:cNvPr id="38" name="Text 36"/>
          <p:cNvSpPr/>
          <p:nvPr/>
        </p:nvSpPr>
        <p:spPr>
          <a:xfrm>
            <a:off x="841248" y="6382512"/>
            <a:ext cx="5486400" cy="237744"/>
          </a:xfrm>
          <a:prstGeom prst="rect">
            <a:avLst/>
          </a:prstGeom>
          <a:noFill/>
          <a:ln/>
        </p:spPr>
        <p:txBody>
          <a:bodyPr wrap="square" lIns="0" tIns="0" rIns="0" bIns="0" rtlCol="0" anchor="ctr"/>
          <a:lstStyle/>
          <a:p>
            <a:pPr indent="0" marL="0">
              <a:buNone/>
            </a:pPr>
            <a:r>
              <a:rPr lang="en-US" sz="1050" b="1" dirty="0">
                <a:solidFill>
                  <a:srgbClr val="FFFFFF"/>
                </a:solidFill>
                <a:latin typeface="Spoqa Han Sans Neo" pitchFamily="34" charset="0"/>
                <a:ea typeface="Spoqa Han Sans Neo" pitchFamily="34" charset="-122"/>
                <a:cs typeface="Spoqa Han Sans Neo" pitchFamily="34" charset="-120"/>
              </a:rPr>
              <a:t>미래에셋증권 마포WM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미래에셋증권 마포WM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산업의 이해 (2026년 8월)</dc:title>
  <dc:subject>반도체 산업 구조 · 밸류체인 · 사이클 · 최신 동향</dc:subject>
  <dc:creator>Mirae Asset Securities</dc:creator>
  <cp:lastModifiedBy>Mirae Asset Securities</cp:lastModifiedBy>
  <cp:revision>1</cp:revision>
  <dcterms:created xsi:type="dcterms:W3CDTF">2026-08-03T01:59:15Z</dcterms:created>
  <dcterms:modified xsi:type="dcterms:W3CDTF">2026-08-03T01:59:15Z</dcterms:modified>
</cp:coreProperties>
</file>