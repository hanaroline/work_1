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F58220">
                <a:alpha val="100000"/>
              </a:srgbClr>
            </a:solidFill>
            <a:effectLst/>
          </c:spPr>
          <c:invertIfNegative val="0"/>
          <c:dLbls>
            <c:numFmt formatCode="&quot;$&quot;#,##0&quot;B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43B7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86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AB072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알파벳(상향)</c:v>
                  </c:pt>
                  <c:pt idx="1">
                    <c:v>아마존</c:v>
                  </c:pt>
                  <c:pt idx="2">
                    <c:v>메타</c:v>
                  </c:pt>
                  <c:pt idx="3">
                    <c:v>MS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205</c:v>
                </c:pt>
                <c:pt idx="1">
                  <c:v>200</c:v>
                </c:pt>
                <c:pt idx="2">
                  <c:v>125</c:v>
                </c:pt>
                <c:pt idx="3">
                  <c:v>120</c:v>
                </c:pt>
              </c:numCache>
            </c:numRef>
          </c:val>
        </c:ser>
        <c:dLbls>
          <c:numFmt formatCode="&quot;$&quot;#,##0&quot;B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기존</c:v>
                </c:pt>
              </c:strCache>
            </c:strRef>
          </c:tx>
          <c:spPr>
            <a:solidFill>
              <a:srgbClr val="CDCECB"/>
            </a:solidFill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PC DRAM</c:v>
                  </c:pt>
                  <c:pt idx="1">
                    <c:v>SSD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상향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PC DRAM</c:v>
                  </c:pt>
                  <c:pt idx="1">
                    <c:v>SSD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</c:v>
                </c:pt>
                <c:pt idx="1">
                  <c:v>18</c:v>
                </c:pt>
              </c:numCache>
            </c:numRef>
          </c:val>
        </c:ser>
        <c:dLbls>
          <c:numFmt formatCode="#,##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C6C6C"/>
              </a:solidFill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SK하이닉스</c:v>
                </c:pt>
              </c:strCache>
            </c:strRef>
          </c:tx>
          <c:spPr>
            <a:solidFill>
              <a:srgbClr val="F58220"/>
            </a:solidFill>
            <a:ln w="44450" cap="flat">
              <a:solidFill>
                <a:srgbClr val="F58220"/>
              </a:solidFill>
              <a:prstDash val="solid"/>
              <a:round/>
            </a:ln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2026E</c:v>
                  </c:pt>
                  <c:pt idx="2">
                    <c:v>2027E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</c:v>
                </c:pt>
                <c:pt idx="1">
                  <c:v>58</c:v>
                </c:pt>
                <c:pt idx="2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삼성전자</c:v>
                </c:pt>
              </c:strCache>
            </c:strRef>
          </c:tx>
          <c:spPr>
            <a:solidFill>
              <a:srgbClr val="043B72"/>
            </a:solidFill>
            <a:ln w="44450" cap="flat">
              <a:solidFill>
                <a:srgbClr val="043B72"/>
              </a:solidFill>
              <a:prstDash val="solid"/>
              <a:round/>
            </a:ln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43B72"/>
              </a:solidFill>
              <a:ln w="9525" cap="flat">
                <a:solidFill>
                  <a:srgbClr val="043B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2026E</c:v>
                  </c:pt>
                  <c:pt idx="2">
                    <c:v>2027E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</c:v>
                </c:pt>
                <c:pt idx="1">
                  <c:v>33</c:v>
                </c:pt>
                <c:pt idx="2">
                  <c:v>48</c:v>
                </c:pt>
              </c:numCache>
            </c:numRef>
          </c:val>
          <c:smooth val="0"/>
        </c:ser>
        <c:dLbls>
          <c:numFmt formatCode="#,##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1A1A"/>
                  </a:solidFill>
                  <a:latin typeface="Spoqa Han Sans Ne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C6C6C"/>
              </a:solidFill>
              <a:latin typeface="Spoqa Han Sans Neo"/>
              <a:cs typeface="Spoqa Han Sans Ne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점유율</c:v>
                </c:pt>
              </c:strCache>
            </c:strRef>
          </c:tx>
          <c:spPr>
            <a:solidFill>
              <a:srgbClr val="F58220"/>
            </a:solidFill>
            <a:ln w="44450" cap="flat">
              <a:solidFill>
                <a:srgbClr val="F58220"/>
              </a:solidFill>
              <a:prstDash val="solid"/>
              <a:round/>
            </a:ln>
            <a:effectLst/>
          </c:spPr>
          <c:invertIfNegative val="0"/>
          <c:dLbls>
            <c:numFmt formatCode="#,##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CB6015"/>
                    </a:solidFill>
                    <a:latin typeface="Spoqa Han Sans Ne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8220"/>
              </a:solidFill>
              <a:ln w="9525" cap="flat">
                <a:solidFill>
                  <a:srgbClr val="F5822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9</c:v>
                </c:pt>
                <c:pt idx="3">
                  <c:v>11</c:v>
                </c:pt>
              </c:numCache>
            </c:numRef>
          </c:val>
          <c:smooth val="0"/>
        </c:ser>
        <c:dLbls>
          <c:numFmt formatCode="#,##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CB6015"/>
                  </a:solidFill>
                  <a:latin typeface="Spoqa Han Sans Ne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Spoqa Han Sans Ne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8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CB6015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반도체 투자 세미나  ·  2026. 07. 24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178308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반도체, 조정 속에서</a:t>
            </a: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무엇을 볼 것인가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변동성 장세 · AI 수요의 실체 · 관심종목 삼성전자·SK하이닉스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실적 시즌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진행 중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069080" y="489204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29768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 메모리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변동성 확대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0" y="4892040"/>
            <a:ext cx="3200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2668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새 수요축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2668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로봇·피지컬 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주식 투자 세미나 강의안  |  발표자 준비자료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SNAPSHOT · 오늘의 시장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7/24 한눈에 보기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국내 메모리 — 급락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651760" cy="1783080"/>
          </a:xfrm>
          <a:prstGeom prst="roundRect">
            <a:avLst>
              <a:gd name="adj" fmla="val 2564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295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175.9만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04088" y="3429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▼ 8.3%  (종가)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148840"/>
            <a:ext cx="2651760" cy="1783080"/>
          </a:xfrm>
          <a:prstGeom prst="roundRect">
            <a:avLst>
              <a:gd name="adj" fmla="val 2564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229514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20440" y="2606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24.95만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38728" y="3429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▼ 7.6%  (종가)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4069080"/>
            <a:ext cx="54864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외국인, 순매수 1·2위 → 순매도 1·2위로 전환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46177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</a:t>
            </a:r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-1.76조</a:t>
            </a:r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 ·   삼성전자 </a:t>
            </a:r>
            <a:pPr indent="0" marL="0">
              <a:buNone/>
            </a:pPr>
            <a:r>
              <a:rPr lang="en-US" sz="17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-0.87조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50292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하루 순매도 규모 (7/24)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99632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미국 빅테크 — 호조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99632" y="2148840"/>
            <a:ext cx="5486400" cy="1554480"/>
          </a:xfrm>
          <a:prstGeom prst="roundRect">
            <a:avLst>
              <a:gd name="adj" fmla="val 2941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29514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인텔 Q2 (7/23 발표)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82512" y="2606040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매출 $16.1B · +25%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400800" y="3200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EPS 예상 2배 · DC&amp;AI +59% · 시간외 +13%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9632" y="3840480"/>
            <a:ext cx="5486400" cy="1600200"/>
          </a:xfrm>
          <a:prstGeom prst="roundRect">
            <a:avLst>
              <a:gd name="adj" fmla="val 2857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398678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알파벳 Q2 (7/22 발표)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82512" y="4297680"/>
            <a:ext cx="5166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클라우드 +82%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400800" y="493776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Capex $185B→$205B 상향 · 주가 -5%(차익실현)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5577840"/>
            <a:ext cx="11183112" cy="640080"/>
          </a:xfrm>
          <a:prstGeom prst="roundRect">
            <a:avLst>
              <a:gd name="adj" fmla="val 5714"/>
            </a:avLst>
          </a:prstGeom>
          <a:solidFill>
            <a:srgbClr val="043B72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괴리: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미국은 '실적'으로 수요를 확인, 국내는 차익실현·변동성 — 방향성보다 '기준'이 필요한 국면.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톱스타뉴스, 겟뉴스, CNBC (2026.07.24). 종가·수치는 발표·보도 기준.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01 · 트리거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무엇이 시장을 흔들었나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212080" cy="3931920"/>
          </a:xfrm>
          <a:prstGeom prst="roundRect">
            <a:avLst>
              <a:gd name="adj" fmla="val 1395"/>
            </a:avLst>
          </a:prstGeom>
          <a:solidFill>
            <a:srgbClr val="043B7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키미 K3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2.8조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파라미터 — 중국 문샷 AI, 7/16 공개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오픈웨이트 최대 규모·저비용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5074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→ '제2의 딥시크' 해석, 반도체주 동반 급락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920240"/>
            <a:ext cx="5742432" cy="3931920"/>
          </a:xfrm>
          <a:prstGeom prst="roundRect">
            <a:avLst>
              <a:gd name="adj" fmla="val 1395"/>
            </a:avLst>
          </a:prstGeom>
          <a:solidFill>
            <a:srgbClr val="ECEFF4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시장의 공포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"AI를 더 싸게 만들 수 있다면,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고가 GPU·HBM 수요는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줄어드는 것 아닌가?"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6217920" y="4892040"/>
            <a:ext cx="5193792" cy="777240"/>
          </a:xfrm>
          <a:prstGeom prst="roundRect">
            <a:avLst>
              <a:gd name="adj" fmla="val 5882"/>
            </a:avLst>
          </a:prstGeom>
          <a:solidFill>
            <a:srgbClr val="F5822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4892040"/>
            <a:ext cx="5193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정말 그럴까? → 다음 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Bloomberg, Fortune, 첨부 K-Freedom Insights (2026.07).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01 · 역설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효율화 ≠ 수요 감소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1.5TB+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K3 가중치용 HBM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88536" y="182880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856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64칩+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2856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슈퍼노드 클러스터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74152" y="182880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20574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6B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KV Cache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8472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메모리 계층 확대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520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역설: 초대형 K3는 오히려 메모리를 '더' 요구한다  (Bloomberg: "more about memory than compute")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11183112" cy="1874520"/>
          </a:xfrm>
          <a:prstGeom prst="roundRect">
            <a:avLst>
              <a:gd name="adj" fmla="val 2927"/>
            </a:avLst>
          </a:prstGeom>
          <a:solidFill>
            <a:srgbClr val="F58220">
              <a:alpha val="10000"/>
            </a:srgbClr>
          </a:solidFill>
          <a:ln w="15875">
            <a:solidFill>
              <a:srgbClr val="F582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05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제본스의 역설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6634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비용 </a:t>
            </a:r>
            <a:pPr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1/10</a:t>
            </a:r>
            <a:pPr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×  사용량 </a:t>
            </a:r>
            <a:pPr indent="0" marL="0">
              <a:buNone/>
            </a:pPr>
            <a:r>
              <a:rPr lang="en-US" sz="26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20배</a:t>
            </a:r>
            <a:pPr indent="0" marL="0">
              <a:buNone/>
            </a:pPr>
            <a:r>
              <a:rPr lang="en-US" sz="2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   =   총 수요 </a:t>
            </a:r>
            <a:pPr indent="0" marL="0">
              <a:buNone/>
            </a:pPr>
            <a:r>
              <a:rPr lang="en-US" sz="26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2배 ↑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효율화는 수요의 '천장'이 아니라 '확산의 사다리'.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Bloomberg (2026.07.20), 첨부 K-Freedom Insights.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01 · 새로운 수요축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로봇·피지컬 AI: 메모리의 다음 파도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212080" cy="4023360"/>
          </a:xfrm>
          <a:prstGeom prst="roundRect">
            <a:avLst>
              <a:gd name="adj" fmla="val 1364"/>
            </a:avLst>
          </a:prstGeom>
          <a:solidFill>
            <a:srgbClr val="ECEFF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휴머노이드 1대 =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4663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10배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평균 차량 대비 메모리 탑재량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(마이크론 CEO)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434840"/>
            <a:ext cx="4663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5720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로봇 1억 대 × 300GB = 30EB</a:t>
            </a:r>
            <a:endParaRPr lang="en-US" sz="15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 글로벌 DRAM 생산능력의 약 75%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한국이 서 있는 자리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2286000"/>
            <a:ext cx="5742432" cy="868680"/>
          </a:xfrm>
          <a:prstGeom prst="roundRect">
            <a:avLst>
              <a:gd name="adj" fmla="val 5263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44768" y="2532888"/>
            <a:ext cx="384048" cy="384048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4048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엔비디아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20840" y="2743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로봇 학습 '디지털 트윈' 플랫폼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246120"/>
            <a:ext cx="5742432" cy="868680"/>
          </a:xfrm>
          <a:prstGeom prst="roundRect">
            <a:avLst>
              <a:gd name="adj" fmla="val 5263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4768" y="3493008"/>
            <a:ext cx="384048" cy="384048"/>
          </a:xfrm>
          <a:prstGeom prst="ellipse">
            <a:avLst/>
          </a:prstGeom>
          <a:solidFill>
            <a:srgbClr val="043B72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36499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20840" y="37033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레인보우로보틱스·공장 무인화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4206240"/>
            <a:ext cx="5742432" cy="868680"/>
          </a:xfrm>
          <a:prstGeom prst="roundRect">
            <a:avLst>
              <a:gd name="adj" fmla="val 5263"/>
            </a:avLst>
          </a:prstGeom>
          <a:solidFill>
            <a:srgbClr val="F7F8FA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4453128"/>
            <a:ext cx="384048" cy="384048"/>
          </a:xfrm>
          <a:prstGeom prst="ellipse">
            <a:avLst/>
          </a:prstGeom>
          <a:solidFill>
            <a:srgbClr val="0086B8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432511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720840" y="46634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iHBM(내장 냉각)으로 발열 해법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0" y="5193792"/>
            <a:ext cx="5742432" cy="658368"/>
          </a:xfrm>
          <a:prstGeom prst="roundRect">
            <a:avLst>
              <a:gd name="adj" fmla="val 6944"/>
            </a:avLst>
          </a:prstGeom>
          <a:solidFill>
            <a:srgbClr val="F58220">
              <a:alpha val="10000"/>
            </a:srgbClr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5193792"/>
            <a:ext cx="5394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휴머노이드 시장  </a:t>
            </a:r>
            <a:pPr indent="0" marL="0">
              <a:buNone/>
            </a:pPr>
            <a:r>
              <a:rPr lang="en-US" sz="15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$5.4B → $50B+ </a:t>
            </a:r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(2026→2035, CAGR 28%+)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Micron 실적 콜, MarketsandMarkets, 한국기계연구원 (2025~2026).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02 · 수요 확인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빅테크 Capex: 수요는 오히려 가속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2026E 합산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$725B+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02920" y="3474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전년비 </a:t>
            </a:r>
            <a:pPr indent="0" marL="0">
              <a:buNone/>
            </a:pPr>
            <a:r>
              <a:rPr lang="en-US" sz="18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+77%↑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4023360"/>
            <a:ext cx="4206240" cy="1783080"/>
          </a:xfrm>
          <a:prstGeom prst="roundRect">
            <a:avLst>
              <a:gd name="adj" fmla="val 2564"/>
            </a:avLst>
          </a:prstGeom>
          <a:solidFill>
            <a:srgbClr val="ECEFF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160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알파벳이 준 신호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Capex $185B→$205B 상향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클라우드 +82% · 수주잔고 $514B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→ 데이터센터 수요는 '가속'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기업별 2026E AI Capex (십억 달러)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892040" y="2240280"/>
          <a:ext cx="6858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CNBC, Seeking Alpha, Futurum (2026.07). 알파벳은 상향 가이던스 상단.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02 · 실적 시즌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실적 스코어보드 (7/22~7/30)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157984" cy="3566160"/>
          </a:xfrm>
          <a:prstGeom prst="roundRect">
            <a:avLst>
              <a:gd name="adj" fmla="val 2542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84832"/>
            <a:ext cx="1792224" cy="384048"/>
          </a:xfrm>
          <a:prstGeom prst="roundRect">
            <a:avLst>
              <a:gd name="adj" fmla="val 9524"/>
            </a:avLst>
          </a:prstGeom>
          <a:solidFill>
            <a:srgbClr val="2E854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08483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알파벳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✓ 발표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456432"/>
            <a:ext cx="1792224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566160"/>
            <a:ext cx="1837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클라우드 +82%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Capex $205B↑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88920" y="1874520"/>
            <a:ext cx="2157984" cy="3566160"/>
          </a:xfrm>
          <a:prstGeom prst="roundRect">
            <a:avLst>
              <a:gd name="adj" fmla="val 2542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2084832"/>
            <a:ext cx="1792224" cy="384048"/>
          </a:xfrm>
          <a:prstGeom prst="roundRect">
            <a:avLst>
              <a:gd name="adj" fmla="val 9524"/>
            </a:avLst>
          </a:prstGeom>
          <a:solidFill>
            <a:srgbClr val="2E8540"/>
          </a:solidFill>
          <a:ln/>
        </p:spPr>
      </p:sp>
      <p:sp>
        <p:nvSpPr>
          <p:cNvPr id="14" name="Text 12"/>
          <p:cNvSpPr/>
          <p:nvPr/>
        </p:nvSpPr>
        <p:spPr>
          <a:xfrm>
            <a:off x="2971800" y="208483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71800" y="26060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인텔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71800" y="306324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✓ 서프라이즈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71800" y="3456432"/>
            <a:ext cx="1792224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3566160"/>
            <a:ext cx="1837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매출 +25%·EPS 2배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18A 수율 65→85%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74920" y="1874520"/>
            <a:ext cx="2157984" cy="3566160"/>
          </a:xfrm>
          <a:prstGeom prst="roundRect">
            <a:avLst>
              <a:gd name="adj" fmla="val 2542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0" y="2084832"/>
            <a:ext cx="1792224" cy="384048"/>
          </a:xfrm>
          <a:prstGeom prst="roundRect">
            <a:avLst>
              <a:gd name="adj" fmla="val 9524"/>
            </a:avLst>
          </a:prstGeom>
          <a:solidFill>
            <a:srgbClr val="F58220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208483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57800" y="26060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306324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257800" y="3456432"/>
            <a:ext cx="1792224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3566160"/>
            <a:ext cx="1837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2Q 역대 최대 전망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코멘트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60920" y="1874520"/>
            <a:ext cx="2157984" cy="3566160"/>
          </a:xfrm>
          <a:prstGeom prst="roundRect">
            <a:avLst>
              <a:gd name="adj" fmla="val 2542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3800" y="2084832"/>
            <a:ext cx="1792224" cy="384048"/>
          </a:xfrm>
          <a:prstGeom prst="roundRect">
            <a:avLst>
              <a:gd name="adj" fmla="val 9524"/>
            </a:avLst>
          </a:prstGeom>
          <a:solidFill>
            <a:srgbClr val="043B72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208483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43800" y="26060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MS·메타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43800" y="306324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예정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43800" y="3456432"/>
            <a:ext cx="1792224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3566160"/>
            <a:ext cx="1837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Capex $120B·$125B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수익화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46920" y="1874520"/>
            <a:ext cx="2157984" cy="3566160"/>
          </a:xfrm>
          <a:prstGeom prst="roundRect">
            <a:avLst>
              <a:gd name="adj" fmla="val 2542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29800" y="2084832"/>
            <a:ext cx="1792224" cy="384048"/>
          </a:xfrm>
          <a:prstGeom prst="roundRect">
            <a:avLst>
              <a:gd name="adj" fmla="val 9524"/>
            </a:avLst>
          </a:prstGeom>
          <a:solidFill>
            <a:srgbClr val="043B72"/>
          </a:solidFill>
          <a:ln/>
        </p:spPr>
      </p:sp>
      <p:sp>
        <p:nvSpPr>
          <p:cNvPr id="35" name="Text 33"/>
          <p:cNvSpPr/>
          <p:nvPr/>
        </p:nvSpPr>
        <p:spPr>
          <a:xfrm>
            <a:off x="9829800" y="2084832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7/30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29800" y="260604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아마존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829800" y="306324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예정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829800" y="3456432"/>
            <a:ext cx="1792224" cy="0"/>
          </a:xfrm>
          <a:prstGeom prst="line">
            <a:avLst/>
          </a:prstGeom>
          <a:noFill/>
          <a:ln w="9525">
            <a:solidFill>
              <a:srgbClr val="CDCEC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29800" y="3566160"/>
            <a:ext cx="1837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AWS·Capex $200B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Trainium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" y="5623560"/>
            <a:ext cx="11183112" cy="594360"/>
          </a:xfrm>
          <a:prstGeom prst="roundRect">
            <a:avLst>
              <a:gd name="adj" fmla="val 6154"/>
            </a:avLst>
          </a:prstGeom>
          <a:solidFill>
            <a:srgbClr val="2E8540">
              <a:alpha val="12000"/>
            </a:srgbClr>
          </a:solidFill>
          <a:ln w="12700">
            <a:solidFill>
              <a:srgbClr val="2E85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6235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54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2연속 서프라이즈: </a:t>
            </a:r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알파벳·인텔이 AI 수요를 실적으로 입증 → 관건은 7/29 SK하이닉스.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CNBC, Shacknews, TradingKey (2026.07). 예정 기업은 컨센서스 기준.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03 · 전망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외국계 IB: 상향, 그러나 '정점 경고'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모건스탠리 Q3'26 메모리 가격 전망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94560"/>
          <a:ext cx="55778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349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PC DRAM 3~8% → 15~20% 상향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42239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20116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D4A017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89%</a:t>
            </a:r>
            <a:endParaRPr lang="en-US" sz="6600" dirty="0"/>
          </a:p>
        </p:txBody>
      </p:sp>
      <p:sp>
        <p:nvSpPr>
          <p:cNvPr id="10" name="Text 7"/>
          <p:cNvSpPr/>
          <p:nvPr/>
        </p:nvSpPr>
        <p:spPr>
          <a:xfrm>
            <a:off x="8869680" y="22402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DRAM 이익추정 상향 폭이 역사적 고점 수준에 근접 — 추가 상향 여력 축소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4160520"/>
            <a:ext cx="5422392" cy="1645920"/>
          </a:xfrm>
          <a:prstGeom prst="roundRect">
            <a:avLst>
              <a:gd name="adj" fmla="val 3333"/>
            </a:avLst>
          </a:prstGeom>
          <a:solidFill>
            <a:srgbClr val="ECEFF4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4315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사이클의 모양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92240" y="4709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'V자 반등'이 아니라 완만한 점진적 회복 — 상승은 길게, 기울기는 완만.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Morgan Stanley 리서치 요약 (KuCoin, k4i.com, 2026.07).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03 · 국내 투 톱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vs 삼성전자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658368"/>
          </a:xfrm>
          <a:prstGeom prst="roundRect">
            <a:avLst>
              <a:gd name="adj" fmla="val 6944"/>
            </a:avLst>
          </a:prstGeom>
          <a:solidFill>
            <a:srgbClr val="F5822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199632" y="1783080"/>
            <a:ext cx="5486400" cy="658368"/>
          </a:xfrm>
          <a:prstGeom prst="roundRect">
            <a:avLst>
              <a:gd name="adj" fmla="val 6944"/>
            </a:avLst>
          </a:prstGeom>
          <a:solidFill>
            <a:srgbClr val="043B72"/>
          </a:solidFill>
          <a:ln/>
        </p:spPr>
      </p:sp>
      <p:sp>
        <p:nvSpPr>
          <p:cNvPr id="8" name="Text 6"/>
          <p:cNvSpPr/>
          <p:nvPr/>
        </p:nvSpPr>
        <p:spPr>
          <a:xfrm>
            <a:off x="6428232" y="178308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시장점유율 ·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26080"/>
            <a:ext cx="6933529" cy="685800"/>
          </a:xfrm>
          <a:prstGeom prst="rect">
            <a:avLst/>
          </a:prstGeom>
          <a:solidFill>
            <a:srgbClr val="F582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26080"/>
            <a:ext cx="69335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 62%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36449" y="2926080"/>
            <a:ext cx="2348454" cy="685800"/>
          </a:xfrm>
          <a:prstGeom prst="rect">
            <a:avLst/>
          </a:prstGeom>
          <a:solidFill>
            <a:srgbClr val="6C6C6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36449" y="2926080"/>
            <a:ext cx="23484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마이크론 21%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784903" y="2926080"/>
            <a:ext cx="1901129" cy="685800"/>
          </a:xfrm>
          <a:prstGeom prst="rect">
            <a:avLst/>
          </a:prstGeom>
          <a:solidFill>
            <a:srgbClr val="043B7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903" y="2926080"/>
            <a:ext cx="19011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 17%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977640"/>
            <a:ext cx="5486400" cy="1874520"/>
          </a:xfrm>
          <a:prstGeom prst="roundRect">
            <a:avLst>
              <a:gd name="adj" fmla="val 243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114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DRAM 점유율 · 2025 (글로벌 1위 = SK)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4348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34.8%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731520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44348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34%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3337560" y="5349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9632" y="3977640"/>
            <a:ext cx="5486400" cy="1874520"/>
          </a:xfrm>
          <a:prstGeom prst="roundRect">
            <a:avLst>
              <a:gd name="adj" fmla="val 243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41148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엔비디아 HBM4 물량 배분 (베라루빈)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28232" y="443484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≈70%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428232" y="53492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(약 2/3)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34272" y="4526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조기 진입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034272" y="5349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 (추격)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IDC, Counterpoint, UBS, TrendForce (2025~2026). 점유율은 매출 기준.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03 · 판이 바뀐다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전장: 독주에서 양강으로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수렴 전망 (UBS)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94560"/>
          <a:ext cx="57607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623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UBS: "2027년 삼성이 SK와 대등한 HBM 점유율"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핵심 이벤트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784848" y="2450592"/>
            <a:ext cx="32004" cy="3017520"/>
          </a:xfrm>
          <a:prstGeom prst="rect">
            <a:avLst/>
          </a:prstGeom>
          <a:solidFill>
            <a:srgbClr val="CDCECB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331720"/>
            <a:ext cx="329184" cy="329184"/>
          </a:xfrm>
          <a:prstGeom prst="ellipse">
            <a:avLst/>
          </a:prstGeom>
          <a:solidFill>
            <a:srgbClr val="F582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78040" y="22677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2026.02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178040" y="2587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 세계 최초 HBM4 양산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29400" y="3127248"/>
            <a:ext cx="329184" cy="329184"/>
          </a:xfrm>
          <a:prstGeom prst="ellipse">
            <a:avLst/>
          </a:prstGeom>
          <a:solidFill>
            <a:srgbClr val="043B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엔비디아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7804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베라루빈 '최초 공급자' (3년 만)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629400" y="3922776"/>
            <a:ext cx="329184" cy="329184"/>
          </a:xfrm>
          <a:prstGeom prst="ellipse">
            <a:avLst/>
          </a:prstGeom>
          <a:solidFill>
            <a:srgbClr val="F5822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78040" y="3858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+4개월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178040" y="4178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 HBM4 매출 $10억 돌파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629400" y="4718304"/>
            <a:ext cx="329184" cy="329184"/>
          </a:xfrm>
          <a:prstGeom prst="ellipse">
            <a:avLst/>
          </a:prstGeom>
          <a:solidFill>
            <a:srgbClr val="043B7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78040" y="46542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방어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178040" y="497433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SK, 엔비디아 물량 약 2/3 유지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파이낸셜뉴스, DigiTimes, TrendForce, UBS (2025~2026). 전망치는 IB 추정.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WATCHLIST · 관심종목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관심종목: SK하이닉스 · 삼성전자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8308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F582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슈퍼사이클 선두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77240" y="2752344"/>
            <a:ext cx="146304" cy="146304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9" name="Text 7"/>
          <p:cNvSpPr/>
          <p:nvPr/>
        </p:nvSpPr>
        <p:spPr>
          <a:xfrm>
            <a:off x="1069848" y="2651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62%·엔비디아 HBM4 약 2/3 확보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319272"/>
            <a:ext cx="146304" cy="146304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1" name="Text 9"/>
          <p:cNvSpPr/>
          <p:nvPr/>
        </p:nvSpPr>
        <p:spPr>
          <a:xfrm>
            <a:off x="1069848" y="32186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DRAM 글로벌 1위(34.8%)·이익률 40%대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3886200"/>
            <a:ext cx="146304" cy="146304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3" name="Text 11"/>
          <p:cNvSpPr/>
          <p:nvPr/>
        </p:nvSpPr>
        <p:spPr>
          <a:xfrm>
            <a:off x="1069848" y="378561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 2Q 역대 최대 실적 전망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4617720"/>
            <a:ext cx="4937760" cy="566928"/>
          </a:xfrm>
          <a:prstGeom prst="roundRect">
            <a:avLst>
              <a:gd name="adj" fmla="val 6452"/>
            </a:avLst>
          </a:prstGeom>
          <a:solidFill>
            <a:srgbClr val="ECEFF4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6177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촉발  </a:t>
            </a:r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7/29 실적·HBM4 ASP·iHBM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257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  </a:t>
            </a:r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밸류에이션·목표가 괴리(185~430만)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178308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9050">
            <a:solidFill>
              <a:srgbClr val="043B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783080"/>
            <a:ext cx="5486400" cy="685800"/>
          </a:xfrm>
          <a:prstGeom prst="roundRect">
            <a:avLst>
              <a:gd name="adj" fmla="val 8000"/>
            </a:avLst>
          </a:prstGeom>
          <a:solidFill>
            <a:srgbClr val="043B72"/>
          </a:solidFill>
          <a:ln/>
        </p:spPr>
      </p:sp>
      <p:sp>
        <p:nvSpPr>
          <p:cNvPr id="19" name="Text 17"/>
          <p:cNvSpPr/>
          <p:nvPr/>
        </p:nvSpPr>
        <p:spPr>
          <a:xfrm>
            <a:off x="6428232" y="1783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삼성전자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HBM4·파운드리·로봇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73952" y="2752344"/>
            <a:ext cx="146304" cy="146304"/>
          </a:xfrm>
          <a:prstGeom prst="ellipse">
            <a:avLst/>
          </a:prstGeom>
          <a:solidFill>
            <a:srgbClr val="043B72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6517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HBM4 세계 최초 양산·엔비디아 첫 공급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73952" y="3319272"/>
            <a:ext cx="146304" cy="146304"/>
          </a:xfrm>
          <a:prstGeom prst="ellipse">
            <a:avLst/>
          </a:prstGeom>
          <a:solidFill>
            <a:srgbClr val="043B72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21868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파운드리 18A(수율 65→85%)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73952" y="3886200"/>
            <a:ext cx="146304" cy="146304"/>
          </a:xfrm>
          <a:prstGeom prst="ellipse">
            <a:avLst/>
          </a:prstGeom>
          <a:solidFill>
            <a:srgbClr val="043B72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78561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레인보우로보틱스로 휴머노이드 진출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73952" y="4617720"/>
            <a:ext cx="4937760" cy="566928"/>
          </a:xfrm>
          <a:prstGeom prst="roundRect">
            <a:avLst>
              <a:gd name="adj" fmla="val 6452"/>
            </a:avLst>
          </a:prstGeom>
          <a:solidFill>
            <a:srgbClr val="ECEFF4"/>
          </a:solidFill>
          <a:ln/>
        </p:spPr>
      </p:sp>
      <p:sp>
        <p:nvSpPr>
          <p:cNvPr id="27" name="Text 25"/>
          <p:cNvSpPr/>
          <p:nvPr/>
        </p:nvSpPr>
        <p:spPr>
          <a:xfrm>
            <a:off x="6611112" y="46177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촉발  </a:t>
            </a:r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회복(2027 수렴)·파운드리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11112" y="5257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  </a:t>
            </a:r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점유율 열위·파운드리 수익성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IDC·UBS·TrendForce·파이낸셜뉴스 (2025~2026). 관심종목은 예시이며 매수·매도 권유가 아님.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03 · 변수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 점검: 중국 CXMT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CXMT 글로벌 DRAM 점유율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19456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532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2026E 약 350K WSPM — 세계 2위 부상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08192" y="1874520"/>
            <a:ext cx="5577840" cy="1874520"/>
          </a:xfrm>
          <a:prstGeom prst="roundRect">
            <a:avLst>
              <a:gd name="adj" fmla="val 2927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36792" y="2011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리스크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36792" y="23774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공격적 증설이 레거시·범용 DRAM 가격 상단을 압박. 점유율 4%→11%로 확대.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108192" y="3931920"/>
            <a:ext cx="55778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9050">
            <a:solidFill>
              <a:srgbClr val="043B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4069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완충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336792" y="44348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HBM 양산은 미검증 — 고부가 영역 격차 여전. 증설은 상당분 중국 내수 소화.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Tom's Hardware, SemiAnalysis, Counterpoint, DigiTimes (2026.07).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심리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확신의 두 언어: PER vs PBR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86400" cy="2514600"/>
          </a:xfrm>
          <a:prstGeom prst="roundRect">
            <a:avLst>
              <a:gd name="adj" fmla="val 2182"/>
            </a:avLst>
          </a:prstGeom>
          <a:solidFill>
            <a:srgbClr val="F58220">
              <a:alpha val="10000"/>
            </a:srgbClr>
          </a:solidFill>
          <a:ln w="19050">
            <a:solidFill>
              <a:srgbClr val="F582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매수자 = PER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이익 성장에 주목 — HBM4·서버 DRAM 이익 레벨업, 사이클 상승 지속.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9632" y="1920240"/>
            <a:ext cx="5486400" cy="2514600"/>
          </a:xfrm>
          <a:prstGeom prst="roundRect">
            <a:avLst>
              <a:gd name="adj" fmla="val 2182"/>
            </a:avLst>
          </a:prstGeom>
          <a:solidFill>
            <a:srgbClr val="043B72">
              <a:alpha val="10000"/>
            </a:srgbClr>
          </a:solidFill>
          <a:ln w="19050">
            <a:solidFill>
              <a:srgbClr val="043B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3952" y="2148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매도자 = PBR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73952" y="26974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자산가치·사이클 고점 부담에 주목 — 이익 정점 통과, 다운사이클 재현 우려.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4663440"/>
            <a:ext cx="11183112" cy="1234440"/>
          </a:xfrm>
          <a:prstGeom prst="roundRect">
            <a:avLst>
              <a:gd name="adj" fmla="val 4444"/>
            </a:avLst>
          </a:prstGeom>
          <a:solidFill>
            <a:srgbClr val="ECEF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8280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수급 경고 — 레버리지 ETF의 변동성 감가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5230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상승 시 추가 매수·하락 시 추가 매도 → 변동성 증폭. 특정 메모리 쏠림이 크다면 두 관점을 균형있게.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첨부 K-Freedom Insights 'PER과 심리학', '레버리지 ETF 변동성 감가'.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6692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58220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PART 04 · 기준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877824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통제의 경계선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86400" cy="3977640"/>
          </a:xfrm>
          <a:prstGeom prst="roundRect">
            <a:avLst>
              <a:gd name="adj" fmla="val 1379"/>
            </a:avLst>
          </a:prstGeom>
          <a:solidFill>
            <a:srgbClr val="F7F8FA"/>
          </a:solidFill>
          <a:ln w="12700">
            <a:solidFill>
              <a:srgbClr val="CDCE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✕  통제 불가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2651760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517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데이터센터 증설 속도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401568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4015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메모리 가격 사이클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4151376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15137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효율화·단기 수요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901184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CDCE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90118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매크로·환율·지정학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9632" y="1874520"/>
            <a:ext cx="548640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22225">
            <a:solidFill>
              <a:srgbClr val="F582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20574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B6015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✓  통제 가능 — 여기에 집중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73952" y="2651760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58220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702552" y="265176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더 낮은 전력·더 높은 성능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73952" y="3401568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58220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702552" y="340156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높은 수율의 공정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73952" y="4151376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58220">
              <a:alpha val="1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702552" y="415137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첨단 패키징 장비·소재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73952" y="4901184"/>
            <a:ext cx="4937760" cy="621792"/>
          </a:xfrm>
          <a:prstGeom prst="roundRect">
            <a:avLst>
              <a:gd name="adj" fmla="val 5882"/>
            </a:avLst>
          </a:prstGeom>
          <a:solidFill>
            <a:srgbClr val="F58220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702552" y="490118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효율적 설계 소프트웨어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" y="63825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자료: 첨부 K-Freedom Insights '투자 기준의 재점검' 재구성.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4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548640" cy="54864"/>
          </a:xfrm>
          <a:prstGeom prst="rect">
            <a:avLst/>
          </a:prstGeom>
          <a:solidFill>
            <a:srgbClr val="F582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5836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84632" y="9601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사이클이 아니라 '기술 로드맵의 방향'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57400"/>
            <a:ext cx="411480" cy="41148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성능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동일 전력 대비 고성능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9272" y="187452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547872" y="2057400"/>
            <a:ext cx="411480" cy="41148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전력 효율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47872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전력·비용 절감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35624" y="187452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364224" y="2057400"/>
            <a:ext cx="411480" cy="41148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5" name="Text 13"/>
          <p:cNvSpPr/>
          <p:nvPr/>
        </p:nvSpPr>
        <p:spPr>
          <a:xfrm>
            <a:off x="6364224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미세화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4224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높은 수율 공정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51976" y="187452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180576" y="2057400"/>
            <a:ext cx="411480" cy="411480"/>
          </a:xfrm>
          <a:prstGeom prst="ellipse">
            <a:avLst/>
          </a:prstGeom>
          <a:solidFill>
            <a:srgbClr val="F58220"/>
          </a:solidFill>
          <a:ln/>
        </p:spPr>
      </p:sp>
      <p:sp>
        <p:nvSpPr>
          <p:cNvPr id="19" name="Text 17"/>
          <p:cNvSpPr/>
          <p:nvPr/>
        </p:nvSpPr>
        <p:spPr>
          <a:xfrm>
            <a:off x="9180576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3B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첨단 패키징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80576" y="2926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3D3D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이종집적·2.5D/3D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3657600"/>
            <a:ext cx="11183112" cy="1874520"/>
          </a:xfrm>
          <a:prstGeom prst="roundRect">
            <a:avLst>
              <a:gd name="adj" fmla="val 2927"/>
            </a:avLst>
          </a:prstGeom>
          <a:solidFill>
            <a:srgbClr val="0A4E8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실적 시즌 체크리스트 (7/29~7/30)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2519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☐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Capex 유지·상향 여부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66160" y="42519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☐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SK하이닉스 7/29 실적·HBM4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55080" y="42519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☐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AI 수익화 속도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0" y="425196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AB072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☐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로봇 메모리 수요 언급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단기 사이클은 변해도, 기술 로드맵의 방향은 쉽게 바뀌지 않는다.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580644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AFC3DA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본 자료는 반도체 산업 이해를 돕기 위한 교육·세미나용 자료이며, 특정 종목의 매수·매도 권유가 아닙니다. 언급된 기업은 예시이며 투자판단·손익의 책임은 투자자 본인에게 있습니다.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C6C6C"/>
                </a:solidFill>
                <a:latin typeface="Spoqa Han Sans Neo" pitchFamily="34" charset="0"/>
                <a:ea typeface="Spoqa Han Sans Neo" pitchFamily="34" charset="-122"/>
                <a:cs typeface="Spoqa Han Sans Neo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2026-07-24T07:47:11Z</dcterms:created>
  <dcterms:modified xsi:type="dcterms:W3CDTF">2026-07-24T07:47:11Z</dcterms:modified>
</cp:coreProperties>
</file>