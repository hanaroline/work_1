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제38170회 EuroStoxx50·KOSPI200·Nikkei225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11.1</c:v>
                </c:pt>
                <c:pt idx="2">
                  <c:v>14</c:v>
                </c:pt>
                <c:pt idx="3">
                  <c:v>14.3</c:v>
                </c:pt>
                <c:pt idx="4">
                  <c:v>14.7</c:v>
                </c:pt>
                <c:pt idx="5">
                  <c:v>14.7</c:v>
                </c:pt>
                <c:pt idx="6">
                  <c:v>15</c:v>
                </c:pt>
                <c:pt idx="7">
                  <c:v>15.1</c:v>
                </c:pt>
                <c:pt idx="8">
                  <c:v>16.7</c:v>
                </c:pt>
                <c:pt idx="9">
                  <c:v>17.3</c:v>
                </c:pt>
                <c:pt idx="10">
                  <c:v>18.5</c:v>
                </c:pt>
                <c:pt idx="11">
                  <c:v>20</c:v>
                </c:pt>
                <c:pt idx="12">
                  <c:v>20.5</c:v>
                </c:pt>
                <c:pt idx="13">
                  <c:v>22.1</c:v>
                </c:pt>
                <c:pt idx="14">
                  <c:v>24.5</c:v>
                </c:pt>
                <c:pt idx="15">
                  <c:v>28.9</c:v>
                </c:pt>
                <c:pt idx="16">
                  <c:v>35.1</c:v>
                </c:pt>
                <c:pt idx="17">
                  <c:v>36.9</c:v>
                </c:pt>
                <c:pt idx="18">
                  <c:v>38.3</c:v>
                </c:pt>
              </c:numCache>
            </c:numRef>
          </c:xVal>
          <c:yVal>
            <c:numRef>
              <c:f>Sheet1!$B$2:$B$20</c:f>
              <c:numCache>
                <c:formatCode>General</c:formatCode>
                <c:ptCount val="19"/>
                <c:pt idx="0">
                  <c:v>9.6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제38181회 EuroStoxx50·KOSPI200·Nikkei225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11.1</c:v>
                </c:pt>
                <c:pt idx="2">
                  <c:v>14</c:v>
                </c:pt>
                <c:pt idx="3">
                  <c:v>14.3</c:v>
                </c:pt>
                <c:pt idx="4">
                  <c:v>14.7</c:v>
                </c:pt>
                <c:pt idx="5">
                  <c:v>14.7</c:v>
                </c:pt>
                <c:pt idx="6">
                  <c:v>15</c:v>
                </c:pt>
                <c:pt idx="7">
                  <c:v>15.1</c:v>
                </c:pt>
                <c:pt idx="8">
                  <c:v>16.7</c:v>
                </c:pt>
                <c:pt idx="9">
                  <c:v>17.3</c:v>
                </c:pt>
                <c:pt idx="10">
                  <c:v>18.5</c:v>
                </c:pt>
                <c:pt idx="11">
                  <c:v>20</c:v>
                </c:pt>
                <c:pt idx="12">
                  <c:v>20.5</c:v>
                </c:pt>
                <c:pt idx="13">
                  <c:v>22.1</c:v>
                </c:pt>
                <c:pt idx="14">
                  <c:v>24.5</c:v>
                </c:pt>
                <c:pt idx="15">
                  <c:v>28.9</c:v>
                </c:pt>
                <c:pt idx="16">
                  <c:v>35.1</c:v>
                </c:pt>
                <c:pt idx="17">
                  <c:v>36.9</c:v>
                </c:pt>
                <c:pt idx="18">
                  <c:v>38.3</c:v>
                </c:pt>
              </c:numCache>
            </c:numRef>
          </c:xVal>
          <c:yVal>
            <c:numRef>
              <c:f>Sheet1!$C$2:$C$20</c:f>
              <c:numCache>
                <c:formatCode>General</c:formatCode>
                <c:ptCount val="19"/>
                <c:pt idx="0">
                  <c:v/>
                </c:pt>
                <c:pt idx="1">
                  <c:v>9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제38173회 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11.1</c:v>
                </c:pt>
                <c:pt idx="2">
                  <c:v>14</c:v>
                </c:pt>
                <c:pt idx="3">
                  <c:v>14.3</c:v>
                </c:pt>
                <c:pt idx="4">
                  <c:v>14.7</c:v>
                </c:pt>
                <c:pt idx="5">
                  <c:v>14.7</c:v>
                </c:pt>
                <c:pt idx="6">
                  <c:v>15</c:v>
                </c:pt>
                <c:pt idx="7">
                  <c:v>15.1</c:v>
                </c:pt>
                <c:pt idx="8">
                  <c:v>16.7</c:v>
                </c:pt>
                <c:pt idx="9">
                  <c:v>17.3</c:v>
                </c:pt>
                <c:pt idx="10">
                  <c:v>18.5</c:v>
                </c:pt>
                <c:pt idx="11">
                  <c:v>20</c:v>
                </c:pt>
                <c:pt idx="12">
                  <c:v>20.5</c:v>
                </c:pt>
                <c:pt idx="13">
                  <c:v>22.1</c:v>
                </c:pt>
                <c:pt idx="14">
                  <c:v>24.5</c:v>
                </c:pt>
                <c:pt idx="15">
                  <c:v>28.9</c:v>
                </c:pt>
                <c:pt idx="16">
                  <c:v>35.1</c:v>
                </c:pt>
                <c:pt idx="17">
                  <c:v>36.9</c:v>
                </c:pt>
                <c:pt idx="18">
                  <c:v>38.3</c:v>
                </c:pt>
              </c:numCache>
            </c:numRef>
          </c:xVal>
          <c:yVal>
            <c:numRef>
              <c:f>Sheet1!$D$2:$D$20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>11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제38183회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11.1</c:v>
                </c:pt>
                <c:pt idx="2">
                  <c:v>14</c:v>
                </c:pt>
                <c:pt idx="3">
                  <c:v>14.3</c:v>
                </c:pt>
                <c:pt idx="4">
                  <c:v>14.7</c:v>
                </c:pt>
                <c:pt idx="5">
                  <c:v>14.7</c:v>
                </c:pt>
                <c:pt idx="6">
                  <c:v>15</c:v>
                </c:pt>
                <c:pt idx="7">
                  <c:v>15.1</c:v>
                </c:pt>
                <c:pt idx="8">
                  <c:v>16.7</c:v>
                </c:pt>
                <c:pt idx="9">
                  <c:v>17.3</c:v>
                </c:pt>
                <c:pt idx="10">
                  <c:v>18.5</c:v>
                </c:pt>
                <c:pt idx="11">
                  <c:v>20</c:v>
                </c:pt>
                <c:pt idx="12">
                  <c:v>20.5</c:v>
                </c:pt>
                <c:pt idx="13">
                  <c:v>22.1</c:v>
                </c:pt>
                <c:pt idx="14">
                  <c:v>24.5</c:v>
                </c:pt>
                <c:pt idx="15">
                  <c:v>28.9</c:v>
                </c:pt>
                <c:pt idx="16">
                  <c:v>35.1</c:v>
                </c:pt>
                <c:pt idx="17">
                  <c:v>36.9</c:v>
                </c:pt>
                <c:pt idx="18">
                  <c:v>38.3</c:v>
                </c:pt>
              </c:numCache>
            </c:numRef>
          </c:xVal>
          <c:yVal>
            <c:numRef>
              <c:f>Sheet1!$E$2:$E$20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13.1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제38171회 EuroStoxx50·S&amp;P500·KOSPI200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11.1</c:v>
                </c:pt>
                <c:pt idx="2">
                  <c:v>14</c:v>
                </c:pt>
                <c:pt idx="3">
                  <c:v>14.3</c:v>
                </c:pt>
                <c:pt idx="4">
                  <c:v>14.7</c:v>
                </c:pt>
                <c:pt idx="5">
                  <c:v>14.7</c:v>
                </c:pt>
                <c:pt idx="6">
                  <c:v>15</c:v>
                </c:pt>
                <c:pt idx="7">
                  <c:v>15.1</c:v>
                </c:pt>
                <c:pt idx="8">
                  <c:v>16.7</c:v>
                </c:pt>
                <c:pt idx="9">
                  <c:v>17.3</c:v>
                </c:pt>
                <c:pt idx="10">
                  <c:v>18.5</c:v>
                </c:pt>
                <c:pt idx="11">
                  <c:v>20</c:v>
                </c:pt>
                <c:pt idx="12">
                  <c:v>20.5</c:v>
                </c:pt>
                <c:pt idx="13">
                  <c:v>22.1</c:v>
                </c:pt>
                <c:pt idx="14">
                  <c:v>24.5</c:v>
                </c:pt>
                <c:pt idx="15">
                  <c:v>28.9</c:v>
                </c:pt>
                <c:pt idx="16">
                  <c:v>35.1</c:v>
                </c:pt>
                <c:pt idx="17">
                  <c:v>36.9</c:v>
                </c:pt>
                <c:pt idx="18">
                  <c:v>38.3</c:v>
                </c:pt>
              </c:numCache>
            </c:numRef>
          </c:xVal>
          <c:yVal>
            <c:numRef>
              <c:f>Sheet1!$F$2:$F$20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10.4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제38177회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11.1</c:v>
                </c:pt>
                <c:pt idx="2">
                  <c:v>14</c:v>
                </c:pt>
                <c:pt idx="3">
                  <c:v>14.3</c:v>
                </c:pt>
                <c:pt idx="4">
                  <c:v>14.7</c:v>
                </c:pt>
                <c:pt idx="5">
                  <c:v>14.7</c:v>
                </c:pt>
                <c:pt idx="6">
                  <c:v>15</c:v>
                </c:pt>
                <c:pt idx="7">
                  <c:v>15.1</c:v>
                </c:pt>
                <c:pt idx="8">
                  <c:v>16.7</c:v>
                </c:pt>
                <c:pt idx="9">
                  <c:v>17.3</c:v>
                </c:pt>
                <c:pt idx="10">
                  <c:v>18.5</c:v>
                </c:pt>
                <c:pt idx="11">
                  <c:v>20</c:v>
                </c:pt>
                <c:pt idx="12">
                  <c:v>20.5</c:v>
                </c:pt>
                <c:pt idx="13">
                  <c:v>22.1</c:v>
                </c:pt>
                <c:pt idx="14">
                  <c:v>24.5</c:v>
                </c:pt>
                <c:pt idx="15">
                  <c:v>28.9</c:v>
                </c:pt>
                <c:pt idx="16">
                  <c:v>35.1</c:v>
                </c:pt>
                <c:pt idx="17">
                  <c:v>36.9</c:v>
                </c:pt>
                <c:pt idx="18">
                  <c:v>38.3</c:v>
                </c:pt>
              </c:numCache>
            </c:numRef>
          </c:xVal>
          <c:yVal>
            <c:numRef>
              <c:f>Sheet1!$G$2:$G$20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12.7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제38172회 S&amp;P500·KOSPI200·Nikkei225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11.1</c:v>
                </c:pt>
                <c:pt idx="2">
                  <c:v>14</c:v>
                </c:pt>
                <c:pt idx="3">
                  <c:v>14.3</c:v>
                </c:pt>
                <c:pt idx="4">
                  <c:v>14.7</c:v>
                </c:pt>
                <c:pt idx="5">
                  <c:v>14.7</c:v>
                </c:pt>
                <c:pt idx="6">
                  <c:v>15</c:v>
                </c:pt>
                <c:pt idx="7">
                  <c:v>15.1</c:v>
                </c:pt>
                <c:pt idx="8">
                  <c:v>16.7</c:v>
                </c:pt>
                <c:pt idx="9">
                  <c:v>17.3</c:v>
                </c:pt>
                <c:pt idx="10">
                  <c:v>18.5</c:v>
                </c:pt>
                <c:pt idx="11">
                  <c:v>20</c:v>
                </c:pt>
                <c:pt idx="12">
                  <c:v>20.5</c:v>
                </c:pt>
                <c:pt idx="13">
                  <c:v>22.1</c:v>
                </c:pt>
                <c:pt idx="14">
                  <c:v>24.5</c:v>
                </c:pt>
                <c:pt idx="15">
                  <c:v>28.9</c:v>
                </c:pt>
                <c:pt idx="16">
                  <c:v>35.1</c:v>
                </c:pt>
                <c:pt idx="17">
                  <c:v>36.9</c:v>
                </c:pt>
                <c:pt idx="18">
                  <c:v>38.3</c:v>
                </c:pt>
              </c:numCache>
            </c:numRef>
          </c:xVal>
          <c:yVal>
            <c:numRef>
              <c:f>Sheet1!$H$2:$H$20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11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제38182회 S&amp;P500·KOSPI200·Nikkei225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11.1</c:v>
                </c:pt>
                <c:pt idx="2">
                  <c:v>14</c:v>
                </c:pt>
                <c:pt idx="3">
                  <c:v>14.3</c:v>
                </c:pt>
                <c:pt idx="4">
                  <c:v>14.7</c:v>
                </c:pt>
                <c:pt idx="5">
                  <c:v>14.7</c:v>
                </c:pt>
                <c:pt idx="6">
                  <c:v>15</c:v>
                </c:pt>
                <c:pt idx="7">
                  <c:v>15.1</c:v>
                </c:pt>
                <c:pt idx="8">
                  <c:v>16.7</c:v>
                </c:pt>
                <c:pt idx="9">
                  <c:v>17.3</c:v>
                </c:pt>
                <c:pt idx="10">
                  <c:v>18.5</c:v>
                </c:pt>
                <c:pt idx="11">
                  <c:v>20</c:v>
                </c:pt>
                <c:pt idx="12">
                  <c:v>20.5</c:v>
                </c:pt>
                <c:pt idx="13">
                  <c:v>22.1</c:v>
                </c:pt>
                <c:pt idx="14">
                  <c:v>24.5</c:v>
                </c:pt>
                <c:pt idx="15">
                  <c:v>28.9</c:v>
                </c:pt>
                <c:pt idx="16">
                  <c:v>35.1</c:v>
                </c:pt>
                <c:pt idx="17">
                  <c:v>36.9</c:v>
                </c:pt>
                <c:pt idx="18">
                  <c:v>38.3</c:v>
                </c:pt>
              </c:numCache>
            </c:numRef>
          </c:xVal>
          <c:yVal>
            <c:numRef>
              <c:f>Sheet1!$I$2:$I$20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11</c:v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제38179회 KOSPI200·SK하이닉스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11.1</c:v>
                </c:pt>
                <c:pt idx="2">
                  <c:v>14</c:v>
                </c:pt>
                <c:pt idx="3">
                  <c:v>14.3</c:v>
                </c:pt>
                <c:pt idx="4">
                  <c:v>14.7</c:v>
                </c:pt>
                <c:pt idx="5">
                  <c:v>14.7</c:v>
                </c:pt>
                <c:pt idx="6">
                  <c:v>15</c:v>
                </c:pt>
                <c:pt idx="7">
                  <c:v>15.1</c:v>
                </c:pt>
                <c:pt idx="8">
                  <c:v>16.7</c:v>
                </c:pt>
                <c:pt idx="9">
                  <c:v>17.3</c:v>
                </c:pt>
                <c:pt idx="10">
                  <c:v>18.5</c:v>
                </c:pt>
                <c:pt idx="11">
                  <c:v>20</c:v>
                </c:pt>
                <c:pt idx="12">
                  <c:v>20.5</c:v>
                </c:pt>
                <c:pt idx="13">
                  <c:v>22.1</c:v>
                </c:pt>
                <c:pt idx="14">
                  <c:v>24.5</c:v>
                </c:pt>
                <c:pt idx="15">
                  <c:v>28.9</c:v>
                </c:pt>
                <c:pt idx="16">
                  <c:v>35.1</c:v>
                </c:pt>
                <c:pt idx="17">
                  <c:v>36.9</c:v>
                </c:pt>
                <c:pt idx="18">
                  <c:v>38.3</c:v>
                </c:pt>
              </c:numCache>
            </c:numRef>
          </c:xVal>
          <c:yVal>
            <c:numRef>
              <c:f>Sheet1!$J$2:$J$20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16.4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9"/>
          <c:order val="9"/>
          <c:tx>
            <c:strRef>
              <c:f>Sheet1!$K$1</c:f>
              <c:strCache>
                <c:ptCount val="1"/>
                <c:pt idx="0">
                  <c:v>제38175회 S&amp;P500·HSCEI·KOSPI200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11.1</c:v>
                </c:pt>
                <c:pt idx="2">
                  <c:v>14</c:v>
                </c:pt>
                <c:pt idx="3">
                  <c:v>14.3</c:v>
                </c:pt>
                <c:pt idx="4">
                  <c:v>14.7</c:v>
                </c:pt>
                <c:pt idx="5">
                  <c:v>14.7</c:v>
                </c:pt>
                <c:pt idx="6">
                  <c:v>15</c:v>
                </c:pt>
                <c:pt idx="7">
                  <c:v>15.1</c:v>
                </c:pt>
                <c:pt idx="8">
                  <c:v>16.7</c:v>
                </c:pt>
                <c:pt idx="9">
                  <c:v>17.3</c:v>
                </c:pt>
                <c:pt idx="10">
                  <c:v>18.5</c:v>
                </c:pt>
                <c:pt idx="11">
                  <c:v>20</c:v>
                </c:pt>
                <c:pt idx="12">
                  <c:v>20.5</c:v>
                </c:pt>
                <c:pt idx="13">
                  <c:v>22.1</c:v>
                </c:pt>
                <c:pt idx="14">
                  <c:v>24.5</c:v>
                </c:pt>
                <c:pt idx="15">
                  <c:v>28.9</c:v>
                </c:pt>
                <c:pt idx="16">
                  <c:v>35.1</c:v>
                </c:pt>
                <c:pt idx="17">
                  <c:v>36.9</c:v>
                </c:pt>
                <c:pt idx="18">
                  <c:v>38.3</c:v>
                </c:pt>
              </c:numCache>
            </c:numRef>
          </c:xVal>
          <c:yVal>
            <c:numRef>
              <c:f>Sheet1!$K$2:$K$20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>11.5</c:v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0"/>
          <c:order val="10"/>
          <c:tx>
            <c:strRef>
              <c:f>Sheet1!$L$1</c:f>
              <c:strCache>
                <c:ptCount val="1"/>
                <c:pt idx="0">
                  <c:v>제38178회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11.1</c:v>
                </c:pt>
                <c:pt idx="2">
                  <c:v>14</c:v>
                </c:pt>
                <c:pt idx="3">
                  <c:v>14.3</c:v>
                </c:pt>
                <c:pt idx="4">
                  <c:v>14.7</c:v>
                </c:pt>
                <c:pt idx="5">
                  <c:v>14.7</c:v>
                </c:pt>
                <c:pt idx="6">
                  <c:v>15</c:v>
                </c:pt>
                <c:pt idx="7">
                  <c:v>15.1</c:v>
                </c:pt>
                <c:pt idx="8">
                  <c:v>16.7</c:v>
                </c:pt>
                <c:pt idx="9">
                  <c:v>17.3</c:v>
                </c:pt>
                <c:pt idx="10">
                  <c:v>18.5</c:v>
                </c:pt>
                <c:pt idx="11">
                  <c:v>20</c:v>
                </c:pt>
                <c:pt idx="12">
                  <c:v>20.5</c:v>
                </c:pt>
                <c:pt idx="13">
                  <c:v>22.1</c:v>
                </c:pt>
                <c:pt idx="14">
                  <c:v>24.5</c:v>
                </c:pt>
                <c:pt idx="15">
                  <c:v>28.9</c:v>
                </c:pt>
                <c:pt idx="16">
                  <c:v>35.1</c:v>
                </c:pt>
                <c:pt idx="17">
                  <c:v>36.9</c:v>
                </c:pt>
                <c:pt idx="18">
                  <c:v>38.3</c:v>
                </c:pt>
              </c:numCache>
            </c:numRef>
          </c:xVal>
          <c:yVal>
            <c:numRef>
              <c:f>Sheet1!$L$2:$L$20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16.2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1"/>
          <c:order val="11"/>
          <c:tx>
            <c:strRef>
              <c:f>Sheet1!$M$1</c:f>
              <c:strCache>
                <c:ptCount val="1"/>
                <c:pt idx="0">
                  <c:v>제38174회 EuroStoxx50·S&amp;P500·KOSPI200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11.1</c:v>
                </c:pt>
                <c:pt idx="2">
                  <c:v>14</c:v>
                </c:pt>
                <c:pt idx="3">
                  <c:v>14.3</c:v>
                </c:pt>
                <c:pt idx="4">
                  <c:v>14.7</c:v>
                </c:pt>
                <c:pt idx="5">
                  <c:v>14.7</c:v>
                </c:pt>
                <c:pt idx="6">
                  <c:v>15</c:v>
                </c:pt>
                <c:pt idx="7">
                  <c:v>15.1</c:v>
                </c:pt>
                <c:pt idx="8">
                  <c:v>16.7</c:v>
                </c:pt>
                <c:pt idx="9">
                  <c:v>17.3</c:v>
                </c:pt>
                <c:pt idx="10">
                  <c:v>18.5</c:v>
                </c:pt>
                <c:pt idx="11">
                  <c:v>20</c:v>
                </c:pt>
                <c:pt idx="12">
                  <c:v>20.5</c:v>
                </c:pt>
                <c:pt idx="13">
                  <c:v>22.1</c:v>
                </c:pt>
                <c:pt idx="14">
                  <c:v>24.5</c:v>
                </c:pt>
                <c:pt idx="15">
                  <c:v>28.9</c:v>
                </c:pt>
                <c:pt idx="16">
                  <c:v>35.1</c:v>
                </c:pt>
                <c:pt idx="17">
                  <c:v>36.9</c:v>
                </c:pt>
                <c:pt idx="18">
                  <c:v>38.3</c:v>
                </c:pt>
              </c:numCache>
            </c:numRef>
          </c:xVal>
          <c:yVal>
            <c:numRef>
              <c:f>Sheet1!$M$2:$M$20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>11.4</c:v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2"/>
          <c:order val="12"/>
          <c:tx>
            <c:strRef>
              <c:f>Sheet1!$N$1</c:f>
              <c:strCache>
                <c:ptCount val="1"/>
                <c:pt idx="0">
                  <c:v>제38176회 KOSPI200·HSCEI·Nikkei225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11.1</c:v>
                </c:pt>
                <c:pt idx="2">
                  <c:v>14</c:v>
                </c:pt>
                <c:pt idx="3">
                  <c:v>14.3</c:v>
                </c:pt>
                <c:pt idx="4">
                  <c:v>14.7</c:v>
                </c:pt>
                <c:pt idx="5">
                  <c:v>14.7</c:v>
                </c:pt>
                <c:pt idx="6">
                  <c:v>15</c:v>
                </c:pt>
                <c:pt idx="7">
                  <c:v>15.1</c:v>
                </c:pt>
                <c:pt idx="8">
                  <c:v>16.7</c:v>
                </c:pt>
                <c:pt idx="9">
                  <c:v>17.3</c:v>
                </c:pt>
                <c:pt idx="10">
                  <c:v>18.5</c:v>
                </c:pt>
                <c:pt idx="11">
                  <c:v>20</c:v>
                </c:pt>
                <c:pt idx="12">
                  <c:v>20.5</c:v>
                </c:pt>
                <c:pt idx="13">
                  <c:v>22.1</c:v>
                </c:pt>
                <c:pt idx="14">
                  <c:v>24.5</c:v>
                </c:pt>
                <c:pt idx="15">
                  <c:v>28.9</c:v>
                </c:pt>
                <c:pt idx="16">
                  <c:v>35.1</c:v>
                </c:pt>
                <c:pt idx="17">
                  <c:v>36.9</c:v>
                </c:pt>
                <c:pt idx="18">
                  <c:v>38.3</c:v>
                </c:pt>
              </c:numCache>
            </c:numRef>
          </c:xVal>
          <c:yVal>
            <c:numRef>
              <c:f>Sheet1!$N$2:$N$20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12.5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3"/>
          <c:order val="13"/>
          <c:tx>
            <c:strRef>
              <c:f>Sheet1!$O$1</c:f>
              <c:strCache>
                <c:ptCount val="1"/>
                <c:pt idx="0">
                  <c:v>제38180회 삼성전자·SK하이닉스</c:v>
                </c:pt>
              </c:strCache>
            </c:strRef>
          </c:tx>
          <c:spPr>
            <a:solidFill>
              <a:srgbClr val="9AA6B2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11.1</c:v>
                </c:pt>
                <c:pt idx="2">
                  <c:v>14</c:v>
                </c:pt>
                <c:pt idx="3">
                  <c:v>14.3</c:v>
                </c:pt>
                <c:pt idx="4">
                  <c:v>14.7</c:v>
                </c:pt>
                <c:pt idx="5">
                  <c:v>14.7</c:v>
                </c:pt>
                <c:pt idx="6">
                  <c:v>15</c:v>
                </c:pt>
                <c:pt idx="7">
                  <c:v>15.1</c:v>
                </c:pt>
                <c:pt idx="8">
                  <c:v>16.7</c:v>
                </c:pt>
                <c:pt idx="9">
                  <c:v>17.3</c:v>
                </c:pt>
                <c:pt idx="10">
                  <c:v>18.5</c:v>
                </c:pt>
                <c:pt idx="11">
                  <c:v>20</c:v>
                </c:pt>
                <c:pt idx="12">
                  <c:v>20.5</c:v>
                </c:pt>
                <c:pt idx="13">
                  <c:v>22.1</c:v>
                </c:pt>
                <c:pt idx="14">
                  <c:v>24.5</c:v>
                </c:pt>
                <c:pt idx="15">
                  <c:v>28.9</c:v>
                </c:pt>
                <c:pt idx="16">
                  <c:v>35.1</c:v>
                </c:pt>
                <c:pt idx="17">
                  <c:v>36.9</c:v>
                </c:pt>
                <c:pt idx="18">
                  <c:v>38.3</c:v>
                </c:pt>
              </c:numCache>
            </c:numRef>
          </c:xVal>
          <c:yVal>
            <c:numRef>
              <c:f>Sheet1!$O$2:$O$20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>18</c:v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4"/>
          <c:order val="14"/>
          <c:tx>
            <c:strRef>
              <c:f>Sheet1!$P$1</c:f>
              <c:strCache>
                <c:ptCount val="1"/>
                <c:pt idx="0">
                  <c:v>제38184회 삼성전자·SK하이닉스</c:v>
                </c:pt>
              </c:strCache>
            </c:strRef>
          </c:tx>
          <c:spPr>
            <a:solidFill>
              <a:srgbClr val="F58220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F58220"/>
              </a:solidFill>
              <a:ln w="9525" cap="flat">
                <a:solidFill>
                  <a:srgbClr val="F58220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11.1</c:v>
                </c:pt>
                <c:pt idx="2">
                  <c:v>14</c:v>
                </c:pt>
                <c:pt idx="3">
                  <c:v>14.3</c:v>
                </c:pt>
                <c:pt idx="4">
                  <c:v>14.7</c:v>
                </c:pt>
                <c:pt idx="5">
                  <c:v>14.7</c:v>
                </c:pt>
                <c:pt idx="6">
                  <c:v>15</c:v>
                </c:pt>
                <c:pt idx="7">
                  <c:v>15.1</c:v>
                </c:pt>
                <c:pt idx="8">
                  <c:v>16.7</c:v>
                </c:pt>
                <c:pt idx="9">
                  <c:v>17.3</c:v>
                </c:pt>
                <c:pt idx="10">
                  <c:v>18.5</c:v>
                </c:pt>
                <c:pt idx="11">
                  <c:v>20</c:v>
                </c:pt>
                <c:pt idx="12">
                  <c:v>20.5</c:v>
                </c:pt>
                <c:pt idx="13">
                  <c:v>22.1</c:v>
                </c:pt>
                <c:pt idx="14">
                  <c:v>24.5</c:v>
                </c:pt>
                <c:pt idx="15">
                  <c:v>28.9</c:v>
                </c:pt>
                <c:pt idx="16">
                  <c:v>35.1</c:v>
                </c:pt>
                <c:pt idx="17">
                  <c:v>36.9</c:v>
                </c:pt>
                <c:pt idx="18">
                  <c:v>38.3</c:v>
                </c:pt>
              </c:numCache>
            </c:numRef>
          </c:xVal>
          <c:yVal>
            <c:numRef>
              <c:f>Sheet1!$P$2:$P$20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>23</c:v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5"/>
          <c:order val="15"/>
          <c:tx>
            <c:strRef>
              <c:f>Sheet1!$Q$1</c:f>
              <c:strCache>
                <c:ptCount val="1"/>
                <c:pt idx="0">
                  <c:v>제38186회 테슬라·팔란티어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11.1</c:v>
                </c:pt>
                <c:pt idx="2">
                  <c:v>14</c:v>
                </c:pt>
                <c:pt idx="3">
                  <c:v>14.3</c:v>
                </c:pt>
                <c:pt idx="4">
                  <c:v>14.7</c:v>
                </c:pt>
                <c:pt idx="5">
                  <c:v>14.7</c:v>
                </c:pt>
                <c:pt idx="6">
                  <c:v>15</c:v>
                </c:pt>
                <c:pt idx="7">
                  <c:v>15.1</c:v>
                </c:pt>
                <c:pt idx="8">
                  <c:v>16.7</c:v>
                </c:pt>
                <c:pt idx="9">
                  <c:v>17.3</c:v>
                </c:pt>
                <c:pt idx="10">
                  <c:v>18.5</c:v>
                </c:pt>
                <c:pt idx="11">
                  <c:v>20</c:v>
                </c:pt>
                <c:pt idx="12">
                  <c:v>20.5</c:v>
                </c:pt>
                <c:pt idx="13">
                  <c:v>22.1</c:v>
                </c:pt>
                <c:pt idx="14">
                  <c:v>24.5</c:v>
                </c:pt>
                <c:pt idx="15">
                  <c:v>28.9</c:v>
                </c:pt>
                <c:pt idx="16">
                  <c:v>35.1</c:v>
                </c:pt>
                <c:pt idx="17">
                  <c:v>36.9</c:v>
                </c:pt>
                <c:pt idx="18">
                  <c:v>38.3</c:v>
                </c:pt>
              </c:numCache>
            </c:numRef>
          </c:xVal>
          <c:yVal>
            <c:numRef>
              <c:f>Sheet1!$Q$2:$Q$20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20.2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6"/>
          <c:order val="16"/>
          <c:tx>
            <c:strRef>
              <c:f>Sheet1!$R$1</c:f>
              <c:strCache>
                <c:ptCount val="1"/>
                <c:pt idx="0">
                  <c:v>제38188회 마이크론 테크놀로지·AMD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11.1</c:v>
                </c:pt>
                <c:pt idx="2">
                  <c:v>14</c:v>
                </c:pt>
                <c:pt idx="3">
                  <c:v>14.3</c:v>
                </c:pt>
                <c:pt idx="4">
                  <c:v>14.7</c:v>
                </c:pt>
                <c:pt idx="5">
                  <c:v>14.7</c:v>
                </c:pt>
                <c:pt idx="6">
                  <c:v>15</c:v>
                </c:pt>
                <c:pt idx="7">
                  <c:v>15.1</c:v>
                </c:pt>
                <c:pt idx="8">
                  <c:v>16.7</c:v>
                </c:pt>
                <c:pt idx="9">
                  <c:v>17.3</c:v>
                </c:pt>
                <c:pt idx="10">
                  <c:v>18.5</c:v>
                </c:pt>
                <c:pt idx="11">
                  <c:v>20</c:v>
                </c:pt>
                <c:pt idx="12">
                  <c:v>20.5</c:v>
                </c:pt>
                <c:pt idx="13">
                  <c:v>22.1</c:v>
                </c:pt>
                <c:pt idx="14">
                  <c:v>24.5</c:v>
                </c:pt>
                <c:pt idx="15">
                  <c:v>28.9</c:v>
                </c:pt>
                <c:pt idx="16">
                  <c:v>35.1</c:v>
                </c:pt>
                <c:pt idx="17">
                  <c:v>36.9</c:v>
                </c:pt>
                <c:pt idx="18">
                  <c:v>38.3</c:v>
                </c:pt>
              </c:numCache>
            </c:numRef>
          </c:xVal>
          <c:yVal>
            <c:numRef>
              <c:f>Sheet1!$R$2:$R$20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22.3</c:v>
                </c:pt>
                <c:pt idx="17">
                  <c:v/>
                </c:pt>
                <c:pt idx="18">
                  <c:v/>
                </c:pt>
              </c:numCache>
            </c:numRef>
          </c:yVal>
          <c:smooth val="0"/>
        </c:ser>
        <c:ser>
          <c:idx val="17"/>
          <c:order val="17"/>
          <c:tx>
            <c:strRef>
              <c:f>Sheet1!$S$1</c:f>
              <c:strCache>
                <c:ptCount val="1"/>
                <c:pt idx="0">
                  <c:v>제38185회 어플라이드 머티어리얼즈·AMD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11.1</c:v>
                </c:pt>
                <c:pt idx="2">
                  <c:v>14</c:v>
                </c:pt>
                <c:pt idx="3">
                  <c:v>14.3</c:v>
                </c:pt>
                <c:pt idx="4">
                  <c:v>14.7</c:v>
                </c:pt>
                <c:pt idx="5">
                  <c:v>14.7</c:v>
                </c:pt>
                <c:pt idx="6">
                  <c:v>15</c:v>
                </c:pt>
                <c:pt idx="7">
                  <c:v>15.1</c:v>
                </c:pt>
                <c:pt idx="8">
                  <c:v>16.7</c:v>
                </c:pt>
                <c:pt idx="9">
                  <c:v>17.3</c:v>
                </c:pt>
                <c:pt idx="10">
                  <c:v>18.5</c:v>
                </c:pt>
                <c:pt idx="11">
                  <c:v>20</c:v>
                </c:pt>
                <c:pt idx="12">
                  <c:v>20.5</c:v>
                </c:pt>
                <c:pt idx="13">
                  <c:v>22.1</c:v>
                </c:pt>
                <c:pt idx="14">
                  <c:v>24.5</c:v>
                </c:pt>
                <c:pt idx="15">
                  <c:v>28.9</c:v>
                </c:pt>
                <c:pt idx="16">
                  <c:v>35.1</c:v>
                </c:pt>
                <c:pt idx="17">
                  <c:v>36.9</c:v>
                </c:pt>
                <c:pt idx="18">
                  <c:v>38.3</c:v>
                </c:pt>
              </c:numCache>
            </c:numRef>
          </c:xVal>
          <c:yVal>
            <c:numRef>
              <c:f>Sheet1!$S$2:$S$20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>18.7</c:v>
                </c:pt>
                <c:pt idx="18">
                  <c:v/>
                </c:pt>
              </c:numCache>
            </c:numRef>
          </c:yVal>
          <c:smooth val="0"/>
        </c:ser>
        <c:ser>
          <c:idx val="18"/>
          <c:order val="18"/>
          <c:tx>
            <c:strRef>
              <c:f>Sheet1!$T$1</c:f>
              <c:strCache>
                <c:ptCount val="1"/>
                <c:pt idx="0">
                  <c:v>제38187회 마이크론 테크놀로지·팔란티어 테크</c:v>
                </c:pt>
              </c:strCache>
            </c:strRef>
          </c:tx>
          <c:spPr>
            <a:solidFill>
              <a:srgbClr val="C62828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xVal>
            <c:numRef>
              <c:f>Sheet1!$A$2:$A$20</c:f>
              <c:numCache>
                <c:formatCode>General</c:formatCode>
                <c:ptCount val="19"/>
                <c:pt idx="0">
                  <c:v>10.3</c:v>
                </c:pt>
                <c:pt idx="1">
                  <c:v>11.1</c:v>
                </c:pt>
                <c:pt idx="2">
                  <c:v>14</c:v>
                </c:pt>
                <c:pt idx="3">
                  <c:v>14.3</c:v>
                </c:pt>
                <c:pt idx="4">
                  <c:v>14.7</c:v>
                </c:pt>
                <c:pt idx="5">
                  <c:v>14.7</c:v>
                </c:pt>
                <c:pt idx="6">
                  <c:v>15</c:v>
                </c:pt>
                <c:pt idx="7">
                  <c:v>15.1</c:v>
                </c:pt>
                <c:pt idx="8">
                  <c:v>16.7</c:v>
                </c:pt>
                <c:pt idx="9">
                  <c:v>17.3</c:v>
                </c:pt>
                <c:pt idx="10">
                  <c:v>18.5</c:v>
                </c:pt>
                <c:pt idx="11">
                  <c:v>20</c:v>
                </c:pt>
                <c:pt idx="12">
                  <c:v>20.5</c:v>
                </c:pt>
                <c:pt idx="13">
                  <c:v>22.1</c:v>
                </c:pt>
                <c:pt idx="14">
                  <c:v>24.5</c:v>
                </c:pt>
                <c:pt idx="15">
                  <c:v>28.9</c:v>
                </c:pt>
                <c:pt idx="16">
                  <c:v>35.1</c:v>
                </c:pt>
                <c:pt idx="17">
                  <c:v>36.9</c:v>
                </c:pt>
                <c:pt idx="18">
                  <c:v>38.3</c:v>
                </c:pt>
              </c:numCache>
            </c:numRef>
          </c:xVal>
          <c:yVal>
            <c:numRef>
              <c:f>Sheet1!$T$2:$T$20</c:f>
              <c:numCache>
                <c:formatCode>General</c:formatCode>
                <c:ptCount val="1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>21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4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손실 확률 B (%) — 오른쪽일수록 위험하다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10"/>
      </c:valAx>
      <c:valAx>
        <c:axId val="2094734552"/>
        <c:scaling>
          <c:orientation val="minMax"/>
          <c:max val="25"/>
          <c:min val="5"/>
        </c:scaling>
        <c:delete val="0"/>
        <c:axPos val="l"/>
        <c:majorGridlines>
          <c:spPr>
            <a:ln w="6350" cap="flat">
              <a:solidFill>
                <a:srgbClr val="E5E4E1"/>
              </a:solidFill>
              <a:prstDash val="dash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000000"/>
                    </a:solidFill>
                    <a:latin typeface="맑은 고딕"/>
                  </a:defRPr>
                </a:pPr>
                <a:r>
                  <a:rPr sz="900" b="0" i="0" u="none" strike="noStrike">
                    <a:solidFill>
                      <a:srgbClr val="000000"/>
                    </a:solidFill>
                    <a:latin typeface="맑은 고딕"/>
                  </a:rPr>
                  <a:t>연 수익률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midCat"/>
        <c:majorUnit val="5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8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5836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MIRAE ASSET · ELS 세일즈 제안서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제38170~38188회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19종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257860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공모 청약 2026.10.02~2026.10.14 · 일괄신고추가서류 2026.10.01 공시 원문 기준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3054096"/>
            <a:ext cx="6858000" cy="2889504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282696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1순위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93392" y="3236976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제38170회 EuroStoxx50·KOSPI200·Nikkei225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993392" y="354787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9.6% · 손실 확률 10.3%로 19종 중 가장 낮습니다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4215384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 수익률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93392" y="4169664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제38184회 삼성전자·SK하이닉스 (온라인 전용)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993392" y="448056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23.0% (원화) · 손실 확률 24.5%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5148072"/>
            <a:ext cx="1060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93392" y="5102352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제38187·38185·38188·38186회 — 4종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993392" y="541324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공정가격 미달 4종 (7,483~8,607원) · 검증 표본 부족 2종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790688" y="969264"/>
            <a:ext cx="3840480" cy="4974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65008" y="11887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청약 일정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65008" y="1517904"/>
            <a:ext cx="329184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65008" y="17007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청약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065008" y="190195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2026.10.02 ~ 2026.10.08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65008" y="21945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숙려제도 대상 — 실제 마감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065008" y="252374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청약기간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065008" y="2724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2026.10.02 ~ 2026.10.14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065008" y="30175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 대상이 아닌 경우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065008" y="334670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숙려기간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065008" y="35478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2026.10.12 ~ 2026.10.13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065008" y="38404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기간에는 청약 불가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65008" y="41696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가입의사 확인기간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065008" y="43708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2026.10.14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065008" y="46634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없으면 청약 취소·환불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065008" y="499262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발행일 / 만기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065008" y="51937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2026.10.15 / 2029.10.15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66928" y="6144768"/>
            <a:ext cx="11057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 원금비보장 · 위험등급 1등급(매우높은위험) · 예금자보호 대상 아님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19종 — 손실 확률로 줄 세우면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A는 발행사가 실제 과거 시세 20년으로 돌린 결과, B는 같은 조건을 공시 변동성·상관계수로 10만 번 다시 돌린 결과(± 는 95% 신뢰구간). 등급은 B 하나로만 가릅니다 — 15% 이하 방어적 / 15~25% 중간 / 25% 초과 공격적.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261872"/>
          <a:ext cx="11057839" cy="914400"/>
        </p:xfrm>
        <a:graphic>
          <a:graphicData uri="http://schemas.openxmlformats.org/drawingml/2006/table">
            <a:tbl>
              <a:tblPr/>
              <a:tblGrid>
                <a:gridCol w="603504"/>
                <a:gridCol w="2441448"/>
                <a:gridCol w="658368"/>
                <a:gridCol w="640080"/>
                <a:gridCol w="1280160"/>
                <a:gridCol w="457200"/>
                <a:gridCol w="1051560"/>
                <a:gridCol w="603504"/>
                <a:gridCol w="731520"/>
                <a:gridCol w="731520"/>
                <a:gridCol w="996696"/>
                <a:gridCol w="862279"/>
              </a:tblGrid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회차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기초자산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수익률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조기상환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배리어 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낙인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(%)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시뮬레이션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손실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등급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1차에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끝날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B. 만기까지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갈 확률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A. 설명서상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백테스트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액면 1만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출발 가치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072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38170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10.3% ±0.20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9,873원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38181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EuroStoxx50·KOSPI200·Nikkei225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85-80-75-70-65-60 (L2·60)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11.1% ±0.25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0.08%·20.7년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9,646원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38173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90×3-85-80-70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14.0% ±0.16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61.7%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9,720원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38183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14.3%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66.3%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9,586원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38171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80×3-75-70-60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 ±0.17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68.2%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9,613원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38177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90-85×2-80-75-70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14.7%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1.88%·20.7년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9,733원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38172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15.0%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방어적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1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54.3%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0.51%·20.7년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9,735원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38182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S&amp;P500·KOSPI200·Nikkei225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80×3-75-70-60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15.1% ±0.20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 △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67.6%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0.91%·20.7년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9,625원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38179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80×4-75-70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16.7% ±0.25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64.0%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0.97%·20.7년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9,625원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38175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S&amp;P500·HSCEI·KOSPI200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17.3%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9,743원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38178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18.5% ±0.23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9,648원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38174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EuroStoxx50·S&amp;P500·KOSPI200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11.4%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90-85-80-75-70-65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20.0% ±0.25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9,713원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38176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KOSPI200·HSCEI·Nikkei225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20.5% ±0.17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52.8%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4.16%·20.7년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9,487원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38180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22.1%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1.35%·20.7년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9,442원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B6015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38184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삼성전자·SK하이닉스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85×3-80-75-70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24.5%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2D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1.29%·20.7년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9,544원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C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38186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테슬라·팔란티어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3M · 12회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85×9-80-75-70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28.9% ±0.24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46.2%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3.34%·3.0년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8,607원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38188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테크놀로지·AMD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22.3%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3M · 12회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85×9-80-75-70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35.1% ±0.21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42.5%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35.6%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8.84%·20.7년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7,704원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38185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어플라이드 머티어리얼즈·AMD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6M · 6회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75×4-70×2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36.9% ±0.19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46.9%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38.1%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8.70%·20.7년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7,782원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38187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마이크론 테크놀로지·팔란티어 테크  </a:t>
                      </a:r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043B7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온라인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A1A1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3M · 12회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80×8-75×2-70-65</a:t>
                      </a:r>
                      <a:endParaRPr lang="en-US" sz="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38.3% ±0.22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공격적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7E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E85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41.7%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3D3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39.0%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8A6A0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1.47%·3.0년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7,483원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3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6053328"/>
            <a:ext cx="11057839" cy="47548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3232" y="6053328"/>
            <a:ext cx="1076523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읽는 법 —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주황 줄이 추천 3종, 붉은 줄이 권하지 않는 4종.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‘출발 가치’는 발행사가 공시한 공정가격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으로, 액면 1만 단위를 넣는 순간의 이론 값어치입니다 — 제38187·38185·38188·38186회만 8,607원 이하로 크게 깎였습니다.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표시는 영업점 창구 청약이 안 되는 상품입니다.  </a:t>
            </a:r>
            <a:pPr indent="0" marL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4종은 손실 확률이 등급 경계에 걸쳐 있어 등급 라벨을 단정할 수 없습니다.  </a:t>
            </a:r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 열은 검증기간이 짧으면 기울임.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제38170회로 보는 ELS 작동 방식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EuroStoxx50·KOSPI200·Nikkei225 · 조건 충족 시 연 9.6% · 6개월마다 6번 판정합니다. 배리어·판정일·받는 돈은 공시 원문 그대로이고, 확률은 같은 조건으로 돌린 시뮬레이션(B)입니다.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438885" y="1426464"/>
            <a:ext cx="9313926" cy="12802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487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2027.04.12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836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65836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836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65836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10,480원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5836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56.3%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593592"/>
            <a:ext cx="1561033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3766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29713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29713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521153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21153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2027.10.12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21153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21153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521153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2521153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2521153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10,960원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521153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521153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8.0%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521153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21153" y="3593592"/>
            <a:ext cx="221967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0044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92498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92498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83938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3차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383938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2028.04.10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383938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83938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383938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4383938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4383938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11,440원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383938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4383938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3.5%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4383938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383938" y="3593592"/>
            <a:ext cx="96769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963232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15528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155284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4672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4차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624672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2028.10.10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24672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4672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24672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80%</a:t>
            </a:r>
            <a:endParaRPr lang="en-US" sz="2100" dirty="0"/>
          </a:p>
        </p:txBody>
      </p:sp>
      <p:sp>
        <p:nvSpPr>
          <p:cNvPr id="56" name="Text 54"/>
          <p:cNvSpPr/>
          <p:nvPr/>
        </p:nvSpPr>
        <p:spPr>
          <a:xfrm>
            <a:off x="624672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57" name="Text 55"/>
          <p:cNvSpPr/>
          <p:nvPr/>
        </p:nvSpPr>
        <p:spPr>
          <a:xfrm>
            <a:off x="624672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11,920원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24672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24672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3.5%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24672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46724" y="3593592"/>
            <a:ext cx="98433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017" y="1375258"/>
            <a:ext cx="128016" cy="128016"/>
          </a:xfrm>
          <a:prstGeom prst="ellipse">
            <a:avLst/>
          </a:prstGeom>
          <a:solidFill>
            <a:srgbClr val="F5822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018069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018069" y="1664208"/>
            <a:ext cx="1743913" cy="45720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109509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58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5차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8109509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2029.04.10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8109509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109509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8109509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75%</a:t>
            </a:r>
            <a:endParaRPr lang="en-US" sz="2100" dirty="0"/>
          </a:p>
        </p:txBody>
      </p:sp>
      <p:sp>
        <p:nvSpPr>
          <p:cNvPr id="70" name="Text 68"/>
          <p:cNvSpPr/>
          <p:nvPr/>
        </p:nvSpPr>
        <p:spPr>
          <a:xfrm>
            <a:off x="8109509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8109509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12,400원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8109509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8109509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2.9%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8109509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109509" y="3593592"/>
            <a:ext cx="80738" cy="91440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688803" y="1375258"/>
            <a:ext cx="128016" cy="128016"/>
          </a:xfrm>
          <a:prstGeom prst="ellipse">
            <a:avLst/>
          </a:prstGeom>
          <a:solidFill>
            <a:srgbClr val="043B7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80854" y="1664208"/>
            <a:ext cx="1743913" cy="2121408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80854" y="1664208"/>
            <a:ext cx="1743913" cy="45720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72294" y="1746504"/>
            <a:ext cx="156103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9972294" y="1947672"/>
            <a:ext cx="1561033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2029.10.15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9972294" y="2167128"/>
            <a:ext cx="1561033" cy="7315"/>
          </a:xfrm>
          <a:prstGeom prst="rect">
            <a:avLst/>
          </a:prstGeom>
          <a:solidFill>
            <a:srgbClr val="E5E4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972294" y="2212848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기준가 대비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9972294" y="2350008"/>
            <a:ext cx="156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</a:t>
            </a:r>
            <a:endParaRPr lang="en-US" sz="2100" dirty="0"/>
          </a:p>
        </p:txBody>
      </p:sp>
      <p:sp>
        <p:nvSpPr>
          <p:cNvPr id="84" name="Text 82"/>
          <p:cNvSpPr/>
          <p:nvPr/>
        </p:nvSpPr>
        <p:spPr>
          <a:xfrm>
            <a:off x="9972294" y="2734056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 (액면 1만원)</a:t>
            </a:r>
            <a:endParaRPr lang="en-US" sz="650" dirty="0"/>
          </a:p>
        </p:txBody>
      </p:sp>
      <p:sp>
        <p:nvSpPr>
          <p:cNvPr id="85" name="Text 83"/>
          <p:cNvSpPr/>
          <p:nvPr/>
        </p:nvSpPr>
        <p:spPr>
          <a:xfrm>
            <a:off x="9972294" y="2871216"/>
            <a:ext cx="15610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12,880원</a:t>
            </a:r>
            <a:endParaRPr lang="en-US" sz="1200" dirty="0"/>
          </a:p>
        </p:txBody>
      </p:sp>
      <p:sp>
        <p:nvSpPr>
          <p:cNvPr id="86" name="Text 84"/>
          <p:cNvSpPr/>
          <p:nvPr/>
        </p:nvSpPr>
        <p:spPr>
          <a:xfrm>
            <a:off x="9972294" y="3163824"/>
            <a:ext cx="156103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끝날 확률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9972294" y="3300984"/>
            <a:ext cx="15610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25.8%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9972294" y="3593592"/>
            <a:ext cx="1561033" cy="91440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972294" y="3593592"/>
            <a:ext cx="714603" cy="91440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66928" y="405993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끝나는 방식은 셋뿐입니다</a:t>
            </a:r>
            <a:endParaRPr lang="en-US" sz="1150" dirty="0"/>
          </a:p>
        </p:txBody>
      </p:sp>
      <p:sp>
        <p:nvSpPr>
          <p:cNvPr id="91" name="Shape 89"/>
          <p:cNvSpPr/>
          <p:nvPr/>
        </p:nvSpPr>
        <p:spPr>
          <a:xfrm>
            <a:off x="566928" y="4315968"/>
            <a:ext cx="8208787" cy="310896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8775715" y="4315968"/>
            <a:ext cx="1709984" cy="310896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0485699" y="4315968"/>
            <a:ext cx="1139068" cy="31089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66928" y="4718304"/>
            <a:ext cx="109728" cy="10972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749808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(1~5차) </a:t>
            </a:r>
            <a:pPr indent="0" marL="0">
              <a:buNone/>
            </a:pPr>
            <a:r>
              <a:rPr lang="en-US" sz="9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74.2%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749808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약정 수익을 받고 만기 전에 끝납니다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4252874" y="4718304"/>
            <a:ext cx="109728" cy="1097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435754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정상상환 </a:t>
            </a:r>
            <a:pPr indent="0" marL="0">
              <a:buNone/>
            </a:pPr>
            <a:r>
              <a:rPr lang="en-US" sz="95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15.5%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4435754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만기까지 갔지만 조건을 지켜 약정 수익을 받습니다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7938821" y="4718304"/>
            <a:ext cx="109728" cy="10972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121701" y="4681728"/>
            <a:ext cx="34116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손실 </a:t>
            </a:r>
            <a:pPr indent="0" marL="0">
              <a:buNone/>
            </a:pPr>
            <a:r>
              <a:rPr lang="en-US" sz="9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10.3%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8121701" y="4873752"/>
            <a:ext cx="341162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떨어진 만큼 잃습니다 (나면 평균 66.5%)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566928" y="5157216"/>
            <a:ext cx="11057839" cy="950976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66928" y="5157216"/>
            <a:ext cx="45720" cy="950976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768096" y="525780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이 두 가지가 동시에 맞을 때만 납니다</a:t>
            </a:r>
            <a:endParaRPr lang="en-US" sz="1150" dirty="0"/>
          </a:p>
        </p:txBody>
      </p:sp>
      <p:sp>
        <p:nvSpPr>
          <p:cNvPr id="106" name="Text 104"/>
          <p:cNvSpPr/>
          <p:nvPr/>
        </p:nvSpPr>
        <p:spPr>
          <a:xfrm>
            <a:off x="768096" y="5495544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만기까지 한 번이라도 기준가보다 65% 넘게 떨어진 적이 있고(기준가의 35% 선), ② 만기에도 30% 넘게 떨어져 있어야 합니다. 둘 중 하나라도 아니면 약정 수익을 받습니다.</a:t>
            </a:r>
            <a:endParaRPr lang="en-US" sz="950" dirty="0"/>
          </a:p>
        </p:txBody>
      </p:sp>
      <p:sp>
        <p:nvSpPr>
          <p:cNvPr id="107" name="Text 105"/>
          <p:cNvSpPr/>
          <p:nvPr/>
        </p:nvSpPr>
        <p:spPr>
          <a:xfrm>
            <a:off x="8668512" y="528523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8668512" y="546811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10.3%</a:t>
            </a:r>
            <a:endParaRPr lang="en-US" sz="2400" dirty="0"/>
          </a:p>
        </p:txBody>
      </p:sp>
      <p:sp>
        <p:nvSpPr>
          <p:cNvPr id="109" name="Text 107"/>
          <p:cNvSpPr/>
          <p:nvPr/>
        </p:nvSpPr>
        <p:spPr>
          <a:xfrm>
            <a:off x="10131552" y="528523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손실이 나면 평균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0131552" y="5468112"/>
            <a:ext cx="1463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66.5%</a:t>
            </a:r>
            <a:endParaRPr lang="en-US" sz="2400" dirty="0"/>
          </a:p>
        </p:txBody>
      </p:sp>
      <p:sp>
        <p:nvSpPr>
          <p:cNvPr id="111" name="Text 109"/>
          <p:cNvSpPr/>
          <p:nvPr/>
        </p:nvSpPr>
        <p:spPr>
          <a:xfrm>
            <a:off x="566928" y="6199632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돈은 «액면 × (1 + 연 9.6% × 경과월/12)» 로 정해집니다 — 늦게 끝날수록 받는 금액은 커지지만, 그만큼 돈이 묶입니다. 위 금액은 공시 상환금액표를 그대로 옮긴 값입니다.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성향별 추천 3종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상품 모두 발행사 공시 공정가격이 액면 1만 단위에 가깝습니다 — 제값을 주고 사는 상품이라는 뜻입니다.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3576218" cy="50292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원금을 지키는 게 먼저인 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6809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제38170회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6809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EuroStoxx50 · KOSPI200 · Nikkei225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809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9.6%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355037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355037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10.3%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76809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68096" y="3657600"/>
            <a:ext cx="1786356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4452" y="3657600"/>
            <a:ext cx="569775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24228" y="3657600"/>
            <a:ext cx="817751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809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56.3%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18.0%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25.8%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6809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56.3 · 2차 8.0 · 3차 3.5 · 4차 3.5 · 5차 2.9 · 6차 25.8  (%)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6809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08483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28.8%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6809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08483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85%부터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6809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08483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6809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08483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0.00% · 1차 88.0%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809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08483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9,873원 (-1.27%)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6809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08483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0.93%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307738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07738" y="1261872"/>
            <a:ext cx="3576218" cy="5029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08906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수익과 안정을 반반 보는 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08906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제38179회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4508906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KOSPI200 · SK하이닉스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08906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55210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655210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16.4%</a:t>
            </a:r>
            <a:endParaRPr lang="en-US" sz="2600" dirty="0"/>
          </a:p>
        </p:txBody>
      </p:sp>
      <p:sp>
        <p:nvSpPr>
          <p:cNvPr id="41" name="Text 39"/>
          <p:cNvSpPr/>
          <p:nvPr/>
        </p:nvSpPr>
        <p:spPr>
          <a:xfrm>
            <a:off x="609584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09584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16.7%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4508906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08906" y="3657600"/>
            <a:ext cx="2030777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539683" y="3657600"/>
            <a:ext cx="481414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021098" y="3657600"/>
            <a:ext cx="661691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08906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64.0%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15.2%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20.8%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508906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64.0 · 2차 7.8 · 3차 3.5 · 4차 2.1 · 5차 1.8 · 6차 20.8  (%)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4508906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25642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49.2%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08906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825642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80%부터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508906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825642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70% 하락 경험 + 만기 30% 초과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508906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825642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0.97% · 1차 85.9%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508906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825642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9,625원 (-3.75%)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508906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825642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0.98%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8048549" y="1261872"/>
            <a:ext cx="35762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DCEC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48549" y="1261872"/>
            <a:ext cx="3576218" cy="5029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249717" y="1463040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수익률을 먼저 보는 분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8249717" y="1719072"/>
            <a:ext cx="317388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제38184회</a:t>
            </a:r>
            <a:endParaRPr lang="en-US" sz="2400" dirty="0"/>
          </a:p>
        </p:txBody>
      </p:sp>
      <p:sp>
        <p:nvSpPr>
          <p:cNvPr id="65" name="Text 63"/>
          <p:cNvSpPr/>
          <p:nvPr/>
        </p:nvSpPr>
        <p:spPr>
          <a:xfrm>
            <a:off x="8249717" y="2121408"/>
            <a:ext cx="31738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삼성전자 · SK하이닉스 (온라인 전용)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8249717" y="2578608"/>
            <a:ext cx="3173882" cy="822960"/>
          </a:xfrm>
          <a:prstGeom prst="rect">
            <a:avLst/>
          </a:prstGeom>
          <a:solidFill>
            <a:srgbClr val="F7F8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96021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충족 시 연 수익률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8396021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23.0%</a:t>
            </a:r>
            <a:endParaRPr lang="en-US" sz="2600" dirty="0"/>
          </a:p>
        </p:txBody>
      </p:sp>
      <p:sp>
        <p:nvSpPr>
          <p:cNvPr id="69" name="Text 67"/>
          <p:cNvSpPr/>
          <p:nvPr/>
        </p:nvSpPr>
        <p:spPr>
          <a:xfrm>
            <a:off x="9836658" y="2670048"/>
            <a:ext cx="14406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9836658" y="2852928"/>
            <a:ext cx="14406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A6A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24.5%</a:t>
            </a:r>
            <a:endParaRPr lang="en-US" sz="2600" dirty="0"/>
          </a:p>
        </p:txBody>
      </p:sp>
      <p:sp>
        <p:nvSpPr>
          <p:cNvPr id="71" name="Text 69"/>
          <p:cNvSpPr/>
          <p:nvPr/>
        </p:nvSpPr>
        <p:spPr>
          <a:xfrm>
            <a:off x="8249717" y="3456432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 확률 (시뮬레이션)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8249717" y="3657600"/>
            <a:ext cx="1677968" cy="155448"/>
          </a:xfrm>
          <a:prstGeom prst="rect">
            <a:avLst/>
          </a:prstGeom>
          <a:solidFill>
            <a:srgbClr val="2E85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927685" y="3657600"/>
            <a:ext cx="590056" cy="155448"/>
          </a:xfrm>
          <a:prstGeom prst="rect">
            <a:avLst/>
          </a:prstGeom>
          <a:solidFill>
            <a:srgbClr val="FAB0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517741" y="3657600"/>
            <a:ext cx="905858" cy="155448"/>
          </a:xfrm>
          <a:prstGeom prst="rect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49717" y="3831336"/>
            <a:ext cx="31738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85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52.9%</a:t>
            </a:r>
            <a:pPr indent="0" marL="0">
              <a:buNone/>
            </a:pPr>
            <a:r>
              <a:rPr lang="en-US" sz="850" dirty="0">
                <a:solidFill>
                  <a:srgbClr val="CB601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2~5차 18.6%</a:t>
            </a:r>
            <a:pPr indent="0" marL="0">
              <a:buNone/>
            </a:pPr>
            <a:r>
              <a:rPr lang="en-US" sz="8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만기 28.5%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8249717" y="4014216"/>
            <a:ext cx="317388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52.9 · 2차 8.8 · 3차 4.2 · 4차 3.2 · 5차 2.5 · 6차 28.5  (%)</a:t>
            </a:r>
            <a:endParaRPr lang="en-US" sz="750" dirty="0"/>
          </a:p>
        </p:txBody>
      </p:sp>
      <p:sp>
        <p:nvSpPr>
          <p:cNvPr id="77" name="Text 75"/>
          <p:cNvSpPr/>
          <p:nvPr/>
        </p:nvSpPr>
        <p:spPr>
          <a:xfrm>
            <a:off x="8249717" y="43342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총 수익률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9566453" y="43342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69.0%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249717" y="458571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조기상환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9566453" y="458571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6개월마다 6회 · 배리어 85%부터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8249717" y="483717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9566453" y="483717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65% 하락 경험 + 만기 30% 초과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249717" y="508863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설명서 백테스트 (A)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9566453" y="508863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20.7년 · 손실 1.29% · 1차 78.0%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8249717" y="534009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액면 1만 단위 출발 가치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9566453" y="534009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9,544원 (-4.56%)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8249717" y="5591556"/>
            <a:ext cx="1298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9566453" y="5591556"/>
            <a:ext cx="18571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0.94%</a:t>
            </a:r>
            <a:endParaRPr lang="en-US" sz="800" dirty="0"/>
          </a:p>
        </p:txBody>
      </p:sp>
      <p:sp>
        <p:nvSpPr>
          <p:cNvPr id="89" name="Shape 87"/>
          <p:cNvSpPr/>
          <p:nvPr/>
        </p:nvSpPr>
        <p:spPr>
          <a:xfrm>
            <a:off x="566928" y="5943600"/>
            <a:ext cx="11057839" cy="420624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3232" y="5943600"/>
            <a:ext cx="1076523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 — </a:t>
            </a:r>
            <a:pPr indent="0" marL="0"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제38170회는 연 9.6%를 받으면서 손실 확률이 10.3%로 지수형 평균(15.3%)보다도 낮습니다. 6개월마다 6번 상환 기회가 있고 배리어가 85%에서 시작하는 구조 덕입니다.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수익률이 높다고 그만큼 위험한 것은 아닙니다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 19종을 손실 확률(B)과 연 수익률로 흩어 놓았습니다. 왼쪽 위가 적은 위험에 많이 받는 자리, 오른쪽 아래가 위험만 큰 자리입니다. 점 위에 마우스를 올리면 회차와 기초자산이 뜹니다.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261872"/>
          <a:ext cx="6629400" cy="38770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024128" y="5230368"/>
            <a:ext cx="100584" cy="100584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7957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3종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2761488" y="5230368"/>
            <a:ext cx="100584" cy="100584"/>
          </a:xfrm>
          <a:prstGeom prst="ellipse">
            <a:avLst/>
          </a:prstGeom>
          <a:solidFill>
            <a:srgbClr val="9AA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91693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외 12종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498848" y="5230368"/>
            <a:ext cx="100584" cy="100584"/>
          </a:xfrm>
          <a:prstGeom prst="ellipse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54296" y="51572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권하지 않는 4종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424928" y="1261872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424928" y="1261872"/>
            <a:ext cx="45720" cy="1243584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07808" y="1353312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붙어 있기는 합니다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607808" y="1609344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쿠폰은 결국 고객이 파는 풋옵션의 값이라 위험과 구조적으로 묶여 있습니다. 순위상관 0.84 (19종, p&lt;0.001)— 수익률이 높은 쪽이 대체로 손실 확률도 높습니다.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424928" y="2651760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424928" y="2651760"/>
            <a:ext cx="45720" cy="1243584"/>
          </a:xfrm>
          <a:prstGeom prst="rect">
            <a:avLst/>
          </a:prstGeom>
          <a:solidFill>
            <a:srgbClr val="CB601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07808" y="2743200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그런데 171쌍 중 27쌍이 뒤집힙니다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607808" y="2999232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상품씩 모든 짝을 지어 보면 81.3%만 "쿠폰 높은 쪽이 더 위험" 했습니다. 나머지 27쌍은 더 받으면서 덜 위험하거나, 덜 받으면서 더 위험했습니다.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424928" y="4041648"/>
            <a:ext cx="4199839" cy="1243584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24928" y="4041648"/>
            <a:ext cx="45720" cy="124358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07808" y="4133088"/>
            <a:ext cx="3834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위험당 대가가 1.9배 벌어집니다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607808" y="4389120"/>
            <a:ext cx="3834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1%당 받는 연 수익률이 제38179회는 0.98%, 제38185회는 0.51%입니다. 같은 위험을 지고도 받는 대가가 이만큼 다릅니다.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66928" y="5504688"/>
            <a:ext cx="11057839" cy="896112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49808" y="5504688"/>
            <a:ext cx="1069207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고르는 자리가 생깁니다  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같은 위험을 지고 가장 많이 받는 쪽은 제38179회(연 16.4% · 손실 확률 16.7%)이고, 가장 적게 받는 쪽은 제38185회(연 18.7% · 36.9%)입니다. 수익률 순서로 고르면 이 차이가 보이지 않습니다.</a:t>
            </a:r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9FB6C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※ 제38179회로 상관계수를 공시값 0.94에서 0.5까지 낮춰 봐도 손실 확률은 16.7%→20.3%에 머뭅니다 — 결론이 상관계수 한 값에 얹혀 있지 않습니다.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회차에서 권하지 않는 4종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18.7~22.3%라는 수익률만 보면 눈에 띄는 상품들입니다. 상품마다 걸린 사유가 달라 오른쪽에 나눠 적었습니다.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13441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제38187회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1371600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팔란티어 테크 (온라인 전용)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97096" y="138074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797296" y="1335024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21.0%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86384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86384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7,483원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359152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59152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38.3%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931920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931920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94.3%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504688" y="1645920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504688" y="1810512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0.55%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2180844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180844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226314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제38185회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2011680" y="229057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어플라이드 머티어리얼즈 · AMD (온라인 전용)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97096" y="229971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797296" y="225399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18.7%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86384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7,782원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359152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359152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36.9%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931920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931920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82.5%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504688" y="2564892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04688" y="2729484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0.51%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66928" y="3099816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3099816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6384" y="318211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제38188회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2011680" y="3209544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마이크론 테크놀로지 · AMD (온라인 전용)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197096" y="321868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97296" y="3172968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22.3%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86384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86384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7,704원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2359152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359152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35.1%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931920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931920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94.3%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504688" y="3483864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504688" y="3648456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0.64%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66928" y="4018788"/>
            <a:ext cx="6583680" cy="772668"/>
          </a:xfrm>
          <a:prstGeom prst="rect">
            <a:avLst/>
          </a:prstGeom>
          <a:solidFill>
            <a:srgbClr val="FDF3F3"/>
          </a:solidFill>
          <a:ln w="12700">
            <a:solidFill>
              <a:srgbClr val="F0C9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6928" y="4018788"/>
            <a:ext cx="45720" cy="772668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86384" y="410108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제38186회</a:t>
            </a:r>
            <a:endParaRPr lang="en-US" sz="1450" dirty="0"/>
          </a:p>
        </p:txBody>
      </p:sp>
      <p:sp>
        <p:nvSpPr>
          <p:cNvPr id="50" name="Text 48"/>
          <p:cNvSpPr/>
          <p:nvPr/>
        </p:nvSpPr>
        <p:spPr>
          <a:xfrm>
            <a:off x="2011680" y="4128516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테슬라 · 팔란티어 테크 (온라인 전용)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197096" y="413766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사유 </a:t>
            </a:r>
            <a:pPr algn="r" indent="0" marL="0">
              <a:buNone/>
            </a:pPr>
            <a:r>
              <a:rPr lang="en-US" sz="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가격 · 확률 · 표본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797296" y="4091940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20.2%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786384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출발 가치 (액면 1만)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786384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8,607원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2359152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(B)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2359152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28.9%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3931920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적용 변동성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3931920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66.9%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5504688" y="4402836"/>
            <a:ext cx="1517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1%당 연 수익률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504688" y="45674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0.70%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7370064" y="1261872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넣는 순간 25%까지 깎입니다 — 제38187회·제38185회·제38188회·제38186회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7370064" y="1536192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발행사가 공시한 공정가격이 7,483~8,607원입니다. 액면 1만원을 내고 사는 시점의 이론 값어치가 그것뿐이라는 뜻입니다. 나머지 원화 15종은 9,442원 이상입니다.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7370064" y="2487168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손실 확률이 2.1배입니다 — 제38187회·제38185회·제38188회·제38186회</a:t>
            </a:r>
            <a:endParaRPr lang="en-US" sz="1150" dirty="0"/>
          </a:p>
        </p:txBody>
      </p:sp>
      <p:sp>
        <p:nvSpPr>
          <p:cNvPr id="64" name="Text 62"/>
          <p:cNvSpPr/>
          <p:nvPr/>
        </p:nvSpPr>
        <p:spPr>
          <a:xfrm>
            <a:off x="7370064" y="2761488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28.9~38.3%. 나머지 15종 평균은 16.6%입니다. 손실이 나면 평균 83.9%를 잃습니다.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7370064" y="3712464"/>
            <a:ext cx="42547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검증 표본이 3.0년뿐입니다 — 제38187회·제38186회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7370064" y="3986784"/>
            <a:ext cx="4254703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기초자산 상장이 늦어 발행사 백테스트가 3.0년치입니다. 20년을 돌린 다른 상품과 A 열을 나란히 놓고 비교할 수 없습니다.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566928" y="5065776"/>
            <a:ext cx="11057839" cy="566928"/>
          </a:xfrm>
          <a:prstGeom prst="rect">
            <a:avLst/>
          </a:prstGeom>
          <a:solidFill>
            <a:srgbClr val="043B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9808" y="5065776"/>
            <a:ext cx="106920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상담에서 이렇게 말씀하세요 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9E3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“수익률만 보면 이게 높아 보이는데, 발행사가 공시한 이 상품의 값어치가 1만원이 아니라 7,483원입니다. 권해 드릴 수 있는 것 중 가장 높은 제38184회는 연 23.0%에 손실 확률이 24.5%입니다 — 오히려 연 2.0%p 더 받으시는데 위험은 1.6배 차이입니다.”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반응별 대응 스크립트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답변의 숫자는 발행사 공시 원문과 이번 회차 시뮬레이션에서 나온 값입니다. 확률을 낮게 말하지 말고, 크기를 함께 말씀하세요.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“원금을 다 날릴 수도 있다면서요.”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손실은 두 가지가 동시에 맞아야 납니다. 제38170회는 3년 안에 한 번이라도 65% 떨어진 적이 있고, 만기에도 30% 넘게 떨어져 있어야 손실입니다. 발행사가 실제 과거 시세 20년으로 4,795번 돌린 결과 손실은 0.00%였고, 같은 조건을 저희가 10만 번 다시 돌리니 10.3%였습니다. 다만 그 10.3%가 현실이 되면 평균 66.5%를 잃습니다. 확률은 낮고 크기는 큽니다.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05576" y="1261872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05576" y="1261872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70168" y="1261872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“홍콩 ELS로 크게 물린 분들 많잖아요.”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70168" y="1719072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맞습니다. 그때 문제의 핵심은 낙인이 높았다는 것이었습니다. 이번 회차에서 HSCEI가 들어간 건 제38175·38176회 2종뿐이고, 낙인은 40%·45%입니다. 제38175회 기준 발행일에 잡히는 기준가에서 60%를 더 내려가야 손실 구간에 들어갑니다. 상품을 고르실 때 수익률이 아니라 이 낙인 숫자를 먼저 보시면 됩니다.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66928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“예금이 안전한데 굳이 왜요.”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자리에 놓고 비교하실 상품이 아닙니다. 예금은 원금이 보장되고 이건 아닙니다. 대신 제38170회는 조건이 맞으면 연 9.6%, 3년 28.8%입니다. 예금을 대체하는 돈이 아니라, 예금에 넣지 않기로 한 돈의 일부로만 접근하셔야 합니다.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05576" y="2962656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05576" y="2962656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70168" y="2962656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“3년이나 묶이는 거 아닌가요.”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70168" y="3419856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3년은 최장 기간이고 대부분 훨씬 일찍 끝납니다. 제38170회는 6개월마다 6번 상환 기회가 있고, 첫 회에 끝난 경우가 백테스트 88.0%였습니다. 중도상환도 가능합니다만 그때는 원금 손실이 날 수 있어서, 3년 쓸 일 없는 돈으로만 하셔야 합니다.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“지금이 고점 아닌가요.”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고점인지 아닌지는 저도 모릅니다. 다만 이 상품은 오르면 버는 구조가 아니라 크게 안 떨어지면 버는 구조입니다. 제38170회는 85% 배리어라 기초자산이 15% 떨어져도 첫 회에 상환됩니다. 그래도 부담스러우시면 손실 확률이 그다음으로 낮은 제38181회(11.1%, 연 9.0%)를 보시죠.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205576" y="4663440"/>
            <a:ext cx="5419192" cy="1572768"/>
          </a:xfrm>
          <a:prstGeom prst="rect">
            <a:avLst/>
          </a:prstGeom>
          <a:solidFill>
            <a:srgbClr val="F7F8FA"/>
          </a:solidFill>
          <a:ln w="9525">
            <a:solidFill>
              <a:srgbClr val="CDCEC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05576" y="4663440"/>
            <a:ext cx="5419192" cy="3840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70168" y="4663440"/>
            <a:ext cx="50900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43B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“그냥 수익률 제일 높은 걸로 주세요.”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70168" y="5120640"/>
            <a:ext cx="5090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이번엔 그 말씀이 맞습니다. 제일 높은 건 연 23.0%인 제38184회인데, 손실 확률이 24.5%로 권해 드릴 수 있는 축입니다. 다만 수익률 순서를 그대로 따라가시면 안 됩니다 — 연 21.0%인 제38187회는 손실 확률이 38.3%로, 23.0%짜리보다 2.0%p 덜 주면서 위험은 1.6배입니다. 수익률과 위험은 비례하지 않습니다.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1057839" cy="12802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57200"/>
            <a:ext cx="110578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진행 순서와 반드시 말해야 할 것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66928" y="86868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6C6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고난도금융투자상품 · 숙려제도 대상 · 녹취 의무 상품입니다. 아래 여섯 가지를 빠뜨리면 나중에 불완전판매가 됩니다.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12618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순서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5852160" cy="10973"/>
          </a:xfrm>
          <a:prstGeom prst="rect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7556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755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24128" y="17373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 없는 돈인지 먼저 확인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24128" y="20116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안에 쓸 계획이 있는 돈이면 여기서 멈춥니다. 중도상환은 원금 손실이 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6700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24128" y="26517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조건을 숫자로 설명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24128" y="29260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“3년 안에 한 번이라도 65% 떨어지고, 만기에도 30% 넘게 떨어져 있어야 손실입니다” — 배리어와 낙인을 %가 아니라 “얼마나 떨어져야 하는지”로 바꿔 말합니다.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5844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24128" y="35661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확률과 크기를 함께 제시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24128" y="38404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손실 확률 10.3%와 손실 시 평균 66.5%를 한 문장에 같이 담습니다.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" y="44988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24128" y="44805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성향에 맞는 한 종만 권유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024128" y="47548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3종 중 하나로 좁혀 드립니다. 4종(제38187·38185·38188·38186회)은 권유 대상에서 제외합니다.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66928" y="5413248"/>
            <a:ext cx="310896" cy="310896"/>
          </a:xfrm>
          <a:prstGeom prst="ellipse">
            <a:avLst/>
          </a:prstGeom>
          <a:solidFill>
            <a:srgbClr val="F582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54132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539496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일정과 절차 안내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024128" y="566928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마감은 2026.10.08입니다. 숙려 후 2026.10.14까지 가입의사를 직접 확인하지 않으면 청약이 취소됩니다.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748272" y="1261872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반드시 말해야 할 여섯 가지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748272" y="1572768"/>
            <a:ext cx="4876495" cy="10973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48272" y="179222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2592" y="173736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원금비보장 · 위험등급 1등급(매우높은위험). 원금 전액(-100%) 손실이 가능합니다.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748272" y="2322576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22592" y="2267712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예금자보호법 대상이 아닙니다.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748272" y="2852928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022592" y="2798064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발행사 신용위험 — 미래에셋증권이 지급 불이행하면 조건과 무관하게 손실이 납니다 (신용등급 AA).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748272" y="3383280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22592" y="3328416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거래소 비상장 — 만기 전 현금화가 어렵고, 중도상환 시 상환비용으로 원금에 미달할 수 있습니다.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48272" y="3913632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022592" y="3858768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일반투자자 판매는 전 과정 녹취 의무입니다. 거부하시면 판매가 불가합니다.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48272" y="4443984"/>
            <a:ext cx="146304" cy="146304"/>
          </a:xfrm>
          <a:prstGeom prst="rect">
            <a:avLst/>
          </a:prstGeom>
          <a:solidFill>
            <a:srgbClr val="C628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22592" y="4389120"/>
            <a:ext cx="460217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 65세 이상 고령투자자 유의 상품이며, 고난도금융투자상품입니다.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748272" y="5010912"/>
            <a:ext cx="4876495" cy="1755648"/>
          </a:xfrm>
          <a:prstGeom prst="rect">
            <a:avLst/>
          </a:prstGeom>
          <a:solidFill>
            <a:srgbClr val="ECEF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12864" y="5120640"/>
            <a:ext cx="454731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근거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912864" y="5340096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조건·공정가격·적용 변동성·상관계수·백테스트(A)는 일괄신고추가서류(접수번호 20261001000091) 원문에서 그대로 옮겼습니다. 손실 확률(B)은 그 공시 변동성과 상관계수로 같은 조건을 10만 번 다시 돌린 값이며, 공시된 수치가 아닙니다. 수익률은 확정이 아니라 조건 충족 시의 상한입니다.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6912864" y="5943600"/>
            <a:ext cx="45473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못한 것 —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D3D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제38186·38187회는 기초자산 상장이 늦어 검증 표본이 3.0년뿐입니다 — A 열을 20년 상품과 같은 줄에서 비교할 수 없습니다. KOSPI200 과거 시세는 최근 수집분이 짧게 들어와 직전 종가를 이월했습니다. A 의 마지막 며칠은 실관측이 아닙니다(B 는 공시 변동성만 쓰므로 영향 없음).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제38170~38188회 ELS 세일즈 제안서</dc:title>
  <dc:subject>PptxGenJS Presentation</dc:subject>
  <dc:creator>미래에셋증권</dc:creator>
  <cp:lastModifiedBy>미래에셋증권</cp:lastModifiedBy>
  <cp:revision>1</cp:revision>
  <dcterms:created xsi:type="dcterms:W3CDTF">2026-10-03T08:36:59Z</dcterms:created>
  <dcterms:modified xsi:type="dcterms:W3CDTF">2026-10-03T08:36:59Z</dcterms:modified>
</cp:coreProperties>
</file>