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제38226회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9.1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제38225회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  <c:pt idx="0">
                  <c:v/>
                </c:pt>
                <c:pt idx="1">
                  <c:v>8.5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제38227회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Sheet1!$D$2:$D$18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>9.8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제38231회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Sheet1!$E$2:$E$18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12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제38228회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Sheet1!$F$2:$F$18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제38236회 KOSPI200·삼성전자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Sheet1!$G$2:$G$18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12.9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제38232회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Sheet1!$H$2:$H$18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13.8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제38230회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Sheet1!$I$2:$I$18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10.5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제38234회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Sheet1!$J$2:$J$18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9.6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제38229회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Sheet1!$K$2:$K$18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10.5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제38235회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Sheet1!$L$2:$L$18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제38233회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Sheet1!$M$2:$M$18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18.5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제38237회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Sheet1!$N$2:$N$18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제38240회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Sheet1!$O$2:$O$18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15.1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제38239회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Sheet1!$P$2:$P$18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</c:v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제38238회 팔란티어 테크·AMD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Sheet1!$Q$2:$Q$18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17</c:v>
                </c:pt>
                <c:pt idx="16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제38241회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</c:v>
                </c:pt>
                <c:pt idx="1">
                  <c:v>10.7</c:v>
                </c:pt>
                <c:pt idx="2">
                  <c:v>11.4</c:v>
                </c:pt>
                <c:pt idx="3">
                  <c:v>13.5</c:v>
                </c:pt>
                <c:pt idx="4">
                  <c:v>14.7</c:v>
                </c:pt>
                <c:pt idx="5">
                  <c:v>15.1</c:v>
                </c:pt>
                <c:pt idx="6">
                  <c:v>15.9</c:v>
                </c:pt>
                <c:pt idx="7">
                  <c:v>17.7</c:v>
                </c:pt>
                <c:pt idx="8">
                  <c:v>19.1</c:v>
                </c:pt>
                <c:pt idx="9">
                  <c:v>20.7</c:v>
                </c:pt>
                <c:pt idx="10">
                  <c:v>21.8</c:v>
                </c:pt>
                <c:pt idx="11">
                  <c:v>23.1</c:v>
                </c:pt>
                <c:pt idx="12">
                  <c:v>24.6</c:v>
                </c:pt>
                <c:pt idx="13">
                  <c:v>47.9</c:v>
                </c:pt>
                <c:pt idx="14">
                  <c:v>48.6</c:v>
                </c:pt>
                <c:pt idx="15">
                  <c:v>49.3</c:v>
                </c:pt>
                <c:pt idx="16">
                  <c:v>58.2</c:v>
                </c:pt>
              </c:numCache>
            </c:numRef>
          </c:xVal>
          <c:yVal>
            <c:numRef>
              <c:f>Sheet1!$R$2:$R$18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23.1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제38225~38241회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2026.10.26~2026.11.04 · 일괄신고추가서류 2026.10.23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 EuroStoxx50·KOSPI200·Nikkei225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9.1% · 손실 확률 10.0%로 17종 중 가장 낮습니다 (위험 1%당 연 0.91% 로도 1위)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 마이크론 테크놀로지·팔란티어 테크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23.1% (원화) · 손실 확률 58.2% — 아래 ‘권하지 않음’에 함께 들어 있습니다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제38241·38238·38239·38240회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(6,131~6,772원) · 검증 표본 부족 3종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2026.10.30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2026.11.04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2026.11.02 ~ 2026.11.03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2026.11.05 / 2029.11.05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17종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 ±0.18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70×5-65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0.32%·20.8년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KOSPI200·삼성전자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3.95%·20.8년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38229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1.29%·20.8년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테슬라·마이크론 테크놀로지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0.18%·13.3년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6,772원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48.6% ±0.27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6,417원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38238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팔란티어 테크·AMD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80×2-75×2-70×2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2.36%·3.0년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6,677원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528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38241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58.2%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6,131원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제38241·38238·38239·38240회만 6,772원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EuroStoxx50·KOSPI200·Nikkei225 · 조건 충족 시 연 9.1%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2027.04.28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10,455원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56.5%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2027.11.02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10,910원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8.0%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21836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2028.04.27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11,365원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93572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2028.10.31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11,820원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9708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2029.04.27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12,275원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2.9%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79308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2029.11.05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12,730원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25.7%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711478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8211773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78701" y="4315968"/>
            <a:ext cx="1745701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524402" y="4315968"/>
            <a:ext cx="1100366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74.3%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15.8%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66.5%)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66.5%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9.1%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792323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419" y="3657600"/>
            <a:ext cx="56466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5085" y="3657600"/>
            <a:ext cx="816894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56.5%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17.8%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25.7%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56.5 · 2차 8.0 · 3차 3.4 · 4차 3.5 · 5차 2.9 · 6차 25.7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0.00% · 1차 88.3%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9,856원 (-1.44%)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0.91%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제38232회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13.8%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062611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71517" y="3657600"/>
            <a:ext cx="475003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46521" y="3657600"/>
            <a:ext cx="636268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15.0%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20.0%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65.0 · 2차 7.7 · 3차 3.4 · 4차 2.1 · 5차 1.7 · 6차 20.0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41.4%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0.94% · 1차 85.7%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9,525원 (-4.75%)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0.87%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제38236회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12.9%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15.1%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978090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227807" y="3657600"/>
            <a:ext cx="55409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781904" y="3657600"/>
            <a:ext cx="641696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62.3%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17.5%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20.2%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62.3 · 2차 8.5 · 3차 3.8 · 4차 3.0 · 5차 2.3 · 6차 20.2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38.7%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20.8년 · 손실 0.00% · 1차 89.6%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9,647원 (-3.53%)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0.85%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제38226회는 연 9.1%를 받으면서 손실 확률이 10.0%로 지수형 평균(15.7%)보다도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17종을 손실 확률(B)과 연 수익률로 흩어 놓았습니다. 왼쪽 위가 적은 위험에 많이 받는 자리, 오른쪽 아래가 위험만 큰 자리입니다. PPT 파일에서는 점에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10종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0.76 (17종,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136쌍 중 25쌍이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78.7%만 "쿠폰 높은 쪽이 더 위험" 했습니다. 25쌍은 더 받으면서 덜 위험하거나, 덜 받으면서 더 위험했습니다. 남은 4쌍은 수익률이나 손실 확률이 같아 가릴 수 없습니다.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3.6배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제38226회는 0.91%, 제38239회는 0.25%입니다.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제38226회(연 9.1% · 손실 확률 10.0%)이고, 가장 적게 받는 쪽은 제38239회(연 12.0% · 48.6%)입니다.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단, 제38226회의 우위는 공시 상관계수 0.22~0.77에 기대고 있습니다 — 서류값보다 0.1씩만 낮춰도 위험 1%당 수익률이 0.86%로 제38231회(0.89%)보다 낮아집니다.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12.0~23.1%라는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23.1%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6,131원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58.2%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93.9%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0.40%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제38238회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팔란티어 테크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6,677원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49.3%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83.8%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0.34%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제38239회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6,417원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48.6%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93.9%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제38240회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15.1%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6,772원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93.9%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0.32%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39%까지 깎입니다 — 제38241회·제38238회·제38239회·제38240회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6,131~6,772원입니다. 액면 1만원을 내고 사는 시점의 이론 값어치가 그것뿐이라는 뜻입니다. 나머지 원화 13종은 9,312원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3.0배입니다 — 제38241회·제38238회·제38239회·제38240회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47.9~58.2%. 나머지 13종 평균은 16.8%입니다. 손실이 나면 평균 84.6%를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제38241회·제38238회·제38239회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6,131원입니다. 권하지 않는 상품을 빼고 가장 높은 제38237회는 연 20.0%에 손실 확률이 24.6%입니다 — 연 3.1%p 덜 받으시지만 위험은 2.4배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제38226회는 3년 안에 한 번이라도 65% 떨어진 적이 있고, 만기에도 30% 넘게 떨어져 있어야 손실입니다. 발행사가 실제 과거 시세 20년으로 4,805번 돌린 결과 손실은 0.00%였고, 같은 조건을 저희가 10만 번 다시 돌리니 10.0%였습니다. 다만 그 10.0%가 현실이 되면 평균 66.5%를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제38227·38234·38235회 3종뿐이고, 낙인은 35%·45%·45%입니다. 제38227회 기준 발행일에 잡히는 기준가에서 65%를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제38226회는 조건이 맞으면 연 9.1%, 3년 27.3%입니다.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제38226회는 6개월마다 6번 상환 기회가 있고, 첫 회에 끝난 경우가 백테스트 88.3%였습니다.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제38226회는 85% 배리어라 기초자산이 15% 떨어져도 첫 회에 상환됩니다. 그래도 부담스러우시면 손실 확률이 그다음으로 낮은 제38225회(10.7%, 연 8.5%)를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그게 이번엔 안 맞습니다. 제일 높은 건 연 23.1%인 제38241회인데 손실 확률이 58.2%입니다. 권하지 않는 상품을 빼고 가장 높은 제38237회는 연 20.0%에 손실 확률 24.6%입니다 — 제38241회는 연 3.1%p 더 주는 대신 위험이 2.4배입니다.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10.0%와 손실 시 평균 66.5%를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4종(제38241·38238·38239·38240회)은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2026.10.30입니다. 숙려 후 2026.11.04까지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20261023000173)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제38238·38239·38241회는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제38225~38241회 ELS 세일즈 제안서</dc:title>
  <dc:subject>PptxGenJS Presentation</dc:subject>
  <dc:creator>미래에셋증권</dc:creator>
  <cp:lastModifiedBy>미래에셋증권</cp:lastModifiedBy>
  <cp:revision>1</cp:revision>
  <dcterms:created xsi:type="dcterms:W3CDTF">2026-10-25T23:29:26Z</dcterms:created>
  <dcterms:modified xsi:type="dcterms:W3CDTF">2026-10-25T23:29:26Z</dcterms:modified>
</cp:coreProperties>
</file>