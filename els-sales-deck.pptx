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제38156회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12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제38162회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Sheet1!$C$2:$C$19</c:f>
              <c:numCache>
                <c:formatCode>General</c:formatCode>
                <c:ptCount val="18"/>
                <c:pt idx="0">
                  <c:v/>
                </c:pt>
                <c:pt idx="1">
                  <c:v>10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제38152회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Sheet1!$D$2:$D$19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>10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제38158회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Sheet1!$E$2:$E$19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14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제38153회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Sheet1!$F$2:$F$19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10.3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제38157회 KOSPI200·SK하이닉스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Sheet1!$G$2:$G$19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13.5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제38154회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Sheet1!$H$2:$H$19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10.4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제38165회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Sheet1!$I$2:$I$19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23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제38159회 KOSPI200·삼성전자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Sheet1!$J$2:$J$19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15.6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제38155회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Sheet1!$K$2:$K$19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11.8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제38160회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Sheet1!$L$2:$L$19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19.2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제38164회 EuroStoxx50·S&amp;P500·삼성전자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Sheet1!$M$2:$M$19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14.5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제38161회 S&amp;P500·KOSPI200·SK하이닉스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Sheet1!$N$2:$N$19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21.1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3"/>
          <c:order val="13"/>
          <c:tx>
            <c:strRef>
              <c:f>Sheet1!$O$1</c:f>
              <c:strCache>
                <c:ptCount val="1"/>
                <c:pt idx="0">
                  <c:v>제38163회 S&amp;P500·HSCEI·KOSPI200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Sheet1!$O$2:$O$19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12.5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4"/>
          <c:order val="14"/>
          <c:tx>
            <c:strRef>
              <c:f>Sheet1!$P$1</c:f>
              <c:strCache>
                <c:ptCount val="1"/>
                <c:pt idx="0">
                  <c:v>제38166회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Sheet1!$P$2:$P$19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19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5"/>
          <c:order val="15"/>
          <c:tx>
            <c:strRef>
              <c:f>Sheet1!$Q$1</c:f>
              <c:strCache>
                <c:ptCount val="1"/>
                <c:pt idx="0">
                  <c:v>제38167회 마이크론 테크놀로지·AMD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Sheet1!$Q$2:$Q$19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</c:v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6"/>
          <c:order val="16"/>
          <c:tx>
            <c:strRef>
              <c:f>Sheet1!$R$1</c:f>
              <c:strCache>
                <c:ptCount val="1"/>
                <c:pt idx="0">
                  <c:v>제38169회 테슬라·마이크론 테크놀로지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Sheet1!$R$2:$R$19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22.2</c:v>
                </c:pt>
                <c:pt idx="17">
                  <c:v/>
                </c:pt>
              </c:numCache>
            </c:numRef>
          </c:yVal>
          <c:smooth val="0"/>
        </c:ser>
        <c:ser>
          <c:idx val="17"/>
          <c:order val="17"/>
          <c:tx>
            <c:strRef>
              <c:f>Sheet1!$S$1</c:f>
              <c:strCache>
                <c:ptCount val="1"/>
                <c:pt idx="0">
                  <c:v>제38168회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10.8</c:v>
                </c:pt>
                <c:pt idx="1">
                  <c:v>11.5</c:v>
                </c:pt>
                <c:pt idx="2">
                  <c:v>11.7</c:v>
                </c:pt>
                <c:pt idx="3">
                  <c:v>12.6</c:v>
                </c:pt>
                <c:pt idx="4">
                  <c:v>12.8</c:v>
                </c:pt>
                <c:pt idx="5">
                  <c:v>14.7</c:v>
                </c:pt>
                <c:pt idx="6">
                  <c:v>14.9</c:v>
                </c:pt>
                <c:pt idx="7">
                  <c:v>15.9</c:v>
                </c:pt>
                <c:pt idx="8">
                  <c:v>16.5</c:v>
                </c:pt>
                <c:pt idx="9">
                  <c:v>16.7</c:v>
                </c:pt>
                <c:pt idx="10">
                  <c:v>18.3</c:v>
                </c:pt>
                <c:pt idx="11">
                  <c:v>20</c:v>
                </c:pt>
                <c:pt idx="12">
                  <c:v>21.1</c:v>
                </c:pt>
                <c:pt idx="13">
                  <c:v>22.8</c:v>
                </c:pt>
                <c:pt idx="14">
                  <c:v>32.5</c:v>
                </c:pt>
                <c:pt idx="15">
                  <c:v>41.5</c:v>
                </c:pt>
                <c:pt idx="16">
                  <c:v>44.8</c:v>
                </c:pt>
                <c:pt idx="17">
                  <c:v>49.1</c:v>
                </c:pt>
              </c:numCache>
            </c:numRef>
          </c:xVal>
          <c:yVal>
            <c:numRef>
              <c:f>Sheet1!$S$2:$S$19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10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제38152~38169회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2026.09.29~2026.10.07 · 일괄신고추가서류 2026.09.28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제38156회 삼성전자·SK하이닉스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12.0% · 손실 확률 10.8%로 18종 중 가장 낮습니다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제38165회 삼성전자·SK하이닉스 (온라인 전용)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23.0% (원화) · 손실 확률 15.9%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제38168·38169·38167·38166회 —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4종 (6,725~8,466원) · 검증 표본 부족 2종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2026.10.01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2026.10.07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~ 2026.10.06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2026.10.08 / 2029.10.08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18종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280160"/>
                <a:gridCol w="457200"/>
                <a:gridCol w="1051560"/>
                <a:gridCol w="603504"/>
                <a:gridCol w="731520"/>
                <a:gridCol w="731520"/>
                <a:gridCol w="996696"/>
                <a:gridCol w="862279"/>
              </a:tblGrid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65×5-60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10.8%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9,634원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9,596원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85×9-80-75-70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9,583원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12.8% ±0.20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9,889원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0.94%·20.7년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80×3-75-70-60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9,582원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85×9-80-75-70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 ±0.27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9,653원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38155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16.7%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2.83%·20.7년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9,664원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18.3%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9,596원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EuroStoxx50·S&amp;P500·삼성전자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21.1%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9,678원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S&amp;P500·HSCEI·KOSPI200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22.8%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9,458원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32.5%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4.03%·3.0년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8,466원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테크놀로지·AMD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41.5%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7,251원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테슬라·마이크론 테크놀로지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80×2-75×2-70×2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44.8%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0.24%·13.2년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7,286원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38168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49.1%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2.01%·3.0년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6,725원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제38168·38169·38167·38166회만 8,466원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2종은 손실 확률이 등급 경계에 걸쳐 있어 등급 라벨을 단정할 수 없습니다.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제38156회로 보는 ELS 작동 방식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· 조건 충족 시 연 12.0% · 6개월마다 6번 판정합니다. 배리어·판정일·받는 돈은 공시 원문 그대로이고, 확률은 같은 조건으로 돌린 시뮬레이션(B)입니다.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885" y="1426464"/>
            <a:ext cx="9313926" cy="12802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487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2027.04.02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836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5836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65836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10,600원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5836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79.2%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3766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29713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9713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21153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21153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2027.10.05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21153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1153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521153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521153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521153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21153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521153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521153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21153" y="3593592"/>
            <a:ext cx="94345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044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249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249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393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8393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2028.04.03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38393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393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38393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38393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38393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11,800원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8393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38393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1.9%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38393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83938" y="3593592"/>
            <a:ext cx="37770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6323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5528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5284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4672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4차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24672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2028.09.27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4672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4672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24672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624672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24672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12,400원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24672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4672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1.1%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4672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46724" y="3593592"/>
            <a:ext cx="22335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01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18069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8069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09509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5차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8109509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2029.04.03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8109509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09509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8109509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8109509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8109509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13,000원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109509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109509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0.8%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8109509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109509" y="3593592"/>
            <a:ext cx="15829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688803" y="1375258"/>
            <a:ext cx="128016" cy="128016"/>
          </a:xfrm>
          <a:prstGeom prst="ellipse">
            <a:avLst/>
          </a:prstGeom>
          <a:solidFill>
            <a:srgbClr val="043B7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8085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80854" y="1664208"/>
            <a:ext cx="1743913" cy="457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7229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997229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2029.10.08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97229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97229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997229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</a:t>
            </a:r>
            <a:endParaRPr lang="en-US" sz="2100" dirty="0"/>
          </a:p>
        </p:txBody>
      </p:sp>
      <p:sp>
        <p:nvSpPr>
          <p:cNvPr id="84" name="Text 82"/>
          <p:cNvSpPr/>
          <p:nvPr/>
        </p:nvSpPr>
        <p:spPr>
          <a:xfrm>
            <a:off x="997229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997229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13,600원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997229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997229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997229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972294" y="3593592"/>
            <a:ext cx="239963" cy="91440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6928" y="405993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끝나는 방식은 셋뿐입니다</a:t>
            </a:r>
            <a:endParaRPr lang="en-US" sz="1150" dirty="0"/>
          </a:p>
        </p:txBody>
      </p:sp>
      <p:sp>
        <p:nvSpPr>
          <p:cNvPr id="91" name="Shape 89"/>
          <p:cNvSpPr/>
          <p:nvPr/>
        </p:nvSpPr>
        <p:spPr>
          <a:xfrm>
            <a:off x="566928" y="4315968"/>
            <a:ext cx="9711768" cy="310896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278696" y="4315968"/>
            <a:ext cx="146959" cy="310896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425655" y="4315968"/>
            <a:ext cx="1199112" cy="31089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6928" y="4718304"/>
            <a:ext cx="109728" cy="10972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49808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(1~5차) </a:t>
            </a:r>
            <a:pPr indent="0" marL="0">
              <a:buNone/>
            </a:pPr>
            <a:r>
              <a:rPr lang="en-US" sz="9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87.8%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749808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약정 수익을 받고 만기 전에 끝납니다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4252874" y="4718304"/>
            <a:ext cx="109728" cy="1097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35754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정상상환 </a:t>
            </a:r>
            <a:pPr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1.3%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4435754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갔지만 조건을 지켜 약정 수익을 받습니다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938821" y="4718304"/>
            <a:ext cx="109728" cy="10972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121701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손실 </a:t>
            </a:r>
            <a:pPr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10.8%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121701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떨어진 만큼 잃습니다 (나면 평균 77.1%)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57216"/>
            <a:ext cx="11057839" cy="95097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928" y="5157216"/>
            <a:ext cx="45720" cy="95097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68096" y="525780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이 두 가지가 동시에 맞을 때만 납니다</a:t>
            </a:r>
            <a:endParaRPr lang="en-US" sz="1150" dirty="0"/>
          </a:p>
        </p:txBody>
      </p:sp>
      <p:sp>
        <p:nvSpPr>
          <p:cNvPr id="106" name="Text 104"/>
          <p:cNvSpPr/>
          <p:nvPr/>
        </p:nvSpPr>
        <p:spPr>
          <a:xfrm>
            <a:off x="768096" y="549554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만기까지 한 번이라도 기준가보다 70% 넘게 떨어진 적이 있고(기준가의 30% 선), ② 만기에도 40% 넘게 떨어져 있어야 합니다. 둘 중 하나라도 아니면 약정 수익을 받습니다.</a:t>
            </a:r>
            <a:endParaRPr lang="en-US" sz="950" dirty="0"/>
          </a:p>
        </p:txBody>
      </p:sp>
      <p:sp>
        <p:nvSpPr>
          <p:cNvPr id="107" name="Text 105"/>
          <p:cNvSpPr/>
          <p:nvPr/>
        </p:nvSpPr>
        <p:spPr>
          <a:xfrm>
            <a:off x="8668512" y="52852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668512" y="5468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10.8%</a:t>
            </a:r>
            <a:endParaRPr lang="en-US" sz="2400" dirty="0"/>
          </a:p>
        </p:txBody>
      </p:sp>
      <p:sp>
        <p:nvSpPr>
          <p:cNvPr id="109" name="Text 107"/>
          <p:cNvSpPr/>
          <p:nvPr/>
        </p:nvSpPr>
        <p:spPr>
          <a:xfrm>
            <a:off x="10131552" y="528523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손실이 나면 평균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131552" y="546811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77.1%</a:t>
            </a:r>
            <a:endParaRPr lang="en-US" sz="2400" dirty="0"/>
          </a:p>
        </p:txBody>
      </p:sp>
      <p:sp>
        <p:nvSpPr>
          <p:cNvPr id="111" name="Text 109"/>
          <p:cNvSpPr/>
          <p:nvPr/>
        </p:nvSpPr>
        <p:spPr>
          <a:xfrm>
            <a:off x="566928" y="619963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돈은 «액면 × (1 + 연 12.0% × 경과월/12)» 로 정해집니다 — 늦게 끝날수록 받는 금액은 커지지만, 그만큼 돈이 묶입니다. 위 금액은 공시 상환금액표를 그대로 옮긴 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제38156회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12.0%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10.8%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2513366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81462" y="3657600"/>
            <a:ext cx="274160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55622" y="3657600"/>
            <a:ext cx="386357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79.2%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8.6%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12.2%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79.2 · 2차 4.8 · 3차 1.9 · 4차 1.1 · 5차 0.8 · 6차 12.2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36.0%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65%부터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 하락 경험 + 만기 40% 초과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96.9%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9,634원 (-3.66%)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1.11%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제38165회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(온라인 전용)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23.0%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15.9%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1963300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72207" y="3657600"/>
            <a:ext cx="655661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127867" y="3657600"/>
            <a:ext cx="554922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61.9%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2~11차 20.7%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17.5%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61.9 · 2차 8.2 · 3차 3.8 · 4차 2.3 · 5차 1.6 · 6차 1.2 · 7차 0.9 · 8차 0.7 · 9차 0.6 · 10차 0.7 · 11차 0.7 · 12차 17.5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69.0%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12회 · 배리어 85%부터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0.53% · 1차 84.5%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9,653원 (-3.47%)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1.45%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제38161회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SK하이닉스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21.1%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21.1%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873225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22942" y="3657600"/>
            <a:ext cx="465164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588106" y="3657600"/>
            <a:ext cx="835493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59.0%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14.7%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26.3%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59.0 · 2차 7.7 · 3차 3.1 · 4차 1.9 · 5차 1.9 · 6차 26.3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63.3%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80%부터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0.99% · 1차 86.0%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9,678원 (-3.22%)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1.00%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제38156회는 연 12.0%를 받으면서 손실 확률이 10.8%로 지수형 평균(15.8%)보다도 낮습니다. 6개월마다 6번 상환 기회가 있고 배리어가 65%에서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높다고 그만큼 위험한 것은 아닙니다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18종을 손실 확률(B)과 연 수익률로 흩어 놓았습니다. 왼쪽 위가 적은 위험에 많이 받는 자리, 오른쪽 아래가 위험만 큰 자리입니다. 점 위에 마우스를 올리면 회차와 기초자산이 뜹니다.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261872"/>
          <a:ext cx="6629400" cy="38770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24128" y="5230368"/>
            <a:ext cx="100584" cy="100584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7957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761488" y="5230368"/>
            <a:ext cx="100584" cy="100584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1693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11종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498848" y="5230368"/>
            <a:ext cx="100584" cy="10058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5429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4종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424928" y="1261872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24928" y="1261872"/>
            <a:ext cx="45720" cy="1243584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07808" y="1353312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붙어 있기는 합니다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607808" y="1609344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쿠폰은 결국 고객이 파는 풋옵션의 값이라 위험과 구조적으로 묶여 있습니다. 순위상관 0.70 (18종, p=0.001)— 수익률이 높은 쪽이 대체로 손실 확률도 높습니다.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24928" y="2651760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24928" y="2651760"/>
            <a:ext cx="45720" cy="1243584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07808" y="2743200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그런데 153쌍 중 32쌍이 뒤집힙니다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2999232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상품씩 모든 짝을 지어 보면 75.8%만 "쿠폰 높은 쪽이 더 위험" 했습니다. 나머지 32쌍은 더 받으면서 덜 위험하거나, 덜 받으면서 더 위험했습니다.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24928" y="4041648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24928" y="4041648"/>
            <a:ext cx="45720" cy="124358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07808" y="4133088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위험당 대가가 3.5배 벌어집니다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4389120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받는 연 수익률이 제38165회는 1.45%, 제38168회는 0.41%입니다. 같은 위험을 지고도 받는 대가가 이만큼 다릅니다.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504688"/>
            <a:ext cx="11057839" cy="89611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" y="5504688"/>
            <a:ext cx="1069207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고르는 자리가 생깁니다  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같은 위험을 지고 가장 많이 받는 쪽은 제38165회(연 23.0% · 손실 확률 15.9%)이고, 가장 적게 받는 쪽은 제38168회(연 20.0% · 49.1%)입니다. 수익률 순서로 고르면 이 차이가 보이지 않습니다.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B6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※ 제38165회로 상관계수를 공시값 0.87에서 0.5까지 낮춰 봐도 손실 확률은 15.8%→21.3%에 머뭅니다 — 결론이 상관계수 한 값에 얹혀 있지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19.0~22.2%라는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제38168회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20.0%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6,725원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49.1%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94.7%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0.41%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2631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제38169회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29057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29971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25399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22.2%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7,286원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44.8%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94.7%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제38167회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20954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AMD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2186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17296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20.0%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7,251원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41.5%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94.7%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0.48%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6384" y="41010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제38166회</a:t>
            </a:r>
            <a:endParaRPr lang="en-US" sz="1450" dirty="0"/>
          </a:p>
        </p:txBody>
      </p:sp>
      <p:sp>
        <p:nvSpPr>
          <p:cNvPr id="50" name="Text 48"/>
          <p:cNvSpPr/>
          <p:nvPr/>
        </p:nvSpPr>
        <p:spPr>
          <a:xfrm>
            <a:off x="2011680" y="41285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 (온라인 전용)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197096" y="41376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97296" y="409194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19.0%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8,466원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32.5%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67.0%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0.58%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33%까지 깎입니다 — 제38168회·제38169회·제38167회·제38166회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6,725~8,466원입니다. 액면 1만원을 내고 사는 시점의 이론 값어치가 그것뿐이라는 뜻입니다. 나머지 원화 14종은 9,458원 이상입니다.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2.7배입니다 — 제38168회·제38169회·제38167회·제38166회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32.5~49.1%. 나머지 14종 평균은 15.7%입니다. 손실이 나면 평균 84.1%를 잃습니다.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3.0년뿐입니다 — 제38168회·제38166회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3.0년치입니다.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6,725원입니다. 권해 드릴 수 있는 것 중 가장 높은 제38165회는 연 23.0%에 손실 확률이 15.9%입니다 — 오히려 연 3.0%p 더 받으시는데 위험은 3.1배 차이입니다.”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제38156회는 3년 안에 한 번이라도 70% 떨어진 적이 있고, 만기에도 40% 넘게 떨어져 있어야 손실입니다. 발행사가 실제 과거 시세 20년으로 5,109번 돌린 결과 손실은 0.00%였고, 같은 조건을 저희가 10만 번 다시 돌리니 10.8%였습니다. 다만 그 10.8%가 현실이 되면 평균 77.1%를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제38155·38163회 2종뿐이고, 낙인은 40%·45%입니다. 제38155회 기준 발행일에 잡히는 기준가에서 60%를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제38156회는 조건이 맞으면 연 12.0%, 3년 36.0%입니다.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제38156회는 6개월마다 6번 상환 기회가 있고, 첫 회에 끝난 경우가 백테스트 96.9%였습니다.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제38156회는 65% 배리어라 기초자산이 35% 떨어져도 첫 회에 상환됩니다. 그래도 부담스러우시면 손실 확률이 그다음으로 낮은 제38162회(11.5%, 연 10.0%)를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이번엔 그 말씀이 맞습니다. 제일 높은 건 연 23.0%인 제38165회인데, 손실 확률이 15.9%로 권해 드릴 수 있는 축입니다. 다만 수익률 순서를 그대로 따라가시면 안 됩니다 — 연 20.0%인 제38168회는 손실 확률이 49.1%로, 23.0%짜리보다 3.0%p 덜 주면서 위험은 3.1배입니다. 수익률과 위험은 비례하지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70% 떨어지고, 만기에도 40%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10.8%와 손실 시 평균 77.1%를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4종(제38168·38169·38167·38166회)은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2026.10.01입니다. 숙려 후 2026.10.07까지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20260928000075)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제38166·38168회는 기초자산 상장이 늦어 검증 표본이 3.0년뿐입니다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제38152~38169회 ELS 세일즈 제안서</dc:title>
  <dc:subject>PptxGenJS Presentation</dc:subject>
  <dc:creator>미래에셋증권</dc:creator>
  <cp:lastModifiedBy>미래에셋증권</cp:lastModifiedBy>
  <cp:revision>1</cp:revision>
  <dcterms:created xsi:type="dcterms:W3CDTF">2026-09-29T00:00:39Z</dcterms:created>
  <dcterms:modified xsi:type="dcterms:W3CDTF">2026-09-29T00:00:39Z</dcterms:modified>
</cp:coreProperties>
</file>