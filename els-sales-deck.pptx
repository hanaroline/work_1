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제38194회 삼성전자·SK하이닉스</c:v>
                </c:pt>
              </c:strCache>
            </c:strRef>
          </c:tx>
          <c:spPr>
            <a:solidFill>
              <a:srgbClr val="F58220"/>
            </a:solidFill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F58220"/>
              </a:solidFill>
              <a:ln w="9525" cap="flat">
                <a:solidFill>
                  <a:srgbClr val="F58220"/>
                </a:solidFill>
                <a:prstDash val="solid"/>
                <a:round/>
              </a:ln>
              <a:effectLst/>
            </c:spPr>
          </c:marker>
          <c:xVal>
            <c:numRef>
              <c:f>Sheet1!$A$2:$A$14</c:f>
              <c:numCache>
                <c:formatCode>General</c:formatCode>
                <c:ptCount val="13"/>
                <c:pt idx="0">
                  <c:v>11.3</c:v>
                </c:pt>
                <c:pt idx="1">
                  <c:v>11.7</c:v>
                </c:pt>
                <c:pt idx="2">
                  <c:v>12.4</c:v>
                </c:pt>
                <c:pt idx="3">
                  <c:v>12.5</c:v>
                </c:pt>
                <c:pt idx="4">
                  <c:v>13.9</c:v>
                </c:pt>
                <c:pt idx="5">
                  <c:v>14.7</c:v>
                </c:pt>
                <c:pt idx="6">
                  <c:v>18.1</c:v>
                </c:pt>
                <c:pt idx="7">
                  <c:v>18.6</c:v>
                </c:pt>
                <c:pt idx="8">
                  <c:v>20.1</c:v>
                </c:pt>
                <c:pt idx="9">
                  <c:v>24.6</c:v>
                </c:pt>
                <c:pt idx="10">
                  <c:v>33.9</c:v>
                </c:pt>
                <c:pt idx="11">
                  <c:v>48.7</c:v>
                </c:pt>
                <c:pt idx="12">
                  <c:v>57.6</c:v>
                </c:pt>
              </c:numCache>
            </c:numRef>
          </c:xVal>
          <c:yVal>
            <c:numRef>
              <c:f>Sheet1!$B$2:$B$14</c:f>
              <c:numCache>
                <c:formatCode>General</c:formatCode>
                <c:ptCount val="13"/>
                <c:pt idx="0">
                  <c:v>12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제38190회 KOSPI200</c:v>
                </c:pt>
              </c:strCache>
            </c:strRef>
          </c:tx>
          <c:spPr>
            <a:solidFill>
              <a:srgbClr val="9AA6B2"/>
            </a:solidFill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9AA6B2"/>
              </a:solidFill>
              <a:ln w="9525" cap="flat">
                <a:solidFill>
                  <a:srgbClr val="9AA6B2"/>
                </a:solidFill>
                <a:prstDash val="solid"/>
                <a:round/>
              </a:ln>
              <a:effectLst/>
            </c:spPr>
          </c:marker>
          <c:xVal>
            <c:numRef>
              <c:f>Sheet1!$A$2:$A$14</c:f>
              <c:numCache>
                <c:formatCode>General</c:formatCode>
                <c:ptCount val="13"/>
                <c:pt idx="0">
                  <c:v>11.3</c:v>
                </c:pt>
                <c:pt idx="1">
                  <c:v>11.7</c:v>
                </c:pt>
                <c:pt idx="2">
                  <c:v>12.4</c:v>
                </c:pt>
                <c:pt idx="3">
                  <c:v>12.5</c:v>
                </c:pt>
                <c:pt idx="4">
                  <c:v>13.9</c:v>
                </c:pt>
                <c:pt idx="5">
                  <c:v>14.7</c:v>
                </c:pt>
                <c:pt idx="6">
                  <c:v>18.1</c:v>
                </c:pt>
                <c:pt idx="7">
                  <c:v>18.6</c:v>
                </c:pt>
                <c:pt idx="8">
                  <c:v>20.1</c:v>
                </c:pt>
                <c:pt idx="9">
                  <c:v>24.6</c:v>
                </c:pt>
                <c:pt idx="10">
                  <c:v>33.9</c:v>
                </c:pt>
                <c:pt idx="11">
                  <c:v>48.7</c:v>
                </c:pt>
                <c:pt idx="12">
                  <c:v>57.6</c:v>
                </c:pt>
              </c:numCache>
            </c:numRef>
          </c:xVal>
          <c:yVal>
            <c:numRef>
              <c:f>Sheet1!$C$2:$C$14</c:f>
              <c:numCache>
                <c:formatCode>General</c:formatCode>
                <c:ptCount val="13"/>
                <c:pt idx="0">
                  <c:v/>
                </c:pt>
                <c:pt idx="1">
                  <c:v>9.7</c:v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제38191회 KOSPI200·HSCEI·Nikkei225</c:v>
                </c:pt>
              </c:strCache>
            </c:strRef>
          </c:tx>
          <c:spPr>
            <a:solidFill>
              <a:srgbClr val="9AA6B2"/>
            </a:solidFill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9AA6B2"/>
              </a:solidFill>
              <a:ln w="9525" cap="flat">
                <a:solidFill>
                  <a:srgbClr val="9AA6B2"/>
                </a:solidFill>
                <a:prstDash val="solid"/>
                <a:round/>
              </a:ln>
              <a:effectLst/>
            </c:spPr>
          </c:marker>
          <c:xVal>
            <c:numRef>
              <c:f>Sheet1!$A$2:$A$14</c:f>
              <c:numCache>
                <c:formatCode>General</c:formatCode>
                <c:ptCount val="13"/>
                <c:pt idx="0">
                  <c:v>11.3</c:v>
                </c:pt>
                <c:pt idx="1">
                  <c:v>11.7</c:v>
                </c:pt>
                <c:pt idx="2">
                  <c:v>12.4</c:v>
                </c:pt>
                <c:pt idx="3">
                  <c:v>12.5</c:v>
                </c:pt>
                <c:pt idx="4">
                  <c:v>13.9</c:v>
                </c:pt>
                <c:pt idx="5">
                  <c:v>14.7</c:v>
                </c:pt>
                <c:pt idx="6">
                  <c:v>18.1</c:v>
                </c:pt>
                <c:pt idx="7">
                  <c:v>18.6</c:v>
                </c:pt>
                <c:pt idx="8">
                  <c:v>20.1</c:v>
                </c:pt>
                <c:pt idx="9">
                  <c:v>24.6</c:v>
                </c:pt>
                <c:pt idx="10">
                  <c:v>33.9</c:v>
                </c:pt>
                <c:pt idx="11">
                  <c:v>48.7</c:v>
                </c:pt>
                <c:pt idx="12">
                  <c:v>57.6</c:v>
                </c:pt>
              </c:numCache>
            </c:numRef>
          </c:xVal>
          <c:yVal>
            <c:numRef>
              <c:f>Sheet1!$D$2:$D$14</c:f>
              <c:numCache>
                <c:formatCode>General</c:formatCode>
                <c:ptCount val="13"/>
                <c:pt idx="0">
                  <c:v/>
                </c:pt>
                <c:pt idx="1">
                  <c:v/>
                </c:pt>
                <c:pt idx="2">
                  <c:v>10.1</c:v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제38195회 KOSPI200·SK하이닉스</c:v>
                </c:pt>
              </c:strCache>
            </c:strRef>
          </c:tx>
          <c:spPr>
            <a:solidFill>
              <a:srgbClr val="F58220"/>
            </a:solidFill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F58220"/>
              </a:solidFill>
              <a:ln w="9525" cap="flat">
                <a:solidFill>
                  <a:srgbClr val="F58220"/>
                </a:solidFill>
                <a:prstDash val="solid"/>
                <a:round/>
              </a:ln>
              <a:effectLst/>
            </c:spPr>
          </c:marker>
          <c:xVal>
            <c:numRef>
              <c:f>Sheet1!$A$2:$A$14</c:f>
              <c:numCache>
                <c:formatCode>General</c:formatCode>
                <c:ptCount val="13"/>
                <c:pt idx="0">
                  <c:v>11.3</c:v>
                </c:pt>
                <c:pt idx="1">
                  <c:v>11.7</c:v>
                </c:pt>
                <c:pt idx="2">
                  <c:v>12.4</c:v>
                </c:pt>
                <c:pt idx="3">
                  <c:v>12.5</c:v>
                </c:pt>
                <c:pt idx="4">
                  <c:v>13.9</c:v>
                </c:pt>
                <c:pt idx="5">
                  <c:v>14.7</c:v>
                </c:pt>
                <c:pt idx="6">
                  <c:v>18.1</c:v>
                </c:pt>
                <c:pt idx="7">
                  <c:v>18.6</c:v>
                </c:pt>
                <c:pt idx="8">
                  <c:v>20.1</c:v>
                </c:pt>
                <c:pt idx="9">
                  <c:v>24.6</c:v>
                </c:pt>
                <c:pt idx="10">
                  <c:v>33.9</c:v>
                </c:pt>
                <c:pt idx="11">
                  <c:v>48.7</c:v>
                </c:pt>
                <c:pt idx="12">
                  <c:v>57.6</c:v>
                </c:pt>
              </c:numCache>
            </c:numRef>
          </c:xVal>
          <c:yVal>
            <c:numRef>
              <c:f>Sheet1!$E$2:$E$14</c:f>
              <c:numCache>
                <c:formatCode>General</c:formatCode>
                <c:ptCount val="13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>13</c:v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</c:numCache>
            </c:numRef>
          </c:y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제38198회 KOSPI200·HSCEI·Nikkei225</c:v>
                </c:pt>
              </c:strCache>
            </c:strRef>
          </c:tx>
          <c:spPr>
            <a:solidFill>
              <a:srgbClr val="F58220"/>
            </a:solidFill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F58220"/>
              </a:solidFill>
              <a:ln w="9525" cap="flat">
                <a:solidFill>
                  <a:srgbClr val="F58220"/>
                </a:solidFill>
                <a:prstDash val="solid"/>
                <a:round/>
              </a:ln>
              <a:effectLst/>
            </c:spPr>
          </c:marker>
          <c:xVal>
            <c:numRef>
              <c:f>Sheet1!$A$2:$A$14</c:f>
              <c:numCache>
                <c:formatCode>General</c:formatCode>
                <c:ptCount val="13"/>
                <c:pt idx="0">
                  <c:v>11.3</c:v>
                </c:pt>
                <c:pt idx="1">
                  <c:v>11.7</c:v>
                </c:pt>
                <c:pt idx="2">
                  <c:v>12.4</c:v>
                </c:pt>
                <c:pt idx="3">
                  <c:v>12.5</c:v>
                </c:pt>
                <c:pt idx="4">
                  <c:v>13.9</c:v>
                </c:pt>
                <c:pt idx="5">
                  <c:v>14.7</c:v>
                </c:pt>
                <c:pt idx="6">
                  <c:v>18.1</c:v>
                </c:pt>
                <c:pt idx="7">
                  <c:v>18.6</c:v>
                </c:pt>
                <c:pt idx="8">
                  <c:v>20.1</c:v>
                </c:pt>
                <c:pt idx="9">
                  <c:v>24.6</c:v>
                </c:pt>
                <c:pt idx="10">
                  <c:v>33.9</c:v>
                </c:pt>
                <c:pt idx="11">
                  <c:v>48.7</c:v>
                </c:pt>
                <c:pt idx="12">
                  <c:v>57.6</c:v>
                </c:pt>
              </c:numCache>
            </c:numRef>
          </c:xVal>
          <c:yVal>
            <c:numRef>
              <c:f>Sheet1!$F$2:$F$14</c:f>
              <c:numCache>
                <c:formatCode>General</c:formatCode>
                <c:ptCount val="13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>10.7</c:v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</c:numCache>
            </c:numRef>
          </c:y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제38192회 EuroStoxx50·S&amp;P500·KOSPI200</c:v>
                </c:pt>
              </c:strCache>
            </c:strRef>
          </c:tx>
          <c:spPr>
            <a:solidFill>
              <a:srgbClr val="9AA6B2"/>
            </a:solidFill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9AA6B2"/>
              </a:solidFill>
              <a:ln w="9525" cap="flat">
                <a:solidFill>
                  <a:srgbClr val="9AA6B2"/>
                </a:solidFill>
                <a:prstDash val="solid"/>
                <a:round/>
              </a:ln>
              <a:effectLst/>
            </c:spPr>
          </c:marker>
          <c:xVal>
            <c:numRef>
              <c:f>Sheet1!$A$2:$A$14</c:f>
              <c:numCache>
                <c:formatCode>General</c:formatCode>
                <c:ptCount val="13"/>
                <c:pt idx="0">
                  <c:v>11.3</c:v>
                </c:pt>
                <c:pt idx="1">
                  <c:v>11.7</c:v>
                </c:pt>
                <c:pt idx="2">
                  <c:v>12.4</c:v>
                </c:pt>
                <c:pt idx="3">
                  <c:v>12.5</c:v>
                </c:pt>
                <c:pt idx="4">
                  <c:v>13.9</c:v>
                </c:pt>
                <c:pt idx="5">
                  <c:v>14.7</c:v>
                </c:pt>
                <c:pt idx="6">
                  <c:v>18.1</c:v>
                </c:pt>
                <c:pt idx="7">
                  <c:v>18.6</c:v>
                </c:pt>
                <c:pt idx="8">
                  <c:v>20.1</c:v>
                </c:pt>
                <c:pt idx="9">
                  <c:v>24.6</c:v>
                </c:pt>
                <c:pt idx="10">
                  <c:v>33.9</c:v>
                </c:pt>
                <c:pt idx="11">
                  <c:v>48.7</c:v>
                </c:pt>
                <c:pt idx="12">
                  <c:v>57.6</c:v>
                </c:pt>
              </c:numCache>
            </c:numRef>
          </c:xVal>
          <c:yVal>
            <c:numRef>
              <c:f>Sheet1!$G$2:$G$14</c:f>
              <c:numCache>
                <c:formatCode>General</c:formatCode>
                <c:ptCount val="13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>10.5</c:v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</c:numCache>
            </c:numRef>
          </c:yVal>
          <c:smooth val="0"/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제38196회 삼성전자·SK하이닉스</c:v>
                </c:pt>
              </c:strCache>
            </c:strRef>
          </c:tx>
          <c:spPr>
            <a:solidFill>
              <a:srgbClr val="9AA6B2"/>
            </a:solidFill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9AA6B2"/>
              </a:solidFill>
              <a:ln w="9525" cap="flat">
                <a:solidFill>
                  <a:srgbClr val="9AA6B2"/>
                </a:solidFill>
                <a:prstDash val="solid"/>
                <a:round/>
              </a:ln>
              <a:effectLst/>
            </c:spPr>
          </c:marker>
          <c:xVal>
            <c:numRef>
              <c:f>Sheet1!$A$2:$A$14</c:f>
              <c:numCache>
                <c:formatCode>General</c:formatCode>
                <c:ptCount val="13"/>
                <c:pt idx="0">
                  <c:v>11.3</c:v>
                </c:pt>
                <c:pt idx="1">
                  <c:v>11.7</c:v>
                </c:pt>
                <c:pt idx="2">
                  <c:v>12.4</c:v>
                </c:pt>
                <c:pt idx="3">
                  <c:v>12.5</c:v>
                </c:pt>
                <c:pt idx="4">
                  <c:v>13.9</c:v>
                </c:pt>
                <c:pt idx="5">
                  <c:v>14.7</c:v>
                </c:pt>
                <c:pt idx="6">
                  <c:v>18.1</c:v>
                </c:pt>
                <c:pt idx="7">
                  <c:v>18.6</c:v>
                </c:pt>
                <c:pt idx="8">
                  <c:v>20.1</c:v>
                </c:pt>
                <c:pt idx="9">
                  <c:v>24.6</c:v>
                </c:pt>
                <c:pt idx="10">
                  <c:v>33.9</c:v>
                </c:pt>
                <c:pt idx="11">
                  <c:v>48.7</c:v>
                </c:pt>
                <c:pt idx="12">
                  <c:v>57.6</c:v>
                </c:pt>
              </c:numCache>
            </c:numRef>
          </c:xVal>
          <c:yVal>
            <c:numRef>
              <c:f>Sheet1!$H$2:$H$14</c:f>
              <c:numCache>
                <c:formatCode>General</c:formatCode>
                <c:ptCount val="13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>17</c:v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</c:numCache>
            </c:numRef>
          </c:yVal>
          <c:smooth val="0"/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제38193회 EuroStoxx50·KOSPI200·Nikkei225</c:v>
                </c:pt>
              </c:strCache>
            </c:strRef>
          </c:tx>
          <c:spPr>
            <a:solidFill>
              <a:srgbClr val="9AA6B2"/>
            </a:solidFill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9AA6B2"/>
              </a:solidFill>
              <a:ln w="9525" cap="flat">
                <a:solidFill>
                  <a:srgbClr val="9AA6B2"/>
                </a:solidFill>
                <a:prstDash val="solid"/>
                <a:round/>
              </a:ln>
              <a:effectLst/>
            </c:spPr>
          </c:marker>
          <c:xVal>
            <c:numRef>
              <c:f>Sheet1!$A$2:$A$14</c:f>
              <c:numCache>
                <c:formatCode>General</c:formatCode>
                <c:ptCount val="13"/>
                <c:pt idx="0">
                  <c:v>11.3</c:v>
                </c:pt>
                <c:pt idx="1">
                  <c:v>11.7</c:v>
                </c:pt>
                <c:pt idx="2">
                  <c:v>12.4</c:v>
                </c:pt>
                <c:pt idx="3">
                  <c:v>12.5</c:v>
                </c:pt>
                <c:pt idx="4">
                  <c:v>13.9</c:v>
                </c:pt>
                <c:pt idx="5">
                  <c:v>14.7</c:v>
                </c:pt>
                <c:pt idx="6">
                  <c:v>18.1</c:v>
                </c:pt>
                <c:pt idx="7">
                  <c:v>18.6</c:v>
                </c:pt>
                <c:pt idx="8">
                  <c:v>20.1</c:v>
                </c:pt>
                <c:pt idx="9">
                  <c:v>24.6</c:v>
                </c:pt>
                <c:pt idx="10">
                  <c:v>33.9</c:v>
                </c:pt>
                <c:pt idx="11">
                  <c:v>48.7</c:v>
                </c:pt>
                <c:pt idx="12">
                  <c:v>57.6</c:v>
                </c:pt>
              </c:numCache>
            </c:numRef>
          </c:xVal>
          <c:yVal>
            <c:numRef>
              <c:f>Sheet1!$I$2:$I$14</c:f>
              <c:numCache>
                <c:formatCode>General</c:formatCode>
                <c:ptCount val="13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>11.5</c:v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</c:numCache>
            </c:numRef>
          </c:yVal>
          <c:smooth val="0"/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제38199회 삼성전자·SK하이닉스</c:v>
                </c:pt>
              </c:strCache>
            </c:strRef>
          </c:tx>
          <c:spPr>
            <a:solidFill>
              <a:srgbClr val="9AA6B2"/>
            </a:solidFill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9AA6B2"/>
              </a:solidFill>
              <a:ln w="9525" cap="flat">
                <a:solidFill>
                  <a:srgbClr val="9AA6B2"/>
                </a:solidFill>
                <a:prstDash val="solid"/>
                <a:round/>
              </a:ln>
              <a:effectLst/>
            </c:spPr>
          </c:marker>
          <c:xVal>
            <c:numRef>
              <c:f>Sheet1!$A$2:$A$14</c:f>
              <c:numCache>
                <c:formatCode>General</c:formatCode>
                <c:ptCount val="13"/>
                <c:pt idx="0">
                  <c:v>11.3</c:v>
                </c:pt>
                <c:pt idx="1">
                  <c:v>11.7</c:v>
                </c:pt>
                <c:pt idx="2">
                  <c:v>12.4</c:v>
                </c:pt>
                <c:pt idx="3">
                  <c:v>12.5</c:v>
                </c:pt>
                <c:pt idx="4">
                  <c:v>13.9</c:v>
                </c:pt>
                <c:pt idx="5">
                  <c:v>14.7</c:v>
                </c:pt>
                <c:pt idx="6">
                  <c:v>18.1</c:v>
                </c:pt>
                <c:pt idx="7">
                  <c:v>18.6</c:v>
                </c:pt>
                <c:pt idx="8">
                  <c:v>20.1</c:v>
                </c:pt>
                <c:pt idx="9">
                  <c:v>24.6</c:v>
                </c:pt>
                <c:pt idx="10">
                  <c:v>33.9</c:v>
                </c:pt>
                <c:pt idx="11">
                  <c:v>48.7</c:v>
                </c:pt>
                <c:pt idx="12">
                  <c:v>57.6</c:v>
                </c:pt>
              </c:numCache>
            </c:numRef>
          </c:xVal>
          <c:yVal>
            <c:numRef>
              <c:f>Sheet1!$J$2:$J$14</c:f>
              <c:numCache>
                <c:formatCode>General</c:formatCode>
                <c:ptCount val="13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>13</c:v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</c:numCache>
            </c:numRef>
          </c:yVal>
          <c:smooth val="0"/>
        </c:ser>
        <c:ser>
          <c:idx val="9"/>
          <c:order val="9"/>
          <c:tx>
            <c:strRef>
              <c:f>Sheet1!$K$1</c:f>
              <c:strCache>
                <c:ptCount val="1"/>
                <c:pt idx="0">
                  <c:v>제38197회 삼성전자·SK하이닉스</c:v>
                </c:pt>
              </c:strCache>
            </c:strRef>
          </c:tx>
          <c:spPr>
            <a:solidFill>
              <a:srgbClr val="9AA6B2"/>
            </a:solidFill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9AA6B2"/>
              </a:solidFill>
              <a:ln w="9525" cap="flat">
                <a:solidFill>
                  <a:srgbClr val="9AA6B2"/>
                </a:solidFill>
                <a:prstDash val="solid"/>
                <a:round/>
              </a:ln>
              <a:effectLst/>
            </c:spPr>
          </c:marker>
          <c:xVal>
            <c:numRef>
              <c:f>Sheet1!$A$2:$A$14</c:f>
              <c:numCache>
                <c:formatCode>General</c:formatCode>
                <c:ptCount val="13"/>
                <c:pt idx="0">
                  <c:v>11.3</c:v>
                </c:pt>
                <c:pt idx="1">
                  <c:v>11.7</c:v>
                </c:pt>
                <c:pt idx="2">
                  <c:v>12.4</c:v>
                </c:pt>
                <c:pt idx="3">
                  <c:v>12.5</c:v>
                </c:pt>
                <c:pt idx="4">
                  <c:v>13.9</c:v>
                </c:pt>
                <c:pt idx="5">
                  <c:v>14.7</c:v>
                </c:pt>
                <c:pt idx="6">
                  <c:v>18.1</c:v>
                </c:pt>
                <c:pt idx="7">
                  <c:v>18.6</c:v>
                </c:pt>
                <c:pt idx="8">
                  <c:v>20.1</c:v>
                </c:pt>
                <c:pt idx="9">
                  <c:v>24.6</c:v>
                </c:pt>
                <c:pt idx="10">
                  <c:v>33.9</c:v>
                </c:pt>
                <c:pt idx="11">
                  <c:v>48.7</c:v>
                </c:pt>
                <c:pt idx="12">
                  <c:v>57.6</c:v>
                </c:pt>
              </c:numCache>
            </c:numRef>
          </c:xVal>
          <c:yVal>
            <c:numRef>
              <c:f>Sheet1!$K$2:$K$14</c:f>
              <c:numCache>
                <c:formatCode>General</c:formatCode>
                <c:ptCount val="13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>20</c:v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</c:numCache>
            </c:numRef>
          </c:yVal>
          <c:smooth val="0"/>
        </c:ser>
        <c:ser>
          <c:idx val="10"/>
          <c:order val="10"/>
          <c:tx>
            <c:strRef>
              <c:f>Sheet1!$L$1</c:f>
              <c:strCache>
                <c:ptCount val="1"/>
                <c:pt idx="0">
                  <c:v>제38201회 테슬라·팔란티어 테크</c:v>
                </c:pt>
              </c:strCache>
            </c:strRef>
          </c:tx>
          <c:spPr>
            <a:solidFill>
              <a:srgbClr val="C62828"/>
            </a:solidFill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C62828"/>
              </a:solidFill>
              <a:ln w="9525" cap="flat">
                <a:solidFill>
                  <a:srgbClr val="C62828"/>
                </a:solidFill>
                <a:prstDash val="solid"/>
                <a:round/>
              </a:ln>
              <a:effectLst/>
            </c:spPr>
          </c:marker>
          <c:xVal>
            <c:numRef>
              <c:f>Sheet1!$A$2:$A$14</c:f>
              <c:numCache>
                <c:formatCode>General</c:formatCode>
                <c:ptCount val="13"/>
                <c:pt idx="0">
                  <c:v>11.3</c:v>
                </c:pt>
                <c:pt idx="1">
                  <c:v>11.7</c:v>
                </c:pt>
                <c:pt idx="2">
                  <c:v>12.4</c:v>
                </c:pt>
                <c:pt idx="3">
                  <c:v>12.5</c:v>
                </c:pt>
                <c:pt idx="4">
                  <c:v>13.9</c:v>
                </c:pt>
                <c:pt idx="5">
                  <c:v>14.7</c:v>
                </c:pt>
                <c:pt idx="6">
                  <c:v>18.1</c:v>
                </c:pt>
                <c:pt idx="7">
                  <c:v>18.6</c:v>
                </c:pt>
                <c:pt idx="8">
                  <c:v>20.1</c:v>
                </c:pt>
                <c:pt idx="9">
                  <c:v>24.6</c:v>
                </c:pt>
                <c:pt idx="10">
                  <c:v>33.9</c:v>
                </c:pt>
                <c:pt idx="11">
                  <c:v>48.7</c:v>
                </c:pt>
                <c:pt idx="12">
                  <c:v>57.6</c:v>
                </c:pt>
              </c:numCache>
            </c:numRef>
          </c:xVal>
          <c:yVal>
            <c:numRef>
              <c:f>Sheet1!$L$2:$L$14</c:f>
              <c:numCache>
                <c:formatCode>General</c:formatCode>
                <c:ptCount val="13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17</c:v>
                </c:pt>
                <c:pt idx="11">
                  <c:v/>
                </c:pt>
                <c:pt idx="12">
                  <c:v/>
                </c:pt>
              </c:numCache>
            </c:numRef>
          </c:yVal>
          <c:smooth val="0"/>
        </c:ser>
        <c:ser>
          <c:idx val="11"/>
          <c:order val="11"/>
          <c:tx>
            <c:strRef>
              <c:f>Sheet1!$M$1</c:f>
              <c:strCache>
                <c:ptCount val="1"/>
                <c:pt idx="0">
                  <c:v>제38200회 테슬라·마이크론 테크놀로지</c:v>
                </c:pt>
              </c:strCache>
            </c:strRef>
          </c:tx>
          <c:spPr>
            <a:solidFill>
              <a:srgbClr val="C62828"/>
            </a:solidFill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C62828"/>
              </a:solidFill>
              <a:ln w="9525" cap="flat">
                <a:solidFill>
                  <a:srgbClr val="C62828"/>
                </a:solidFill>
                <a:prstDash val="solid"/>
                <a:round/>
              </a:ln>
              <a:effectLst/>
            </c:spPr>
          </c:marker>
          <c:xVal>
            <c:numRef>
              <c:f>Sheet1!$A$2:$A$14</c:f>
              <c:numCache>
                <c:formatCode>General</c:formatCode>
                <c:ptCount val="13"/>
                <c:pt idx="0">
                  <c:v>11.3</c:v>
                </c:pt>
                <c:pt idx="1">
                  <c:v>11.7</c:v>
                </c:pt>
                <c:pt idx="2">
                  <c:v>12.4</c:v>
                </c:pt>
                <c:pt idx="3">
                  <c:v>12.5</c:v>
                </c:pt>
                <c:pt idx="4">
                  <c:v>13.9</c:v>
                </c:pt>
                <c:pt idx="5">
                  <c:v>14.7</c:v>
                </c:pt>
                <c:pt idx="6">
                  <c:v>18.1</c:v>
                </c:pt>
                <c:pt idx="7">
                  <c:v>18.6</c:v>
                </c:pt>
                <c:pt idx="8">
                  <c:v>20.1</c:v>
                </c:pt>
                <c:pt idx="9">
                  <c:v>24.6</c:v>
                </c:pt>
                <c:pt idx="10">
                  <c:v>33.9</c:v>
                </c:pt>
                <c:pt idx="11">
                  <c:v>48.7</c:v>
                </c:pt>
                <c:pt idx="12">
                  <c:v>57.6</c:v>
                </c:pt>
              </c:numCache>
            </c:numRef>
          </c:xVal>
          <c:yVal>
            <c:numRef>
              <c:f>Sheet1!$M$2:$M$14</c:f>
              <c:numCache>
                <c:formatCode>General</c:formatCode>
                <c:ptCount val="13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>15.3</c:v>
                </c:pt>
                <c:pt idx="12">
                  <c:v/>
                </c:pt>
              </c:numCache>
            </c:numRef>
          </c:yVal>
          <c:smooth val="0"/>
        </c:ser>
        <c:ser>
          <c:idx val="12"/>
          <c:order val="12"/>
          <c:tx>
            <c:strRef>
              <c:f>Sheet1!$N$1</c:f>
              <c:strCache>
                <c:ptCount val="1"/>
                <c:pt idx="0">
                  <c:v>제38202회 마이크론 테크놀로지·팔란티어 테크</c:v>
                </c:pt>
              </c:strCache>
            </c:strRef>
          </c:tx>
          <c:spPr>
            <a:solidFill>
              <a:srgbClr val="C62828"/>
            </a:solidFill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C62828"/>
              </a:solidFill>
              <a:ln w="9525" cap="flat">
                <a:solidFill>
                  <a:srgbClr val="C62828"/>
                </a:solidFill>
                <a:prstDash val="solid"/>
                <a:round/>
              </a:ln>
              <a:effectLst/>
            </c:spPr>
          </c:marker>
          <c:xVal>
            <c:numRef>
              <c:f>Sheet1!$A$2:$A$14</c:f>
              <c:numCache>
                <c:formatCode>General</c:formatCode>
                <c:ptCount val="13"/>
                <c:pt idx="0">
                  <c:v>11.3</c:v>
                </c:pt>
                <c:pt idx="1">
                  <c:v>11.7</c:v>
                </c:pt>
                <c:pt idx="2">
                  <c:v>12.4</c:v>
                </c:pt>
                <c:pt idx="3">
                  <c:v>12.5</c:v>
                </c:pt>
                <c:pt idx="4">
                  <c:v>13.9</c:v>
                </c:pt>
                <c:pt idx="5">
                  <c:v>14.7</c:v>
                </c:pt>
                <c:pt idx="6">
                  <c:v>18.1</c:v>
                </c:pt>
                <c:pt idx="7">
                  <c:v>18.6</c:v>
                </c:pt>
                <c:pt idx="8">
                  <c:v>20.1</c:v>
                </c:pt>
                <c:pt idx="9">
                  <c:v>24.6</c:v>
                </c:pt>
                <c:pt idx="10">
                  <c:v>33.9</c:v>
                </c:pt>
                <c:pt idx="11">
                  <c:v>48.7</c:v>
                </c:pt>
                <c:pt idx="12">
                  <c:v>57.6</c:v>
                </c:pt>
              </c:numCache>
            </c:numRef>
          </c:xVal>
          <c:yVal>
            <c:numRef>
              <c:f>Sheet1!$N$2:$N$14</c:f>
              <c:numCache>
                <c:formatCode>General</c:formatCode>
                <c:ptCount val="13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>23.5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60"/>
          <c:min val="0"/>
        </c:scaling>
        <c:delete val="0"/>
        <c:axPos val="b"/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맑은 고딕"/>
                  </a:defRPr>
                </a:pPr>
                <a:r>
                  <a:rPr sz="900" b="0" i="0" u="none" strike="noStrike">
                    <a:solidFill>
                      <a:srgbClr val="000000"/>
                    </a:solidFill>
                    <a:latin typeface="맑은 고딕"/>
                  </a:rPr>
                  <a:t>손실 확률 B (%) — 오른쪽일수록 위험하다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맑은 고딕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majorUnit val="10"/>
      </c:valAx>
      <c:valAx>
        <c:axId val="2094734552"/>
        <c:scaling>
          <c:orientation val="minMax"/>
          <c:max val="25"/>
          <c:min val="5"/>
        </c:scaling>
        <c:delete val="0"/>
        <c:axPos val="l"/>
        <c:majorGridlines>
          <c:spPr>
            <a:ln w="6350" cap="flat">
              <a:solidFill>
                <a:srgbClr val="E5E4E1"/>
              </a:solidFill>
              <a:prstDash val="dash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맑은 고딕"/>
                  </a:defRPr>
                </a:pPr>
                <a:r>
                  <a:rPr sz="900" b="0" i="0" u="none" strike="noStrike">
                    <a:solidFill>
                      <a:srgbClr val="000000"/>
                    </a:solidFill>
                    <a:latin typeface="맑은 고딕"/>
                  </a:rPr>
                  <a:t>연 수익률 (%)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맑은 고딕"/>
              </a:defRPr>
            </a:pPr>
            <a:endParaRPr lang="en-US"/>
          </a:p>
        </c:txPr>
        <c:crossAx val="2094734554"/>
        <c:crosses val="autoZero"/>
        <c:crossBetween val="midCat"/>
        <c:majorUnit val="5"/>
      </c:valAx>
      <c:spPr>
        <a:solidFill>
          <a:srgbClr val="FFFFFF"/>
        </a:solidFill>
        <a:ln w="12700" cap="flat">
          <a:solidFill>
            <a:srgbClr val="363636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8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5836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MIRAE ASSET · ELS 세일즈 제안서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969264"/>
            <a:ext cx="6858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제38190~38202회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13종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66928" y="2578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공모 청약 2026.10.12~2026.10.21 · 일괄신고추가서류 2026.10.08 공시 원문 기준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3054096"/>
            <a:ext cx="6858000" cy="2889504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3282696"/>
            <a:ext cx="1060704" cy="256032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3282696"/>
            <a:ext cx="1060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 1순위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993392" y="3236976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제38194회 삼성전자·SK하이닉스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993392" y="3547872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 12.0% · 손실 확률 11.3%로 13종 중 가장 낮습니다 (위험 1%당 연 1.06% 로도 1위)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04672" y="4215384"/>
            <a:ext cx="1060704" cy="256032"/>
          </a:xfrm>
          <a:prstGeom prst="rect">
            <a:avLst/>
          </a:prstGeom>
          <a:solidFill>
            <a:srgbClr val="C62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4215384"/>
            <a:ext cx="1060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최고 수익률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993392" y="4169664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제38202회 마이크론 테크놀로지·팔란티어 테크 (온라인 전용)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993392" y="4480560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 23.5% (원화) · 손실 확률 57.6% — 아래 ‘권하지 않음’에 함께 들어 있습니다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4672" y="5148072"/>
            <a:ext cx="1060704" cy="256032"/>
          </a:xfrm>
          <a:prstGeom prst="rect">
            <a:avLst/>
          </a:prstGeom>
          <a:solidFill>
            <a:srgbClr val="C62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5148072"/>
            <a:ext cx="1060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권하지 않음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993392" y="5102352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제38202·38200·38201회 — 3종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993392" y="5413248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공정가격 미달 3종 (6,290~8,276원) · 검증 표본 부족 2종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790688" y="969264"/>
            <a:ext cx="3840480" cy="4974336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65008" y="1188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청약 일정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065008" y="1517904"/>
            <a:ext cx="3291840" cy="10973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65008" y="170078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 일반투자자 청약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065008" y="190195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B601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2026.10.12 ~ 2026.10.16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065008" y="219456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601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숙려제도 대상 — 실제 마감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065008" y="252374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청약기간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065008" y="272491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2026.10.12 ~ 2026.10.21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065008" y="301752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숙려 대상이 아닌 경우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065008" y="334670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숙려기간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065008" y="354787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2026.10.19 ~ 2026.10.20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065008" y="384048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기간에는 청약 불가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8065008" y="416966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가입의사 확인기간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065008" y="437083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2026.10.21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065008" y="46634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없으면 청약 취소·환불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8065008" y="499262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발행일 / 만기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065008" y="519379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2026.10.22 / 2029.10.22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66928" y="614476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 종목 원금비보장 · 위험등급 1등급(매우높은위험) · 예금자보호 대상 아님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11057839" cy="12802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57200"/>
            <a:ext cx="1105783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회차 13종 — 손실 확률로 줄 세우면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A는 발행사가 실제 과거 시세 20년으로 돌린 결과, B는 같은 조건을 공시 변동성·상관계수로 10만 번 다시 돌린 결과(± 는 95% 신뢰구간). 등급은 B 하나로만 가릅니다 — 15% 이하 방어적 / 15~25% 중간 / 25% 초과 공격적.</a:t>
            </a:r>
            <a:endParaRPr lang="en-US" sz="1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261872"/>
          <a:ext cx="11057839" cy="914400"/>
        </p:xfrm>
        <a:graphic>
          <a:graphicData uri="http://schemas.openxmlformats.org/drawingml/2006/table">
            <a:tbl>
              <a:tblPr/>
              <a:tblGrid>
                <a:gridCol w="603504"/>
                <a:gridCol w="2441448"/>
                <a:gridCol w="658368"/>
                <a:gridCol w="640080"/>
                <a:gridCol w="1280160"/>
                <a:gridCol w="457200"/>
                <a:gridCol w="1051560"/>
                <a:gridCol w="603504"/>
                <a:gridCol w="731520"/>
                <a:gridCol w="731520"/>
                <a:gridCol w="996696"/>
                <a:gridCol w="862279"/>
              </a:tblGrid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회차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기초자산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수익률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조기상환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주기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배리어 (%)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낙인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(%)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B. 시뮬레이션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손실 확률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등급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B. 1차에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끝날 확률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B. 만기까지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갈 확률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A. 설명서상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백테스트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액면 1만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출발 가치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B601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38194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삼성전자·SK하이닉스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12.0%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6M · 6회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65×5-60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35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E85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11.3% ±0.20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E85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방어적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E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E85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79.2%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12.2%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0.00%·20.7년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9,614원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C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38190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KOSPI200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9.7%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6M · 6회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85×3-80-75-70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45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E85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11.7% ±0.17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E85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방어적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E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E85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69.6%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14.7%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0.00%·20.7년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9,697원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38191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KOSPI200·HSCEI·Nikkei225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10.1%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6M · 6회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85×3-80-75-70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35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E85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12.4% ±0.18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E85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방어적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E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E85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52.2%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29.2%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1.52%·20.7년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9,836원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B601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38195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KOSPI200·SK하이닉스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13.0%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6M · 6회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70×5-65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35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E85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12.5% ±0.19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E85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방어적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E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E85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76.0%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13.6%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0.34%·20.7년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9,603원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C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B601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38198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KOSPI200·HSCEI·Nikkei225  </a:t>
                      </a:r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43B7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온라인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10.7%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6M · 6회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90-85×2-80-75-70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35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E85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13.9% ±0.18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E85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방어적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E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E85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39.7%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34.1%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1.58%·20.7년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9,876원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C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38192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EuroStoxx50·S&amp;P500·KOSPI200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10.5%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6M · 6회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85×2-80×2-75-70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E85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14.7% ±0.19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E85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방어적 △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E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E85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53.9%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27.1%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0.00%·20.7년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9,736원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38196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삼성전자·SK하이닉스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17.0%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6M · 6회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75×4-70-65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35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8A6A0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18.1% ±0.26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8A6A0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2D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E85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66.1%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20.2%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0.55%·20.7년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9,488원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38193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EuroStoxx50·KOSPI200·Nikkei225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11.5%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6M · 6회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85×3-80-75-70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45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8A6A0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18.6% ±0.22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8A6A0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2D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E85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55.4%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26.5%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2.19%·20.7년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9,485원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38199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삼성전자·SK하이닉스  </a:t>
                      </a:r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43B7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온라인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13.0%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6M · 6회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90-85×2-80-75-70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8A6A0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20.1% ±0.22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8A6A0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2D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E85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46.4%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31.0%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1.94%·20.7년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9,318원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38197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삼성전자·SK하이닉스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20.0%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6M · 6회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85×3-80-75-70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35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8A6A0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24.6% ±0.24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8A6A0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중간 △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2D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E85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52.8%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28.6%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1.39%·20.7년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9,333원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628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38201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테슬라·팔란티어 테크  </a:t>
                      </a:r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43B7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온라인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17.0%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6M · 6회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75×4-70×2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35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C628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33.9% ±0.25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628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공격적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7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E85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49.5%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35.6%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i="1" dirty="0">
                          <a:solidFill>
                            <a:srgbClr val="8A6A0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3.97%·3.0년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C628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8,276원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F3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628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38200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테슬라·마이크론 테크놀로지  </a:t>
                      </a:r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43B7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온라인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15.3%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6M · 6회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90-85-80-75-70-65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C628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48.7% ±0.19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628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공격적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7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E85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29.1%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51.3%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0.12%·13.3년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C628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6,790원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F3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628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38202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마이크론 테크놀로지·팔란티어 테크  </a:t>
                      </a:r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43B7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온라인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23.5%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6M · 6회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85×3-80-75-70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C628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57.6% ±0.29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628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공격적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7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E85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26.2%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59.7%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i="1" dirty="0">
                          <a:solidFill>
                            <a:srgbClr val="8A6A0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2.78%·3.0년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C628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6,290원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F3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" y="6053328"/>
            <a:ext cx="11057839" cy="475488"/>
          </a:xfrm>
          <a:prstGeom prst="rect">
            <a:avLst/>
          </a:prstGeom>
          <a:solidFill>
            <a:srgbClr val="ECEF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6053328"/>
            <a:ext cx="1076523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읽는 법 — </a:t>
            </a:r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주황 줄이 추천 3종, 붉은 줄이 권하지 않는 3종. </a:t>
            </a:r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‘출발 가치’는 발행사가 공시한 공정가격</a:t>
            </a:r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으로, 액면 1만 단위를 넣는 순간의 이론 값어치입니다 — 제38202·38200·38201회만 8,276원 이하로 크게 깎였습니다.  </a:t>
            </a:r>
            <a:pPr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043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온라인</a:t>
            </a:r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표시는 영업점 창구 청약이 안 되는 상품입니다.  </a:t>
            </a:r>
            <a:pPr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8A6A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△</a:t>
            </a:r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2종은 손실 확률이 등급 경계에 걸쳐 있어 등급 라벨을 단정할 수 없습니다.  </a:t>
            </a:r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 열은 검증기간이 짧으면 기울임.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11057839" cy="12802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57200"/>
            <a:ext cx="1105783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제38194회로 보는 ELS 작동 방식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삼성전자·SK하이닉스 · 조건 충족 시 연 12.0% · 6개월마다 6번 판정합니다. 배리어·판정일·받는 돈은 공시 원문 그대로이고, 확률은 같은 조건으로 돌린 시뮬레이션(B)입니다.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438885" y="1426464"/>
            <a:ext cx="9313926" cy="12802"/>
          </a:xfrm>
          <a:prstGeom prst="rect">
            <a:avLst/>
          </a:prstGeom>
          <a:solidFill>
            <a:srgbClr val="FAB0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4877" y="1375258"/>
            <a:ext cx="128016" cy="128016"/>
          </a:xfrm>
          <a:prstGeom prst="ellipse">
            <a:avLst/>
          </a:prstGeom>
          <a:solidFill>
            <a:srgbClr val="F5822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664208"/>
            <a:ext cx="1743913" cy="2121408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664208"/>
            <a:ext cx="1743913" cy="45720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746504"/>
            <a:ext cx="156103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8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58368" y="1947672"/>
            <a:ext cx="1561033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2027.04.19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58368" y="2167128"/>
            <a:ext cx="1561033" cy="7315"/>
          </a:xfrm>
          <a:prstGeom prst="rect">
            <a:avLst/>
          </a:prstGeom>
          <a:solidFill>
            <a:srgbClr val="E5E4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212848"/>
            <a:ext cx="156103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기준가 대비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658368" y="2350008"/>
            <a:ext cx="156103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65%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58368" y="2734056"/>
            <a:ext cx="156103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받는 돈 (액면 1만원)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658368" y="2871216"/>
            <a:ext cx="15610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B601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10,600원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8368" y="3163824"/>
            <a:ext cx="156103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여기서 끝날 확률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658368" y="3300984"/>
            <a:ext cx="15610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5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79.2%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58368" y="3593592"/>
            <a:ext cx="1561033" cy="91440"/>
          </a:xfrm>
          <a:prstGeom prst="rect">
            <a:avLst/>
          </a:prstGeom>
          <a:solidFill>
            <a:srgbClr val="ECEF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3593592"/>
            <a:ext cx="1561033" cy="91440"/>
          </a:xfrm>
          <a:prstGeom prst="rect">
            <a:avLst/>
          </a:prstGeom>
          <a:solidFill>
            <a:srgbClr val="2E85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37662" y="1375258"/>
            <a:ext cx="128016" cy="128016"/>
          </a:xfrm>
          <a:prstGeom prst="ellipse">
            <a:avLst/>
          </a:prstGeom>
          <a:solidFill>
            <a:srgbClr val="F5822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429713" y="1664208"/>
            <a:ext cx="1743913" cy="2121408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429713" y="1664208"/>
            <a:ext cx="1743913" cy="45720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21153" y="1746504"/>
            <a:ext cx="156103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8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2차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521153" y="1947672"/>
            <a:ext cx="1561033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2027.10.19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521153" y="2167128"/>
            <a:ext cx="1561033" cy="7315"/>
          </a:xfrm>
          <a:prstGeom prst="rect">
            <a:avLst/>
          </a:prstGeom>
          <a:solidFill>
            <a:srgbClr val="E5E4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21153" y="2212848"/>
            <a:ext cx="156103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기준가 대비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2521153" y="2350008"/>
            <a:ext cx="156103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65%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2521153" y="2734056"/>
            <a:ext cx="156103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받는 돈 (액면 1만원)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2521153" y="2871216"/>
            <a:ext cx="15610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B601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11,200원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521153" y="3163824"/>
            <a:ext cx="156103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여기서 끝날 확률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2521153" y="3300984"/>
            <a:ext cx="15610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5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4.8%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2521153" y="3593592"/>
            <a:ext cx="1561033" cy="91440"/>
          </a:xfrm>
          <a:prstGeom prst="rect">
            <a:avLst/>
          </a:prstGeom>
          <a:solidFill>
            <a:srgbClr val="ECEF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21153" y="3593592"/>
            <a:ext cx="93799" cy="91440"/>
          </a:xfrm>
          <a:prstGeom prst="rect">
            <a:avLst/>
          </a:prstGeom>
          <a:solidFill>
            <a:srgbClr val="2E85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100447" y="1375258"/>
            <a:ext cx="128016" cy="128016"/>
          </a:xfrm>
          <a:prstGeom prst="ellipse">
            <a:avLst/>
          </a:prstGeom>
          <a:solidFill>
            <a:srgbClr val="F5822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292498" y="1664208"/>
            <a:ext cx="1743913" cy="2121408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292498" y="1664208"/>
            <a:ext cx="1743913" cy="45720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83938" y="1746504"/>
            <a:ext cx="156103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8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3차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383938" y="1947672"/>
            <a:ext cx="1561033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2028.04.18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383938" y="2167128"/>
            <a:ext cx="1561033" cy="7315"/>
          </a:xfrm>
          <a:prstGeom prst="rect">
            <a:avLst/>
          </a:prstGeom>
          <a:solidFill>
            <a:srgbClr val="E5E4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83938" y="2212848"/>
            <a:ext cx="156103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기준가 대비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4383938" y="2350008"/>
            <a:ext cx="156103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65%</a:t>
            </a:r>
            <a:endParaRPr lang="en-US" sz="2100" dirty="0"/>
          </a:p>
        </p:txBody>
      </p:sp>
      <p:sp>
        <p:nvSpPr>
          <p:cNvPr id="42" name="Text 40"/>
          <p:cNvSpPr/>
          <p:nvPr/>
        </p:nvSpPr>
        <p:spPr>
          <a:xfrm>
            <a:off x="4383938" y="2734056"/>
            <a:ext cx="156103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받는 돈 (액면 1만원)</a:t>
            </a:r>
            <a:endParaRPr lang="en-US" sz="650" dirty="0"/>
          </a:p>
        </p:txBody>
      </p:sp>
      <p:sp>
        <p:nvSpPr>
          <p:cNvPr id="43" name="Text 41"/>
          <p:cNvSpPr/>
          <p:nvPr/>
        </p:nvSpPr>
        <p:spPr>
          <a:xfrm>
            <a:off x="4383938" y="2871216"/>
            <a:ext cx="15610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B601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11,800원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383938" y="3163824"/>
            <a:ext cx="156103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여기서 끝날 확률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4383938" y="3300984"/>
            <a:ext cx="15610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5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1.9%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4383938" y="3593592"/>
            <a:ext cx="1561033" cy="91440"/>
          </a:xfrm>
          <a:prstGeom prst="rect">
            <a:avLst/>
          </a:prstGeom>
          <a:solidFill>
            <a:srgbClr val="ECEF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383938" y="3593592"/>
            <a:ext cx="37949" cy="91440"/>
          </a:xfrm>
          <a:prstGeom prst="rect">
            <a:avLst/>
          </a:prstGeom>
          <a:solidFill>
            <a:srgbClr val="2E85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963232" y="1375258"/>
            <a:ext cx="128016" cy="128016"/>
          </a:xfrm>
          <a:prstGeom prst="ellipse">
            <a:avLst/>
          </a:prstGeom>
          <a:solidFill>
            <a:srgbClr val="F5822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155284" y="1664208"/>
            <a:ext cx="1743913" cy="2121408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155284" y="1664208"/>
            <a:ext cx="1743913" cy="45720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46724" y="1746504"/>
            <a:ext cx="156103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8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4차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246724" y="1947672"/>
            <a:ext cx="1561033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2028.10.17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246724" y="2167128"/>
            <a:ext cx="1561033" cy="7315"/>
          </a:xfrm>
          <a:prstGeom prst="rect">
            <a:avLst/>
          </a:prstGeom>
          <a:solidFill>
            <a:srgbClr val="E5E4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246724" y="2212848"/>
            <a:ext cx="156103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기준가 대비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6246724" y="2350008"/>
            <a:ext cx="156103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65%</a:t>
            </a:r>
            <a:endParaRPr lang="en-US" sz="2100" dirty="0"/>
          </a:p>
        </p:txBody>
      </p:sp>
      <p:sp>
        <p:nvSpPr>
          <p:cNvPr id="56" name="Text 54"/>
          <p:cNvSpPr/>
          <p:nvPr/>
        </p:nvSpPr>
        <p:spPr>
          <a:xfrm>
            <a:off x="6246724" y="2734056"/>
            <a:ext cx="156103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받는 돈 (액면 1만원)</a:t>
            </a:r>
            <a:endParaRPr lang="en-US" sz="650" dirty="0"/>
          </a:p>
        </p:txBody>
      </p:sp>
      <p:sp>
        <p:nvSpPr>
          <p:cNvPr id="57" name="Text 55"/>
          <p:cNvSpPr/>
          <p:nvPr/>
        </p:nvSpPr>
        <p:spPr>
          <a:xfrm>
            <a:off x="6246724" y="2871216"/>
            <a:ext cx="15610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B601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12,400원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6246724" y="3163824"/>
            <a:ext cx="156103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여기서 끝날 확률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6246724" y="3300984"/>
            <a:ext cx="15610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5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1.1%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6246724" y="3593592"/>
            <a:ext cx="1561033" cy="91440"/>
          </a:xfrm>
          <a:prstGeom prst="rect">
            <a:avLst/>
          </a:prstGeom>
          <a:solidFill>
            <a:srgbClr val="ECEF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246724" y="3593592"/>
            <a:ext cx="22237" cy="91440"/>
          </a:xfrm>
          <a:prstGeom prst="rect">
            <a:avLst/>
          </a:prstGeom>
          <a:solidFill>
            <a:srgbClr val="2E85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826017" y="1375258"/>
            <a:ext cx="128016" cy="128016"/>
          </a:xfrm>
          <a:prstGeom prst="ellipse">
            <a:avLst/>
          </a:prstGeom>
          <a:solidFill>
            <a:srgbClr val="F5822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018069" y="1664208"/>
            <a:ext cx="1743913" cy="2121408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018069" y="1664208"/>
            <a:ext cx="1743913" cy="45720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109509" y="1746504"/>
            <a:ext cx="156103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8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5차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8109509" y="1947672"/>
            <a:ext cx="1561033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2029.04.17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8109509" y="2167128"/>
            <a:ext cx="1561033" cy="7315"/>
          </a:xfrm>
          <a:prstGeom prst="rect">
            <a:avLst/>
          </a:prstGeom>
          <a:solidFill>
            <a:srgbClr val="E5E4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109509" y="2212848"/>
            <a:ext cx="156103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기준가 대비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8109509" y="2350008"/>
            <a:ext cx="156103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65%</a:t>
            </a:r>
            <a:endParaRPr lang="en-US" sz="2100" dirty="0"/>
          </a:p>
        </p:txBody>
      </p:sp>
      <p:sp>
        <p:nvSpPr>
          <p:cNvPr id="70" name="Text 68"/>
          <p:cNvSpPr/>
          <p:nvPr/>
        </p:nvSpPr>
        <p:spPr>
          <a:xfrm>
            <a:off x="8109509" y="2734056"/>
            <a:ext cx="156103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받는 돈 (액면 1만원)</a:t>
            </a:r>
            <a:endParaRPr lang="en-US" sz="650" dirty="0"/>
          </a:p>
        </p:txBody>
      </p:sp>
      <p:sp>
        <p:nvSpPr>
          <p:cNvPr id="71" name="Text 69"/>
          <p:cNvSpPr/>
          <p:nvPr/>
        </p:nvSpPr>
        <p:spPr>
          <a:xfrm>
            <a:off x="8109509" y="2871216"/>
            <a:ext cx="15610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B601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13,000원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8109509" y="3163824"/>
            <a:ext cx="156103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여기서 끝날 확률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8109509" y="3300984"/>
            <a:ext cx="15610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5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0.8%</a:t>
            </a:r>
            <a:endParaRPr lang="en-US" sz="1400" dirty="0"/>
          </a:p>
        </p:txBody>
      </p:sp>
      <p:sp>
        <p:nvSpPr>
          <p:cNvPr id="74" name="Shape 72"/>
          <p:cNvSpPr/>
          <p:nvPr/>
        </p:nvSpPr>
        <p:spPr>
          <a:xfrm>
            <a:off x="8109509" y="3593592"/>
            <a:ext cx="1561033" cy="91440"/>
          </a:xfrm>
          <a:prstGeom prst="rect">
            <a:avLst/>
          </a:prstGeom>
          <a:solidFill>
            <a:srgbClr val="ECEF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109509" y="3593592"/>
            <a:ext cx="15673" cy="91440"/>
          </a:xfrm>
          <a:prstGeom prst="rect">
            <a:avLst/>
          </a:prstGeom>
          <a:solidFill>
            <a:srgbClr val="2E85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0688803" y="1375258"/>
            <a:ext cx="128016" cy="128016"/>
          </a:xfrm>
          <a:prstGeom prst="ellipse">
            <a:avLst/>
          </a:prstGeom>
          <a:solidFill>
            <a:srgbClr val="043B7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9880854" y="1664208"/>
            <a:ext cx="1743913" cy="2121408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9880854" y="1664208"/>
            <a:ext cx="1743913" cy="45720"/>
          </a:xfrm>
          <a:prstGeom prst="rect">
            <a:avLst/>
          </a:prstGeom>
          <a:solidFill>
            <a:srgbClr val="043B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9972294" y="1746504"/>
            <a:ext cx="156103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43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만기</a:t>
            </a:r>
            <a:endParaRPr lang="en-US" sz="950" dirty="0"/>
          </a:p>
        </p:txBody>
      </p:sp>
      <p:sp>
        <p:nvSpPr>
          <p:cNvPr id="80" name="Text 78"/>
          <p:cNvSpPr/>
          <p:nvPr/>
        </p:nvSpPr>
        <p:spPr>
          <a:xfrm>
            <a:off x="9972294" y="1947672"/>
            <a:ext cx="1561033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2029.10.22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9972294" y="2167128"/>
            <a:ext cx="1561033" cy="7315"/>
          </a:xfrm>
          <a:prstGeom prst="rect">
            <a:avLst/>
          </a:prstGeom>
          <a:solidFill>
            <a:srgbClr val="E5E4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9972294" y="2212848"/>
            <a:ext cx="156103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기준가 대비</a:t>
            </a:r>
            <a:endParaRPr lang="en-US" sz="700" dirty="0"/>
          </a:p>
        </p:txBody>
      </p:sp>
      <p:sp>
        <p:nvSpPr>
          <p:cNvPr id="83" name="Text 81"/>
          <p:cNvSpPr/>
          <p:nvPr/>
        </p:nvSpPr>
        <p:spPr>
          <a:xfrm>
            <a:off x="9972294" y="2350008"/>
            <a:ext cx="156103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60%</a:t>
            </a:r>
            <a:endParaRPr lang="en-US" sz="2100" dirty="0"/>
          </a:p>
        </p:txBody>
      </p:sp>
      <p:sp>
        <p:nvSpPr>
          <p:cNvPr id="84" name="Text 82"/>
          <p:cNvSpPr/>
          <p:nvPr/>
        </p:nvSpPr>
        <p:spPr>
          <a:xfrm>
            <a:off x="9972294" y="2734056"/>
            <a:ext cx="156103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받는 돈 (액면 1만원)</a:t>
            </a:r>
            <a:endParaRPr lang="en-US" sz="650" dirty="0"/>
          </a:p>
        </p:txBody>
      </p:sp>
      <p:sp>
        <p:nvSpPr>
          <p:cNvPr id="85" name="Text 83"/>
          <p:cNvSpPr/>
          <p:nvPr/>
        </p:nvSpPr>
        <p:spPr>
          <a:xfrm>
            <a:off x="9972294" y="2871216"/>
            <a:ext cx="15610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B601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13,600원</a:t>
            </a:r>
            <a:endParaRPr lang="en-US" sz="1200" dirty="0"/>
          </a:p>
        </p:txBody>
      </p:sp>
      <p:sp>
        <p:nvSpPr>
          <p:cNvPr id="86" name="Text 84"/>
          <p:cNvSpPr/>
          <p:nvPr/>
        </p:nvSpPr>
        <p:spPr>
          <a:xfrm>
            <a:off x="9972294" y="3163824"/>
            <a:ext cx="156103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여기서 끝날 확률</a:t>
            </a:r>
            <a:endParaRPr lang="en-US" sz="700" dirty="0"/>
          </a:p>
        </p:txBody>
      </p:sp>
      <p:sp>
        <p:nvSpPr>
          <p:cNvPr id="87" name="Text 85"/>
          <p:cNvSpPr/>
          <p:nvPr/>
        </p:nvSpPr>
        <p:spPr>
          <a:xfrm>
            <a:off x="9972294" y="3300984"/>
            <a:ext cx="15610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12.2%</a:t>
            </a:r>
            <a:endParaRPr lang="en-US" sz="1400" dirty="0"/>
          </a:p>
        </p:txBody>
      </p:sp>
      <p:sp>
        <p:nvSpPr>
          <p:cNvPr id="88" name="Shape 86"/>
          <p:cNvSpPr/>
          <p:nvPr/>
        </p:nvSpPr>
        <p:spPr>
          <a:xfrm>
            <a:off x="9972294" y="3593592"/>
            <a:ext cx="1561033" cy="91440"/>
          </a:xfrm>
          <a:prstGeom prst="rect">
            <a:avLst/>
          </a:prstGeom>
          <a:solidFill>
            <a:srgbClr val="ECEF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9972294" y="3593592"/>
            <a:ext cx="240708" cy="91440"/>
          </a:xfrm>
          <a:prstGeom prst="rect">
            <a:avLst/>
          </a:prstGeom>
          <a:solidFill>
            <a:srgbClr val="9AA6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66928" y="4059936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끝나는 방식은 셋뿐입니다</a:t>
            </a:r>
            <a:endParaRPr lang="en-US" sz="1150" dirty="0"/>
          </a:p>
        </p:txBody>
      </p:sp>
      <p:sp>
        <p:nvSpPr>
          <p:cNvPr id="91" name="Shape 89"/>
          <p:cNvSpPr/>
          <p:nvPr/>
        </p:nvSpPr>
        <p:spPr>
          <a:xfrm>
            <a:off x="566928" y="4315968"/>
            <a:ext cx="9707677" cy="310896"/>
          </a:xfrm>
          <a:prstGeom prst="rect">
            <a:avLst/>
          </a:prstGeom>
          <a:solidFill>
            <a:srgbClr val="2E85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0274605" y="4315968"/>
            <a:ext cx="96867" cy="310896"/>
          </a:xfrm>
          <a:prstGeom prst="rect">
            <a:avLst/>
          </a:prstGeom>
          <a:solidFill>
            <a:srgbClr val="043B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0371472" y="4315968"/>
            <a:ext cx="1253295" cy="310896"/>
          </a:xfrm>
          <a:prstGeom prst="rect">
            <a:avLst/>
          </a:prstGeom>
          <a:solidFill>
            <a:srgbClr val="C62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566928" y="4718304"/>
            <a:ext cx="109728" cy="109728"/>
          </a:xfrm>
          <a:prstGeom prst="rect">
            <a:avLst/>
          </a:prstGeom>
          <a:solidFill>
            <a:srgbClr val="2E85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749808" y="4681728"/>
            <a:ext cx="341162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조기상환 (1~5차) </a:t>
            </a:r>
            <a:pPr indent="0" marL="0">
              <a:buNone/>
            </a:pPr>
            <a:r>
              <a:rPr lang="en-US" sz="950" b="1" dirty="0">
                <a:solidFill>
                  <a:srgbClr val="2E85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87.8%</a:t>
            </a:r>
            <a:endParaRPr lang="en-US" sz="950" dirty="0"/>
          </a:p>
        </p:txBody>
      </p:sp>
      <p:sp>
        <p:nvSpPr>
          <p:cNvPr id="96" name="Text 94"/>
          <p:cNvSpPr/>
          <p:nvPr/>
        </p:nvSpPr>
        <p:spPr>
          <a:xfrm>
            <a:off x="749808" y="4873752"/>
            <a:ext cx="341162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약정 수익을 받고 만기 전에 끝납니다</a:t>
            </a:r>
            <a:endParaRPr lang="en-US" sz="850" dirty="0"/>
          </a:p>
        </p:txBody>
      </p:sp>
      <p:sp>
        <p:nvSpPr>
          <p:cNvPr id="97" name="Shape 95"/>
          <p:cNvSpPr/>
          <p:nvPr/>
        </p:nvSpPr>
        <p:spPr>
          <a:xfrm>
            <a:off x="4252874" y="4718304"/>
            <a:ext cx="109728" cy="109728"/>
          </a:xfrm>
          <a:prstGeom prst="rect">
            <a:avLst/>
          </a:prstGeom>
          <a:solidFill>
            <a:srgbClr val="043B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435754" y="4681728"/>
            <a:ext cx="341162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만기 정상상환 </a:t>
            </a:r>
            <a:pPr indent="0" marL="0">
              <a:buNone/>
            </a:pPr>
            <a:r>
              <a:rPr lang="en-US" sz="950" b="1" dirty="0">
                <a:solidFill>
                  <a:srgbClr val="043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0.9%</a:t>
            </a:r>
            <a:endParaRPr lang="en-US" sz="950" dirty="0"/>
          </a:p>
        </p:txBody>
      </p:sp>
      <p:sp>
        <p:nvSpPr>
          <p:cNvPr id="99" name="Text 97"/>
          <p:cNvSpPr/>
          <p:nvPr/>
        </p:nvSpPr>
        <p:spPr>
          <a:xfrm>
            <a:off x="4435754" y="4873752"/>
            <a:ext cx="341162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만기까지 갔지만 조건을 지켜 약정 수익을 받습니다</a:t>
            </a:r>
            <a:endParaRPr lang="en-US" sz="850" dirty="0"/>
          </a:p>
        </p:txBody>
      </p:sp>
      <p:sp>
        <p:nvSpPr>
          <p:cNvPr id="100" name="Shape 98"/>
          <p:cNvSpPr/>
          <p:nvPr/>
        </p:nvSpPr>
        <p:spPr>
          <a:xfrm>
            <a:off x="7938821" y="4718304"/>
            <a:ext cx="109728" cy="109728"/>
          </a:xfrm>
          <a:prstGeom prst="rect">
            <a:avLst/>
          </a:prstGeom>
          <a:solidFill>
            <a:srgbClr val="C62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8121701" y="4681728"/>
            <a:ext cx="341162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만기 손실 </a:t>
            </a:r>
            <a:pPr indent="0" marL="0">
              <a:buNone/>
            </a:pPr>
            <a:r>
              <a:rPr lang="en-US" sz="95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11.3%</a:t>
            </a:r>
            <a:endParaRPr lang="en-US" sz="950" dirty="0"/>
          </a:p>
        </p:txBody>
      </p:sp>
      <p:sp>
        <p:nvSpPr>
          <p:cNvPr id="102" name="Text 100"/>
          <p:cNvSpPr/>
          <p:nvPr/>
        </p:nvSpPr>
        <p:spPr>
          <a:xfrm>
            <a:off x="8121701" y="4873752"/>
            <a:ext cx="341162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떨어진 만큼 잃습니다 (나면 평균 76.1%)</a:t>
            </a:r>
            <a:endParaRPr lang="en-US" sz="850" dirty="0"/>
          </a:p>
        </p:txBody>
      </p:sp>
      <p:sp>
        <p:nvSpPr>
          <p:cNvPr id="103" name="Shape 101"/>
          <p:cNvSpPr/>
          <p:nvPr/>
        </p:nvSpPr>
        <p:spPr>
          <a:xfrm>
            <a:off x="566928" y="5157216"/>
            <a:ext cx="11057839" cy="950976"/>
          </a:xfrm>
          <a:prstGeom prst="rect">
            <a:avLst/>
          </a:prstGeom>
          <a:solidFill>
            <a:srgbClr val="ECEF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566928" y="5157216"/>
            <a:ext cx="45720" cy="950976"/>
          </a:xfrm>
          <a:prstGeom prst="rect">
            <a:avLst/>
          </a:prstGeom>
          <a:solidFill>
            <a:srgbClr val="C62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768096" y="5257800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손실은 이 두 가지가 동시에 맞을 때만 납니다</a:t>
            </a:r>
            <a:endParaRPr lang="en-US" sz="1150" dirty="0"/>
          </a:p>
        </p:txBody>
      </p:sp>
      <p:sp>
        <p:nvSpPr>
          <p:cNvPr id="106" name="Text 104"/>
          <p:cNvSpPr/>
          <p:nvPr/>
        </p:nvSpPr>
        <p:spPr>
          <a:xfrm>
            <a:off x="768096" y="5495544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만기까지 한 번이라도 기준가보다 65% 넘게 떨어진 적이 있고(기준가의 35% 선), ② 만기에도 40% 넘게 떨어져 있어야 합니다. 둘 중 하나라도 아니면 약정 수익을 받습니다.</a:t>
            </a:r>
            <a:endParaRPr lang="en-US" sz="950" dirty="0"/>
          </a:p>
        </p:txBody>
      </p:sp>
      <p:sp>
        <p:nvSpPr>
          <p:cNvPr id="107" name="Text 105"/>
          <p:cNvSpPr/>
          <p:nvPr/>
        </p:nvSpPr>
        <p:spPr>
          <a:xfrm>
            <a:off x="8668512" y="528523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손실 확률 (B)</a:t>
            </a:r>
            <a:endParaRPr lang="en-US" sz="800" dirty="0"/>
          </a:p>
        </p:txBody>
      </p:sp>
      <p:sp>
        <p:nvSpPr>
          <p:cNvPr id="108" name="Text 106"/>
          <p:cNvSpPr/>
          <p:nvPr/>
        </p:nvSpPr>
        <p:spPr>
          <a:xfrm>
            <a:off x="8668512" y="546811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85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11.3%</a:t>
            </a:r>
            <a:endParaRPr lang="en-US" sz="2400" dirty="0"/>
          </a:p>
        </p:txBody>
      </p:sp>
      <p:sp>
        <p:nvSpPr>
          <p:cNvPr id="109" name="Text 107"/>
          <p:cNvSpPr/>
          <p:nvPr/>
        </p:nvSpPr>
        <p:spPr>
          <a:xfrm>
            <a:off x="10131552" y="528523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손실이 나면 평균</a:t>
            </a:r>
            <a:endParaRPr lang="en-US" sz="800" dirty="0"/>
          </a:p>
        </p:txBody>
      </p:sp>
      <p:sp>
        <p:nvSpPr>
          <p:cNvPr id="110" name="Text 108"/>
          <p:cNvSpPr/>
          <p:nvPr/>
        </p:nvSpPr>
        <p:spPr>
          <a:xfrm>
            <a:off x="10131552" y="5468112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76.1%</a:t>
            </a:r>
            <a:endParaRPr lang="en-US" sz="2400" dirty="0"/>
          </a:p>
        </p:txBody>
      </p:sp>
      <p:sp>
        <p:nvSpPr>
          <p:cNvPr id="111" name="Text 109"/>
          <p:cNvSpPr/>
          <p:nvPr/>
        </p:nvSpPr>
        <p:spPr>
          <a:xfrm>
            <a:off x="566928" y="6199632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받는 돈은 «액면 × (1 + 연 12.0% × 경과월/12)» 로 정해집니다 — 늦게 끝날수록 받는 금액은 커지지만, 그만큼 돈이 묶입니다. 위 금액은 공시 상환금액표를 그대로 옮긴 값입니다.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11057839" cy="12802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57200"/>
            <a:ext cx="1105783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성향별 추천 3종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상품 모두 발행사 공시 공정가격이 액면 1만 단위에 가깝습니다 — 제값을 주고 사는 상품이라는 뜻입니다.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261872"/>
            <a:ext cx="3576218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261872"/>
            <a:ext cx="3576218" cy="50292"/>
          </a:xfrm>
          <a:prstGeom prst="rect">
            <a:avLst/>
          </a:prstGeom>
          <a:solidFill>
            <a:srgbClr val="2E85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1463040"/>
            <a:ext cx="31738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5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원금을 지키는 게 먼저인 분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68096" y="1719072"/>
            <a:ext cx="31738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제38194회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68096" y="2121408"/>
            <a:ext cx="317388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삼성전자 · SK하이닉스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68096" y="2578608"/>
            <a:ext cx="3173882" cy="822960"/>
          </a:xfrm>
          <a:prstGeom prst="rect">
            <a:avLst/>
          </a:prstGeom>
          <a:solidFill>
            <a:srgbClr val="F7F8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670048"/>
            <a:ext cx="144063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 충족 시 연 수익률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914400" y="2852928"/>
            <a:ext cx="144063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B601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12.0%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355037" y="2670048"/>
            <a:ext cx="144063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손실 확률 (B)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355037" y="2852928"/>
            <a:ext cx="144063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85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11.3%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68096" y="3456432"/>
            <a:ext cx="317388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조기상환 확률 (시뮬레이션)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68096" y="3657600"/>
            <a:ext cx="2513207" cy="155448"/>
          </a:xfrm>
          <a:prstGeom prst="rect">
            <a:avLst/>
          </a:prstGeom>
          <a:solidFill>
            <a:srgbClr val="2E85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81303" y="3657600"/>
            <a:ext cx="273144" cy="155448"/>
          </a:xfrm>
          <a:prstGeom prst="rect">
            <a:avLst/>
          </a:prstGeom>
          <a:solidFill>
            <a:srgbClr val="FAB0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54447" y="3657600"/>
            <a:ext cx="387531" cy="155448"/>
          </a:xfrm>
          <a:prstGeom prst="rect">
            <a:avLst/>
          </a:prstGeom>
          <a:solidFill>
            <a:srgbClr val="9AA6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8096" y="3831336"/>
            <a:ext cx="317388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85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79.2%</a:t>
            </a:r>
            <a:pPr indent="0" marL="0">
              <a:buNone/>
            </a:pPr>
            <a:r>
              <a:rPr lang="en-US" sz="850" dirty="0">
                <a:solidFill>
                  <a:srgbClr val="CB601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·  2~5차 8.6%</a:t>
            </a:r>
            <a:pPr indent="0" marL="0">
              <a:buNone/>
            </a:pPr>
            <a:r>
              <a:rPr lang="en-US" sz="85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·  만기 12.2%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68096" y="4014216"/>
            <a:ext cx="317388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79.2 · 2차 4.8 · 3차 1.9 · 4차 1.1 · 5차 0.8 · 6차 12.2  (%)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768096" y="4334256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3년 총 수익률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084832" y="4334256"/>
            <a:ext cx="18571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36.0%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68096" y="4585716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조기상환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084832" y="4585716"/>
            <a:ext cx="18571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6개월마다 6회 · 배리어 65%부터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68096" y="4837176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손실 조건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084832" y="4837176"/>
            <a:ext cx="18571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65% 하락 경험 + 만기 40% 초과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68096" y="5088636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설명서 백테스트 (A)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084832" y="5088636"/>
            <a:ext cx="18571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20.7년 · 손실 0.00% · 1차 96.8%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68096" y="5340096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액면 1만 단위 출발 가치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084832" y="5340096"/>
            <a:ext cx="18571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9,614원 (-3.86%)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68096" y="5591556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 1%당 연 수익률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2084832" y="5591556"/>
            <a:ext cx="18571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1.06%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307738" y="1261872"/>
            <a:ext cx="3576218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307738" y="1261872"/>
            <a:ext cx="3576218" cy="50292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08906" y="1463040"/>
            <a:ext cx="31738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B601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수익과 안정을 반반 보는 분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08906" y="1719072"/>
            <a:ext cx="31738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제38195회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4508906" y="2121408"/>
            <a:ext cx="317388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KOSPI200 · SK하이닉스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08906" y="2578608"/>
            <a:ext cx="3173882" cy="822960"/>
          </a:xfrm>
          <a:prstGeom prst="rect">
            <a:avLst/>
          </a:prstGeom>
          <a:solidFill>
            <a:srgbClr val="F7F8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55210" y="2670048"/>
            <a:ext cx="144063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 충족 시 연 수익률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655210" y="2852928"/>
            <a:ext cx="144063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B601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13.0%</a:t>
            </a:r>
            <a:endParaRPr lang="en-US" sz="2600" dirty="0"/>
          </a:p>
        </p:txBody>
      </p:sp>
      <p:sp>
        <p:nvSpPr>
          <p:cNvPr id="41" name="Text 39"/>
          <p:cNvSpPr/>
          <p:nvPr/>
        </p:nvSpPr>
        <p:spPr>
          <a:xfrm>
            <a:off x="6095848" y="2670048"/>
            <a:ext cx="144063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손실 확률 (B)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095848" y="2852928"/>
            <a:ext cx="144063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85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12.5%</a:t>
            </a:r>
            <a:endParaRPr lang="en-US" sz="2600" dirty="0"/>
          </a:p>
        </p:txBody>
      </p:sp>
      <p:sp>
        <p:nvSpPr>
          <p:cNvPr id="43" name="Text 41"/>
          <p:cNvSpPr/>
          <p:nvPr/>
        </p:nvSpPr>
        <p:spPr>
          <a:xfrm>
            <a:off x="4508906" y="3456432"/>
            <a:ext cx="317388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조기상환 확률 (시뮬레이션)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508906" y="3657600"/>
            <a:ext cx="2411960" cy="155448"/>
          </a:xfrm>
          <a:prstGeom prst="rect">
            <a:avLst/>
          </a:prstGeom>
          <a:solidFill>
            <a:srgbClr val="2E85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920867" y="3657600"/>
            <a:ext cx="329576" cy="155448"/>
          </a:xfrm>
          <a:prstGeom prst="rect">
            <a:avLst/>
          </a:prstGeom>
          <a:solidFill>
            <a:srgbClr val="FAB0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250443" y="3657600"/>
            <a:ext cx="432346" cy="155448"/>
          </a:xfrm>
          <a:prstGeom prst="rect">
            <a:avLst/>
          </a:prstGeom>
          <a:solidFill>
            <a:srgbClr val="9AA6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08906" y="3831336"/>
            <a:ext cx="317388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85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76.0%</a:t>
            </a:r>
            <a:pPr indent="0" marL="0">
              <a:buNone/>
            </a:pPr>
            <a:r>
              <a:rPr lang="en-US" sz="850" dirty="0">
                <a:solidFill>
                  <a:srgbClr val="CB601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·  2~5차 10.4%</a:t>
            </a:r>
            <a:pPr indent="0" marL="0">
              <a:buNone/>
            </a:pPr>
            <a:r>
              <a:rPr lang="en-US" sz="85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·  만기 13.6%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508906" y="4014216"/>
            <a:ext cx="317388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76.0 · 2차 5.7 · 3차 2.4 · 4차 1.4 · 5차 0.9 · 6차 13.6  (%)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4508906" y="4334256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3년 총 수익률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825642" y="4334256"/>
            <a:ext cx="18571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39.0%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508906" y="4585716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조기상환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825642" y="4585716"/>
            <a:ext cx="18571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6개월마다 6회 · 배리어 70%부터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508906" y="4837176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손실 조건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825642" y="4837176"/>
            <a:ext cx="18571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65% 하락 경험 + 만기 35% 초과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4508906" y="5088636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설명서 백테스트 (A)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5825642" y="5088636"/>
            <a:ext cx="18571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20.7년 · 손실 0.34% · 1차 94.6%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508906" y="5340096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액면 1만 단위 출발 가치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5825642" y="5340096"/>
            <a:ext cx="18571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9,603원 (-3.97%)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4508906" y="5591556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 1%당 연 수익률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5825642" y="5591556"/>
            <a:ext cx="18571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1.04%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8048549" y="1261872"/>
            <a:ext cx="3576218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048549" y="1261872"/>
            <a:ext cx="3576218" cy="50292"/>
          </a:xfrm>
          <a:prstGeom prst="rect">
            <a:avLst/>
          </a:prstGeom>
          <a:solidFill>
            <a:srgbClr val="043B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249717" y="1463040"/>
            <a:ext cx="31738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3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수익률을 먼저 보는 분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8249717" y="1719072"/>
            <a:ext cx="31738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제38198회</a:t>
            </a:r>
            <a:endParaRPr lang="en-US" sz="2400" dirty="0"/>
          </a:p>
        </p:txBody>
      </p:sp>
      <p:sp>
        <p:nvSpPr>
          <p:cNvPr id="65" name="Text 63"/>
          <p:cNvSpPr/>
          <p:nvPr/>
        </p:nvSpPr>
        <p:spPr>
          <a:xfrm>
            <a:off x="8249717" y="2121408"/>
            <a:ext cx="317388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KOSPI200 · HSCEI · Nikkei225 (온라인 전용)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8249717" y="2578608"/>
            <a:ext cx="3173882" cy="822960"/>
          </a:xfrm>
          <a:prstGeom prst="rect">
            <a:avLst/>
          </a:prstGeom>
          <a:solidFill>
            <a:srgbClr val="F7F8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396021" y="2670048"/>
            <a:ext cx="144063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 충족 시 연 수익률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8396021" y="2852928"/>
            <a:ext cx="144063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B601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10.7%</a:t>
            </a:r>
            <a:endParaRPr lang="en-US" sz="2600" dirty="0"/>
          </a:p>
        </p:txBody>
      </p:sp>
      <p:sp>
        <p:nvSpPr>
          <p:cNvPr id="69" name="Text 67"/>
          <p:cNvSpPr/>
          <p:nvPr/>
        </p:nvSpPr>
        <p:spPr>
          <a:xfrm>
            <a:off x="9836658" y="2670048"/>
            <a:ext cx="144063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손실 확률 (B)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9836658" y="2852928"/>
            <a:ext cx="144063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85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13.9%</a:t>
            </a:r>
            <a:endParaRPr lang="en-US" sz="2600" dirty="0"/>
          </a:p>
        </p:txBody>
      </p:sp>
      <p:sp>
        <p:nvSpPr>
          <p:cNvPr id="71" name="Text 69"/>
          <p:cNvSpPr/>
          <p:nvPr/>
        </p:nvSpPr>
        <p:spPr>
          <a:xfrm>
            <a:off x="8249717" y="3456432"/>
            <a:ext cx="317388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조기상환 확률 (시뮬레이션)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8249717" y="3657600"/>
            <a:ext cx="1260063" cy="155448"/>
          </a:xfrm>
          <a:prstGeom prst="rect">
            <a:avLst/>
          </a:prstGeom>
          <a:solidFill>
            <a:srgbClr val="2E85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509780" y="3657600"/>
            <a:ext cx="831684" cy="155448"/>
          </a:xfrm>
          <a:prstGeom prst="rect">
            <a:avLst/>
          </a:prstGeom>
          <a:solidFill>
            <a:srgbClr val="FAB0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0341464" y="3657600"/>
            <a:ext cx="1082135" cy="155448"/>
          </a:xfrm>
          <a:prstGeom prst="rect">
            <a:avLst/>
          </a:prstGeom>
          <a:solidFill>
            <a:srgbClr val="9AA6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249717" y="3831336"/>
            <a:ext cx="317388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85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39.7%</a:t>
            </a:r>
            <a:pPr indent="0" marL="0">
              <a:buNone/>
            </a:pPr>
            <a:r>
              <a:rPr lang="en-US" sz="850" dirty="0">
                <a:solidFill>
                  <a:srgbClr val="CB601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·  2~5차 26.2%</a:t>
            </a:r>
            <a:pPr indent="0" marL="0">
              <a:buNone/>
            </a:pPr>
            <a:r>
              <a:rPr lang="en-US" sz="85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·  만기 34.1%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8249717" y="4014216"/>
            <a:ext cx="317388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39.7 · 2차 13.1 · 3차 4.9 · 4차 4.4 · 5차 3.7 · 6차 34.1  (%)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8249717" y="4334256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3년 총 수익률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9566453" y="4334256"/>
            <a:ext cx="18571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32.1%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8249717" y="4585716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조기상환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9566453" y="4585716"/>
            <a:ext cx="18571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6개월마다 6회 · 배리어 90%부터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8249717" y="4837176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손실 조건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9566453" y="4837176"/>
            <a:ext cx="18571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65% 하락 경험 + 만기 30% 초과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8249717" y="5088636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설명서 백테스트 (A)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9566453" y="5088636"/>
            <a:ext cx="18571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20.7년 · 손실 1.58% · 1차 68.0%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8249717" y="5340096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액면 1만 단위 출발 가치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9566453" y="5340096"/>
            <a:ext cx="18571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9,876원 (-1.24%)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8249717" y="5591556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 1%당 연 수익률</a:t>
            </a:r>
            <a:endParaRPr lang="en-US" sz="800" dirty="0"/>
          </a:p>
        </p:txBody>
      </p:sp>
      <p:sp>
        <p:nvSpPr>
          <p:cNvPr id="88" name="Text 86"/>
          <p:cNvSpPr/>
          <p:nvPr/>
        </p:nvSpPr>
        <p:spPr>
          <a:xfrm>
            <a:off x="9566453" y="5591556"/>
            <a:ext cx="18571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0.77%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566928" y="5943600"/>
            <a:ext cx="11057839" cy="420624"/>
          </a:xfrm>
          <a:prstGeom prst="rect">
            <a:avLst/>
          </a:prstGeom>
          <a:solidFill>
            <a:srgbClr val="ECEF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13232" y="5943600"/>
            <a:ext cx="1076523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문장으로 — </a:t>
            </a:r>
            <a:pPr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제38194회는 연 12.0%를 받으면서 손실 확률이 11.3%로 지수형 평균(14.2%)보다도 낮습니다. 6개월마다 6번 상환 기회가 있고 배리어가 65%에서 시작하는 구조 덕입니다.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11057839" cy="12802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57200"/>
            <a:ext cx="1105783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수익률이 높다고 그만큼 위험한 것은 아닙니다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회차 13종을 손실 확률(B)과 연 수익률로 흩어 놓았습니다. 왼쪽 위가 적은 위험에 많이 받는 자리, 오른쪽 아래가 위험만 큰 자리입니다. 점 위에 마우스를 올리면 회차와 기초자산이 뜹니다.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66928" y="1261872"/>
          <a:ext cx="6629400" cy="387705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1024128" y="5230368"/>
            <a:ext cx="100584" cy="100584"/>
          </a:xfrm>
          <a:prstGeom prst="ellipse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79576" y="515721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 3종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761488" y="5230368"/>
            <a:ext cx="100584" cy="100584"/>
          </a:xfrm>
          <a:prstGeom prst="ellipse">
            <a:avLst/>
          </a:prstGeom>
          <a:solidFill>
            <a:srgbClr val="9AA6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916936" y="515721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외 7종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498848" y="5230368"/>
            <a:ext cx="100584" cy="100584"/>
          </a:xfrm>
          <a:prstGeom prst="ellipse">
            <a:avLst/>
          </a:prstGeom>
          <a:solidFill>
            <a:srgbClr val="C62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54296" y="515721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권하지 않는 3종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7424928" y="1261872"/>
            <a:ext cx="4199839" cy="1243584"/>
          </a:xfrm>
          <a:prstGeom prst="rect">
            <a:avLst/>
          </a:prstGeom>
          <a:solidFill>
            <a:srgbClr val="F7F8FA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424928" y="1261872"/>
            <a:ext cx="45720" cy="1243584"/>
          </a:xfrm>
          <a:prstGeom prst="rect">
            <a:avLst/>
          </a:prstGeom>
          <a:solidFill>
            <a:srgbClr val="043B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07808" y="1353312"/>
            <a:ext cx="38340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붙어 있기는 합니다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607808" y="1609344"/>
            <a:ext cx="3834079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쿠폰은 결국 고객이 파는 풋옵션의 값이라 위험과 구조적으로 묶여 있습니다. 순위상관 0.76 (13종, p=0.002)— 수익률이 높은 쪽이 대체로 손실 확률도 높습니다.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7424928" y="2651760"/>
            <a:ext cx="4199839" cy="1243584"/>
          </a:xfrm>
          <a:prstGeom prst="rect">
            <a:avLst/>
          </a:prstGeom>
          <a:solidFill>
            <a:srgbClr val="F7F8FA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424928" y="2651760"/>
            <a:ext cx="45720" cy="1243584"/>
          </a:xfrm>
          <a:prstGeom prst="rect">
            <a:avLst/>
          </a:prstGeom>
          <a:solidFill>
            <a:srgbClr val="CB60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607808" y="2743200"/>
            <a:ext cx="38340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그런데 78쌍 중 15쌍이 뒤집힙니다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607808" y="2999232"/>
            <a:ext cx="3834079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상품씩 모든 짝을 지어 보면 76.9%만 "쿠폰 높은 쪽이 더 위험" 했습니다. 15쌍은 더 받으면서 덜 위험하거나, 덜 받으면서 더 위험했습니다. 남은 3쌍은 수익률이나 손실 확률이 같아 가릴 수 없습니다.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7424928" y="4041648"/>
            <a:ext cx="4199839" cy="1243584"/>
          </a:xfrm>
          <a:prstGeom prst="rect">
            <a:avLst/>
          </a:prstGeom>
          <a:solidFill>
            <a:srgbClr val="F7F8FA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424928" y="4041648"/>
            <a:ext cx="45720" cy="1243584"/>
          </a:xfrm>
          <a:prstGeom prst="rect">
            <a:avLst/>
          </a:prstGeom>
          <a:solidFill>
            <a:srgbClr val="C62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607808" y="4133088"/>
            <a:ext cx="38340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위험당 대가가 3.4배 벌어집니다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607808" y="4389120"/>
            <a:ext cx="3834079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손실 확률 1%당 받는 연 수익률이 제38194회는 1.06%, 제38200회는 0.31%입니다. 같은 위험을 지고도 받는 대가가 이만큼 다릅니다.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566928" y="5504688"/>
            <a:ext cx="11057839" cy="896112"/>
          </a:xfrm>
          <a:prstGeom prst="rect">
            <a:avLst/>
          </a:prstGeom>
          <a:solidFill>
            <a:srgbClr val="043B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49808" y="5504688"/>
            <a:ext cx="10692079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고르는 자리가 생깁니다  </a:t>
            </a:r>
            <a:pPr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D9E3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회차에서 같은 위험을 지고 가장 많이 받는 쪽은 제38194회(연 12.0% · 손실 확률 11.3%)이고, 가장 적게 받는 쪽은 제38200회(연 15.3% · 48.7%)입니다. 수익률 순서로 고르면 이 차이가 보이지 않습니다.</a:t>
            </a:r>
            <a:pPr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9FB6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※ 단, 제38194회의 우위는 공시 상관계수 0.88에 기대고 있습니다 — 0.80로만 낮춰도 위험 1%당 수익률이 0.97%로 제38195회(1.04%)보다 낮아집니다.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11057839" cy="12802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57200"/>
            <a:ext cx="1105783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회차에서 권하지 않는 3종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 15.3~23.5%라는 수익률만 보면 눈에 띄는 상품들입니다. 상품마다 걸린 사유가 달라 오른쪽에 나눠 적었습니다.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261872"/>
            <a:ext cx="6583680" cy="1078992"/>
          </a:xfrm>
          <a:prstGeom prst="rect">
            <a:avLst/>
          </a:prstGeom>
          <a:solidFill>
            <a:srgbClr val="FDF3F3"/>
          </a:solidFill>
          <a:ln w="12700">
            <a:solidFill>
              <a:srgbClr val="F0C9C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261872"/>
            <a:ext cx="45720" cy="1078992"/>
          </a:xfrm>
          <a:prstGeom prst="rect">
            <a:avLst/>
          </a:prstGeom>
          <a:solidFill>
            <a:srgbClr val="C62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134416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제38202회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2011680" y="1371600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마이크론 테크놀로지 · 팔란티어 테크 (온라인 전용)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97096" y="1380744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사유 </a:t>
            </a:r>
            <a:pPr algn="r" indent="0" marL="0">
              <a:buNone/>
            </a:pPr>
            <a:r>
              <a:rPr lang="en-US" sz="80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가격 · 확률 · 표본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797296" y="1335024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 23.5%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86384" y="1645920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출발 가치 (액면 1만)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86384" y="1810512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6,290원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359152" y="1645920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손실 확률 (B)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359152" y="1810512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57.6%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931920" y="1645920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적용 변동성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931920" y="1810512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93.1%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504688" y="1645920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 1%당 연 수익률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504688" y="1810512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0.41%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66928" y="2487168"/>
            <a:ext cx="6583680" cy="1078992"/>
          </a:xfrm>
          <a:prstGeom prst="rect">
            <a:avLst/>
          </a:prstGeom>
          <a:solidFill>
            <a:srgbClr val="FDF3F3"/>
          </a:solidFill>
          <a:ln w="12700">
            <a:solidFill>
              <a:srgbClr val="F0C9C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" y="2487168"/>
            <a:ext cx="45720" cy="1078992"/>
          </a:xfrm>
          <a:prstGeom prst="rect">
            <a:avLst/>
          </a:prstGeom>
          <a:solidFill>
            <a:srgbClr val="C62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6384" y="256946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제38200회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2011680" y="2596896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테슬라 · 마이크론 테크놀로지 (온라인 전용)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97096" y="260604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사유 </a:t>
            </a:r>
            <a:pPr algn="r" indent="0" marL="0">
              <a:buNone/>
            </a:pPr>
            <a:r>
              <a:rPr lang="en-US" sz="80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가격 · 확률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797296" y="2560320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 15.3%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786384" y="2871216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출발 가치 (액면 1만)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86384" y="3035808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6,790원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359152" y="2871216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손실 확률 (B)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359152" y="3035808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48.7%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931920" y="2871216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적용 변동성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931920" y="3035808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93.1%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504688" y="2871216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 1%당 연 수익률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504688" y="3035808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0.31%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66928" y="3712464"/>
            <a:ext cx="6583680" cy="1078992"/>
          </a:xfrm>
          <a:prstGeom prst="rect">
            <a:avLst/>
          </a:prstGeom>
          <a:solidFill>
            <a:srgbClr val="FDF3F3"/>
          </a:solidFill>
          <a:ln w="12700">
            <a:solidFill>
              <a:srgbClr val="F0C9C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66928" y="3712464"/>
            <a:ext cx="45720" cy="1078992"/>
          </a:xfrm>
          <a:prstGeom prst="rect">
            <a:avLst/>
          </a:prstGeom>
          <a:solidFill>
            <a:srgbClr val="C62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86384" y="37947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제38201회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2011680" y="3822192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테슬라 · 팔란티어 테크 (온라인 전용)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197096" y="3831336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사유 </a:t>
            </a:r>
            <a:pPr algn="r" indent="0" marL="0">
              <a:buNone/>
            </a:pPr>
            <a:r>
              <a:rPr lang="en-US" sz="80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가격 · 확률 · 표본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797296" y="3785616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 17.0%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786384" y="4096512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출발 가치 (액면 1만)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86384" y="4261104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8,276원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2359152" y="4096512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손실 확률 (B)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2359152" y="4261104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33.9%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931920" y="4096512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적용 변동성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931920" y="4261104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66.3%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504688" y="4096512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 1%당 연 수익률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504688" y="4261104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0.50%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7370064" y="1261872"/>
            <a:ext cx="42547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넣는 순간 37%까지 깎입니다 — 제38202회·제38200회·제38201회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7370064" y="1536192"/>
            <a:ext cx="4254703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발행사가 공시한 공정가격이 6,290~8,276원입니다. 액면 1만원을 내고 사는 시점의 이론 값어치가 그것뿐이라는 뜻입니다. 나머지 원화 10종은 9,318원 이상입니다.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7370064" y="2487168"/>
            <a:ext cx="42547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손실 확률이 3.0배입니다 — 제38202회·제38200회·제38201회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7370064" y="2761488"/>
            <a:ext cx="4254703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33.9~57.6%. 나머지 10종 평균은 15.8%입니다. 손실이 나면 평균 82.2%를 잃습니다.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7370064" y="3712464"/>
            <a:ext cx="42547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검증 표본이 3.0년뿐입니다 — 제38202회·제38201회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7370064" y="3986784"/>
            <a:ext cx="4254703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기초자산 상장이 늦어 발행사 백테스트가 3.0년치입니다. 20년을 돌린 다른 상품과 A 열을 나란히 놓고 비교할 수 없습니다.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566928" y="5065776"/>
            <a:ext cx="11057839" cy="566928"/>
          </a:xfrm>
          <a:prstGeom prst="rect">
            <a:avLst/>
          </a:prstGeom>
          <a:solidFill>
            <a:srgbClr val="043B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9808" y="5065776"/>
            <a:ext cx="106920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상담에서 이렇게 말씀하세요 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D9E3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“수익률만 보면 이게 높아 보이는데, 발행사가 공시한 이 상품의 값어치가 1만원이 아니라 6,290원입니다. 권하지 않는 상품을 빼고 가장 높은 제38197회는 연 20.0%에 손실 확률이 24.6%입니다 — 연 3.5%p 덜 받으시지만 위험은 2.3배 차이입니다.”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11057839" cy="12802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57200"/>
            <a:ext cx="1105783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반응별 대응 스크립트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답변의 숫자는 발행사 공시 원문과 이번 회차 시뮬레이션에서 나온 값입니다. 확률을 낮게 말하지 말고, 크기를 함께 말씀하세요.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261872"/>
            <a:ext cx="5419192" cy="1572768"/>
          </a:xfrm>
          <a:prstGeom prst="rect">
            <a:avLst/>
          </a:prstGeom>
          <a:solidFill>
            <a:srgbClr val="F7F8FA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261872"/>
            <a:ext cx="5419192" cy="384048"/>
          </a:xfrm>
          <a:prstGeom prst="rect">
            <a:avLst/>
          </a:prstGeom>
          <a:solidFill>
            <a:srgbClr val="ECEF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261872"/>
            <a:ext cx="5090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3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“원금을 다 날릴 수도 있다면서요.”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719072"/>
            <a:ext cx="50900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손실은 두 가지가 동시에 맞아야 납니다. 제38194회는 3년 안에 한 번이라도 65% 떨어진 적이 있고, 만기에도 40% 넘게 떨어져 있어야 손실입니다. 발행사가 실제 과거 시세 20년으로 5,117번 돌린 결과 손실은 0.00%였고, 같은 조건을 저희가 10만 번 다시 돌리니 11.3%였습니다. 다만 그 11.3%가 현실이 되면 평균 76.1%를 잃습니다. 확률은 낮고 크기는 큽니다.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205576" y="1261872"/>
            <a:ext cx="5419192" cy="1572768"/>
          </a:xfrm>
          <a:prstGeom prst="rect">
            <a:avLst/>
          </a:prstGeom>
          <a:solidFill>
            <a:srgbClr val="F7F8FA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05576" y="1261872"/>
            <a:ext cx="5419192" cy="384048"/>
          </a:xfrm>
          <a:prstGeom prst="rect">
            <a:avLst/>
          </a:prstGeom>
          <a:solidFill>
            <a:srgbClr val="ECEF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70168" y="1261872"/>
            <a:ext cx="5090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3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“홍콩 ELS로 크게 물린 분들 많잖아요.”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70168" y="1719072"/>
            <a:ext cx="50900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맞습니다. 그때 문제의 핵심은 낙인이 높았다는 것이었습니다. 이번 회차에서 HSCEI가 들어간 건 제38191·38198회 2종뿐이고, 낙인은 35%·35%입니다. 제38191회 기준 발행일에 잡히는 기준가에서 65%를 더 내려가야 손실 구간에 들어갑니다. 상품을 고르실 때 수익률이 아니라 이 낙인 숫자를 먼저 보시면 됩니다.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66928" y="2962656"/>
            <a:ext cx="5419192" cy="1572768"/>
          </a:xfrm>
          <a:prstGeom prst="rect">
            <a:avLst/>
          </a:prstGeom>
          <a:solidFill>
            <a:srgbClr val="F7F8FA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2962656"/>
            <a:ext cx="5419192" cy="384048"/>
          </a:xfrm>
          <a:prstGeom prst="rect">
            <a:avLst/>
          </a:prstGeom>
          <a:solidFill>
            <a:srgbClr val="ECEF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962656"/>
            <a:ext cx="5090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3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“예금이 안전한데 굳이 왜요.”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3419856"/>
            <a:ext cx="50900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자리에 놓고 비교하실 상품이 아닙니다. 예금은 원금이 보장되고 이건 아닙니다. 대신 제38194회는 조건이 맞으면 연 12.0%, 3년 36.0%입니다. 예금을 대체하는 돈이 아니라, 예금에 넣지 않기로 한 돈의 일부로만 접근하셔야 합니다.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205576" y="2962656"/>
            <a:ext cx="5419192" cy="1572768"/>
          </a:xfrm>
          <a:prstGeom prst="rect">
            <a:avLst/>
          </a:prstGeom>
          <a:solidFill>
            <a:srgbClr val="F7F8FA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05576" y="2962656"/>
            <a:ext cx="5419192" cy="384048"/>
          </a:xfrm>
          <a:prstGeom prst="rect">
            <a:avLst/>
          </a:prstGeom>
          <a:solidFill>
            <a:srgbClr val="ECEF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70168" y="2962656"/>
            <a:ext cx="5090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3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“3년이나 묶이는 거 아닌가요.”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70168" y="3419856"/>
            <a:ext cx="50900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3년은 최장 기간이고 대부분 훨씬 일찍 끝납니다. 제38194회는 6개월마다 6번 상환 기회가 있고, 첫 회에 끝난 경우가 백테스트 96.8%였습니다. 중도상환도 가능합니다만 그때는 원금 손실이 날 수 있어서, 3년 쓸 일 없는 돈으로만 하셔야 합니다.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66928" y="4663440"/>
            <a:ext cx="5419192" cy="1572768"/>
          </a:xfrm>
          <a:prstGeom prst="rect">
            <a:avLst/>
          </a:prstGeom>
          <a:solidFill>
            <a:srgbClr val="F7F8FA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6928" y="4663440"/>
            <a:ext cx="5419192" cy="384048"/>
          </a:xfrm>
          <a:prstGeom prst="rect">
            <a:avLst/>
          </a:prstGeom>
          <a:solidFill>
            <a:srgbClr val="ECEF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4663440"/>
            <a:ext cx="5090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3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“지금이 고점 아닌가요.”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" y="5120640"/>
            <a:ext cx="50900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고점인지 아닌지는 저도 모릅니다. 다만 이 상품은 오르면 버는 구조가 아니라 크게 안 떨어지면 버는 구조입니다. 제38194회는 65% 배리어라 기초자산이 35% 떨어져도 첫 회에 상환됩니다. 그래도 부담스러우시면 손실 확률이 그다음으로 낮은 제38190회(11.7%, 연 9.7%)를 보시죠.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205576" y="4663440"/>
            <a:ext cx="5419192" cy="1572768"/>
          </a:xfrm>
          <a:prstGeom prst="rect">
            <a:avLst/>
          </a:prstGeom>
          <a:solidFill>
            <a:srgbClr val="F7F8FA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05576" y="4663440"/>
            <a:ext cx="5419192" cy="384048"/>
          </a:xfrm>
          <a:prstGeom prst="rect">
            <a:avLst/>
          </a:prstGeom>
          <a:solidFill>
            <a:srgbClr val="ECEF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70168" y="4663440"/>
            <a:ext cx="5090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3B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“그냥 수익률 제일 높은 걸로 주세요.”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70168" y="5120640"/>
            <a:ext cx="50900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그게 이번엔 안 맞습니다. 제일 높은 건 연 23.5%인 제38202회인데 손실 확률이 57.6%입니다. 권하지 않는 상품을 빼고 가장 높은 제38197회는 연 20.0%에 손실 확률이 24.6%뿐입니다 — 연 3.5%p 덜 받으시지만 위험만 2.3배 지시는 셈입니다. 수익률과 위험은 비례하지 않습니다.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11057839" cy="12802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57200"/>
            <a:ext cx="1105783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상담 진행 순서와 반드시 말해야 할 것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6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고난도금융투자상품 · 숙려제도 대상 · 녹취 의무 상품입니다. 아래 여섯 가지를 빠뜨리면 나중에 불완전판매가 됩니다.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126187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상담 순서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572768"/>
            <a:ext cx="5852160" cy="10973"/>
          </a:xfrm>
          <a:prstGeom prst="rect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755648"/>
            <a:ext cx="310896" cy="310896"/>
          </a:xfrm>
          <a:prstGeom prst="ellipse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7556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24128" y="173736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쓸 일 없는 돈인지 먼저 확인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024128" y="201168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3년 안에 쓸 계획이 있는 돈이면 여기서 멈춥니다. 중도상환은 원금 손실이 납니다.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66928" y="2670048"/>
            <a:ext cx="310896" cy="310896"/>
          </a:xfrm>
          <a:prstGeom prst="ellipse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670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24128" y="265176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손실 조건을 숫자로 설명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024128" y="292608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“3년 안에 한 번이라도 65% 떨어지고, 만기에도 40% 넘게 떨어져 있어야 손실입니다” — 배리어와 낙인을 %가 아니라 “얼마나 떨어져야 하는지”로 바꿔 말합니다.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66928" y="3584448"/>
            <a:ext cx="310896" cy="310896"/>
          </a:xfrm>
          <a:prstGeom prst="ellipse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35844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24128" y="356616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확률과 크기를 함께 제시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024128" y="384048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손실 확률 11.3%와 손실 시 평균 76.1%를 한 문장에 같이 담습니다.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66928" y="4498848"/>
            <a:ext cx="310896" cy="310896"/>
          </a:xfrm>
          <a:prstGeom prst="ellipse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4498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24128" y="448056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성향에 맞는 한 종만 권유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024128" y="475488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3종 중 하나로 좁혀 드립니다. 3종(제38202·38200·38201회)은 권유 대상에서 제외합니다.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66928" y="5413248"/>
            <a:ext cx="310896" cy="310896"/>
          </a:xfrm>
          <a:prstGeom prst="ellipse">
            <a:avLst/>
          </a:prstGeom>
          <a:solidFill>
            <a:srgbClr val="F58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54132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24128" y="539496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일정과 절차 안내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024128" y="566928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 일반투자자 마감은 2026.10.16입니다. 숙려 후 2026.10.21까지 가입의사를 직접 확인하지 않으면 청약이 취소됩니다.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748272" y="1261872"/>
            <a:ext cx="4876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반드시 말해야 할 여섯 가지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748272" y="1572768"/>
            <a:ext cx="4876495" cy="10973"/>
          </a:xfrm>
          <a:prstGeom prst="rect">
            <a:avLst/>
          </a:prstGeom>
          <a:solidFill>
            <a:srgbClr val="C62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48272" y="1792224"/>
            <a:ext cx="146304" cy="146304"/>
          </a:xfrm>
          <a:prstGeom prst="rect">
            <a:avLst/>
          </a:prstGeom>
          <a:solidFill>
            <a:srgbClr val="C62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22592" y="1737360"/>
            <a:ext cx="4602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원금비보장 · 위험등급 1등급(매우높은위험). 원금 전액(-100%) 손실이 가능합니다.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748272" y="2322576"/>
            <a:ext cx="146304" cy="146304"/>
          </a:xfrm>
          <a:prstGeom prst="rect">
            <a:avLst/>
          </a:prstGeom>
          <a:solidFill>
            <a:srgbClr val="C62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22592" y="2267712"/>
            <a:ext cx="4602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예금자보호법 대상이 아닙니다.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748272" y="2852928"/>
            <a:ext cx="146304" cy="146304"/>
          </a:xfrm>
          <a:prstGeom prst="rect">
            <a:avLst/>
          </a:prstGeom>
          <a:solidFill>
            <a:srgbClr val="C62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22592" y="2798064"/>
            <a:ext cx="4602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발행사 신용위험 — 미래에셋증권이 지급 불이행하면 조건과 무관하게 손실이 납니다 (신용등급 AA).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748272" y="3383280"/>
            <a:ext cx="146304" cy="146304"/>
          </a:xfrm>
          <a:prstGeom prst="rect">
            <a:avLst/>
          </a:prstGeom>
          <a:solidFill>
            <a:srgbClr val="C62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22592" y="3328416"/>
            <a:ext cx="4602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거래소 비상장 — 만기 전 현금화가 어렵고, 중도상환 시 상환비용으로 원금에 미달할 수 있습니다.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748272" y="3913632"/>
            <a:ext cx="146304" cy="146304"/>
          </a:xfrm>
          <a:prstGeom prst="rect">
            <a:avLst/>
          </a:prstGeom>
          <a:solidFill>
            <a:srgbClr val="C62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022592" y="3858768"/>
            <a:ext cx="4602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 일반투자자 판매는 전 과정 녹취 의무입니다. 거부하시면 판매가 불가합니다.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748272" y="4443984"/>
            <a:ext cx="146304" cy="146304"/>
          </a:xfrm>
          <a:prstGeom prst="rect">
            <a:avLst/>
          </a:prstGeom>
          <a:solidFill>
            <a:srgbClr val="C62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22592" y="4389120"/>
            <a:ext cx="4602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 65세 이상 고령투자자 유의 상품이며, 고난도금융투자상품입니다.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748272" y="5010912"/>
            <a:ext cx="4876495" cy="1755648"/>
          </a:xfrm>
          <a:prstGeom prst="rect">
            <a:avLst/>
          </a:prstGeom>
          <a:solidFill>
            <a:srgbClr val="ECEF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12864" y="5120640"/>
            <a:ext cx="454731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자료의 근거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912864" y="5340096"/>
            <a:ext cx="454731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조건·공정가격·적용 변동성·상관계수·백테스트(A)는 일괄신고추가서류(접수번호 20261008000217) 원문에서 그대로 옮겼습니다. 손실 확률(B)은 그 공시 변동성과 상관계수로 같은 조건을 10만 번 다시 돌린 값이며, 공시된 수치가 아닙니다. 수익률은 확정이 아니라 조건 충족 시의 상한입니다.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912864" y="5943600"/>
            <a:ext cx="454731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못한 것 — </a:t>
            </a:r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D3D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제38201·38202회는 기초자산 상장이 늦어 검증 표본이 3.0년뿐입니다 — A 열을 20년 상품과 같은 줄에서 비교할 수 없습니다. KOSPI200 과거 시세는 최근 수집분이 짧게 들어와 직전 종가를 이월했습니다. A 의 마지막 며칠은 실관측이 아닙니다(B 는 공시 변동성만 쓰므로 영향 없음).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제38190~38202회 ELS 세일즈 제안서</dc:title>
  <dc:subject>PptxGenJS Presentation</dc:subject>
  <dc:creator>미래에셋증권</dc:creator>
  <cp:lastModifiedBy>미래에셋증권</cp:lastModifiedBy>
  <cp:revision>1</cp:revision>
  <dcterms:created xsi:type="dcterms:W3CDTF">2026-10-13T04:05:22Z</dcterms:created>
  <dcterms:modified xsi:type="dcterms:W3CDTF">2026-10-13T04:05:22Z</dcterms:modified>
</cp:coreProperties>
</file>