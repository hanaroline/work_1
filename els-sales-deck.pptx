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제38205회 S&amp;P500·KOSPI200·Nikkei225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Sheet1!$B$2:$B$20</c:f>
              <c:numCache>
                <c:formatCode>General</c:formatCode>
                <c:ptCount val="19"/>
                <c:pt idx="0">
                  <c:v>8.5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제38207회 EuroStoxx50·KOSPI200·Nikkei225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Sheet1!$C$2:$C$20</c:f>
              <c:numCache>
                <c:formatCode>General</c:formatCode>
                <c:ptCount val="19"/>
                <c:pt idx="0">
                  <c:v/>
                </c:pt>
                <c:pt idx="1">
                  <c:v>9.4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제38206회 EuroStoxx50·S&amp;P500·Nikkei225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Sheet1!$D$2:$D$20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>9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제38208회 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Sheet1!$E$2:$E$20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10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제38213회 KOSPI200·삼성전자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Sheet1!$F$2:$F$20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12.7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제38211회 KOSPI200·SK하이닉스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Sheet1!$G$2:$G$20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11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제38216회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Sheet1!$H$2:$H$20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9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제38209회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Sheet1!$I$2:$I$20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10.2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제38210회 EuroStoxx50·S&amp;P500·KOSPI200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Sheet1!$J$2:$J$20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10.5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9"/>
          <c:order val="9"/>
          <c:tx>
            <c:strRef>
              <c:f>Sheet1!$K$1</c:f>
              <c:strCache>
                <c:ptCount val="1"/>
                <c:pt idx="0">
                  <c:v>제38217회 S&amp;P500·HSCEI·Nikkei225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Sheet1!$K$2:$K$20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9.2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0"/>
          <c:order val="10"/>
          <c:tx>
            <c:strRef>
              <c:f>Sheet1!$L$1</c:f>
              <c:strCache>
                <c:ptCount val="1"/>
                <c:pt idx="0">
                  <c:v>제38218회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Sheet1!$L$2:$L$20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13.5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1"/>
          <c:order val="11"/>
          <c:tx>
            <c:strRef>
              <c:f>Sheet1!$M$1</c:f>
              <c:strCache>
                <c:ptCount val="1"/>
                <c:pt idx="0">
                  <c:v>제38212회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Sheet1!$M$2:$M$20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>12.4</c:v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2"/>
          <c:order val="12"/>
          <c:tx>
            <c:strRef>
              <c:f>Sheet1!$N$1</c:f>
              <c:strCache>
                <c:ptCount val="1"/>
                <c:pt idx="0">
                  <c:v>제38214회 S&amp;P500·KOSPI200·SK하이닉스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Sheet1!$N$2:$N$20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15.1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3"/>
          <c:order val="13"/>
          <c:tx>
            <c:strRef>
              <c:f>Sheet1!$O$1</c:f>
              <c:strCache>
                <c:ptCount val="1"/>
                <c:pt idx="0">
                  <c:v>제38215회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Sheet1!$O$2:$O$20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>18</c:v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4"/>
          <c:order val="14"/>
          <c:tx>
            <c:strRef>
              <c:f>Sheet1!$P$1</c:f>
              <c:strCache>
                <c:ptCount val="1"/>
                <c:pt idx="0">
                  <c:v>제38222회 S&amp;P500·KOSPI200·Nikkei225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Sheet1!$P$2:$P$20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>12.6</c:v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5"/>
          <c:order val="15"/>
          <c:tx>
            <c:strRef>
              <c:f>Sheet1!$Q$1</c:f>
              <c:strCache>
                <c:ptCount val="1"/>
                <c:pt idx="0">
                  <c:v>제38223회 삼성전자·SK하이닉스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Sheet1!$Q$2:$Q$20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21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6"/>
          <c:order val="16"/>
          <c:tx>
            <c:strRef>
              <c:f>Sheet1!$R$1</c:f>
              <c:strCache>
                <c:ptCount val="1"/>
                <c:pt idx="0">
                  <c:v>제38219회 테슬라·팔란티어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Sheet1!$R$2:$R$20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17</c:v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7"/>
          <c:order val="17"/>
          <c:tx>
            <c:strRef>
              <c:f>Sheet1!$S$1</c:f>
              <c:strCache>
                <c:ptCount val="1"/>
                <c:pt idx="0">
                  <c:v>제38221회 어플라이드 머티어리얼즈·AMD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Sheet1!$S$2:$S$20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>17.5</c:v>
                </c:pt>
                <c:pt idx="18">
                  <c:v/>
                </c:pt>
              </c:numCache>
            </c:numRef>
          </c:yVal>
          <c:smooth val="0"/>
        </c:ser>
        <c:ser>
          <c:idx val="18"/>
          <c:order val="18"/>
          <c:tx>
            <c:strRef>
              <c:f>Sheet1!$T$1</c:f>
              <c:strCache>
                <c:ptCount val="1"/>
                <c:pt idx="0">
                  <c:v>제38220회 마이크론 테크놀로지·팔란티어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13.6</c:v>
                </c:pt>
                <c:pt idx="2">
                  <c:v>14.9</c:v>
                </c:pt>
                <c:pt idx="3">
                  <c:v>15.5</c:v>
                </c:pt>
                <c:pt idx="4">
                  <c:v>17.4</c:v>
                </c:pt>
                <c:pt idx="5">
                  <c:v>17.5</c:v>
                </c:pt>
                <c:pt idx="6">
                  <c:v>17.5</c:v>
                </c:pt>
                <c:pt idx="7">
                  <c:v>18.1</c:v>
                </c:pt>
                <c:pt idx="8">
                  <c:v>18.3</c:v>
                </c:pt>
                <c:pt idx="9">
                  <c:v>19</c:v>
                </c:pt>
                <c:pt idx="10">
                  <c:v>19.7</c:v>
                </c:pt>
                <c:pt idx="11">
                  <c:v>21.4</c:v>
                </c:pt>
                <c:pt idx="12">
                  <c:v>22.1</c:v>
                </c:pt>
                <c:pt idx="13">
                  <c:v>23.4</c:v>
                </c:pt>
                <c:pt idx="14">
                  <c:v>23.5</c:v>
                </c:pt>
                <c:pt idx="15">
                  <c:v>25.9</c:v>
                </c:pt>
                <c:pt idx="16">
                  <c:v>34</c:v>
                </c:pt>
                <c:pt idx="17">
                  <c:v>39.3</c:v>
                </c:pt>
                <c:pt idx="18">
                  <c:v>57.7</c:v>
                </c:pt>
              </c:numCache>
            </c:numRef>
          </c:xVal>
          <c:yVal>
            <c:numRef>
              <c:f>Sheet1!$T$2:$T$20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>20.5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6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손실 확률 B (%) — 오른쪽일수록 위험하다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25"/>
          <c:min val="5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dash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연 수익률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5836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세일즈 제안서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제38205~38223회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2578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공모 청약 2026.10.15~2026.10.28 · 일괄신고추가서류 2026.10.14·2026.10.16 공시 원문 기준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3054096"/>
            <a:ext cx="6858000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1순위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93392" y="323697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제38205회 S&amp;P500·KOSPI200·Nikkei225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993392" y="354787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8.5% · 손실 확률 12.7%로 19종 중 가장 낮습니다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수익률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93392" y="4169664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제38223회 삼성전자·SK하이닉스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993392" y="448056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21.0% (원화) · 손실 확률 25.9% — 아래 ‘권하지 않음’에 함께 들어 있습니다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510235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제38220·38221·38219·38223회 — 4종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993392" y="5413248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공정가격 미달 3종 (6,145~8,268원) · 손실 확률 과다 1종 (25.9%) · 검증 표본 부족 2종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90688" y="969264"/>
            <a:ext cx="3840480" cy="4974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65008" y="1188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일정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65008" y="1517904"/>
            <a:ext cx="329184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65008" y="17007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65008" y="19019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2026.10.19 ~ 2026.10.23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65008" y="2194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숙려제도 대상 — 실제 마감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065008" y="252374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065008" y="2724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2026.10.19 ~ 2026.10.28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065008" y="30175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 대상이 아닌 경우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065008" y="33467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065008" y="35478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2026.10.26 ~ 2026.10.27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065008" y="38404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기간에는 청약 불가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65008" y="41696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확인기간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065008" y="43708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2026.10.28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065008" y="46634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없으면 청약 취소·환불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065008" y="499262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065008" y="51937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2026.10.29 / 2029.10.29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065008" y="55046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제38222·38223회는 별도 공시 — 개인 마감 2026.10.19(지남), 전체 2026.10.15~2026.10.22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66928" y="614476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 원금비보장 · 위험등급 1등급(매우높은위험) · 예금자보호 대상 아님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19종 — 손실 확률로 줄 세우면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발행사가 실제 과거 시세 20년으로 돌린 결과, B는 같은 조건을 공시 변동성·상관계수로 10만 번 다시 돌린 결과(± 는 95% 신뢰구간). 등급은 B 하나로만 가릅니다 — 15% 이하 방어적 / 15~25% 중간 / 25% 초과 공격적.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57839" cy="914400"/>
        </p:xfrm>
        <a:graphic>
          <a:graphicData uri="http://schemas.openxmlformats.org/drawingml/2006/table">
            <a:tbl>
              <a:tblPr/>
              <a:tblGrid>
                <a:gridCol w="603504"/>
                <a:gridCol w="2441448"/>
                <a:gridCol w="658368"/>
                <a:gridCol w="640080"/>
                <a:gridCol w="1280160"/>
                <a:gridCol w="457200"/>
                <a:gridCol w="1051560"/>
                <a:gridCol w="603504"/>
                <a:gridCol w="731520"/>
                <a:gridCol w="731520"/>
                <a:gridCol w="996696"/>
                <a:gridCol w="862279"/>
              </a:tblGrid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배리어 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1차에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끝날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만기까지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갈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백테스트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액면 1만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38205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12.7%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9,664원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38207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90-85×2-80-75-70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13.6%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9,705원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38206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14.9% ±0.26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3.35%·20.7년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9,657원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38208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90×3-85-80-70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15.5% ±0.17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KOSPI200·삼성전자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17.4% ±0.28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1.31%·20.8년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9,278원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KOSPI200·HSCEI·Nikkei225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90-85-80-75-70-65 (L1·75)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0.98%·20.7년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9,394원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38209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KOSPI200·HSCEI·Nikkei225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18.1%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2.77%·20.7년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9,458원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90-85-80×2-75-70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18.3% ±0.21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0.02%·20.8년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9,570원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S&amp;P500·HSCEI·Nikkei225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19.0%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4.67%·20.7년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9,502원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80-75×3-70-65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19.7% ±0.26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0.55%·20.8년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9,206원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90-85×2-80-75-70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21.4%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1.94%·20.8년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9,157원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80×4-75-70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22.1%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1.01%·20.8년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9,236원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23.4% ±0.21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1.39%·20.8년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9,311원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90-85×2-80-75-70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23.5% ±0.21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2.65%·20.7년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9,441원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85×2-80×2-75-70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25.9%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1.09%·20.8년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9,242원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34.0%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4.21%·3.0년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8,268원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어플라이드 머티어리얼즈·AMD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80×2-75×2-70×2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39.3%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10.67%·20.8년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7,555원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57.7% ±0.30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2.76%·3.0년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6,145원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6053328"/>
            <a:ext cx="11057839" cy="47548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6053328"/>
            <a:ext cx="107652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—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 줄이 추천 3종, 붉은 줄이 권하지 않는 4종.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‘출발 가치’는 발행사가 공시한 공정가격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으로, 액면 1만 단위를 넣는 순간의 이론 값어치입니다 — 제38220·38221·38219회만 8,268원 이하로 크게 깎였습니다.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표시는 영업점 창구 청약이 안 되는 상품입니다.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1종은 손실 확률이 등급 경계에 걸쳐 있어 등급 라벨을 단정할 수 없습니다. 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열은 검증기간이 짧으면 기울임.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제38205회로 보는 ELS 작동 방식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S&amp;P500·KOSPI200·Nikkei225 · 조건 충족 시 연 8.5% · 6개월마다 6번 판정합니다. 배리어·판정일·받는 돈은 공시 원문 그대로이고, 확률은 같은 조건으로 돌린 시뮬레이션(B)입니다.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438885" y="1426464"/>
            <a:ext cx="9313926" cy="12802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487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2027.04.26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836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65836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836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65836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10,425원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5836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52.9%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3766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29713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29713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21153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521153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2027.10.26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21153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21153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521153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2521153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521153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10,850원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521153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521153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8.1%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521153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21153" y="3593592"/>
            <a:ext cx="239446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0044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9249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9249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8393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3차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38393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2028.04.25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38393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8393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38393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438393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438393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11,275원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38393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38393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3.6%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38393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383938" y="3593592"/>
            <a:ext cx="106417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96323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15528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155284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4672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4차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24672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2028.10.24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24672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4672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24672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80%</a:t>
            </a:r>
            <a:endParaRPr lang="en-US" sz="2100" dirty="0"/>
          </a:p>
        </p:txBody>
      </p:sp>
      <p:sp>
        <p:nvSpPr>
          <p:cNvPr id="56" name="Text 54"/>
          <p:cNvSpPr/>
          <p:nvPr/>
        </p:nvSpPr>
        <p:spPr>
          <a:xfrm>
            <a:off x="624672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624672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11,700원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24672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24672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3.7%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24672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46724" y="3593592"/>
            <a:ext cx="107745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01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018069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018069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109509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5차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8109509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2029.04.24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8109509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109509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8109509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75%</a:t>
            </a:r>
            <a:endParaRPr lang="en-US" sz="2100" dirty="0"/>
          </a:p>
        </p:txBody>
      </p:sp>
      <p:sp>
        <p:nvSpPr>
          <p:cNvPr id="70" name="Text 68"/>
          <p:cNvSpPr/>
          <p:nvPr/>
        </p:nvSpPr>
        <p:spPr>
          <a:xfrm>
            <a:off x="8109509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8109509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12,125원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8109509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8109509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3.0%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8109509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109509" y="3593592"/>
            <a:ext cx="89217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688803" y="1375258"/>
            <a:ext cx="128016" cy="128016"/>
          </a:xfrm>
          <a:prstGeom prst="ellipse">
            <a:avLst/>
          </a:prstGeom>
          <a:solidFill>
            <a:srgbClr val="043B7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8085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80854" y="1664208"/>
            <a:ext cx="1743913" cy="457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97229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997229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2029.10.29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997229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97229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997229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</a:t>
            </a:r>
            <a:endParaRPr lang="en-US" sz="2100" dirty="0"/>
          </a:p>
        </p:txBody>
      </p:sp>
      <p:sp>
        <p:nvSpPr>
          <p:cNvPr id="84" name="Text 82"/>
          <p:cNvSpPr/>
          <p:nvPr/>
        </p:nvSpPr>
        <p:spPr>
          <a:xfrm>
            <a:off x="997229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85" name="Text 83"/>
          <p:cNvSpPr/>
          <p:nvPr/>
        </p:nvSpPr>
        <p:spPr>
          <a:xfrm>
            <a:off x="997229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12,550원</a:t>
            </a:r>
            <a:endParaRPr lang="en-US" sz="1200" dirty="0"/>
          </a:p>
        </p:txBody>
      </p:sp>
      <p:sp>
        <p:nvSpPr>
          <p:cNvPr id="86" name="Text 84"/>
          <p:cNvSpPr/>
          <p:nvPr/>
        </p:nvSpPr>
        <p:spPr>
          <a:xfrm>
            <a:off x="997229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997229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28.7%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997229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972294" y="3593592"/>
            <a:ext cx="846441" cy="91440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66928" y="405993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끝나는 방식은 셋뿐입니다</a:t>
            </a:r>
            <a:endParaRPr lang="en-US" sz="1150" dirty="0"/>
          </a:p>
        </p:txBody>
      </p:sp>
      <p:sp>
        <p:nvSpPr>
          <p:cNvPr id="91" name="Shape 89"/>
          <p:cNvSpPr/>
          <p:nvPr/>
        </p:nvSpPr>
        <p:spPr>
          <a:xfrm>
            <a:off x="566928" y="4315968"/>
            <a:ext cx="7885345" cy="310896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8452273" y="4315968"/>
            <a:ext cx="1769697" cy="310896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0221970" y="4315968"/>
            <a:ext cx="1402797" cy="31089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66928" y="4718304"/>
            <a:ext cx="109728" cy="10972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749808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(1~5차) </a:t>
            </a:r>
            <a:pPr indent="0" marL="0">
              <a:buNone/>
            </a:pPr>
            <a:r>
              <a:rPr lang="en-US" sz="9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71.3%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749808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약정 수익을 받고 만기 전에 끝납니다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4252874" y="4718304"/>
            <a:ext cx="109728" cy="1097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435754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정상상환 </a:t>
            </a:r>
            <a:pPr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16.0%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4435754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 갔지만 조건을 지켜 약정 수익을 받습니다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7938821" y="4718304"/>
            <a:ext cx="109728" cy="10972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121701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손실 </a:t>
            </a:r>
            <a:pPr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12.7%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8121701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떨어진 만큼 잃습니다 (나면 평균 66.9%)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566928" y="5157216"/>
            <a:ext cx="11057839" cy="95097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66928" y="5157216"/>
            <a:ext cx="45720" cy="95097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768096" y="525780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이 두 가지가 동시에 맞을 때만 납니다</a:t>
            </a:r>
            <a:endParaRPr lang="en-US" sz="1150" dirty="0"/>
          </a:p>
        </p:txBody>
      </p:sp>
      <p:sp>
        <p:nvSpPr>
          <p:cNvPr id="106" name="Text 104"/>
          <p:cNvSpPr/>
          <p:nvPr/>
        </p:nvSpPr>
        <p:spPr>
          <a:xfrm>
            <a:off x="768096" y="5495544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만기까지 한 번이라도 기준가보다 65% 넘게 떨어진 적이 있고(기준가의 35% 선), ② 만기에도 30% 넘게 떨어져 있어야 합니다. 둘 중 하나라도 아니면 약정 수익을 받습니다.</a:t>
            </a:r>
            <a:endParaRPr lang="en-US" sz="950" dirty="0"/>
          </a:p>
        </p:txBody>
      </p:sp>
      <p:sp>
        <p:nvSpPr>
          <p:cNvPr id="107" name="Text 105"/>
          <p:cNvSpPr/>
          <p:nvPr/>
        </p:nvSpPr>
        <p:spPr>
          <a:xfrm>
            <a:off x="8668512" y="528523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8668512" y="546811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12.7%</a:t>
            </a:r>
            <a:endParaRPr lang="en-US" sz="2400" dirty="0"/>
          </a:p>
        </p:txBody>
      </p:sp>
      <p:sp>
        <p:nvSpPr>
          <p:cNvPr id="109" name="Text 107"/>
          <p:cNvSpPr/>
          <p:nvPr/>
        </p:nvSpPr>
        <p:spPr>
          <a:xfrm>
            <a:off x="10131552" y="528523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손실이 나면 평균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10131552" y="5468112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66.9%</a:t>
            </a:r>
            <a:endParaRPr lang="en-US" sz="2400" dirty="0"/>
          </a:p>
        </p:txBody>
      </p:sp>
      <p:sp>
        <p:nvSpPr>
          <p:cNvPr id="111" name="Text 109"/>
          <p:cNvSpPr/>
          <p:nvPr/>
        </p:nvSpPr>
        <p:spPr>
          <a:xfrm>
            <a:off x="566928" y="619963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돈은 «액면 × (1 + 연 8.5% × 경과월/12)» 로 정해집니다 — 늦게 끝날수록 받는 금액은 커지지만, 그만큼 돈이 묶입니다. 위 금액은 공시 상환금액표를 그대로 옮긴 값입니다.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성향별 추천 3종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상품 모두 발행사 공시 공정가격이 액면 1만 단위에 가깝습니다 — 제값을 주고 사는 상품이라는 뜻입니다.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3576218" cy="50292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6809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제38205회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6809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S&amp;P500 · KOSPI200 · Nikkei225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809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8.5%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355037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55037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12.7%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6809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68096" y="3657600"/>
            <a:ext cx="1679333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447429" y="3657600"/>
            <a:ext cx="583963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31392" y="3657600"/>
            <a:ext cx="910587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52.9%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18.4%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28.7%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6809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52.9 · 2차 8.1 · 3차 3.6 · 4차 3.7 · 5차 3.0 · 6차 28.7  (%)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6809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08483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25.5%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6809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08483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85%부터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6809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08483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30% 초과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6809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08483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0.00% · 1차 91.1%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809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08483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9,664원 (-3.36%)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6809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08483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0.67%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30773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07738" y="1261872"/>
            <a:ext cx="3576218" cy="5029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0890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0890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제38207회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450890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 · KOSPI200 · Nikkei225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0890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5521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65521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9.4%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609584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09584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13.6%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450890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08906" y="3657600"/>
            <a:ext cx="1329349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838255" y="3657600"/>
            <a:ext cx="834223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672479" y="3657600"/>
            <a:ext cx="1010310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0890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41.9%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26.3%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31.8%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50890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41.9 · 2차 13.3 · 3차 4.8 · 4차 4.5 · 5차 3.6 · 6차 31.8  (%)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450890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82564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28.2%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50890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82564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90%부터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50890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82564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30% 초과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50890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82564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0.00% · 1차 77.2%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50890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82564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9,705원 (-2.95%)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50890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82564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0.69%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8048549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48549" y="1261872"/>
            <a:ext cx="3576218" cy="5029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249717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8249717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제38210회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8249717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 · S&amp;P500 · KOSPI200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249717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96021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8396021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10.5%</a:t>
            </a:r>
            <a:endParaRPr lang="en-US" sz="2600" dirty="0"/>
          </a:p>
        </p:txBody>
      </p:sp>
      <p:sp>
        <p:nvSpPr>
          <p:cNvPr id="69" name="Text 67"/>
          <p:cNvSpPr/>
          <p:nvPr/>
        </p:nvSpPr>
        <p:spPr>
          <a:xfrm>
            <a:off x="983665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983665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18.3%</a:t>
            </a:r>
            <a:endParaRPr lang="en-US" sz="2600" dirty="0"/>
          </a:p>
        </p:txBody>
      </p:sp>
      <p:sp>
        <p:nvSpPr>
          <p:cNvPr id="71" name="Text 69"/>
          <p:cNvSpPr/>
          <p:nvPr/>
        </p:nvSpPr>
        <p:spPr>
          <a:xfrm>
            <a:off x="8249717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249717" y="3657600"/>
            <a:ext cx="1249018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498735" y="3657600"/>
            <a:ext cx="878213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376948" y="3657600"/>
            <a:ext cx="1046651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49717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39.4%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27.7%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33.0%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249717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39.4 · 2차 13.2 · 3차 7.7 · 4차 3.4 · 5차 3.3 · 6차 33.0  (%)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8249717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9566453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31.5%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8249717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9566453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90%부터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8249717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9566453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하락 경험 + 만기 30% 초과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249717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9566453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20.8년 · 손실 0.02% · 1차 80.4%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8249717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9566453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9,570원 (-4.30%)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8249717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9566453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0.57%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66928" y="5943600"/>
            <a:ext cx="11057839" cy="42062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3232" y="5943600"/>
            <a:ext cx="1076523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— </a:t>
            </a:r>
            <a:pPr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제38205회는 연 8.5%를 받으면서 손실 확률이 12.7%로 지수형 평균(17.0%)보다도 낮습니다. 6개월마다 6번 상환 기회가 있고 배리어가 85%에서 시작하는 구조 덕입니다.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높다고 그만큼 위험한 것은 아닙니다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19종을 손실 확률(B)과 연 수익률로 흩어 놓았습니다. 왼쪽 위가 적은 위험에 많이 받는 자리, 오른쪽 아래가 위험만 큰 자리입니다. PPT 파일에서는 점에 마우스를 올리면 회차와 기초자산이 뜹니다.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261872"/>
          <a:ext cx="6629400" cy="38770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024128" y="5230368"/>
            <a:ext cx="100584" cy="100584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7957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3종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2761488" y="5230368"/>
            <a:ext cx="100584" cy="100584"/>
          </a:xfrm>
          <a:prstGeom prst="ellipse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91693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12종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498848" y="5230368"/>
            <a:ext cx="100584" cy="100584"/>
          </a:xfrm>
          <a:prstGeom prst="ellipse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5429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않는 4종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424928" y="1261872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424928" y="1261872"/>
            <a:ext cx="45720" cy="1243584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07808" y="1353312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붙어 있기는 합니다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607808" y="1609344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쿠폰은 결국 고객이 파는 풋옵션의 값이라 위험과 구조적으로 묶여 있습니다. 순위상관 0.84 (19종, p&lt;0.001)— 수익률이 높은 쪽이 대체로 손실 확률도 높습니다.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424928" y="2651760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24928" y="2651760"/>
            <a:ext cx="45720" cy="1243584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07808" y="2743200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그런데 171쌍 중 23쌍이 뒤집힙니다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607808" y="2999232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상품씩 모든 짝을 지어 보면 83.0%만 "쿠폰 높은 쪽이 더 위험" 했습니다. 23쌍은 더 받으면서 덜 위험하거나, 덜 받으면서 더 위험했습니다. 남은 6쌍은 수익률이나 손실 확률이 같아 가릴 수 없습니다.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424928" y="4041648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24928" y="4041648"/>
            <a:ext cx="45720" cy="124358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07808" y="4133088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위험당 대가가 2.3배 벌어집니다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4389120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받는 연 수익률이 제38223회는 0.81%, 제38220회는 0.36%입니다. 같은 위험을 지고도 받는 대가가 이만큼 다릅니다.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566928" y="5504688"/>
            <a:ext cx="11057839" cy="89611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49808" y="5504688"/>
            <a:ext cx="1069207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고르는 자리가 생깁니다  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같은 위험을 지고 가장 많이 받는 쪽은 제38223회지만 권하지 않는 상품이고, 값어치 멀쩡한 상품 중에서는 제38207회(연 9.4% · 손실 확률 13.6%)입니다. 가장 적게 받는 쪽은 제38220회(연 20.5% · 57.7%)입니다. 수익률 순서로 고르면 이 차이가 보이지 않습니다.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B6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※ 단, 제38207회(값어치 멀쩡한 상품 중 1등)의 우위는 공시 상관계수 0.22~0.76에 기대고 있습니다 — 서류값보다 0.1씩만 낮춰도 위험 1%당 수익률이 0.65%로 제38205회(0.67%)보다 낮아집니다.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권하지 않는 4종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17.0~21.0%라는 수익률만 보면 눈에 띄는 상품들입니다. 상품마다 걸린 사유가 달라 오른쪽에 나눠 적었습니다.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3441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제38220회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1371600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 (온라인 전용)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97096" y="138074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797296" y="133502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20.5%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86384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6,145원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59152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359152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57.7%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931920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931920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93.1%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04688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504688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0.36%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2180844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180844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22631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제38221회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2011680" y="229057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어플라이드 머티어리얼즈 · AMD (온라인 전용)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97096" y="229971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797296" y="225399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17.5%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86384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7,555원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359152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359152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39.3%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931920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931920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82.6%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504688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04688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0.45%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6928" y="3099816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3099816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6384" y="318211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제38219회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2011680" y="320954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 (온라인 전용)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197096" y="321868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97296" y="3172968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17.0%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86384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86384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8,268원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359152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359152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34.0%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931920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931920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66.4%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504688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504688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0.50%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66928" y="4018788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6928" y="4018788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86384" y="410108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제38223회</a:t>
            </a:r>
            <a:endParaRPr lang="en-US" sz="1450" dirty="0"/>
          </a:p>
        </p:txBody>
      </p:sp>
      <p:sp>
        <p:nvSpPr>
          <p:cNvPr id="50" name="Text 48"/>
          <p:cNvSpPr/>
          <p:nvPr/>
        </p:nvSpPr>
        <p:spPr>
          <a:xfrm>
            <a:off x="2011680" y="412851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197096" y="413766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797296" y="409194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21.0%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786384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786384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9,242원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2359152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359152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25.9%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3931920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3931920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56.8%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5504688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504688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0.81%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7370064" y="1261872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넣는 순간 39%까지 깎입니다 — 제38220회·제38221회·제38219회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7370064" y="1536192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발행사가 공시한 공정가격이 6,145~8,268원입니다. 액면 1만원을 내고 사는 시점의 이론 값어치가 그것뿐이라는 뜻입니다. 나머지 원화 15종은 9,157원 이상입니다.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7370064" y="2487168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손실 확률이 2.1배입니다 — 제38220회·제38221회·제38219회·제38223회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7370064" y="2761488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25.9~57.7%. 나머지 15종 평균은 18.3%입니다. 손실이 나면 평균 79.4%를 잃습니다.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7370064" y="3712464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검증 표본이 3.0년뿐입니다 — 제38220회·제38219회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7370064" y="3986784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 상장이 늦어 발행사 백테스트가 3.0년치입니다. 20년을 돌린 다른 상품과 A 열을 나란히 놓고 비교할 수 없습니다.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566928" y="5065776"/>
            <a:ext cx="11057839" cy="5669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9808" y="5065776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말씀하세요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“수익률만 보면 이게 높아 보이는데, 발행사가 공시한 이 상품의 값어치가 1만원이 아니라 6,145원입니다. 권하지 않는 상품을 빼고 가장 높은 제38215회는 연 18.0%에 손실 확률이 23.4%입니다 — 연 2.5%p 덜 받으시지만 위험은 2.5배 차이입니다.”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반응별 대응 스크립트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답변의 숫자는 발행사 공시 원문과 이번 회차 시뮬레이션에서 나온 값입니다. 확률을 낮게 말하지 말고, 크기를 함께 말씀하세요.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“원금을 다 날릴 수도 있다면서요.”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두 가지가 동시에 맞아야 납니다. 제38205회는 3년 안에 한 번이라도 65% 떨어진 적이 있고, 만기에도 30% 넘게 떨어져 있어야 손실입니다. 발행사가 실제 과거 시세 20년으로 4,711번 돌린 결과 손실은 0.00%였고, 같은 조건을 저희가 10만 번 다시 돌리니 12.7%였습니다. 다만 그 12.7%가 현실이 되면 평균 66.9%를 잃습니다. 확률은 낮고 크기는 큽니다.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05576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05576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0168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“홍콩 ELS로 크게 물린 분들 많잖아요.”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70168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그때 문제의 핵심은 낙인이 높았다는 것이었습니다. 이번 회차에서 HSCEI가 들어간 건 제38209·38216·38217회 3종뿐이고, 낙인은 40%·45%·45%입니다. 제38209회 기준 발행일에 잡히는 기준가에서 60%를 더 내려가야 손실 구간에 들어갑니다. 상품을 고르실 때 수익률이 아니라 이 낙인 숫자를 먼저 보시면 됩니다.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6928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“예금이 안전한데 굳이 왜요.”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자리에 놓고 비교하실 상품이 아닙니다. 예금은 원금이 보장되고 이건 아닙니다. 대신 제38205회는 조건이 맞으면 연 8.5%, 3년 25.5%입니다. 예금을 대체하는 돈이 아니라, 예금에 넣지 않기로 한 돈의 일부로만 접근하셔야 합니다.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05576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05576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0168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“3년이나 묶이는 거 아닌가요.”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70168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3년은 최장 기간이고 대부분 훨씬 일찍 끝납니다. 제38205회는 6개월마다 6번 상환 기회가 있고, 첫 회에 끝난 경우가 백테스트 91.1%였습니다. 중도상환도 가능합니다만 그때는 원금 손실이 날 수 있어서, 3년 쓸 일 없는 돈으로만 하셔야 합니다.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“지금이 고점 아닌가요.”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고점인지 아닌지는 저도 모릅니다. 다만 이 상품은 오르면 버는 구조가 아니라 크게 안 떨어지면 버는 구조입니다. 제38205회는 85% 배리어라 기초자산이 15% 떨어져도 첫 회에 상환됩니다. 그래도 부담스러우시면 손실 확률이 그다음으로 낮은 제38207회(13.6%, 연 9.4%)를 보시죠.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05576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5576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70168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“그냥 수익률 제일 높은 걸로 주세요.”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70168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제일 높은 건 연 21.0%인 제38223회인데 손실 확률이 25.9%입니다. 권하지 않는 상품을 빼고 가장 높은 제38215회는 연 18.0%에 손실 확률 23.4%입니다. 이 둘은 더 받는 만큼 위험도 커지는 사이입니다. 다만 제38223회는 손실 확률이 이 자료가 권하는 선(25%)을 넘어 권하지 않습니다. 수익률을 원하시면 제38215회를, 위험을 줄이고 싶으시면 앞의 추천 3종을 보시죠.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진행 순서와 반드시 말해야 할 것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고난도금융투자상품 · 숙려제도 대상 · 녹취 의무 상품입니다. 아래 여섯 가지를 빠뜨리면 나중에 불완전판매가 됩니다.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2618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순서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585216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7556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24128" y="17373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 없는 돈인지 먼저 확인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24128" y="20116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안에 쓸 계획이 있는 돈이면 여기서 멈춥니다. 중도상환은 원금 손실이 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6700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4128" y="26517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조건을 숫자로 설명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" y="2926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 안에 한 번이라도 65% 떨어지고, 만기에도 30% 넘게 떨어져 있어야 손실입니다” — 배리어와 낙인을 %가 아니라 “얼마나 떨어져야 하는지”로 바꿔 말합니다.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5844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584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24128" y="35661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확률과 크기를 함께 제시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" y="38404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12.7%와 손실 시 평균 66.9%를 한 문장에 같이 담습니다.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44988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4128" y="4480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성향에 맞는 한 종만 권유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" y="47548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중 하나로 좁혀 드립니다. 4종(제38220·38221·38219·38223회)은 권유 대상에서 제외합니다.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5413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53949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일정과 절차 안내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마감은 2026.10.23입니다. 숙려 후 2026.10.28까지 가입의사를 직접 확인하지 않으면 청약이 취소됩니다. 단, 제38222·38223회는 별도 공시(청약 2026.10.15~2026.10.22)라 개인 일반투자자 마감이 10월 19일(월)로 이미 지났습니다.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748272" y="126187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말해야 할 여섯 가지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748272" y="1572768"/>
            <a:ext cx="4876495" cy="10973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48272" y="179222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2592" y="173736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위험등급 1등급(매우높은위험). 원금 전액(-100%) 손실이 가능합니다.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748272" y="2322576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22592" y="2267712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예금자보호법 대상이 아닙니다.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748272" y="2852928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22592" y="2798064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 신용위험 — 미래에셋증권이 지급 불이행하면 조건과 무관하게 손실이 납니다 (신용등급 AA).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748272" y="3383280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22592" y="3328416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거래소 비상장 — 만기 전 현금화가 어렵고, 중도상환 시 상환비용으로 원금에 미달할 수 있습니다.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48272" y="3913632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22592" y="3858768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판매는 전 과정 녹취 의무입니다. 거부하시면 판매가 불가합니다.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48272" y="444398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22592" y="438912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 65세 이상 고령투자자 유의 상품이며, 고난도금융투자상품입니다.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748272" y="5010912"/>
            <a:ext cx="4876495" cy="17556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12864" y="5120640"/>
            <a:ext cx="454731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자료의 근거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912864" y="5340096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조건·공정가격·적용 변동성·상관계수·백테스트(A)는 일괄신고추가서류(접수번호 20261016000319 · 20261014000084) 원문에서 그대로 옮겼습니다. 손실 확률(B)은 그 공시 변동성과 상관계수로 같은 조건을 10만 번 다시 돌린 값이며, 공시된 수치가 아닙니다. 수익률은 확정이 아니라 조건 충족 시의 상한입니다.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912864" y="5943600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못한 것 —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제38219·38220회는 기초자산 상장이 늦어 검증 표본이 3.0년뿐입니다 — A 열을 20년 상품과 같은 줄에서 비교할 수 없습니다. KOSPI200 과거 시세는 최근 수집분이 짧게 들어와 직전 종가를 이월했습니다. A 의 마지막 며칠은 실관측이 아닙니다(B 는 공시 변동성만 쓰므로 영향 없음).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제38205~38223회 ELS 세일즈 제안서</dc:title>
  <dc:subject>PptxGenJS Presentation</dc:subject>
  <dc:creator>미래에셋증권</dc:creator>
  <cp:lastModifiedBy>미래에셋증권</cp:lastModifiedBy>
  <cp:revision>1</cp:revision>
  <dcterms:created xsi:type="dcterms:W3CDTF">2026-10-20T02:17:37Z</dcterms:created>
  <dcterms:modified xsi:type="dcterms:W3CDTF">2026-10-20T02:17:37Z</dcterms:modified>
</cp:coreProperties>
</file>