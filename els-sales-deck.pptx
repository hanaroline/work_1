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제38133회 KOSPI200</c:v>
                </c:pt>
              </c:strCache>
            </c:strRef>
          </c:tx>
          <c:spPr>
            <a:solidFill>
              <a:srgbClr val="F58220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9.5</c:v>
                </c:pt>
                <c:pt idx="1">
                  <c:v>10</c:v>
                </c:pt>
                <c:pt idx="2">
                  <c:v>11.1</c:v>
                </c:pt>
                <c:pt idx="3">
                  <c:v>11.4</c:v>
                </c:pt>
                <c:pt idx="4">
                  <c:v>12.3</c:v>
                </c:pt>
                <c:pt idx="5">
                  <c:v>13.3</c:v>
                </c:pt>
                <c:pt idx="6">
                  <c:v>13.8</c:v>
                </c:pt>
                <c:pt idx="7">
                  <c:v>13.8</c:v>
                </c:pt>
                <c:pt idx="8">
                  <c:v>15.2</c:v>
                </c:pt>
                <c:pt idx="9">
                  <c:v>16.5</c:v>
                </c:pt>
                <c:pt idx="10">
                  <c:v>19.2</c:v>
                </c:pt>
                <c:pt idx="11">
                  <c:v>21.1</c:v>
                </c:pt>
                <c:pt idx="12">
                  <c:v>21.9</c:v>
                </c:pt>
                <c:pt idx="13">
                  <c:v>24.1</c:v>
                </c:pt>
                <c:pt idx="14">
                  <c:v>24.3</c:v>
                </c:pt>
                <c:pt idx="15">
                  <c:v>30.5</c:v>
                </c:pt>
                <c:pt idx="16">
                  <c:v>38.3</c:v>
                </c:pt>
                <c:pt idx="17">
                  <c:v>47.9</c:v>
                </c:pt>
                <c:pt idx="18">
                  <c:v>50.2</c:v>
                </c:pt>
              </c:numCache>
            </c:numRef>
          </c:xVal>
          <c:yVal>
            <c:numRef>
              <c:f>Sheet1!$B$2:$B$20</c:f>
              <c:numCache>
                <c:formatCode>General</c:formatCode>
                <c:ptCount val="19"/>
                <c:pt idx="0">
                  <c:v>9.2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제38134회 EuroStoxx50·S&amp;P500·KOSPI200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9.5</c:v>
                </c:pt>
                <c:pt idx="1">
                  <c:v>10</c:v>
                </c:pt>
                <c:pt idx="2">
                  <c:v>11.1</c:v>
                </c:pt>
                <c:pt idx="3">
                  <c:v>11.4</c:v>
                </c:pt>
                <c:pt idx="4">
                  <c:v>12.3</c:v>
                </c:pt>
                <c:pt idx="5">
                  <c:v>13.3</c:v>
                </c:pt>
                <c:pt idx="6">
                  <c:v>13.8</c:v>
                </c:pt>
                <c:pt idx="7">
                  <c:v>13.8</c:v>
                </c:pt>
                <c:pt idx="8">
                  <c:v>15.2</c:v>
                </c:pt>
                <c:pt idx="9">
                  <c:v>16.5</c:v>
                </c:pt>
                <c:pt idx="10">
                  <c:v>19.2</c:v>
                </c:pt>
                <c:pt idx="11">
                  <c:v>21.1</c:v>
                </c:pt>
                <c:pt idx="12">
                  <c:v>21.9</c:v>
                </c:pt>
                <c:pt idx="13">
                  <c:v>24.1</c:v>
                </c:pt>
                <c:pt idx="14">
                  <c:v>24.3</c:v>
                </c:pt>
                <c:pt idx="15">
                  <c:v>30.5</c:v>
                </c:pt>
                <c:pt idx="16">
                  <c:v>38.3</c:v>
                </c:pt>
                <c:pt idx="17">
                  <c:v>47.9</c:v>
                </c:pt>
                <c:pt idx="18">
                  <c:v>50.2</c:v>
                </c:pt>
              </c:numCache>
            </c:numRef>
          </c:xVal>
          <c:yVal>
            <c:numRef>
              <c:f>Sheet1!$C$2:$C$20</c:f>
              <c:numCache>
                <c:formatCode>General</c:formatCode>
                <c:ptCount val="19"/>
                <c:pt idx="0">
                  <c:v/>
                </c:pt>
                <c:pt idx="1">
                  <c:v>10.3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제38139회 삼성전자·SK하이닉스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9.5</c:v>
                </c:pt>
                <c:pt idx="1">
                  <c:v>10</c:v>
                </c:pt>
                <c:pt idx="2">
                  <c:v>11.1</c:v>
                </c:pt>
                <c:pt idx="3">
                  <c:v>11.4</c:v>
                </c:pt>
                <c:pt idx="4">
                  <c:v>12.3</c:v>
                </c:pt>
                <c:pt idx="5">
                  <c:v>13.3</c:v>
                </c:pt>
                <c:pt idx="6">
                  <c:v>13.8</c:v>
                </c:pt>
                <c:pt idx="7">
                  <c:v>13.8</c:v>
                </c:pt>
                <c:pt idx="8">
                  <c:v>15.2</c:v>
                </c:pt>
                <c:pt idx="9">
                  <c:v>16.5</c:v>
                </c:pt>
                <c:pt idx="10">
                  <c:v>19.2</c:v>
                </c:pt>
                <c:pt idx="11">
                  <c:v>21.1</c:v>
                </c:pt>
                <c:pt idx="12">
                  <c:v>21.9</c:v>
                </c:pt>
                <c:pt idx="13">
                  <c:v>24.1</c:v>
                </c:pt>
                <c:pt idx="14">
                  <c:v>24.3</c:v>
                </c:pt>
                <c:pt idx="15">
                  <c:v>30.5</c:v>
                </c:pt>
                <c:pt idx="16">
                  <c:v>38.3</c:v>
                </c:pt>
                <c:pt idx="17">
                  <c:v>47.9</c:v>
                </c:pt>
                <c:pt idx="18">
                  <c:v>50.2</c:v>
                </c:pt>
              </c:numCache>
            </c:numRef>
          </c:xVal>
          <c:yVal>
            <c:numRef>
              <c:f>Sheet1!$D$2:$D$20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>15.1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제38141회 KOSPI200·SK하이닉스</c:v>
                </c:pt>
              </c:strCache>
            </c:strRef>
          </c:tx>
          <c:spPr>
            <a:solidFill>
              <a:srgbClr val="F58220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9.5</c:v>
                </c:pt>
                <c:pt idx="1">
                  <c:v>10</c:v>
                </c:pt>
                <c:pt idx="2">
                  <c:v>11.1</c:v>
                </c:pt>
                <c:pt idx="3">
                  <c:v>11.4</c:v>
                </c:pt>
                <c:pt idx="4">
                  <c:v>12.3</c:v>
                </c:pt>
                <c:pt idx="5">
                  <c:v>13.3</c:v>
                </c:pt>
                <c:pt idx="6">
                  <c:v>13.8</c:v>
                </c:pt>
                <c:pt idx="7">
                  <c:v>13.8</c:v>
                </c:pt>
                <c:pt idx="8">
                  <c:v>15.2</c:v>
                </c:pt>
                <c:pt idx="9">
                  <c:v>16.5</c:v>
                </c:pt>
                <c:pt idx="10">
                  <c:v>19.2</c:v>
                </c:pt>
                <c:pt idx="11">
                  <c:v>21.1</c:v>
                </c:pt>
                <c:pt idx="12">
                  <c:v>21.9</c:v>
                </c:pt>
                <c:pt idx="13">
                  <c:v>24.1</c:v>
                </c:pt>
                <c:pt idx="14">
                  <c:v>24.3</c:v>
                </c:pt>
                <c:pt idx="15">
                  <c:v>30.5</c:v>
                </c:pt>
                <c:pt idx="16">
                  <c:v>38.3</c:v>
                </c:pt>
                <c:pt idx="17">
                  <c:v>47.9</c:v>
                </c:pt>
                <c:pt idx="18">
                  <c:v>50.2</c:v>
                </c:pt>
              </c:numCache>
            </c:numRef>
          </c:xVal>
          <c:yVal>
            <c:numRef>
              <c:f>Sheet1!$E$2:$E$20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16</c:v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제38135회 EuroStoxx50·KOSPI200·Nikkei225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9.5</c:v>
                </c:pt>
                <c:pt idx="1">
                  <c:v>10</c:v>
                </c:pt>
                <c:pt idx="2">
                  <c:v>11.1</c:v>
                </c:pt>
                <c:pt idx="3">
                  <c:v>11.4</c:v>
                </c:pt>
                <c:pt idx="4">
                  <c:v>12.3</c:v>
                </c:pt>
                <c:pt idx="5">
                  <c:v>13.3</c:v>
                </c:pt>
                <c:pt idx="6">
                  <c:v>13.8</c:v>
                </c:pt>
                <c:pt idx="7">
                  <c:v>13.8</c:v>
                </c:pt>
                <c:pt idx="8">
                  <c:v>15.2</c:v>
                </c:pt>
                <c:pt idx="9">
                  <c:v>16.5</c:v>
                </c:pt>
                <c:pt idx="10">
                  <c:v>19.2</c:v>
                </c:pt>
                <c:pt idx="11">
                  <c:v>21.1</c:v>
                </c:pt>
                <c:pt idx="12">
                  <c:v>21.9</c:v>
                </c:pt>
                <c:pt idx="13">
                  <c:v>24.1</c:v>
                </c:pt>
                <c:pt idx="14">
                  <c:v>24.3</c:v>
                </c:pt>
                <c:pt idx="15">
                  <c:v>30.5</c:v>
                </c:pt>
                <c:pt idx="16">
                  <c:v>38.3</c:v>
                </c:pt>
                <c:pt idx="17">
                  <c:v>47.9</c:v>
                </c:pt>
                <c:pt idx="18">
                  <c:v>50.2</c:v>
                </c:pt>
              </c:numCache>
            </c:numRef>
          </c:xVal>
          <c:yVal>
            <c:numRef>
              <c:f>Sheet1!$F$2:$F$20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11</c:v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제38137회 KOSPI200·HSCEI·Nikkei225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9.5</c:v>
                </c:pt>
                <c:pt idx="1">
                  <c:v>10</c:v>
                </c:pt>
                <c:pt idx="2">
                  <c:v>11.1</c:v>
                </c:pt>
                <c:pt idx="3">
                  <c:v>11.4</c:v>
                </c:pt>
                <c:pt idx="4">
                  <c:v>12.3</c:v>
                </c:pt>
                <c:pt idx="5">
                  <c:v>13.3</c:v>
                </c:pt>
                <c:pt idx="6">
                  <c:v>13.8</c:v>
                </c:pt>
                <c:pt idx="7">
                  <c:v>13.8</c:v>
                </c:pt>
                <c:pt idx="8">
                  <c:v>15.2</c:v>
                </c:pt>
                <c:pt idx="9">
                  <c:v>16.5</c:v>
                </c:pt>
                <c:pt idx="10">
                  <c:v>19.2</c:v>
                </c:pt>
                <c:pt idx="11">
                  <c:v>21.1</c:v>
                </c:pt>
                <c:pt idx="12">
                  <c:v>21.9</c:v>
                </c:pt>
                <c:pt idx="13">
                  <c:v>24.1</c:v>
                </c:pt>
                <c:pt idx="14">
                  <c:v>24.3</c:v>
                </c:pt>
                <c:pt idx="15">
                  <c:v>30.5</c:v>
                </c:pt>
                <c:pt idx="16">
                  <c:v>38.3</c:v>
                </c:pt>
                <c:pt idx="17">
                  <c:v>47.9</c:v>
                </c:pt>
                <c:pt idx="18">
                  <c:v>50.2</c:v>
                </c:pt>
              </c:numCache>
            </c:numRef>
          </c:xVal>
          <c:yVal>
            <c:numRef>
              <c:f>Sheet1!$G$2:$G$20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11.6</c:v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제38136회 KOSPI200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9.5</c:v>
                </c:pt>
                <c:pt idx="1">
                  <c:v>10</c:v>
                </c:pt>
                <c:pt idx="2">
                  <c:v>11.1</c:v>
                </c:pt>
                <c:pt idx="3">
                  <c:v>11.4</c:v>
                </c:pt>
                <c:pt idx="4">
                  <c:v>12.3</c:v>
                </c:pt>
                <c:pt idx="5">
                  <c:v>13.3</c:v>
                </c:pt>
                <c:pt idx="6">
                  <c:v>13.8</c:v>
                </c:pt>
                <c:pt idx="7">
                  <c:v>13.8</c:v>
                </c:pt>
                <c:pt idx="8">
                  <c:v>15.2</c:v>
                </c:pt>
                <c:pt idx="9">
                  <c:v>16.5</c:v>
                </c:pt>
                <c:pt idx="10">
                  <c:v>19.2</c:v>
                </c:pt>
                <c:pt idx="11">
                  <c:v>21.1</c:v>
                </c:pt>
                <c:pt idx="12">
                  <c:v>21.9</c:v>
                </c:pt>
                <c:pt idx="13">
                  <c:v>24.1</c:v>
                </c:pt>
                <c:pt idx="14">
                  <c:v>24.3</c:v>
                </c:pt>
                <c:pt idx="15">
                  <c:v>30.5</c:v>
                </c:pt>
                <c:pt idx="16">
                  <c:v>38.3</c:v>
                </c:pt>
                <c:pt idx="17">
                  <c:v>47.9</c:v>
                </c:pt>
                <c:pt idx="18">
                  <c:v>50.2</c:v>
                </c:pt>
              </c:numCache>
            </c:numRef>
          </c:xVal>
          <c:yVal>
            <c:numRef>
              <c:f>Sheet1!$H$2:$H$20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>11.4</c:v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제38140회 KOSPI200·삼성전자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9.5</c:v>
                </c:pt>
                <c:pt idx="1">
                  <c:v>10</c:v>
                </c:pt>
                <c:pt idx="2">
                  <c:v>11.1</c:v>
                </c:pt>
                <c:pt idx="3">
                  <c:v>11.4</c:v>
                </c:pt>
                <c:pt idx="4">
                  <c:v>12.3</c:v>
                </c:pt>
                <c:pt idx="5">
                  <c:v>13.3</c:v>
                </c:pt>
                <c:pt idx="6">
                  <c:v>13.8</c:v>
                </c:pt>
                <c:pt idx="7">
                  <c:v>13.8</c:v>
                </c:pt>
                <c:pt idx="8">
                  <c:v>15.2</c:v>
                </c:pt>
                <c:pt idx="9">
                  <c:v>16.5</c:v>
                </c:pt>
                <c:pt idx="10">
                  <c:v>19.2</c:v>
                </c:pt>
                <c:pt idx="11">
                  <c:v>21.1</c:v>
                </c:pt>
                <c:pt idx="12">
                  <c:v>21.9</c:v>
                </c:pt>
                <c:pt idx="13">
                  <c:v>24.1</c:v>
                </c:pt>
                <c:pt idx="14">
                  <c:v>24.3</c:v>
                </c:pt>
                <c:pt idx="15">
                  <c:v>30.5</c:v>
                </c:pt>
                <c:pt idx="16">
                  <c:v>38.3</c:v>
                </c:pt>
                <c:pt idx="17">
                  <c:v>47.9</c:v>
                </c:pt>
                <c:pt idx="18">
                  <c:v>50.2</c:v>
                </c:pt>
              </c:numCache>
            </c:numRef>
          </c:xVal>
          <c:yVal>
            <c:numRef>
              <c:f>Sheet1!$I$2:$I$20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>15.5</c:v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제38145회 S&amp;P500·KOSPI200·Nikkei225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9.5</c:v>
                </c:pt>
                <c:pt idx="1">
                  <c:v>10</c:v>
                </c:pt>
                <c:pt idx="2">
                  <c:v>11.1</c:v>
                </c:pt>
                <c:pt idx="3">
                  <c:v>11.4</c:v>
                </c:pt>
                <c:pt idx="4">
                  <c:v>12.3</c:v>
                </c:pt>
                <c:pt idx="5">
                  <c:v>13.3</c:v>
                </c:pt>
                <c:pt idx="6">
                  <c:v>13.8</c:v>
                </c:pt>
                <c:pt idx="7">
                  <c:v>13.8</c:v>
                </c:pt>
                <c:pt idx="8">
                  <c:v>15.2</c:v>
                </c:pt>
                <c:pt idx="9">
                  <c:v>16.5</c:v>
                </c:pt>
                <c:pt idx="10">
                  <c:v>19.2</c:v>
                </c:pt>
                <c:pt idx="11">
                  <c:v>21.1</c:v>
                </c:pt>
                <c:pt idx="12">
                  <c:v>21.9</c:v>
                </c:pt>
                <c:pt idx="13">
                  <c:v>24.1</c:v>
                </c:pt>
                <c:pt idx="14">
                  <c:v>24.3</c:v>
                </c:pt>
                <c:pt idx="15">
                  <c:v>30.5</c:v>
                </c:pt>
                <c:pt idx="16">
                  <c:v>38.3</c:v>
                </c:pt>
                <c:pt idx="17">
                  <c:v>47.9</c:v>
                </c:pt>
                <c:pt idx="18">
                  <c:v>50.2</c:v>
                </c:pt>
              </c:numCache>
            </c:numRef>
          </c:xVal>
          <c:yVal>
            <c:numRef>
              <c:f>Sheet1!$J$2:$J$20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>12.1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9"/>
          <c:order val="9"/>
          <c:tx>
            <c:strRef>
              <c:f>Sheet1!$K$1</c:f>
              <c:strCache>
                <c:ptCount val="1"/>
                <c:pt idx="0">
                  <c:v>제38142회 삼성전자·SK하이닉스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9.5</c:v>
                </c:pt>
                <c:pt idx="1">
                  <c:v>10</c:v>
                </c:pt>
                <c:pt idx="2">
                  <c:v>11.1</c:v>
                </c:pt>
                <c:pt idx="3">
                  <c:v>11.4</c:v>
                </c:pt>
                <c:pt idx="4">
                  <c:v>12.3</c:v>
                </c:pt>
                <c:pt idx="5">
                  <c:v>13.3</c:v>
                </c:pt>
                <c:pt idx="6">
                  <c:v>13.8</c:v>
                </c:pt>
                <c:pt idx="7">
                  <c:v>13.8</c:v>
                </c:pt>
                <c:pt idx="8">
                  <c:v>15.2</c:v>
                </c:pt>
                <c:pt idx="9">
                  <c:v>16.5</c:v>
                </c:pt>
                <c:pt idx="10">
                  <c:v>19.2</c:v>
                </c:pt>
                <c:pt idx="11">
                  <c:v>21.1</c:v>
                </c:pt>
                <c:pt idx="12">
                  <c:v>21.9</c:v>
                </c:pt>
                <c:pt idx="13">
                  <c:v>24.1</c:v>
                </c:pt>
                <c:pt idx="14">
                  <c:v>24.3</c:v>
                </c:pt>
                <c:pt idx="15">
                  <c:v>30.5</c:v>
                </c:pt>
                <c:pt idx="16">
                  <c:v>38.3</c:v>
                </c:pt>
                <c:pt idx="17">
                  <c:v>47.9</c:v>
                </c:pt>
                <c:pt idx="18">
                  <c:v>50.2</c:v>
                </c:pt>
              </c:numCache>
            </c:numRef>
          </c:xVal>
          <c:yVal>
            <c:numRef>
              <c:f>Sheet1!$K$2:$K$20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>18.4</c:v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10"/>
          <c:order val="10"/>
          <c:tx>
            <c:strRef>
              <c:f>Sheet1!$L$1</c:f>
              <c:strCache>
                <c:ptCount val="1"/>
                <c:pt idx="0">
                  <c:v>제38144회 S&amp;P500·HSCEI·Nikkei225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9.5</c:v>
                </c:pt>
                <c:pt idx="1">
                  <c:v>10</c:v>
                </c:pt>
                <c:pt idx="2">
                  <c:v>11.1</c:v>
                </c:pt>
                <c:pt idx="3">
                  <c:v>11.4</c:v>
                </c:pt>
                <c:pt idx="4">
                  <c:v>12.3</c:v>
                </c:pt>
                <c:pt idx="5">
                  <c:v>13.3</c:v>
                </c:pt>
                <c:pt idx="6">
                  <c:v>13.8</c:v>
                </c:pt>
                <c:pt idx="7">
                  <c:v>13.8</c:v>
                </c:pt>
                <c:pt idx="8">
                  <c:v>15.2</c:v>
                </c:pt>
                <c:pt idx="9">
                  <c:v>16.5</c:v>
                </c:pt>
                <c:pt idx="10">
                  <c:v>19.2</c:v>
                </c:pt>
                <c:pt idx="11">
                  <c:v>21.1</c:v>
                </c:pt>
                <c:pt idx="12">
                  <c:v>21.9</c:v>
                </c:pt>
                <c:pt idx="13">
                  <c:v>24.1</c:v>
                </c:pt>
                <c:pt idx="14">
                  <c:v>24.3</c:v>
                </c:pt>
                <c:pt idx="15">
                  <c:v>30.5</c:v>
                </c:pt>
                <c:pt idx="16">
                  <c:v>38.3</c:v>
                </c:pt>
                <c:pt idx="17">
                  <c:v>47.9</c:v>
                </c:pt>
                <c:pt idx="18">
                  <c:v>50.2</c:v>
                </c:pt>
              </c:numCache>
            </c:numRef>
          </c:xVal>
          <c:yVal>
            <c:numRef>
              <c:f>Sheet1!$L$2:$L$20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>10</c:v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11"/>
          <c:order val="11"/>
          <c:tx>
            <c:strRef>
              <c:f>Sheet1!$M$1</c:f>
              <c:strCache>
                <c:ptCount val="1"/>
                <c:pt idx="0">
                  <c:v>제38138회 S&amp;P500·KOSPI200·Nikkei225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9.5</c:v>
                </c:pt>
                <c:pt idx="1">
                  <c:v>10</c:v>
                </c:pt>
                <c:pt idx="2">
                  <c:v>11.1</c:v>
                </c:pt>
                <c:pt idx="3">
                  <c:v>11.4</c:v>
                </c:pt>
                <c:pt idx="4">
                  <c:v>12.3</c:v>
                </c:pt>
                <c:pt idx="5">
                  <c:v>13.3</c:v>
                </c:pt>
                <c:pt idx="6">
                  <c:v>13.8</c:v>
                </c:pt>
                <c:pt idx="7">
                  <c:v>13.8</c:v>
                </c:pt>
                <c:pt idx="8">
                  <c:v>15.2</c:v>
                </c:pt>
                <c:pt idx="9">
                  <c:v>16.5</c:v>
                </c:pt>
                <c:pt idx="10">
                  <c:v>19.2</c:v>
                </c:pt>
                <c:pt idx="11">
                  <c:v>21.1</c:v>
                </c:pt>
                <c:pt idx="12">
                  <c:v>21.9</c:v>
                </c:pt>
                <c:pt idx="13">
                  <c:v>24.1</c:v>
                </c:pt>
                <c:pt idx="14">
                  <c:v>24.3</c:v>
                </c:pt>
                <c:pt idx="15">
                  <c:v>30.5</c:v>
                </c:pt>
                <c:pt idx="16">
                  <c:v>38.3</c:v>
                </c:pt>
                <c:pt idx="17">
                  <c:v>47.9</c:v>
                </c:pt>
                <c:pt idx="18">
                  <c:v>50.2</c:v>
                </c:pt>
              </c:numCache>
            </c:numRef>
          </c:xVal>
          <c:yVal>
            <c:numRef>
              <c:f>Sheet1!$M$2:$M$20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>12</c:v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12"/>
          <c:order val="12"/>
          <c:tx>
            <c:strRef>
              <c:f>Sheet1!$N$1</c:f>
              <c:strCache>
                <c:ptCount val="1"/>
                <c:pt idx="0">
                  <c:v>제38147회 삼성전자·SK하이닉스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9.5</c:v>
                </c:pt>
                <c:pt idx="1">
                  <c:v>10</c:v>
                </c:pt>
                <c:pt idx="2">
                  <c:v>11.1</c:v>
                </c:pt>
                <c:pt idx="3">
                  <c:v>11.4</c:v>
                </c:pt>
                <c:pt idx="4">
                  <c:v>12.3</c:v>
                </c:pt>
                <c:pt idx="5">
                  <c:v>13.3</c:v>
                </c:pt>
                <c:pt idx="6">
                  <c:v>13.8</c:v>
                </c:pt>
                <c:pt idx="7">
                  <c:v>13.8</c:v>
                </c:pt>
                <c:pt idx="8">
                  <c:v>15.2</c:v>
                </c:pt>
                <c:pt idx="9">
                  <c:v>16.5</c:v>
                </c:pt>
                <c:pt idx="10">
                  <c:v>19.2</c:v>
                </c:pt>
                <c:pt idx="11">
                  <c:v>21.1</c:v>
                </c:pt>
                <c:pt idx="12">
                  <c:v>21.9</c:v>
                </c:pt>
                <c:pt idx="13">
                  <c:v>24.1</c:v>
                </c:pt>
                <c:pt idx="14">
                  <c:v>24.3</c:v>
                </c:pt>
                <c:pt idx="15">
                  <c:v>30.5</c:v>
                </c:pt>
                <c:pt idx="16">
                  <c:v>38.3</c:v>
                </c:pt>
                <c:pt idx="17">
                  <c:v>47.9</c:v>
                </c:pt>
                <c:pt idx="18">
                  <c:v>50.2</c:v>
                </c:pt>
              </c:numCache>
            </c:numRef>
          </c:xVal>
          <c:yVal>
            <c:numRef>
              <c:f>Sheet1!$N$2:$N$20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>21.5</c:v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13"/>
          <c:order val="13"/>
          <c:tx>
            <c:strRef>
              <c:f>Sheet1!$O$1</c:f>
              <c:strCache>
                <c:ptCount val="1"/>
                <c:pt idx="0">
                  <c:v>제38146회 EuroStoxx50·KOSPI200·Nikkei225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9.5</c:v>
                </c:pt>
                <c:pt idx="1">
                  <c:v>10</c:v>
                </c:pt>
                <c:pt idx="2">
                  <c:v>11.1</c:v>
                </c:pt>
                <c:pt idx="3">
                  <c:v>11.4</c:v>
                </c:pt>
                <c:pt idx="4">
                  <c:v>12.3</c:v>
                </c:pt>
                <c:pt idx="5">
                  <c:v>13.3</c:v>
                </c:pt>
                <c:pt idx="6">
                  <c:v>13.8</c:v>
                </c:pt>
                <c:pt idx="7">
                  <c:v>13.8</c:v>
                </c:pt>
                <c:pt idx="8">
                  <c:v>15.2</c:v>
                </c:pt>
                <c:pt idx="9">
                  <c:v>16.5</c:v>
                </c:pt>
                <c:pt idx="10">
                  <c:v>19.2</c:v>
                </c:pt>
                <c:pt idx="11">
                  <c:v>21.1</c:v>
                </c:pt>
                <c:pt idx="12">
                  <c:v>21.9</c:v>
                </c:pt>
                <c:pt idx="13">
                  <c:v>24.1</c:v>
                </c:pt>
                <c:pt idx="14">
                  <c:v>24.3</c:v>
                </c:pt>
                <c:pt idx="15">
                  <c:v>30.5</c:v>
                </c:pt>
                <c:pt idx="16">
                  <c:v>38.3</c:v>
                </c:pt>
                <c:pt idx="17">
                  <c:v>47.9</c:v>
                </c:pt>
                <c:pt idx="18">
                  <c:v>50.2</c:v>
                </c:pt>
              </c:numCache>
            </c:numRef>
          </c:xVal>
          <c:yVal>
            <c:numRef>
              <c:f>Sheet1!$O$2:$O$20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>14.7</c:v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14"/>
          <c:order val="14"/>
          <c:tx>
            <c:strRef>
              <c:f>Sheet1!$P$1</c:f>
              <c:strCache>
                <c:ptCount val="1"/>
                <c:pt idx="0">
                  <c:v>제38143회 삼성전자·SK하이닉스</c:v>
                </c:pt>
              </c:strCache>
            </c:strRef>
          </c:tx>
          <c:spPr>
            <a:solidFill>
              <a:srgbClr val="F58220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9.5</c:v>
                </c:pt>
                <c:pt idx="1">
                  <c:v>10</c:v>
                </c:pt>
                <c:pt idx="2">
                  <c:v>11.1</c:v>
                </c:pt>
                <c:pt idx="3">
                  <c:v>11.4</c:v>
                </c:pt>
                <c:pt idx="4">
                  <c:v>12.3</c:v>
                </c:pt>
                <c:pt idx="5">
                  <c:v>13.3</c:v>
                </c:pt>
                <c:pt idx="6">
                  <c:v>13.8</c:v>
                </c:pt>
                <c:pt idx="7">
                  <c:v>13.8</c:v>
                </c:pt>
                <c:pt idx="8">
                  <c:v>15.2</c:v>
                </c:pt>
                <c:pt idx="9">
                  <c:v>16.5</c:v>
                </c:pt>
                <c:pt idx="10">
                  <c:v>19.2</c:v>
                </c:pt>
                <c:pt idx="11">
                  <c:v>21.1</c:v>
                </c:pt>
                <c:pt idx="12">
                  <c:v>21.9</c:v>
                </c:pt>
                <c:pt idx="13">
                  <c:v>24.1</c:v>
                </c:pt>
                <c:pt idx="14">
                  <c:v>24.3</c:v>
                </c:pt>
                <c:pt idx="15">
                  <c:v>30.5</c:v>
                </c:pt>
                <c:pt idx="16">
                  <c:v>38.3</c:v>
                </c:pt>
                <c:pt idx="17">
                  <c:v>47.9</c:v>
                </c:pt>
                <c:pt idx="18">
                  <c:v>50.2</c:v>
                </c:pt>
              </c:numCache>
            </c:numRef>
          </c:xVal>
          <c:yVal>
            <c:numRef>
              <c:f>Sheet1!$P$2:$P$20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>25</c:v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15"/>
          <c:order val="15"/>
          <c:tx>
            <c:strRef>
              <c:f>Sheet1!$Q$1</c:f>
              <c:strCache>
                <c:ptCount val="1"/>
                <c:pt idx="0">
                  <c:v>제38148회 테슬라·팔란티어 테크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9.5</c:v>
                </c:pt>
                <c:pt idx="1">
                  <c:v>10</c:v>
                </c:pt>
                <c:pt idx="2">
                  <c:v>11.1</c:v>
                </c:pt>
                <c:pt idx="3">
                  <c:v>11.4</c:v>
                </c:pt>
                <c:pt idx="4">
                  <c:v>12.3</c:v>
                </c:pt>
                <c:pt idx="5">
                  <c:v>13.3</c:v>
                </c:pt>
                <c:pt idx="6">
                  <c:v>13.8</c:v>
                </c:pt>
                <c:pt idx="7">
                  <c:v>13.8</c:v>
                </c:pt>
                <c:pt idx="8">
                  <c:v>15.2</c:v>
                </c:pt>
                <c:pt idx="9">
                  <c:v>16.5</c:v>
                </c:pt>
                <c:pt idx="10">
                  <c:v>19.2</c:v>
                </c:pt>
                <c:pt idx="11">
                  <c:v>21.1</c:v>
                </c:pt>
                <c:pt idx="12">
                  <c:v>21.9</c:v>
                </c:pt>
                <c:pt idx="13">
                  <c:v>24.1</c:v>
                </c:pt>
                <c:pt idx="14">
                  <c:v>24.3</c:v>
                </c:pt>
                <c:pt idx="15">
                  <c:v>30.5</c:v>
                </c:pt>
                <c:pt idx="16">
                  <c:v>38.3</c:v>
                </c:pt>
                <c:pt idx="17">
                  <c:v>47.9</c:v>
                </c:pt>
                <c:pt idx="18">
                  <c:v>50.2</c:v>
                </c:pt>
              </c:numCache>
            </c:numRef>
          </c:xVal>
          <c:yVal>
            <c:numRef>
              <c:f>Sheet1!$Q$2:$Q$20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>17</c:v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16"/>
          <c:order val="16"/>
          <c:tx>
            <c:strRef>
              <c:f>Sheet1!$R$1</c:f>
              <c:strCache>
                <c:ptCount val="1"/>
                <c:pt idx="0">
                  <c:v>제38149회 마이크론 테크놀로지·어플라이드 머티어리얼즈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9.5</c:v>
                </c:pt>
                <c:pt idx="1">
                  <c:v>10</c:v>
                </c:pt>
                <c:pt idx="2">
                  <c:v>11.1</c:v>
                </c:pt>
                <c:pt idx="3">
                  <c:v>11.4</c:v>
                </c:pt>
                <c:pt idx="4">
                  <c:v>12.3</c:v>
                </c:pt>
                <c:pt idx="5">
                  <c:v>13.3</c:v>
                </c:pt>
                <c:pt idx="6">
                  <c:v>13.8</c:v>
                </c:pt>
                <c:pt idx="7">
                  <c:v>13.8</c:v>
                </c:pt>
                <c:pt idx="8">
                  <c:v>15.2</c:v>
                </c:pt>
                <c:pt idx="9">
                  <c:v>16.5</c:v>
                </c:pt>
                <c:pt idx="10">
                  <c:v>19.2</c:v>
                </c:pt>
                <c:pt idx="11">
                  <c:v>21.1</c:v>
                </c:pt>
                <c:pt idx="12">
                  <c:v>21.9</c:v>
                </c:pt>
                <c:pt idx="13">
                  <c:v>24.1</c:v>
                </c:pt>
                <c:pt idx="14">
                  <c:v>24.3</c:v>
                </c:pt>
                <c:pt idx="15">
                  <c:v>30.5</c:v>
                </c:pt>
                <c:pt idx="16">
                  <c:v>38.3</c:v>
                </c:pt>
                <c:pt idx="17">
                  <c:v>47.9</c:v>
                </c:pt>
                <c:pt idx="18">
                  <c:v>50.2</c:v>
                </c:pt>
              </c:numCache>
            </c:numRef>
          </c:xVal>
          <c:yVal>
            <c:numRef>
              <c:f>Sheet1!$R$2:$R$20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>21.3</c:v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17"/>
          <c:order val="17"/>
          <c:tx>
            <c:strRef>
              <c:f>Sheet1!$S$1</c:f>
              <c:strCache>
                <c:ptCount val="1"/>
                <c:pt idx="0">
                  <c:v>제38151회 마이크론 테크놀로지·AMD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9.5</c:v>
                </c:pt>
                <c:pt idx="1">
                  <c:v>10</c:v>
                </c:pt>
                <c:pt idx="2">
                  <c:v>11.1</c:v>
                </c:pt>
                <c:pt idx="3">
                  <c:v>11.4</c:v>
                </c:pt>
                <c:pt idx="4">
                  <c:v>12.3</c:v>
                </c:pt>
                <c:pt idx="5">
                  <c:v>13.3</c:v>
                </c:pt>
                <c:pt idx="6">
                  <c:v>13.8</c:v>
                </c:pt>
                <c:pt idx="7">
                  <c:v>13.8</c:v>
                </c:pt>
                <c:pt idx="8">
                  <c:v>15.2</c:v>
                </c:pt>
                <c:pt idx="9">
                  <c:v>16.5</c:v>
                </c:pt>
                <c:pt idx="10">
                  <c:v>19.2</c:v>
                </c:pt>
                <c:pt idx="11">
                  <c:v>21.1</c:v>
                </c:pt>
                <c:pt idx="12">
                  <c:v>21.9</c:v>
                </c:pt>
                <c:pt idx="13">
                  <c:v>24.1</c:v>
                </c:pt>
                <c:pt idx="14">
                  <c:v>24.3</c:v>
                </c:pt>
                <c:pt idx="15">
                  <c:v>30.5</c:v>
                </c:pt>
                <c:pt idx="16">
                  <c:v>38.3</c:v>
                </c:pt>
                <c:pt idx="17">
                  <c:v>47.9</c:v>
                </c:pt>
                <c:pt idx="18">
                  <c:v>50.2</c:v>
                </c:pt>
              </c:numCache>
            </c:numRef>
          </c:xVal>
          <c:yVal>
            <c:numRef>
              <c:f>Sheet1!$S$2:$S$20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>26.1</c:v>
                </c:pt>
                <c:pt idx="18">
                  <c:v/>
                </c:pt>
              </c:numCache>
            </c:numRef>
          </c:yVal>
          <c:smooth val="0"/>
        </c:ser>
        <c:ser>
          <c:idx val="18"/>
          <c:order val="18"/>
          <c:tx>
            <c:strRef>
              <c:f>Sheet1!$T$1</c:f>
              <c:strCache>
                <c:ptCount val="1"/>
                <c:pt idx="0">
                  <c:v>제38150회 마이크론 테크놀로지·팔란티어 테크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9.5</c:v>
                </c:pt>
                <c:pt idx="1">
                  <c:v>10</c:v>
                </c:pt>
                <c:pt idx="2">
                  <c:v>11.1</c:v>
                </c:pt>
                <c:pt idx="3">
                  <c:v>11.4</c:v>
                </c:pt>
                <c:pt idx="4">
                  <c:v>12.3</c:v>
                </c:pt>
                <c:pt idx="5">
                  <c:v>13.3</c:v>
                </c:pt>
                <c:pt idx="6">
                  <c:v>13.8</c:v>
                </c:pt>
                <c:pt idx="7">
                  <c:v>13.8</c:v>
                </c:pt>
                <c:pt idx="8">
                  <c:v>15.2</c:v>
                </c:pt>
                <c:pt idx="9">
                  <c:v>16.5</c:v>
                </c:pt>
                <c:pt idx="10">
                  <c:v>19.2</c:v>
                </c:pt>
                <c:pt idx="11">
                  <c:v>21.1</c:v>
                </c:pt>
                <c:pt idx="12">
                  <c:v>21.9</c:v>
                </c:pt>
                <c:pt idx="13">
                  <c:v>24.1</c:v>
                </c:pt>
                <c:pt idx="14">
                  <c:v>24.3</c:v>
                </c:pt>
                <c:pt idx="15">
                  <c:v>30.5</c:v>
                </c:pt>
                <c:pt idx="16">
                  <c:v>38.3</c:v>
                </c:pt>
                <c:pt idx="17">
                  <c:v>47.9</c:v>
                </c:pt>
                <c:pt idx="18">
                  <c:v>50.2</c:v>
                </c:pt>
              </c:numCache>
            </c:numRef>
          </c:xVal>
          <c:yVal>
            <c:numRef>
              <c:f>Sheet1!$T$2:$T$20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>24.9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60"/>
          <c:min val="0"/>
        </c:scaling>
        <c:delete val="0"/>
        <c:axPos val="b"/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000000"/>
                    </a:solidFill>
                    <a:latin typeface="맑은 고딕"/>
                  </a:defRPr>
                </a:pPr>
                <a:r>
                  <a:rPr sz="900" b="0" i="0" u="none" strike="noStrike">
                    <a:solidFill>
                      <a:srgbClr val="000000"/>
                    </a:solidFill>
                    <a:latin typeface="맑은 고딕"/>
                  </a:rPr>
                  <a:t>손실 확률 B (%) — 오른쪽일수록 위험하다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majorUnit val="10"/>
      </c:valAx>
      <c:valAx>
        <c:axId val="2094734552"/>
        <c:scaling>
          <c:orientation val="minMax"/>
          <c:max val="30"/>
          <c:min val="5"/>
        </c:scaling>
        <c:delete val="0"/>
        <c:axPos val="l"/>
        <c:majorGridlines>
          <c:spPr>
            <a:ln w="6350" cap="flat">
              <a:solidFill>
                <a:srgbClr val="E5E4E1"/>
              </a:solidFill>
              <a:prstDash val="dash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000000"/>
                    </a:solidFill>
                    <a:latin typeface="맑은 고딕"/>
                  </a:defRPr>
                </a:pPr>
                <a:r>
                  <a:rPr sz="900" b="0" i="0" u="none" strike="noStrike">
                    <a:solidFill>
                      <a:srgbClr val="000000"/>
                    </a:solidFill>
                    <a:latin typeface="맑은 고딕"/>
                  </a:rPr>
                  <a:t>연 수익률 (%)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맑은 고딕"/>
              </a:defRPr>
            </a:pPr>
            <a:endParaRPr lang="en-US"/>
          </a:p>
        </c:txPr>
        <c:crossAx val="2094734554"/>
        <c:crosses val="autoZero"/>
        <c:crossBetween val="midCat"/>
        <c:majorUnit val="5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8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58368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MIRAE ASSET · ELS 세일즈 제안서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6858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제38133~38151회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19종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66928" y="257860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공모 청약 2026.09.18~2026.10.01 · 일괄신고추가서류 2026.09.17 공시 원문 기준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3054096"/>
            <a:ext cx="6858000" cy="2889504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3282696"/>
            <a:ext cx="1060704" cy="25603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3282696"/>
            <a:ext cx="1060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1순위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993392" y="3236976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제38133회 KOSPI200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1993392" y="3547872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9.2% · 손실 확률 9.5%로 19종 중 가장 낮습니다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04672" y="4215384"/>
            <a:ext cx="1060704" cy="256032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" y="4215384"/>
            <a:ext cx="1060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최고 수익률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993392" y="4169664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제38151회 마이크론 테크놀로지·AMD (온라인 전용)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993392" y="448056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26.1% (원화) · 손실 확률 47.9% — 아래 ‘권하지 않음’에 함께 들어 있습니다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04672" y="5148072"/>
            <a:ext cx="1060704" cy="256032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4672" y="5148072"/>
            <a:ext cx="1060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권하지 않음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993392" y="5102352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제38150·38151·38149·38148회 — 4종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993392" y="5413248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공정가격 미달 4종 (6,829~8,576원) · 검증 표본 부족 2종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790688" y="969264"/>
            <a:ext cx="3840480" cy="4974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65008" y="11887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일정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065008" y="1517904"/>
            <a:ext cx="3291840" cy="10973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65008" y="170078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청약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065008" y="190195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2026.09.18 ~ 2026.09.28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065008" y="219456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숙려제도 대상 — 실제 마감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8065008" y="252374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청약기간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065008" y="272491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2026.09.18 ~ 2026.10.01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065008" y="301752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 대상이 아닌 경우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8065008" y="334670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숙려기간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065008" y="354787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2026.09.29 ~ 2026.09.30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065008" y="384048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기간에는 청약 불가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8065008" y="416966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가입의사 확인기간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8065008" y="437083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2026.10.01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065008" y="46634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 없으면 청약 취소·환불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8065008" y="499262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발행일 / 만기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8065008" y="519379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2026.10.02 / 2029.10.02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66928" y="6144768"/>
            <a:ext cx="11057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종목 원금비보장 · 위험등급 1등급(매우높은위험) · 예금자보호 대상 아님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19종 — 손실 확률로 줄 세우면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A는 발행사가 실제 과거 시세 20년으로 돌린 결과, B는 같은 조건을 공시 변동성·상관계수로 10만 번 다시 돌린 결과(± 는 95% 신뢰구간). 등급은 B 하나로만 가릅니다 — 15% 이하 방어적 / 15~25% 중간 / 25% 초과 공격적.</a:t>
            </a:r>
            <a:endParaRPr lang="en-US" sz="1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61872"/>
          <a:ext cx="11057839" cy="914400"/>
        </p:xfrm>
        <a:graphic>
          <a:graphicData uri="http://schemas.openxmlformats.org/drawingml/2006/table">
            <a:tbl>
              <a:tblPr/>
              <a:tblGrid>
                <a:gridCol w="603504"/>
                <a:gridCol w="2441448"/>
                <a:gridCol w="658368"/>
                <a:gridCol w="640080"/>
                <a:gridCol w="1280160"/>
                <a:gridCol w="457200"/>
                <a:gridCol w="1051560"/>
                <a:gridCol w="603504"/>
                <a:gridCol w="731520"/>
                <a:gridCol w="731520"/>
                <a:gridCol w="996696"/>
                <a:gridCol w="862279"/>
              </a:tblGrid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회차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수익률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조기상환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배리어 (%)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낙인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(%)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시뮬레이션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손실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등급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1차에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끝날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만기까지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갈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A. 설명서상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백테스트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액면 1만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출발 가치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38133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9.5% ±0.17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9,794원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38134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EuroStoxx50·S&amp;P500·KOSPI200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10.0% ±0.18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54.2%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10,021원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38139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65×5-60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11.1% ±0.19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79.6%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9,798원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38141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KOSPI200·SK하이닉스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70×5-65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11.4% ±0.19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76.5%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0.39%·20.7년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9,859원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EuroStoxx50·KOSPI200·Nikkei225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80-75×2-70-65-60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12.3% ±0.19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68.9%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0.33%·20.7년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9,689원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38137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KOSPI200·HSCEI·Nikkei225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90-85×2-80-75-70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13.3% ±0.19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33.7%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1.59%·20.7년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9,989원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38136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90×3-85-80-70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13.8% ±0.16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61.9%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9,764원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38140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KOSPI200·삼성전자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80×4-75-70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13.8% ±0.23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68.4%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9,835원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38145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S&amp;P500·KOSPI200·Nikkei225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15.2% ±0.22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 △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53.9%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0.51%·20.7년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9,817원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38142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75×4-70-65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16.5% ±0.26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66.5%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0.55%·20.7년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9,727원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38144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S&amp;P500·HSCEI·Nikkei225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90-85-80-75-70-65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19.2% ±0.25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4.16%·20.7년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9,520원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38138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S&amp;P500·KOSPI200·Nikkei225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90-85-80-75-70-65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21.1% ±0.20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2.66%·20.7년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9,685원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38147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21.9% ±0.21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53.0%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1.35%·20.7년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9,712원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38146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EuroStoxx50·KOSPI200·Nikkei225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90-85-80-75-70-65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24.1% ±0.24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42.8%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2.97%·20.7년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9,420원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38143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24.3% ±0.23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53.0%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1.35%·20.7년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9,694원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38148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테슬라·팔란티어 테크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75×4-70×2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30.5% ±0.25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49.2%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i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3.78%·2.9년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8,576원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38149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마이크론 테크놀로지·어플라이드 머티어리얼즈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75×4-70×2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38.3% ±0.21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39.3%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2.94%·20.7년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7,710원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38151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마이크론 테크놀로지·AMD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85×2-80×2-75-70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47.9% ±0.25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34.4%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49.3%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13.04%·20.7년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7,041원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38150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마이크론 테크놀로지·팔란티어 테크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75×4-70×2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50.2% ±0.22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51.4%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i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2.03%·2.9년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6,829원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6053328"/>
            <a:ext cx="11057839" cy="47548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13232" y="6053328"/>
            <a:ext cx="1076523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읽는 법 — 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주황 줄이 추천 3종, 붉은 줄이 권하지 않는 4종. 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‘출발 가치’는 발행사가 공시한 공정가격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으로, 액면 1만 단위를 넣는 순간의 이론 값어치입니다 — 제38150·38151·38149·38148회만 8,576원 이하로 크게 깎였습니다.  </a:t>
            </a:r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온라인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표시는 영업점 창구 청약이 안 되는 상품입니다.  </a:t>
            </a:r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△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1종은 손실 확률이 등급 경계에 걸쳐 있어 등급 라벨을 단정할 수 없습니다.  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 열은 검증기간이 짧으면 기울임.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제38133회로 보는 ELS 작동 방식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 · 조건 충족 시 연 9.2% · 6개월마다 6번 판정합니다. 배리어·판정일·받는 돈은 공시 원문 그대로이고, 확률은 같은 조건으로 돌린 시뮬레이션(B)입니다.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438885" y="1426464"/>
            <a:ext cx="9313926" cy="12802"/>
          </a:xfrm>
          <a:prstGeom prst="rect">
            <a:avLst/>
          </a:prstGeom>
          <a:solidFill>
            <a:srgbClr val="FAB0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74877" y="1375258"/>
            <a:ext cx="128016" cy="128016"/>
          </a:xfrm>
          <a:prstGeom prst="ellipse">
            <a:avLst/>
          </a:prstGeom>
          <a:solidFill>
            <a:srgbClr val="F582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64208"/>
            <a:ext cx="1743913" cy="45720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58368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2027.03.30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58368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658368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85%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658368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658368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10,460원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8368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658368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70.2%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58368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8368" y="3593592"/>
            <a:ext cx="1561033" cy="91440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37662" y="1375258"/>
            <a:ext cx="128016" cy="128016"/>
          </a:xfrm>
          <a:prstGeom prst="ellipse">
            <a:avLst/>
          </a:prstGeom>
          <a:solidFill>
            <a:srgbClr val="F582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429713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429713" y="1664208"/>
            <a:ext cx="1743913" cy="45720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521153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2차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521153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2027.09.28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21153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521153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2521153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85%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2521153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2521153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10,920원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2521153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521153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7.5%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2521153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21153" y="3593592"/>
            <a:ext cx="167493" cy="91440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100447" y="1375258"/>
            <a:ext cx="128016" cy="128016"/>
          </a:xfrm>
          <a:prstGeom prst="ellipse">
            <a:avLst/>
          </a:prstGeom>
          <a:solidFill>
            <a:srgbClr val="F582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292498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292498" y="1664208"/>
            <a:ext cx="1743913" cy="45720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383938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3차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383938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2028.03.28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383938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383938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4383938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85%</a:t>
            </a:r>
            <a:endParaRPr lang="en-US" sz="2100" dirty="0"/>
          </a:p>
        </p:txBody>
      </p:sp>
      <p:sp>
        <p:nvSpPr>
          <p:cNvPr id="42" name="Text 40"/>
          <p:cNvSpPr/>
          <p:nvPr/>
        </p:nvSpPr>
        <p:spPr>
          <a:xfrm>
            <a:off x="4383938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43" name="Text 41"/>
          <p:cNvSpPr/>
          <p:nvPr/>
        </p:nvSpPr>
        <p:spPr>
          <a:xfrm>
            <a:off x="4383938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11,380원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4383938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4383938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3.3%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4383938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383938" y="3593592"/>
            <a:ext cx="72399" cy="91440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963232" y="1375258"/>
            <a:ext cx="128016" cy="128016"/>
          </a:xfrm>
          <a:prstGeom prst="ellipse">
            <a:avLst/>
          </a:prstGeom>
          <a:solidFill>
            <a:srgbClr val="F582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155284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155284" y="1664208"/>
            <a:ext cx="1743913" cy="45720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246724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4차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6246724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2028.09.26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6246724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246724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55" name="Text 53"/>
          <p:cNvSpPr/>
          <p:nvPr/>
        </p:nvSpPr>
        <p:spPr>
          <a:xfrm>
            <a:off x="6246724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80%</a:t>
            </a:r>
            <a:endParaRPr lang="en-US" sz="2100" dirty="0"/>
          </a:p>
        </p:txBody>
      </p:sp>
      <p:sp>
        <p:nvSpPr>
          <p:cNvPr id="56" name="Text 54"/>
          <p:cNvSpPr/>
          <p:nvPr/>
        </p:nvSpPr>
        <p:spPr>
          <a:xfrm>
            <a:off x="6246724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57" name="Text 55"/>
          <p:cNvSpPr/>
          <p:nvPr/>
        </p:nvSpPr>
        <p:spPr>
          <a:xfrm>
            <a:off x="6246724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11,840원</a:t>
            </a: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>
            <a:off x="6246724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59" name="Text 57"/>
          <p:cNvSpPr/>
          <p:nvPr/>
        </p:nvSpPr>
        <p:spPr>
          <a:xfrm>
            <a:off x="6246724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2.6%</a:t>
            </a:r>
            <a:endParaRPr lang="en-US" sz="1400" dirty="0"/>
          </a:p>
        </p:txBody>
      </p:sp>
      <p:sp>
        <p:nvSpPr>
          <p:cNvPr id="60" name="Shape 58"/>
          <p:cNvSpPr/>
          <p:nvPr/>
        </p:nvSpPr>
        <p:spPr>
          <a:xfrm>
            <a:off x="6246724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246724" y="3593592"/>
            <a:ext cx="58684" cy="91440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826017" y="1375258"/>
            <a:ext cx="128016" cy="128016"/>
          </a:xfrm>
          <a:prstGeom prst="ellipse">
            <a:avLst/>
          </a:prstGeom>
          <a:solidFill>
            <a:srgbClr val="F582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018069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8018069" y="1664208"/>
            <a:ext cx="1743913" cy="45720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109509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5차</a:t>
            </a:r>
            <a:endParaRPr lang="en-US" sz="950" dirty="0"/>
          </a:p>
        </p:txBody>
      </p:sp>
      <p:sp>
        <p:nvSpPr>
          <p:cNvPr id="66" name="Text 64"/>
          <p:cNvSpPr/>
          <p:nvPr/>
        </p:nvSpPr>
        <p:spPr>
          <a:xfrm>
            <a:off x="8109509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2029.03.28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8109509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8109509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8109509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75%</a:t>
            </a:r>
            <a:endParaRPr lang="en-US" sz="2100" dirty="0"/>
          </a:p>
        </p:txBody>
      </p:sp>
      <p:sp>
        <p:nvSpPr>
          <p:cNvPr id="70" name="Text 68"/>
          <p:cNvSpPr/>
          <p:nvPr/>
        </p:nvSpPr>
        <p:spPr>
          <a:xfrm>
            <a:off x="8109509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71" name="Text 69"/>
          <p:cNvSpPr/>
          <p:nvPr/>
        </p:nvSpPr>
        <p:spPr>
          <a:xfrm>
            <a:off x="8109509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12,300원</a:t>
            </a:r>
            <a:endParaRPr lang="en-US" sz="1200" dirty="0"/>
          </a:p>
        </p:txBody>
      </p:sp>
      <p:sp>
        <p:nvSpPr>
          <p:cNvPr id="72" name="Text 70"/>
          <p:cNvSpPr/>
          <p:nvPr/>
        </p:nvSpPr>
        <p:spPr>
          <a:xfrm>
            <a:off x="8109509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8109509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2.0%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8109509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8109509" y="3593592"/>
            <a:ext cx="45502" cy="91440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10688803" y="1375258"/>
            <a:ext cx="128016" cy="128016"/>
          </a:xfrm>
          <a:prstGeom prst="ellipse">
            <a:avLst/>
          </a:prstGeom>
          <a:solidFill>
            <a:srgbClr val="043B7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880854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9880854" y="1664208"/>
            <a:ext cx="1743913" cy="457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9972294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</a:t>
            </a:r>
            <a:endParaRPr lang="en-US" sz="950" dirty="0"/>
          </a:p>
        </p:txBody>
      </p:sp>
      <p:sp>
        <p:nvSpPr>
          <p:cNvPr id="80" name="Text 78"/>
          <p:cNvSpPr/>
          <p:nvPr/>
        </p:nvSpPr>
        <p:spPr>
          <a:xfrm>
            <a:off x="9972294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2029.10.02</a:t>
            </a:r>
            <a:endParaRPr lang="en-US" sz="800" dirty="0"/>
          </a:p>
        </p:txBody>
      </p:sp>
      <p:sp>
        <p:nvSpPr>
          <p:cNvPr id="81" name="Shape 79"/>
          <p:cNvSpPr/>
          <p:nvPr/>
        </p:nvSpPr>
        <p:spPr>
          <a:xfrm>
            <a:off x="9972294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9972294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9972294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70%</a:t>
            </a:r>
            <a:endParaRPr lang="en-US" sz="2100" dirty="0"/>
          </a:p>
        </p:txBody>
      </p:sp>
      <p:sp>
        <p:nvSpPr>
          <p:cNvPr id="84" name="Text 82"/>
          <p:cNvSpPr/>
          <p:nvPr/>
        </p:nvSpPr>
        <p:spPr>
          <a:xfrm>
            <a:off x="9972294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85" name="Text 83"/>
          <p:cNvSpPr/>
          <p:nvPr/>
        </p:nvSpPr>
        <p:spPr>
          <a:xfrm>
            <a:off x="9972294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12,760원</a:t>
            </a:r>
            <a:endParaRPr lang="en-US" sz="1200" dirty="0"/>
          </a:p>
        </p:txBody>
      </p:sp>
      <p:sp>
        <p:nvSpPr>
          <p:cNvPr id="86" name="Text 84"/>
          <p:cNvSpPr/>
          <p:nvPr/>
        </p:nvSpPr>
        <p:spPr>
          <a:xfrm>
            <a:off x="9972294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9972294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14.3%</a:t>
            </a:r>
            <a:endParaRPr lang="en-US" sz="1400" dirty="0"/>
          </a:p>
        </p:txBody>
      </p:sp>
      <p:sp>
        <p:nvSpPr>
          <p:cNvPr id="88" name="Shape 86"/>
          <p:cNvSpPr/>
          <p:nvPr/>
        </p:nvSpPr>
        <p:spPr>
          <a:xfrm>
            <a:off x="9972294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9972294" y="3593592"/>
            <a:ext cx="317759" cy="91440"/>
          </a:xfrm>
          <a:prstGeom prst="rect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66928" y="405993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끝나는 방식은 셋뿐입니다</a:t>
            </a:r>
            <a:endParaRPr lang="en-US" sz="1150" dirty="0"/>
          </a:p>
        </p:txBody>
      </p:sp>
      <p:sp>
        <p:nvSpPr>
          <p:cNvPr id="91" name="Shape 89"/>
          <p:cNvSpPr/>
          <p:nvPr/>
        </p:nvSpPr>
        <p:spPr>
          <a:xfrm>
            <a:off x="566928" y="4315968"/>
            <a:ext cx="9477121" cy="310896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10044049" y="4315968"/>
            <a:ext cx="526353" cy="310896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10570402" y="4315968"/>
            <a:ext cx="1054365" cy="310896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566928" y="4718304"/>
            <a:ext cx="109728" cy="10972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749808" y="4681728"/>
            <a:ext cx="3411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 (1~5차) </a:t>
            </a:r>
            <a:pPr indent="0" marL="0">
              <a:buNone/>
            </a:pPr>
            <a:r>
              <a:rPr lang="en-US" sz="9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85.7%</a:t>
            </a:r>
            <a:endParaRPr lang="en-US" sz="950" dirty="0"/>
          </a:p>
        </p:txBody>
      </p:sp>
      <p:sp>
        <p:nvSpPr>
          <p:cNvPr id="96" name="Text 94"/>
          <p:cNvSpPr/>
          <p:nvPr/>
        </p:nvSpPr>
        <p:spPr>
          <a:xfrm>
            <a:off x="749808" y="4873752"/>
            <a:ext cx="341162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약정 수익을 받고 만기 전에 끝납니다</a:t>
            </a:r>
            <a:endParaRPr lang="en-US" sz="850" dirty="0"/>
          </a:p>
        </p:txBody>
      </p:sp>
      <p:sp>
        <p:nvSpPr>
          <p:cNvPr id="97" name="Shape 95"/>
          <p:cNvSpPr/>
          <p:nvPr/>
        </p:nvSpPr>
        <p:spPr>
          <a:xfrm>
            <a:off x="4252874" y="4718304"/>
            <a:ext cx="109728" cy="109728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4435754" y="4681728"/>
            <a:ext cx="3411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 정상상환 </a:t>
            </a:r>
            <a:pPr indent="0" marL="0">
              <a:buNone/>
            </a:pPr>
            <a:r>
              <a:rPr lang="en-US" sz="9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4.8%</a:t>
            </a:r>
            <a:endParaRPr lang="en-US" sz="950" dirty="0"/>
          </a:p>
        </p:txBody>
      </p:sp>
      <p:sp>
        <p:nvSpPr>
          <p:cNvPr id="99" name="Text 97"/>
          <p:cNvSpPr/>
          <p:nvPr/>
        </p:nvSpPr>
        <p:spPr>
          <a:xfrm>
            <a:off x="4435754" y="4873752"/>
            <a:ext cx="341162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만기까지 갔지만 조건을 지켜 약정 수익을 받습니다</a:t>
            </a:r>
            <a:endParaRPr lang="en-US" sz="850" dirty="0"/>
          </a:p>
        </p:txBody>
      </p:sp>
      <p:sp>
        <p:nvSpPr>
          <p:cNvPr id="100" name="Shape 98"/>
          <p:cNvSpPr/>
          <p:nvPr/>
        </p:nvSpPr>
        <p:spPr>
          <a:xfrm>
            <a:off x="7938821" y="4718304"/>
            <a:ext cx="109728" cy="10972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8121701" y="4681728"/>
            <a:ext cx="3411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 손실 </a:t>
            </a:r>
            <a:pPr indent="0" marL="0">
              <a:buNone/>
            </a:pPr>
            <a:r>
              <a:rPr lang="en-US" sz="9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9.5%</a:t>
            </a:r>
            <a:endParaRPr lang="en-US" sz="950" dirty="0"/>
          </a:p>
        </p:txBody>
      </p:sp>
      <p:sp>
        <p:nvSpPr>
          <p:cNvPr id="102" name="Text 100"/>
          <p:cNvSpPr/>
          <p:nvPr/>
        </p:nvSpPr>
        <p:spPr>
          <a:xfrm>
            <a:off x="8121701" y="4873752"/>
            <a:ext cx="341162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떨어진 만큼 잃습니다 (나면 평균 63.2%)</a:t>
            </a:r>
            <a:endParaRPr lang="en-US" sz="850" dirty="0"/>
          </a:p>
        </p:txBody>
      </p:sp>
      <p:sp>
        <p:nvSpPr>
          <p:cNvPr id="103" name="Shape 101"/>
          <p:cNvSpPr/>
          <p:nvPr/>
        </p:nvSpPr>
        <p:spPr>
          <a:xfrm>
            <a:off x="566928" y="5157216"/>
            <a:ext cx="11057839" cy="950976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566928" y="5157216"/>
            <a:ext cx="45720" cy="950976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768096" y="5257800"/>
            <a:ext cx="7680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손실은 이 두 가지가 동시에 맞을 때만 납니다</a:t>
            </a:r>
            <a:endParaRPr lang="en-US" sz="1150" dirty="0"/>
          </a:p>
        </p:txBody>
      </p:sp>
      <p:sp>
        <p:nvSpPr>
          <p:cNvPr id="106" name="Text 104"/>
          <p:cNvSpPr/>
          <p:nvPr/>
        </p:nvSpPr>
        <p:spPr>
          <a:xfrm>
            <a:off x="768096" y="5495544"/>
            <a:ext cx="7680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만기까지 한 번이라도 기준가보다 60% 넘게 떨어진 적이 있고(기준가의 40% 선), ② 만기에도 30% 넘게 떨어져 있어야 합니다. 둘 중 하나라도 아니면 약정 수익을 받습니다.</a:t>
            </a:r>
            <a:endParaRPr lang="en-US" sz="950" dirty="0"/>
          </a:p>
        </p:txBody>
      </p:sp>
      <p:sp>
        <p:nvSpPr>
          <p:cNvPr id="107" name="Text 105"/>
          <p:cNvSpPr/>
          <p:nvPr/>
        </p:nvSpPr>
        <p:spPr>
          <a:xfrm>
            <a:off x="8668512" y="5285232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108" name="Text 106"/>
          <p:cNvSpPr/>
          <p:nvPr/>
        </p:nvSpPr>
        <p:spPr>
          <a:xfrm>
            <a:off x="8668512" y="5468112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9.5%</a:t>
            </a:r>
            <a:endParaRPr lang="en-US" sz="2400" dirty="0"/>
          </a:p>
        </p:txBody>
      </p:sp>
      <p:sp>
        <p:nvSpPr>
          <p:cNvPr id="109" name="Text 107"/>
          <p:cNvSpPr/>
          <p:nvPr/>
        </p:nvSpPr>
        <p:spPr>
          <a:xfrm>
            <a:off x="10131552" y="528523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손실이 나면 평균</a:t>
            </a:r>
            <a:endParaRPr lang="en-US" sz="800" dirty="0"/>
          </a:p>
        </p:txBody>
      </p:sp>
      <p:sp>
        <p:nvSpPr>
          <p:cNvPr id="110" name="Text 108"/>
          <p:cNvSpPr/>
          <p:nvPr/>
        </p:nvSpPr>
        <p:spPr>
          <a:xfrm>
            <a:off x="10131552" y="5468112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63.2%</a:t>
            </a:r>
            <a:endParaRPr lang="en-US" sz="2400" dirty="0"/>
          </a:p>
        </p:txBody>
      </p:sp>
      <p:sp>
        <p:nvSpPr>
          <p:cNvPr id="111" name="Text 109"/>
          <p:cNvSpPr/>
          <p:nvPr/>
        </p:nvSpPr>
        <p:spPr>
          <a:xfrm>
            <a:off x="566928" y="6199632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돈은 «액면 × (1 + 연 9.2% × 경과월/12)» 로 정해집니다 — 늦게 끝날수록 받는 금액은 커지지만, 그만큼 돈이 묶입니다. 위 금액은 공시 상환금액표를 그대로 옮긴 값입니다.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성향별 추천 3종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상품 모두 발행사 공시 공정가격이 액면 1만 단위에 가깝습니다 — 제값을 주고 사는 상품이라는 뜻입니다.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61872"/>
            <a:ext cx="35762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261872"/>
            <a:ext cx="3576218" cy="50292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1463040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원금을 지키는 게 먼저인 분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68096" y="1719072"/>
            <a:ext cx="31738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제38133회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68096" y="2121408"/>
            <a:ext cx="31738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68096" y="2578608"/>
            <a:ext cx="3173882" cy="822960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충족 시 연 수익률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914400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9.2%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355037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355037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9.5%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768096" y="3456432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 확률 (시뮬레이션)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768096" y="3657600"/>
            <a:ext cx="2228891" cy="15544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96987" y="3657600"/>
            <a:ext cx="491285" cy="155448"/>
          </a:xfrm>
          <a:prstGeom prst="rect">
            <a:avLst/>
          </a:prstGeom>
          <a:solidFill>
            <a:srgbClr val="FAB0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88272" y="3657600"/>
            <a:ext cx="453706" cy="155448"/>
          </a:xfrm>
          <a:prstGeom prst="rect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68096" y="3831336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70.2%</a:t>
            </a:r>
            <a:pPr indent="0" marL="0"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2~5차 15.5%</a:t>
            </a:r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만기 14.3%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68096" y="4014216"/>
            <a:ext cx="31738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70.2 · 2차 7.5 · 3차 3.3 · 4차 2.6 · 5차 2.0 · 6차 14.3  (%)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768096" y="43342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총 수익률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2084832" y="43342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27.6%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68096" y="458571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084832" y="458571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6회 · 배리어 85%부터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768096" y="483717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084832" y="483717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60% 하락 경험 + 만기 30% 초과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68096" y="508863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설명서 백테스트 (A)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2084832" y="508863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20.7년 · 손실 0.00% · 1차 94.9%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768096" y="534009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액면 1만 단위 출발 가치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2084832" y="534009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9,794원 (-2.06%)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768096" y="55915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2084832" y="55915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0.97%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4307738" y="1261872"/>
            <a:ext cx="35762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307738" y="1261872"/>
            <a:ext cx="3576218" cy="5029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08906" y="1463040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수익과 안정을 반반 보는 분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508906" y="1719072"/>
            <a:ext cx="31738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제38141회</a:t>
            </a:r>
            <a:endParaRPr lang="en-US" sz="2400" dirty="0"/>
          </a:p>
        </p:txBody>
      </p:sp>
      <p:sp>
        <p:nvSpPr>
          <p:cNvPr id="37" name="Text 35"/>
          <p:cNvSpPr/>
          <p:nvPr/>
        </p:nvSpPr>
        <p:spPr>
          <a:xfrm>
            <a:off x="4508906" y="2121408"/>
            <a:ext cx="31738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 · SK하이닉스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508906" y="2578608"/>
            <a:ext cx="3173882" cy="822960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655210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충족 시 연 수익률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4655210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16.0%</a:t>
            </a:r>
            <a:endParaRPr lang="en-US" sz="2600" dirty="0"/>
          </a:p>
        </p:txBody>
      </p:sp>
      <p:sp>
        <p:nvSpPr>
          <p:cNvPr id="41" name="Text 39"/>
          <p:cNvSpPr/>
          <p:nvPr/>
        </p:nvSpPr>
        <p:spPr>
          <a:xfrm>
            <a:off x="6095848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6095848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11.4%</a:t>
            </a:r>
            <a:endParaRPr lang="en-US" sz="2600" dirty="0"/>
          </a:p>
        </p:txBody>
      </p:sp>
      <p:sp>
        <p:nvSpPr>
          <p:cNvPr id="43" name="Text 41"/>
          <p:cNvSpPr/>
          <p:nvPr/>
        </p:nvSpPr>
        <p:spPr>
          <a:xfrm>
            <a:off x="4508906" y="3456432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 확률 (시뮬레이션)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4508906" y="3657600"/>
            <a:ext cx="2427385" cy="15544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936292" y="3657600"/>
            <a:ext cx="325228" cy="155448"/>
          </a:xfrm>
          <a:prstGeom prst="rect">
            <a:avLst/>
          </a:prstGeom>
          <a:solidFill>
            <a:srgbClr val="FAB0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261519" y="3657600"/>
            <a:ext cx="421269" cy="155448"/>
          </a:xfrm>
          <a:prstGeom prst="rect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508906" y="3831336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76.5%</a:t>
            </a:r>
            <a:pPr indent="0" marL="0"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2~5차 10.2%</a:t>
            </a:r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만기 13.3%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4508906" y="4014216"/>
            <a:ext cx="31738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76.5 · 2차 5.6 · 3차 2.4 · 4차 1.3 · 5차 0.9 · 6차 13.3  (%)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4508906" y="43342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총 수익률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5825642" y="43342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48.0%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4508906" y="458571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5825642" y="458571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6회 · 배리어 70%부터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4508906" y="483717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5825642" y="483717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70% 하락 경험 + 만기 35% 초과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4508906" y="508863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설명서 백테스트 (A)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5825642" y="508863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20.7년 · 손실 0.39% · 1차 94.5%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4508906" y="534009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액면 1만 단위 출발 가치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5825642" y="534009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9,859원 (-1.41%)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4508906" y="55915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5825642" y="55915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1.40%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8048549" y="1261872"/>
            <a:ext cx="35762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048549" y="1261872"/>
            <a:ext cx="3576218" cy="5029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249717" y="1463040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수익률을 먼저 보는 분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8249717" y="1719072"/>
            <a:ext cx="31738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제38143회</a:t>
            </a:r>
            <a:endParaRPr lang="en-US" sz="2400" dirty="0"/>
          </a:p>
        </p:txBody>
      </p:sp>
      <p:sp>
        <p:nvSpPr>
          <p:cNvPr id="65" name="Text 63"/>
          <p:cNvSpPr/>
          <p:nvPr/>
        </p:nvSpPr>
        <p:spPr>
          <a:xfrm>
            <a:off x="8249717" y="2121408"/>
            <a:ext cx="31738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8249717" y="2578608"/>
            <a:ext cx="3173882" cy="822960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8396021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충족 시 연 수익률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8396021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25.0%</a:t>
            </a:r>
            <a:endParaRPr lang="en-US" sz="2600" dirty="0"/>
          </a:p>
        </p:txBody>
      </p:sp>
      <p:sp>
        <p:nvSpPr>
          <p:cNvPr id="69" name="Text 67"/>
          <p:cNvSpPr/>
          <p:nvPr/>
        </p:nvSpPr>
        <p:spPr>
          <a:xfrm>
            <a:off x="9836658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9836658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24.3%</a:t>
            </a:r>
            <a:endParaRPr lang="en-US" sz="2600" dirty="0"/>
          </a:p>
        </p:txBody>
      </p:sp>
      <p:sp>
        <p:nvSpPr>
          <p:cNvPr id="71" name="Text 69"/>
          <p:cNvSpPr/>
          <p:nvPr/>
        </p:nvSpPr>
        <p:spPr>
          <a:xfrm>
            <a:off x="8249717" y="3456432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 확률 (시뮬레이션)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8249717" y="3657600"/>
            <a:ext cx="1682285" cy="15544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9932001" y="3657600"/>
            <a:ext cx="590342" cy="155448"/>
          </a:xfrm>
          <a:prstGeom prst="rect">
            <a:avLst/>
          </a:prstGeom>
          <a:solidFill>
            <a:srgbClr val="FAB0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0522344" y="3657600"/>
            <a:ext cx="901256" cy="155448"/>
          </a:xfrm>
          <a:prstGeom prst="rect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8249717" y="3831336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53.0%</a:t>
            </a:r>
            <a:pPr indent="0" marL="0"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2~5차 18.6%</a:t>
            </a:r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만기 28.4%</a:t>
            </a:r>
            <a:endParaRPr lang="en-US" sz="850" dirty="0"/>
          </a:p>
        </p:txBody>
      </p:sp>
      <p:sp>
        <p:nvSpPr>
          <p:cNvPr id="76" name="Text 74"/>
          <p:cNvSpPr/>
          <p:nvPr/>
        </p:nvSpPr>
        <p:spPr>
          <a:xfrm>
            <a:off x="8249717" y="4014216"/>
            <a:ext cx="31738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53.0 · 2차 8.8 · 3차 4.2 · 4차 3.2 · 5차 2.5 · 6차 28.4  (%)</a:t>
            </a:r>
            <a:endParaRPr lang="en-US" sz="750" dirty="0"/>
          </a:p>
        </p:txBody>
      </p:sp>
      <p:sp>
        <p:nvSpPr>
          <p:cNvPr id="77" name="Text 75"/>
          <p:cNvSpPr/>
          <p:nvPr/>
        </p:nvSpPr>
        <p:spPr>
          <a:xfrm>
            <a:off x="8249717" y="43342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총 수익률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9566453" y="43342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75.0%</a:t>
            </a:r>
            <a:endParaRPr lang="en-US" sz="800" dirty="0"/>
          </a:p>
        </p:txBody>
      </p:sp>
      <p:sp>
        <p:nvSpPr>
          <p:cNvPr id="79" name="Text 77"/>
          <p:cNvSpPr/>
          <p:nvPr/>
        </p:nvSpPr>
        <p:spPr>
          <a:xfrm>
            <a:off x="8249717" y="458571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9566453" y="458571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6회 · 배리어 85%부터</a:t>
            </a:r>
            <a:endParaRPr lang="en-US" sz="800" dirty="0"/>
          </a:p>
        </p:txBody>
      </p:sp>
      <p:sp>
        <p:nvSpPr>
          <p:cNvPr id="81" name="Text 79"/>
          <p:cNvSpPr/>
          <p:nvPr/>
        </p:nvSpPr>
        <p:spPr>
          <a:xfrm>
            <a:off x="8249717" y="483717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</a:t>
            </a:r>
            <a:endParaRPr lang="en-US" sz="800" dirty="0"/>
          </a:p>
        </p:txBody>
      </p:sp>
      <p:sp>
        <p:nvSpPr>
          <p:cNvPr id="82" name="Text 80"/>
          <p:cNvSpPr/>
          <p:nvPr/>
        </p:nvSpPr>
        <p:spPr>
          <a:xfrm>
            <a:off x="9566453" y="483717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65% 하락 경험 + 만기 30% 초과</a:t>
            </a:r>
            <a:endParaRPr lang="en-US" sz="800" dirty="0"/>
          </a:p>
        </p:txBody>
      </p:sp>
      <p:sp>
        <p:nvSpPr>
          <p:cNvPr id="83" name="Text 81"/>
          <p:cNvSpPr/>
          <p:nvPr/>
        </p:nvSpPr>
        <p:spPr>
          <a:xfrm>
            <a:off x="8249717" y="508863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설명서 백테스트 (A)</a:t>
            </a:r>
            <a:endParaRPr lang="en-US" sz="800" dirty="0"/>
          </a:p>
        </p:txBody>
      </p:sp>
      <p:sp>
        <p:nvSpPr>
          <p:cNvPr id="84" name="Text 82"/>
          <p:cNvSpPr/>
          <p:nvPr/>
        </p:nvSpPr>
        <p:spPr>
          <a:xfrm>
            <a:off x="9566453" y="508863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20.7년 · 손실 1.35% · 1차 78.3%</a:t>
            </a:r>
            <a:endParaRPr lang="en-US" sz="800" dirty="0"/>
          </a:p>
        </p:txBody>
      </p:sp>
      <p:sp>
        <p:nvSpPr>
          <p:cNvPr id="85" name="Text 83"/>
          <p:cNvSpPr/>
          <p:nvPr/>
        </p:nvSpPr>
        <p:spPr>
          <a:xfrm>
            <a:off x="8249717" y="534009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액면 1만 단위 출발 가치</a:t>
            </a:r>
            <a:endParaRPr lang="en-US" sz="800" dirty="0"/>
          </a:p>
        </p:txBody>
      </p:sp>
      <p:sp>
        <p:nvSpPr>
          <p:cNvPr id="86" name="Text 84"/>
          <p:cNvSpPr/>
          <p:nvPr/>
        </p:nvSpPr>
        <p:spPr>
          <a:xfrm>
            <a:off x="9566453" y="534009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9,694원 (-3.06%)</a:t>
            </a:r>
            <a:endParaRPr lang="en-US" sz="800" dirty="0"/>
          </a:p>
        </p:txBody>
      </p:sp>
      <p:sp>
        <p:nvSpPr>
          <p:cNvPr id="87" name="Text 85"/>
          <p:cNvSpPr/>
          <p:nvPr/>
        </p:nvSpPr>
        <p:spPr>
          <a:xfrm>
            <a:off x="8249717" y="55915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88" name="Text 86"/>
          <p:cNvSpPr/>
          <p:nvPr/>
        </p:nvSpPr>
        <p:spPr>
          <a:xfrm>
            <a:off x="9566453" y="55915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1.03%</a:t>
            </a:r>
            <a:endParaRPr lang="en-US" sz="800" dirty="0"/>
          </a:p>
        </p:txBody>
      </p:sp>
      <p:sp>
        <p:nvSpPr>
          <p:cNvPr id="89" name="Shape 87"/>
          <p:cNvSpPr/>
          <p:nvPr/>
        </p:nvSpPr>
        <p:spPr>
          <a:xfrm>
            <a:off x="566928" y="5943600"/>
            <a:ext cx="11057839" cy="42062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3232" y="5943600"/>
            <a:ext cx="1076523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문장으로 — </a:t>
            </a:r>
            <a:pPr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제38133회는 연 9.2%를 받으면서 손실 확률이 9.5%로 지수형 평균(15.4%)보다도 낮습니다. 6개월마다 6번 상환 기회가 있고 배리어가 85%에서 시작하는 구조 덕입니다.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수익률이 높다고 그만큼 위험한 것은 아닙니다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19종을 손실 확률(B)과 연 수익률로 흩어 놓았습니다. 왼쪽 위가 적은 위험에 많이 받는 자리, 오른쪽 아래가 위험만 큰 자리입니다. 점 위에 마우스를 올리면 회차와 기초자산이 뜹니다.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1261872"/>
          <a:ext cx="6629400" cy="387705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1024128" y="5230368"/>
            <a:ext cx="100584" cy="100584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79576" y="515721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3종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2761488" y="5230368"/>
            <a:ext cx="100584" cy="100584"/>
          </a:xfrm>
          <a:prstGeom prst="ellipse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2916936" y="515721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외 12종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498848" y="5230368"/>
            <a:ext cx="100584" cy="100584"/>
          </a:xfrm>
          <a:prstGeom prst="ellipse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654296" y="515721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권하지 않는 4종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7424928" y="1261872"/>
            <a:ext cx="4199839" cy="1243584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424928" y="1261872"/>
            <a:ext cx="45720" cy="1243584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607808" y="1353312"/>
            <a:ext cx="38340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붙어 있기는 합니다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607808" y="1609344"/>
            <a:ext cx="3834079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쿠폰은 결국 고객이 파는 풋옵션의 값이라 위험과 구조적으로 묶여 있습니다. 순위상관 0.73 (19종, p&lt;0.001)— 수익률이 높은 쪽이 대체로 손실 확률도 높습니다.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7424928" y="2651760"/>
            <a:ext cx="4199839" cy="1243584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424928" y="2651760"/>
            <a:ext cx="45720" cy="1243584"/>
          </a:xfrm>
          <a:prstGeom prst="rect">
            <a:avLst/>
          </a:prstGeom>
          <a:solidFill>
            <a:srgbClr val="CB601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607808" y="2743200"/>
            <a:ext cx="38340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그런데 171쌍 중 37쌍이 뒤집힙니다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607808" y="2999232"/>
            <a:ext cx="3834079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상품씩 모든 짝을 지어 보면 77.2%만 "쿠폰 높은 쪽이 더 위험" 했습니다. 나머지 37쌍은 더 받으면서 덜 위험하거나, 덜 받으면서 더 위험했습니다.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7424928" y="4041648"/>
            <a:ext cx="4199839" cy="1243584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424928" y="4041648"/>
            <a:ext cx="45720" cy="124358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607808" y="4133088"/>
            <a:ext cx="38340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위험당 대가가 2.8배 벌어집니다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607808" y="4389120"/>
            <a:ext cx="3834079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1%당 받는 연 수익률이 제38141회는 1.40%, 제38150회는 0.50%입니다. 같은 위험을 지고도 받는 대가가 이만큼 다릅니다.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566928" y="5504688"/>
            <a:ext cx="11057839" cy="89611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49808" y="5504688"/>
            <a:ext cx="10692079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고르는 자리가 생깁니다  </a:t>
            </a:r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D9E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회차에서 같은 위험을 지고 가장 많이 받는 쪽은 제38141회(연 16.0% · 손실 확률 11.4%)이고, 가장 적게 받는 쪽은 제38150회(연 24.9% · 50.2%)입니다. 수익률 순서로 고르면 이 차이가 보이지 않습니다.</a:t>
            </a:r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9FB6C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※ 제38141회로 상관계수를 공시값 0.94에서 0.5까지 낮춰 봐도 손실 확률은 11.4%→13.5%에 머뭅니다 — 결론이 상관계수 한 값에 얹혀 있지 않습니다.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회차에서 권하지 않는 4종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17.0~26.1%라는 수익률만 보면 눈에 띄는 상품들입니다. 상품마다 걸린 사유가 달라 오른쪽에 나눠 적었습니다.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61872"/>
            <a:ext cx="6583680" cy="772668"/>
          </a:xfrm>
          <a:prstGeom prst="rect">
            <a:avLst/>
          </a:prstGeom>
          <a:solidFill>
            <a:srgbClr val="FDF3F3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261872"/>
            <a:ext cx="45720" cy="77266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134416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제38150회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2011680" y="1371600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마이크론 테크놀로지 · 팔란티어 테크 (온라인 전용)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97096" y="1380744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사유 </a:t>
            </a:r>
            <a:pPr algn="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· 확률 · 표본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797296" y="1335024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24.9%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86384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 가치 (액면 1만)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86384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6,829원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359152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2359152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50.2%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931920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3931920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94.9%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504688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5504688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0.50%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66928" y="2180844"/>
            <a:ext cx="6583680" cy="772668"/>
          </a:xfrm>
          <a:prstGeom prst="rect">
            <a:avLst/>
          </a:prstGeom>
          <a:solidFill>
            <a:srgbClr val="FDF3F3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2180844"/>
            <a:ext cx="45720" cy="77266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86384" y="22631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제38151회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2011680" y="2290572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마이크론 테크놀로지 · AMD (온라인 전용)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197096" y="2299716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사유 </a:t>
            </a:r>
            <a:pPr algn="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· 확률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5797296" y="2253996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26.1%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786384" y="256489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 가치 (액면 1만)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786384" y="272948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7,041원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2359152" y="256489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2359152" y="272948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47.9%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931920" y="256489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3931920" y="272948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94.9%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504688" y="256489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5504688" y="272948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0.54%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66928" y="3099816"/>
            <a:ext cx="6583680" cy="772668"/>
          </a:xfrm>
          <a:prstGeom prst="rect">
            <a:avLst/>
          </a:prstGeom>
          <a:solidFill>
            <a:srgbClr val="FDF3F3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66928" y="3099816"/>
            <a:ext cx="45720" cy="77266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86384" y="318211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제38149회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2011680" y="3209544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마이크론 테크놀로지 · 어플라이드 머티어리얼즈 (온라인 전용)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197096" y="3218688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사유 </a:t>
            </a:r>
            <a:pPr algn="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· 확률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5797296" y="3172968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21.3%</a:t>
            </a:r>
            <a:endParaRPr lang="en-US" sz="1350" dirty="0"/>
          </a:p>
        </p:txBody>
      </p:sp>
      <p:sp>
        <p:nvSpPr>
          <p:cNvPr id="39" name="Text 37"/>
          <p:cNvSpPr/>
          <p:nvPr/>
        </p:nvSpPr>
        <p:spPr>
          <a:xfrm>
            <a:off x="786384" y="3483864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 가치 (액면 1만)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786384" y="364845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7,710원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2359152" y="3483864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2359152" y="364845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38.3%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931920" y="3483864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3931920" y="364845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94.9%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5504688" y="3483864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5504688" y="364845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0.56%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566928" y="4018788"/>
            <a:ext cx="6583680" cy="772668"/>
          </a:xfrm>
          <a:prstGeom prst="rect">
            <a:avLst/>
          </a:prstGeom>
          <a:solidFill>
            <a:srgbClr val="FDF3F3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66928" y="4018788"/>
            <a:ext cx="45720" cy="77266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86384" y="4101084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제38148회</a:t>
            </a:r>
            <a:endParaRPr lang="en-US" sz="1450" dirty="0"/>
          </a:p>
        </p:txBody>
      </p:sp>
      <p:sp>
        <p:nvSpPr>
          <p:cNvPr id="50" name="Text 48"/>
          <p:cNvSpPr/>
          <p:nvPr/>
        </p:nvSpPr>
        <p:spPr>
          <a:xfrm>
            <a:off x="2011680" y="4128516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테슬라 · 팔란티어 테크 (온라인 전용)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4197096" y="4137660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사유 </a:t>
            </a:r>
            <a:pPr algn="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· 확률 · 표본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5797296" y="4091940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17.0%</a:t>
            </a:r>
            <a:endParaRPr lang="en-US" sz="1350" dirty="0"/>
          </a:p>
        </p:txBody>
      </p:sp>
      <p:sp>
        <p:nvSpPr>
          <p:cNvPr id="53" name="Text 51"/>
          <p:cNvSpPr/>
          <p:nvPr/>
        </p:nvSpPr>
        <p:spPr>
          <a:xfrm>
            <a:off x="786384" y="440283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 가치 (액면 1만)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786384" y="456742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8,576원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2359152" y="440283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2359152" y="456742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30.5%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3931920" y="440283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3931920" y="456742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67.3%</a:t>
            </a:r>
            <a:endParaRPr lang="en-US" sz="1300" dirty="0"/>
          </a:p>
        </p:txBody>
      </p:sp>
      <p:sp>
        <p:nvSpPr>
          <p:cNvPr id="59" name="Text 57"/>
          <p:cNvSpPr/>
          <p:nvPr/>
        </p:nvSpPr>
        <p:spPr>
          <a:xfrm>
            <a:off x="5504688" y="440283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5504688" y="456742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0.56%</a:t>
            </a:r>
            <a:endParaRPr lang="en-US" sz="1300" dirty="0"/>
          </a:p>
        </p:txBody>
      </p:sp>
      <p:sp>
        <p:nvSpPr>
          <p:cNvPr id="61" name="Text 59"/>
          <p:cNvSpPr/>
          <p:nvPr/>
        </p:nvSpPr>
        <p:spPr>
          <a:xfrm>
            <a:off x="7370064" y="1261872"/>
            <a:ext cx="4254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넣는 순간 32%까지 깎입니다 — 제38150회·제38151회·제38149회·제38148회</a:t>
            </a:r>
            <a:endParaRPr lang="en-US" sz="1150" dirty="0"/>
          </a:p>
        </p:txBody>
      </p:sp>
      <p:sp>
        <p:nvSpPr>
          <p:cNvPr id="62" name="Text 60"/>
          <p:cNvSpPr/>
          <p:nvPr/>
        </p:nvSpPr>
        <p:spPr>
          <a:xfrm>
            <a:off x="7370064" y="1536192"/>
            <a:ext cx="425470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발행사가 공시한 공정가격이 6,829~8,576원입니다. 액면 1만원을 내고 사는 시점의 이론 값어치가 그것뿐이라는 뜻입니다. 나머지 원화 15종은 9,420원 이상입니다.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7370064" y="2487168"/>
            <a:ext cx="4254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손실 확률이 2.6배입니다 — 제38150회·제38151회·제38149회·제38148회</a:t>
            </a:r>
            <a:endParaRPr lang="en-US" sz="1150" dirty="0"/>
          </a:p>
        </p:txBody>
      </p:sp>
      <p:sp>
        <p:nvSpPr>
          <p:cNvPr id="64" name="Text 62"/>
          <p:cNvSpPr/>
          <p:nvPr/>
        </p:nvSpPr>
        <p:spPr>
          <a:xfrm>
            <a:off x="7370064" y="2761488"/>
            <a:ext cx="425470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30.5~50.2%. 나머지 15종 평균은 15.8%입니다. 손실이 나면 평균 84.7%를 잃습니다.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7370064" y="3712464"/>
            <a:ext cx="4254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검증 표본이 2.9년뿐입니다 — 제38150회·제38148회</a:t>
            </a:r>
            <a:endParaRPr lang="en-US" sz="1150" dirty="0"/>
          </a:p>
        </p:txBody>
      </p:sp>
      <p:sp>
        <p:nvSpPr>
          <p:cNvPr id="66" name="Text 64"/>
          <p:cNvSpPr/>
          <p:nvPr/>
        </p:nvSpPr>
        <p:spPr>
          <a:xfrm>
            <a:off x="7370064" y="3986784"/>
            <a:ext cx="425470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기초자산 상장이 늦어 발행사 백테스트가 2.9년치입니다. 20년을 돌린 다른 상품과 A 열을 나란히 놓고 비교할 수 없습니다.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566928" y="5065776"/>
            <a:ext cx="11057839" cy="566928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49808" y="5065776"/>
            <a:ext cx="106920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상담에서 이렇게 말씀하세요  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9E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“수익률만 보면 이게 높아 보이는데, 발행사가 공시한 이 상품의 값어치가 1만원이 아니라 6,829원입니다. 권해 드릴 수 있는 것 중 가장 높은 제38143회는 연 25.0%에 손실 확률이 24.3%입니다 — 받는 돈은 사실상 같은데 위험은 2.1배 차이입니다.”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반응별 대응 스크립트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답변의 숫자는 발행사 공시 원문과 이번 회차 시뮬레이션에서 나온 값입니다. 확률을 낮게 말하지 말고, 크기를 함께 말씀하세요.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61872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261872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261872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“원금을 다 날릴 수도 있다면서요.”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719072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손실은 두 가지가 동시에 맞아야 납니다. 제38133회는 3년 안에 한 번이라도 60% 떨어진 적이 있고, 만기에도 30% 넘게 떨어져 있어야 손실입니다. 발행사가 실제 과거 시세 20년으로 5,119번 돌린 결과 손실은 0.00%였고, 같은 조건을 저희가 10만 번 다시 돌리니 9.5%였습니다. 다만 그 9.5%가 현실이 되면 평균 63.2%를 잃습니다. 확률은 낮고 크기는 큽니다.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205576" y="1261872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05576" y="1261872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70168" y="1261872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“홍콩 ELS로 크게 물린 분들 많잖아요.”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70168" y="1719072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맞습니다. 그때 문제의 핵심은 낙인이 높았다는 것이었습니다. 이번 회차에서 HSCEI가 들어간 건 제38137·38144회 2종뿐이고, 낙인은 35%·45%입니다. 제38137회 기준 발행일에 잡히는 기준가에서 65%를 더 내려가야 손실 구간에 들어갑니다. 상품을 고르실 때 수익률이 아니라 이 낙인 숫자를 먼저 보시면 됩니다.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66928" y="2962656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66928" y="2962656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2962656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“예금이 안전한데 굳이 왜요.”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3419856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자리에 놓고 비교하실 상품이 아닙니다. 예금은 원금이 보장되고 이건 아닙니다. 대신 제38133회는 조건이 맞으면 연 9.2%, 3년 27.6%입니다. 예금을 대체하는 돈이 아니라, 예금에 넣지 않기로 한 돈의 일부로만 접근하셔야 합니다.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205576" y="2962656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05576" y="2962656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70168" y="2962656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“3년이나 묶이는 거 아닌가요.”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370168" y="3419856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3년은 최장 기간이고 대부분 훨씬 일찍 끝납니다. 제38133회는 6개월마다 6번 상환 기회가 있고, 첫 회에 끝난 경우가 백테스트 94.9%였습니다. 중도상환도 가능합니다만 그때는 원금 손실이 날 수 있어서, 3년 쓸 일 없는 돈으로만 하셔야 합니다.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66928" y="4663440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6928" y="4663440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663440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“지금이 고점 아닌가요.”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31520" y="5120640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고점인지 아닌지는 저도 모릅니다. 다만 이 상품은 오르면 버는 구조가 아니라 크게 안 떨어지면 버는 구조입니다. 제38133회는 85% 배리어라 기초자산이 15% 떨어져도 첫 회에 상환됩니다. 그래도 부담스러우시면 손실 확률이 그다음으로 낮은 제38134회(10.0%, 연 10.3%)를 보시죠.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205576" y="4663440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05576" y="4663440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70168" y="4663440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“그냥 수익률 제일 높은 걸로 주세요.”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370168" y="5120640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그게 이번엔 안 맞습니다. 제일 높은 건 연 24.9%인 제38150회인데 손실 확률이 50.2%입니다. 권해 드릴 수 있는 것 중 가장 높은 제38143회는 연 25.0%에 손실 확률이 24.3%뿐입니다 — 받는 돈은 사실상 같은데 위험만 2.1배 지시는 셈입니다. 수익률과 위험은 비례하지 않습니다.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진행 순서와 반드시 말해야 할 것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고난도금융투자상품 · 숙려제도 대상 · 녹취 의무 상품입니다. 아래 여섯 가지를 빠뜨리면 나중에 불완전판매가 됩니다.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66928" y="1261872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순서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5852160" cy="10973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7556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17556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24128" y="17373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쓸 일 없는 돈인지 먼저 확인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024128" y="20116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안에 쓸 계획이 있는 돈이면 여기서 멈춥니다. 중도상환은 원금 손실이 납니다.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66928" y="26700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670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24128" y="26517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조건을 숫자로 설명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024128" y="29260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“3년 안에 한 번이라도 60% 떨어지고, 만기에도 30% 넘게 떨어져 있어야 손실입니다” — 배리어와 낙인을 %가 아니라 “얼마나 떨어져야 하는지”로 바꿔 말합니다.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66928" y="35844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35844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24128" y="35661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확률과 크기를 함께 제시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024128" y="38404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9.5%와 손실 시 평균 63.2%를 한 문장에 같이 담습니다.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66928" y="44988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6928" y="4498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24128" y="44805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성향에 맞는 한 종만 권유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024128" y="47548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3종 중 하나로 좁혀 드립니다. 4종(제38150·38151·38149·38148회)은 권유 대상에서 제외합니다.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66928" y="54132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54132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53949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일정과 절차 안내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024128" y="56692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마감은 2026.09.28입니다. 숙려 후 2026.10.01까지 가입의사를 직접 확인하지 않으면 청약이 취소됩니다.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748272" y="1261872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반드시 말해야 할 여섯 가지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748272" y="1572768"/>
            <a:ext cx="4876495" cy="10973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748272" y="1792224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22592" y="1737360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원금비보장 · 위험등급 1등급(매우높은위험). 원금 전액(-100%) 손실이 가능합니다.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748272" y="2322576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022592" y="2267712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예금자보호법 대상이 아닙니다.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748272" y="2852928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022592" y="2798064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발행사 신용위험 — 미래에셋증권이 지급 불이행하면 조건과 무관하게 손실이 납니다 (신용등급 AA).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748272" y="3383280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022592" y="3328416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거래소 비상장 — 만기 전 현금화가 어렵고, 중도상환 시 상환비용으로 원금에 미달할 수 있습니다.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748272" y="3913632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022592" y="3858768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판매는 전 과정 녹취 의무입니다. 거부하시면 판매가 불가합니다.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748272" y="4443984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22592" y="4389120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 65세 이상 고령투자자 유의 상품이며, 고난도금융투자상품입니다.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748272" y="5010912"/>
            <a:ext cx="4876495" cy="17556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912864" y="5120640"/>
            <a:ext cx="454731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자료의 근거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912864" y="5340096"/>
            <a:ext cx="454731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조건·공정가격·적용 변동성·상관계수·백테스트(A)는 일괄신고추가서류(접수번호 20260917000140) 원문에서 그대로 옮겼습니다. 손실 확률(B)은 그 공시 변동성과 상관계수로 같은 조건을 10만 번 다시 돌린 값이며, 공시된 수치가 아닙니다. 수익률은 확정이 아니라 조건 충족 시의 상한입니다.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6912864" y="5943600"/>
            <a:ext cx="454731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 못한 것 — 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제38148·38150회는 기초자산 상장이 늦어 검증 표본이 2.9년뿐입니다 — A 열을 20년 상품과 같은 줄에서 비교할 수 없습니다. KOSPI200 과거 시세는 최근 수집분이 짧게 들어와 직전 종가를 이월했습니다. A 의 마지막 며칠은 실관측이 아닙니다(B 는 공시 변동성만 쓰므로 영향 없음).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제38133~38151회 ELS 세일즈 제안서</dc:title>
  <dc:subject>PptxGenJS Presentation</dc:subject>
  <dc:creator>미래에셋증권</dc:creator>
  <cp:lastModifiedBy>미래에셋증권</cp:lastModifiedBy>
  <cp:revision>1</cp:revision>
  <dcterms:created xsi:type="dcterms:W3CDTF">2026-09-21T01:07:42Z</dcterms:created>
  <dcterms:modified xsi:type="dcterms:W3CDTF">2026-09-21T01:07:42Z</dcterms:modified>
</cp:coreProperties>
</file>