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제38194회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Sheet1!$B$2:$B$14</c:f>
              <c:numCache>
                <c:formatCode>General</c:formatCode>
                <c:ptCount val="13"/>
                <c:pt idx="0">
                  <c:v>12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제38190회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>9.7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제38191회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Sheet1!$D$2:$D$14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10.1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제38195회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Sheet1!$E$2:$E$14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13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제38198회 KOSPI200·HSCEI·Nikkei225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Sheet1!$F$2:$F$14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제38192회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Sheet1!$G$2:$G$14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제38196회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Sheet1!$H$2:$H$14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제38193회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Sheet1!$I$2:$I$14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11.5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제38199회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Sheet1!$J$2:$J$14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제38197회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Sheet1!$K$2:$K$14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20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제38201회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Sheet1!$L$2:$L$14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17</c:v>
                </c:pt>
                <c:pt idx="11">
                  <c:v/>
                </c:pt>
                <c:pt idx="12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제38200회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Sheet1!$M$2:$M$14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15.3</c:v>
                </c:pt>
                <c:pt idx="12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제38202회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Sheet1!$A$2:$A$14</c:f>
              <c:numCache>
                <c:formatCode>General</c:formatCode>
                <c:ptCount val="13"/>
                <c:pt idx="0">
                  <c:v>11.3</c:v>
                </c:pt>
                <c:pt idx="1">
                  <c:v>11.7</c:v>
                </c:pt>
                <c:pt idx="2">
                  <c:v>12.4</c:v>
                </c:pt>
                <c:pt idx="3">
                  <c:v>12.5</c:v>
                </c:pt>
                <c:pt idx="4">
                  <c:v>13.9</c:v>
                </c:pt>
                <c:pt idx="5">
                  <c:v>14.7</c:v>
                </c:pt>
                <c:pt idx="6">
                  <c:v>18.1</c:v>
                </c:pt>
                <c:pt idx="7">
                  <c:v>18.6</c:v>
                </c:pt>
                <c:pt idx="8">
                  <c:v>20.1</c:v>
                </c:pt>
                <c:pt idx="9">
                  <c:v>24.6</c:v>
                </c:pt>
                <c:pt idx="10">
                  <c:v>33.9</c:v>
                </c:pt>
                <c:pt idx="11">
                  <c:v>48.7</c:v>
                </c:pt>
                <c:pt idx="12">
                  <c:v>57.6</c:v>
                </c:pt>
              </c:numCache>
            </c:numRef>
          </c:xVal>
          <c:yVal>
            <c:numRef>
              <c:f>Sheet1!$N$2:$N$14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23.5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제38190~38202회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2026.10.12~2026.10.21 · 일괄신고추가서류 2026.10.08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 삼성전자·SK하이닉스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 · 손실 확률 11.3%로 13종 중 가장 낮습니다 (위험 1%당 연 1.06%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 마이크론 테크놀로지·팔란티어 테크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 (원화) · 손실 확률 57.6%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제38202·38200·38201회 — 3종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(6,290~8,276원)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2026.10.21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2026.10.22 / 2029.10.22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65×5-60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9,697원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1.52%·20.7년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38197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3.97%·3.0년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8,276원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0.12%·13.3년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57.6% ±0.29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2.78%·3.0년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6,290원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3종.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제38202·38200·38201회만 8,276원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· 조건 충족 시 연 12.0%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2027.04.19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10,600원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79.2%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2027.10.19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9379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2028.04.18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11,800원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3794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2028.10.17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2223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2029.04.17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13,000원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1567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2029.10.22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13,600원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240708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9707677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274605" y="4315968"/>
            <a:ext cx="9686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371472" y="4315968"/>
            <a:ext cx="1253295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87.8%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76.1%)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40%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76.1%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12.0%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251320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1303" y="3657600"/>
            <a:ext cx="27314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4447" y="3657600"/>
            <a:ext cx="38753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12.2%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79.2 · 2차 4.8 · 3차 1.9 · 4차 1.1 · 5차 0.8 · 6차 12.2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65%부터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40%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96.8%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9,614원 (-3.86%)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1.06%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제38195회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12.5%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41196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20867" y="3657600"/>
            <a:ext cx="32957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50443" y="3657600"/>
            <a:ext cx="43234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10.4%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13.6%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76.0 · 2차 5.7 · 3차 2.4 · 4차 1.4 · 5차 0.9 · 6차 13.6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39.0%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70%부터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0.34% · 1차 94.6%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9,603원 (-3.97%)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1.04%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제38198회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HSCEI · Nikkei225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13.9%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6006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09780" y="3657600"/>
            <a:ext cx="83168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41464" y="3657600"/>
            <a:ext cx="1082135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34.1%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39.7 · 2차 13.1 · 3차 4.9 · 4차 4.4 · 5차 3.7 · 6차 34.1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32.1%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1.58% · 1차 68.0%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9,876원 (-1.24%)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제38194회는 연 12.0%를 받으면서 손실 확률이 11.3%로 지수형 평균(14.2%)보다도 낮습니다. 6개월마다 6번 상환 기회가 있고 배리어가 65%에서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13종을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7종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3종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0.76 (13종, p=0.002)—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78쌍 중 15쌍이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76.9%만 "쿠폰 높은 쪽이 더 위험" 했습니다. 나머지 15쌍은 더 받으면서 덜 위험하거나, 덜 받으면서 더 위험했습니다.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3.4배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제38194회는 1.06%, 제38200회는 0.31%입니다.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제38194회(연 12.0% · 손실 확률 11.3%)이고, 가장 적게 받는 쪽은 제38200회(연 15.3% · 48.7%)입니다.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제38194회로 상관계수를 공시값 0.88에서 0.5까지 낮춰 봐도 손실 확률은 11.4%→14.8%에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15.3~23.5%라는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제38202회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6,290원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487168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487168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6946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제38200회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5968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606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56032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15.3%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6,790원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48.7%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87121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712464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712464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8221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8313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7856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8,276원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66.3%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409651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426110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37%까지 깎입니다 — 제38202회·제38200회·제38201회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6,290~8,276원입니다. 액면 1만원을 내고 사는 시점의 이론 값어치가 그것뿐이라는 뜻입니다. 나머지 원화 10종은 9,318원 이상입니다.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3.0배입니다 — 제38202회·제38200회·제38201회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33.9~57.6%. 나머지 10종 평균은 15.8%입니다. 손실이 나면 평균 82.2%를 잃습니다.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제38202회·제38201회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6,290원입니다. 권해 드릴 수 있는 것 중 가장 높은 제38197회는 연 20.0%에 손실 확률이 24.6%입니다 — 연 3.5%p 덜 받으시지만 위험은 2.3배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제38194회는 3년 안에 한 번이라도 65% 떨어진 적이 있고, 만기에도 40% 넘게 떨어져 있어야 손실입니다. 발행사가 실제 과거 시세 20년으로 5,117번 돌린 결과 손실은 0.00%였고, 같은 조건을 저희가 10만 번 다시 돌리니 11.3%였습니다. 다만 그 11.3%가 현실이 되면 평균 76.1%를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제38191·38198회 2종뿐이고, 낙인은 35%·35%입니다. 제38191회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제38194회는 조건이 맞으면 연 12.0%, 3년 36.0%입니다.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제38194회는 6개월마다 6번 상환 기회가 있고, 첫 회에 끝난 경우가 백테스트 96.8%였습니다.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제38194회는 65% 배리어라 기초자산이 35% 떨어져도 첫 회에 상환됩니다. 그래도 부담스러우시면 손실 확률이 그다음으로 낮은 제38190회(11.7%, 연 9.7%)를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23.5%인 제38202회인데 손실 확률이 57.6%입니다. 권해 드릴 수 있는 것 중 가장 높은 제38197회는 연 20.0%에 손실 확률이 24.6%뿐입니다 — 연 3.5%p 덜 받으시지만 위험만 2.3배 지시는 셈입니다.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40%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11.3%와 손실 시 평균 76.1%를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3종(제38202·38200·38201회)은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2026.10.16입니다. 숙려 후 2026.10.21까지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20261008000217)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제38201·38202회는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제38190~38202회 ELS 세일즈 제안서</dc:title>
  <dc:subject>PptxGenJS Presentation</dc:subject>
  <dc:creator>미래에셋증권</dc:creator>
  <cp:lastModifiedBy>미래에셋증권</cp:lastModifiedBy>
  <cp:revision>1</cp:revision>
  <dcterms:created xsi:type="dcterms:W3CDTF">2026-10-13T03:28:29Z</dcterms:created>
  <dcterms:modified xsi:type="dcterms:W3CDTF">2026-10-13T03:28:29Z</dcterms:modified>
</cp:coreProperties>
</file>