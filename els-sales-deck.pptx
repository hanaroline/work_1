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제38070~38089회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2026.08.31~2026.09.09 · 일괄신고추가서류 2026.08.28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제38071회 S&amp;P500·KOSPI200·Nikkei225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10.5% · 손실 확률 1.4%로 20종 중 가장 낮습니다 (위험 1%당 연 7.29% 로도 1위)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제38081회 삼성전자·SK하이닉스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40.0% (달러청약) · 손실 확률 16.0%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제38087·38088·38089·38086회 — 해외종목형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공시 공정가격 6,760~8,492원 · 손실 확률 30.2~49.4%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~ 2026.09.04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~ 2026.09.09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2026.09.07 ~ 2026.09.08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2026.09.09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2026.09.10 / 2029.09.10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20종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417320"/>
                <a:gridCol w="457200"/>
                <a:gridCol w="1051560"/>
                <a:gridCol w="603504"/>
                <a:gridCol w="658368"/>
                <a:gridCol w="658368"/>
                <a:gridCol w="1005840"/>
                <a:gridCol w="862279"/>
              </a:tblGrid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80-75×2-70-65-60 (L2·40)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1.4% ±0.09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10,293원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7.9%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10,056원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90×3-85-80-70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9.3% ±0.17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10,092원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90×4-85×4-80×3-70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10.8%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10,551원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80-75×2-70-65-60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13.2% ±0.13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9,911원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10,385원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1.42%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10,437원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85×9-80-75-70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14.8%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10,185원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10,251원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 $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85×9-80-75-70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16.0% ±0.27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10,184달러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90×2-85-80-75-70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3.26%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38079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10,197원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19.4%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1.42%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10,417원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21.4%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4.23%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1.42% (20.6년)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10,322원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30.2%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3.86% (2.9년)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8,492원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42.4%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0.18% (13.1년)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7,726원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테크놀로지·브로드컴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80×2-75×2-70×2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43.0%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(14.0년)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7,464원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38087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49.4%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2.07% (2.9년)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6,760원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맨 아래 4종만 8,492원 이하.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5종은 손실 확률이 등급 경계에 걸쳐 있어 등급 라벨을 단정할 수 없습니다. 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단위를 넘습니다(+1.84% 이상) — 제값 이상으로 사는 자리라는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제38071회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Nikkei225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수익률(세전)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102475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0571" y="3657600"/>
            <a:ext cx="1022942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93513" y="3657600"/>
            <a:ext cx="48465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66.2%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32.2%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1.5%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66.2 · 2차 32.1 · 3차 0.0 · 4차 0.0 · 5차 0.1 · 6차 1.5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31.5%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80%부터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리자드 2차 40% (상환 확률 22.2%)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만기에 40% 초과 하락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0.00% · 1차 상환 95.9% · 20.6년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10,293원 (+2.93%)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7.29%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제38078회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삼성전자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수익률(세전)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29.0%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10.8%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1930895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39801" y="3657600"/>
            <a:ext cx="747418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187219" y="3657600"/>
            <a:ext cx="495570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60.8%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2~11차 23.5%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15.6%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60.8 · 2차 8.9 · 3차 4.2 · 4차 2.5 · 5차 2.4 · 6차 1.5 · 7차 1.0 · 8차 0.9 · 9차 1.0 · 10차 0.6 · 11차 0.5 · 12차 15.6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12회 · 배리어 90%부터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30% 초과 하락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0.00% · 1차 상환 83.0% · 20.6년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10,551원 (+5.51%)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2.69%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제38081회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수익률(세전)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40.0%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16.0%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961269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210986" y="3657600"/>
            <a:ext cx="653978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864964" y="3657600"/>
            <a:ext cx="558635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61.8%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2~11차 20.6%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17.6%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61.8 · 2차 8.2 · 3차 3.8 · 4차 2.2 · 5차 1.6 · 6차 1.2 · 7차 0.9 · 8차 0.7 · 9차 0.6 · 10차 0.7 · 11차 0.7 · 12차 17.6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120.0% (달러청약)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12회 · 배리어 85%부터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 하락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0.47% · 1차 상환 84.5% · 20.6년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10,184달러 (+1.84%)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2.50%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제38071회는 연 10.5%를 받으면서 손실 확률이 1.4%로 지수형 평균(12.3%)보다도 낮습니다. 6개월마다 6번 상환 기회가 있고 배리어가 80%에서 시작하는 구조, 그리고 2차까지 40% 아래로만 안 가면 상환되는 리자드 조항 덕입니다 — 시뮬레이션에서 22.2%가 이 조항으로 끝났습니다.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16.0~29.5%라는 수익률만 보면 눈에 띄는 상품들입니다. 세 가지 지표가 모두 반대를 가리킵니다.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제38087회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847088" y="1371600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956048" y="13350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23.0%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6,760원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49.4%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97.8%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22631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제38088회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847088" y="2290572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브로드컴 (온라인 전용)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56048" y="225399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24.5%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7,464원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43.0%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97.8%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0.57%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" y="31821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제38089회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847088" y="3209544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 (온라인 전용)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956048" y="31729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29.5%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7,726원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42.4%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97.8%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0.70%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86384" y="41010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제38086회</a:t>
            </a:r>
            <a:endParaRPr lang="en-US" sz="1450" dirty="0"/>
          </a:p>
        </p:txBody>
      </p:sp>
      <p:sp>
        <p:nvSpPr>
          <p:cNvPr id="47" name="Text 45"/>
          <p:cNvSpPr/>
          <p:nvPr/>
        </p:nvSpPr>
        <p:spPr>
          <a:xfrm>
            <a:off x="1847088" y="4128516"/>
            <a:ext cx="3072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956048" y="40919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16.0%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8,492원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30.2%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67.1%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0.53%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32%까지 깎입니다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6,760~8,492원입니다. 액면 1만원을 내고 사는 시점의 이론 값어치가 그것뿐이라는 뜻입니다. 나머지 원화 15종은 9,595원 이상입니다.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2.8배입니다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30.2~49.4%. 나머지 16종 평균은 14.7%입니다. 손실이 나면 평균 84.6%를 잃습니다.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변동성이 감당 밖입니다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97.77%, 팔란티어 테크 67.06% — 공시된 적용 변동성입니다. 이번 회차 지수형은 30.0~36.3%로, 그 두 배를 넘습니다. 이 변동성이 그대로 손실 확률로 돌아옵니다.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6,760원입니다. 같은 위험을 지실 거면 제38081회가 연 40.0%에 손실 확률은 16.0%입니다.”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제38071회는 낙인이 없는 상품이라 조건이 하나입니다 — 만기에 40% 넘게 떨어져 있을 때만 손실입니다. 중간에 아무리 빠져도 만기에 회복해 있으면 약정 수익을 받습니다. 발행사가 실제 과거 시세 20년으로 4,682번 돌린 결과 손실은 0.00%였습니다. 다만 그 1.4%가 현실이 되면 평균 67.8%를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제38082회 1종뿐이고, 낙인은 45%입니다. 제38082회 기준 지금 지수에서 55%를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제38071회는 조건이 맞으면 연 10.5%, 3년 31.5%입니다.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제38071회는 6개월마다 6번 상환 기회가 있고, 첫 회에 끝난 경우가 백테스트 95.9%였습니다.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제38071회는 80% 배리어라 기초자산이 20% 떨어져도 첫 회에 상환됩니다. 그래도 부담스러우시면 손실 확률이 그다음으로 낮은 제38072회(7.9%, 연 11.5%)를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연 23.0%인 제38087회는 손실 확률이 49.4%로, 연 40.0%인 제38081회(16.0%)의 3.1배입니다. 수익률과 위험이 비례하지 않습니다. 같은 위험이면 더 받는 쪽으로 골라 드리겠습니다.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“만기에 40% 넘게 떨어져 있을 때만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1.4%와 손실 시 평균 67.8%를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4종(제38087·38088·38089·38086회)은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2026.09.04입니다. 숙려 후 2026.09.09까지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5915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30428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9260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8712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49300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43814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405993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400507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62686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57200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230368"/>
            <a:ext cx="4876495" cy="16276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340096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559552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20260828000836, 2026.08.28 공시) 원문에서 그대로 옮겼습니다. 손실 확률(B)은 그 공시 변동성과 상관계수로 같은 조건을 4만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616305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제38086·38087회는 기초자산 상장이 늦어 검증 표본이 2.9년뿐입니다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제38070~38089회 ELS 세일즈 제안서</dc:title>
  <dc:subject>PptxGenJS Presentation</dc:subject>
  <dc:creator>미래에셋증권</dc:creator>
  <cp:lastModifiedBy>미래에셋증권</cp:lastModifiedBy>
  <cp:revision>1</cp:revision>
  <dcterms:created xsi:type="dcterms:W3CDTF">2026-09-01T07:31:57Z</dcterms:created>
  <dcterms:modified xsi:type="dcterms:W3CDTF">2026-09-01T07:31:57Z</dcterms:modified>
</cp:coreProperties>
</file>