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맑은 고딕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맑은 고딕"/>
              </a:rPr>
              <a:t>무엇을 담았느냐에 따른 손해 볼 가능성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손해 볼 가능성(평균)</c:v>
                </c:pt>
              </c:strCache>
            </c:strRef>
          </c:tx>
          <c:spPr>
            <a:solidFill>
              <a:srgbClr val="043B7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43B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601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지수만 (6종)</c:v>
                  </c:pt>
                  <c:pt idx="1">
                    <c:v>지수 + 종목 (3종)</c:v>
                  </c:pt>
                  <c:pt idx="2">
                    <c:v>개별 종목만 (8종)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15.8</c:v>
                </c:pt>
                <c:pt idx="1">
                  <c:v>23.3</c:v>
                </c:pt>
                <c:pt idx="2">
                  <c:v>28.4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3D3D3D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12700" cap="flat">
              <a:solidFill>
                <a:srgbClr val="E5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4888B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회차 17종. 청약 2026.08.24~2026.08.28. 전부 원금비보장 1등급입니다.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마감일을 잘못 안내하면 고객이 청약 기회를 놓칩니다. 홈페이지의 2026.08.28이 아니라 8월 25일(화)이 개인 일반투자자의 마감입니다.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등급은 안전 등급이 아니라 이번 회차 안에서의 상대 순서라는 점을 먼저 말씀하십시오.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서류에 적힌 손실 숫자를 그대로 "이 상품의 손실 확률"이라고 말하면 안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고객이 "종목 들어간 건 위험하지 않나요"라고 물으면 이 장을 펴십시오. 일반론은 맞고, 상품별로는 확인이 필요하다는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"수익률 높으면 위험한 거 아니냐"는 질문에 이 장을 펴십시오. 맞다고 인정하고 시작하되, 같은 위험을 지고도 더 받는 상품이 있다는 것이 다음 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수익률만 유난히 높고 위험은 안 높아 보이면 셋 중 하나입니다 — 조건 덕이거나, 돈의 종류가 다르거나, 아직 못 본 위험이 있거나. 앞의 둘로 설명이 안 되면 세 번째입니다.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"개별 종목이 들어갔는데 괜찮나요?" → SK하이닉스가 들어간 게 맞고, 가격 출렁임 60.9%로 지수만 담은 상품 평균(40.5%)보다 큰 것도 맞습니다. 다만 컴퓨터로 똑같이 돌려본 손해 볼 가능성은 8.9%로 지수만 담은 상품 평균(15.8%)보다 낮고, 지수만 담은 6종 중 5종보다도 낮습니다. 두 자산이 0.94만큼 거의 같이 움직여서 "더 나쁜 쪽으로 판정"하는 불이익이 거의 없고, 원금 지키는 선도 35%로 훨씬 아래입니다.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"개별 종목이 들어갔는데 괜찮나요?" → 삼성전자·SK하이닉스가 들어간 게 맞고, 가격 출렁임 60.9%로 지수만 담은 상품 평균(40.5%)보다 큰 것도 맞습니다. 손해 볼 가능성도 17.8%로 지수만 담은 상품 평균(15.8%)보다 높습니다. 그런데도 올린 이유는 안전해서가 아니라 대가가 크기 때문입니다 — 손해 볼 가능성 1%마다 연 1.76%로, 지수 상품 평균 0.95%의 1.8배입니다. 원금 지키는 게 제일 중요한 분께는 추천 1번을 권하십시오.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"개별 종목이 들어갔는데 괜찮나요?" → 삼성전자·SK하이닉스가 들어간 게 맞고, 가격 출렁임 60.9%로 지수만 담은 상품 평균(40.5%)보다 큰 것도 맞습니다. 손해 볼 가능성도 18.9%로 지수만 담은 상품 평균(15.8%)보다 높습니다. 그런데도 올린 이유는 안전해서가 아니라 대가가 크기 때문입니다 — 손해 볼 가능성 1%마다 연 2.11%로, 지수 상품 평균 0.95%의 2.2배입니다. 원금 지키는 게 제일 중요한 분께는 추천 1번을 권하십시오.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1번은 이번 주에만 해당하는 이야기가 아니라 매 회차 반복됩니다. 마감일을 잘못 안내하면 고객이 청약 기회를 놓칩니다.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고객이 서류의 "낙인", "공정가액" 같은 말을 짚으며 물으실 때 이 장을 펴십시오. 왼쪽이 우리가 쓰는 말, 가운데가 서류에 적힌 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8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MIRAE ASSET · ELS WEEKLY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73736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제38031~38047회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ELS 제안서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투자설명서(일괄신고추가서류) 2026.08.21 공시 원문 기준 · 전 17종 분석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55280" y="1737360"/>
            <a:ext cx="3657600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9202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일반투자자 청약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21396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2026.08.24 ~ 2026.08.25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0" y="26883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청약기간 (숙려 대상 아닌 경우)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29077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2026.08.24 ~ 2026.08.28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34564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발행일 / 만기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36758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2026.08.31 / 2029.08.31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4133088"/>
            <a:ext cx="694944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24281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회차 추천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45354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제38044회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연 24.0%  ·  손실 8.9%</a:t>
            </a:r>
            <a:pPr indent="0" marL="0">
              <a:lnSpc>
                <a:spcPts val="1500"/>
              </a:lnSpc>
              <a:buNone/>
            </a:pPr>
            <a:endParaRPr lang="en-US" sz="15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원금을 지키는 게 먼저인 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98648" y="45354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제38039회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연 31.3%  ·  손실 17.8%</a:t>
            </a:r>
            <a:pPr indent="0" marL="0">
              <a:lnSpc>
                <a:spcPts val="1500"/>
              </a:lnSpc>
              <a:buNone/>
            </a:pPr>
            <a:endParaRPr lang="en-US" sz="15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수익과 안정을 반반 보는 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30368" y="45354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제38041회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연 40.0%  ·  손실 18.9%</a:t>
            </a:r>
            <a:pPr indent="0" marL="0">
              <a:lnSpc>
                <a:spcPts val="1500"/>
              </a:lnSpc>
              <a:buNone/>
            </a:pPr>
            <a:endParaRPr lang="en-US" sz="15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수익률을 먼저 보는 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53949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 확인 2026.08.24(월) 09:27 — 현재 청약 진행중 17건.  개인 일반투자자 청약 마감은 8월 25일(화)입니다.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572414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원금비보장 · 상품위험등급 1등급(매우높은위험) · 투자 권유 참고자료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언제까지 청약해야 하나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홈페이지와 공시 표지의 청약기간은 2026.08.24~2026.08.28입니다. 그런데 개인 일반투자자는 그 뒤쪽 절반을 쓸 수 없습니다 — 숙려기간과 가입의사확인기간에는 청약 자체가 불가능합니다.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16736"/>
            <a:ext cx="11057839" cy="713232"/>
          </a:xfrm>
          <a:prstGeom prst="rect">
            <a:avLst/>
          </a:prstGeom>
          <a:solidFill>
            <a:srgbClr val="F4F8F5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31673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81328" y="131673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 접수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90672" y="131673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2026.08.24 ~ 2026.08.25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49824" y="1316736"/>
            <a:ext cx="474847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 24일(월)~8월 25일(화) · 2일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308031" y="1527048"/>
            <a:ext cx="1133856" cy="292608"/>
          </a:xfrm>
          <a:prstGeom prst="rect">
            <a:avLst/>
          </a:prstGeom>
          <a:solidFill>
            <a:srgbClr val="2E8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08031" y="152704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이때만 주문 가능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112264"/>
            <a:ext cx="11057839" cy="713232"/>
          </a:xfrm>
          <a:prstGeom prst="rect">
            <a:avLst/>
          </a:prstGeom>
          <a:solidFill>
            <a:srgbClr val="FDF6F6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11226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81328" y="211226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숙려기간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90672" y="211226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2026.08.26 ~ 2026.08.27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9824" y="2112264"/>
            <a:ext cx="474847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2영업일 이상 · 최대 원금손실 가능금액을 고지받습니다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308031" y="2322576"/>
            <a:ext cx="1133856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08031" y="2322576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 불가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2907792"/>
            <a:ext cx="11057839" cy="713232"/>
          </a:xfrm>
          <a:prstGeom prst="rect">
            <a:avLst/>
          </a:prstGeom>
          <a:solidFill>
            <a:srgbClr val="FDF6F6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290779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81328" y="290779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가입의사 확인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90672" y="290779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2026.08.28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9824" y="2907792"/>
            <a:ext cx="474847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08월 28일 오후 5시까지 · 확인을 못 받으면 청약금은 환불됩니다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308031" y="3118104"/>
            <a:ext cx="1133856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08031" y="3118104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 불가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703320"/>
            <a:ext cx="1105783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370332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481328" y="370332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090672" y="37033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2026.08.31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9824" y="3703320"/>
            <a:ext cx="474847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납입 · 배정 · 환불 · 최초기준가격 평가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308031" y="3913632"/>
            <a:ext cx="1133856" cy="292608"/>
          </a:xfrm>
          <a:prstGeom prst="rect">
            <a:avLst/>
          </a:prstGeom>
          <a:solidFill>
            <a:srgbClr val="F7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08031" y="391363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4608576"/>
            <a:ext cx="11057839" cy="676656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" y="4608576"/>
            <a:ext cx="1065550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상담에서 이렇게 말씀하십시오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"청약은 8월 25일(화)까지 넣으셔야 합니다. 그 뒤 이틀은 법으로 정해진 숙려기간이라 주문을 받을 수 없고, 숙려기간이 끝나면 저희가 다시 연락드려 최종 의사를 확인합니다. 그때 확인이 안 되면 청약이 집행되지 않습니다."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66928" y="53766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전문투자자·법인 등 숙려제도 대상이 아닌 경우에만 2026.08.28까지 청약할 수 있습니다. 만 65세 이상 고령투자자는 별도 확인 절차가 더해질 수 있습니다.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2026.08.21 올라온 투자설명서 (접수번호 20260821000193)  ·  원금을 잃을 수 있는 상품입니다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상품, 한눈에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조건과 값어치는 투자설명서에 적힌 그대로이고, 손해 볼 가능성은 두 가지 방법으로 각각 쟀습니다.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16736"/>
            <a:ext cx="2558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481328"/>
            <a:ext cx="215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2229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8096" y="2322576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지수만 6 · 섞임 3 · 개별 종목 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9968" y="1316736"/>
            <a:ext cx="2558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1136" y="1481328"/>
            <a:ext cx="215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되면 연 수익률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64560" y="1737360"/>
            <a:ext cx="2229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11.5~40.0%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01136" y="2322576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제일 높은 건 제38041회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3008" y="1316736"/>
            <a:ext cx="2558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4176" y="1481328"/>
            <a:ext cx="215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돈이 묶이는 기간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97600" y="1737360"/>
            <a:ext cx="2229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최장 36개월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34176" y="2322576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2029.08.31까지 · 중간에 끝날 수 있음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66047" y="1316736"/>
            <a:ext cx="2558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7215" y="1481328"/>
            <a:ext cx="215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문서가 매긴 등급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30639" y="1737360"/>
            <a:ext cx="2229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9 / 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67215" y="2322576"/>
            <a:ext cx="215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방어적 / 중간 / 공격적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3017520"/>
            <a:ext cx="1105783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17종 전부 원금을 잃을 수 있는 상품이고, 위험등급도 가장 높은 1등급입니다. 이 문서가 붙인 등급은 안전하다는 뜻이 아니라 17종끼리 줄 세운 순서입니다.</a:t>
            </a:r>
            <a:endParaRPr lang="en-US" sz="1400" dirty="0"/>
          </a:p>
          <a:p>
            <a:pPr marL="342900" indent="-3429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1만원을 넣어도 실제 값어치가 다릅니다. 가장 좋은 제38044회는 10,013원, 가장 나쁜 제38046회는 6,834원입니다. 홈페이지 상품 목록에는 나오지 않는 차이입니다.</a:t>
            </a:r>
            <a:endParaRPr lang="en-US" sz="1400" dirty="0"/>
          </a:p>
          <a:p>
            <a:pPr marL="342900" indent="-3429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컴퓨터로 다시 돌린 손해 볼 가능성은 이번 주 평균 23.1%입니다. 가장 낮은 제38032회 8.6%부터 가장 높은 제38045회 58.3%까지 벌어집니다.</a:t>
            </a:r>
            <a:endParaRPr lang="en-US" sz="1400" dirty="0"/>
          </a:p>
          <a:p>
            <a:pPr marL="342900" indent="-3429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종목이 섞이면 손해 볼 가능성이 지수만 담은 상품의 1.8배입니다. 다만 상품 하나하나로 보면 뒤집히는 경우가 있어, 자산 종류가 아니라 상품별 가능성으로 등급을 매겼습니다.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2026.08.21 올라온 투자설명서 (접수번호 20260821000193)  ·  원금을 잃을 수 있는 상품입니다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 볼 가능성, 두 가지로 쟀습니다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질문에 답하는 숫자라 값도 꽤 다릅니다. 하나만 보고 말씀드리면 틀린 안내가 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16736"/>
            <a:ext cx="5373472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99616"/>
            <a:ext cx="391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회사가 과거로 돌려본 결과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15104" y="1517904"/>
            <a:ext cx="987552" cy="256032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5104" y="151790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투자설명서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828800"/>
            <a:ext cx="489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"지난 20년이 그대로 되풀이된다면?"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22128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89888" y="2185416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2003.01.02~2023.08.11 사이 매일 하루도 빠짐없이 가입했다고 치고 계산 (제38031회 5,100번)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29992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89888" y="2971800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지어낸 값이 아니라 실제로 있었던 가격입니다. 2008년 금융위기도 들어 있습니다.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" y="378561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89888" y="3758184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20년은 대체로 오르는 장이었고, 상품마다 돌려본 기간도 다릅니다. 기간이 다른 두 상품을 나란히 놓고 비교하면 안 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1296" y="1316736"/>
            <a:ext cx="5373472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9040" y="1499616"/>
            <a:ext cx="391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 컴퓨터로 다시 돌린 결과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399471" y="1517904"/>
            <a:ext cx="987552" cy="25603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99471" y="151790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계산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89040" y="1828800"/>
            <a:ext cx="489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"회사가 값 매길 때 잡은 만큼 실제로 출렁인다면?"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89040" y="22128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74256" y="2185416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17종 전부를 똑같은 횟수(40,000번)·똑같은 기간·똑같은 규칙으로. 출렁임과 같이 움직이는 정도는 투자설명서 값 그대로.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89040" y="29992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74256" y="2971800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 차이가 없어져서 전 상품을 공평하게 줄 세울 수 있습니다.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89040" y="378561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74256" y="3758184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자산도 오른다고 보지 않았고, 회사가 쓴 출렁임 수치는 실제보다 크게 잡히는 게 보통입니다. 넉넉하게 잡은 최대치로 읽으셔야 합니다.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828032"/>
            <a:ext cx="11057839" cy="566928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4828032"/>
            <a:ext cx="105823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법  </a:t>
            </a:r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값은 A와 B 사이 어딘가입니다. 상품끼리 견줄 때는 B를, "그래서 얼마나 위험하냐"를 가늠할 때는 A와 B를 같이 보십시오. "자산이 해마다 6%씩 오른다"고 바꿔 돌려도 순서는 거의 그대로였습니다.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2026.08.21 올라온 투자설명서 (접수번호 20260821000193)  ·  원금을 잃을 수 있는 상품입니다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종목이 섞이면 더 위험한가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 개별 종목이 들어간 ELS가 지수만 담은 것보다 위험하다고 봅니다. 이번 주 상품에서 그 말이 맞는지 B로 확인했습니다.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316736"/>
          <a:ext cx="5029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88736" y="1316736"/>
          <a:ext cx="5736031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86384"/>
                <a:gridCol w="1078992"/>
                <a:gridCol w="1280160"/>
                <a:gridCol w="10332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무엇이 기준인가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가격 출렁임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손해 볼 가능성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수익률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40.5%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15.8%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13.9%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 + 종목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70.2%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23.3%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24.5%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개별 종목만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70.2%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28.4%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29.8%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888736" y="3017520"/>
            <a:ext cx="5736031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평균으로 보면 맞는 말입니다. 개별 종목만 담은 상품이 지수만 담은 것의 1.8배이고, 가격 출렁임도 41% 대 70%로 갈립니다.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상품 하나하나로 내려가면 뒤집힙니다. 지수만 담은 제38042회가 24.8%로 종목 섞인 상품 대부분보다 위험하고, 제38044회는 8.9%로 17종 중 2번째로 낮습니다.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갈라놓은 건 자산 종류가 아니라 "원금 지키는 선이 얼마나 아래인가"와 "두 자산이 얼마나 같이 움직이는가"였습니다. 제38042회는 선이 45%(이번 주에서 가장 높아 여유가 제일 적음)에 같이 움직임 0.19, 제38044회는 선이 35%에 같이 움직임 0.94입니다.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66928" y="5029200"/>
            <a:ext cx="5029200" cy="786384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49808" y="502920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자산이 따로 놀수록 "더 많이 떨어진 하나로 판정한다"는 조건에서 크게 불리해집니다. 무엇을 담았느냐보다 이쪽이 결정적입니다.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2026.08.21 올라온 투자설명서 (접수번호 20260821000193)  ·  원금을 잃을 수 있는 상품입니다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수익률이 높으면 그만큼 위험한가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"수익률이 높으면 그만큼 위험한 것 아니냐" — 맞는 말씀입니다. 다만 정확히 비례하지는 않고, 그 어긋나는 자리가 바로 상품을 고르는 자리입니다.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16736"/>
          <a:ext cx="11057839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017520"/>
                <a:gridCol w="3011119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수익률과 무엇의 관계인가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17종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값어치 멀쩡한 13종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가격 출렁임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0.77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488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우연일 확률 0.1% 미만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0.86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488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우연일 확률 0.1% 미만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손해 볼 가능성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0.60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488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우연일 확률 1.2%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0.66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488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우연일 확률 1.4%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평균적으로 잃는 크기 (가능성 × 잃을 때의 크기)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488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우연일 확률 0.1%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0.82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488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우연일 확률 0.1% 미만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2944368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숫자가 1에 가까울수록 "수익률 높은 상품이 위험도 크다"가 잘 들어맞고, 0이면 아무 관계가 없다는 뜻입니다(순서를 견주는 방식으로 쟀습니다).  값어치 멀쩡한 13종 = 넣는 순간의 값어치가 제값보다 5% 넘게 깎이지는 않은 상품 — 나머지 4종은 높은 수익률이 위험의 대가가 아니라 비용으로 빠져나간 상품이라 이 법칙 자체가 통하지 않습니다.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66928" y="3529584"/>
            <a:ext cx="3503066" cy="120700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3639312"/>
            <a:ext cx="3100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둘씩 짝지어 세면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8096" y="3840480"/>
            <a:ext cx="3100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68096" y="4279392"/>
            <a:ext cx="31007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17종으로 만들 수 있는 136짝 중 102짝에서 "수익률 높은 쪽이 잃는 크기도 컸다"가 맞았습니다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44314" y="3529584"/>
            <a:ext cx="3503066" cy="120700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45482" y="3639312"/>
            <a:ext cx="3100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수익률로 맞히는 건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45482" y="3840480"/>
            <a:ext cx="3100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6A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545482" y="4279392"/>
            <a:ext cx="31007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 1%p당 손해 볼 가능성 +0.34%p — 방향은 맞지만 상품마다 그 몇 배씩 들쭉날쭉합니다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21701" y="3529584"/>
            <a:ext cx="3503066" cy="120700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22869" y="3639312"/>
            <a:ext cx="3100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위험에 받는 수익률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322869" y="3840480"/>
            <a:ext cx="3100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6.1배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8322869" y="4279392"/>
            <a:ext cx="31007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0.57(제38046회) ~ 3.48(제38044회). 정확히 비례한다면 전부 같아야 합니다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6928" y="4901184"/>
            <a:ext cx="539176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" y="5010912"/>
            <a:ext cx="498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그런가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8096" y="5266944"/>
            <a:ext cx="498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ELS의 수익률은 고객이 회사에 "많이 떨어지면 그 손해는 제가 떠안겠습니다"라는 약속을 팔고 받는 값입니다. "많이 안 떨어지면 이자를 드리겠다"를 뒤집으면 "떨어지면 고객이 부담한다"는 뜻이고, 그 약속의 가격이 곧 수익률입니다. 심하게 출렁일수록 그 약속이 비싸집니다. 관행이 아니라 값 매기는 계산식 자체가 그렇습니다.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33008" y="4901184"/>
            <a:ext cx="539176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34176" y="5010912"/>
            <a:ext cx="498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수익률이 갚는 건 "가능성"이 아닙니다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34176" y="5266944"/>
            <a:ext cx="498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수익률은 손해 볼 가능성(0.66)보다 평균적으로 잃는 크기(0.82)와 훨씬 잘 붙습니다. 지수만 담은 상품은 잃을 때 65% 남짓, 개별 종목 상품은 80%가량 잃습니다. 회사는 "얼마나 자주"가 아니라 "자주 × 크게"로 값을 매깁니다.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2026.08.21 올라온 투자설명서 (접수번호 20260821000193)  ·  원금을 잃을 수 있는 상품입니다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어디서 갈라지나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수익률과 위험이 어긋나는 이유는 셋입니다. 셋 다 이번 주 데이터에서 그대로 확인됩니다.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16736"/>
            <a:ext cx="350306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444752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조건이 달라서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1755648"/>
            <a:ext cx="310073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삼성전자·SK하이닉스 6종은 기준 자산도, 가격 출렁임(60.9%)도, 기간(36개월)도 똑같은데 수익률만 갈립니다.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제38039회 연 31.3% · 평균적으로 잃는 크기 13.6%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제38043회 연 19.2% · 평균적으로 잃는 크기 12.6%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위험이 사실상 같은데 수익률이 12.1%p 차이 납니다. 끝날 기회를 3개월마다 보느냐 6개월마다 보느냐, 원금 지키는 선이 30%냐 20%냐가 갈랐습니다.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4314" y="1316736"/>
            <a:ext cx="350306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5482" y="1444752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값어치가 깎여서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45482" y="1755648"/>
            <a:ext cx="310073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제38046회는 연 25.0%인데 평균적으로 잃는 크기가 43.8%나 됩니다. 넣는 순간의 값어치가 제값보다 -31.7%나 깎여 있기 때문입니다.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수익률이 위험을 진 대가로 돌아오는 게 아니라 비용으로 새어나간 경우입니다.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깎인 4종만 빼도 수익률과 출렁임의 관계가 0.77 → 0.86로 올라갑니다. 이 법칙은 제값 받는 상품에서만 통합니다.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21701" y="1316736"/>
            <a:ext cx="350306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2869" y="1444752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돈의 종류가 달라서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22869" y="1755648"/>
            <a:ext cx="310073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제38041회(USD)는 연 40.0%에 평균적으로 잃는 크기가 14.2%로, 기준 자산이 똑같은 원화 제38040회(35.2% · 21.4%)보다 더 주면서 덜 위험해 보입니다.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 이자가 수익률에 섞여 들어간 것이고, 대신 이 손실 계산에 잡히지 않는 환율 위험이 따로 붙기 때문입니다.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상품의 손해 볼 가능성은 환율을 뺀 숫자입니다.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5661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크게 어긋난 제38044회 — 그 우위가 "두 자산이 0.94만큼 같이 움직인다"는 서류 값 하나에 얹혀 있는지 흔들어 봤습니다 (이 문서가 추천하는 상품)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858768"/>
          <a:ext cx="11057839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77213"/>
                <a:gridCol w="1477213"/>
                <a:gridCol w="1477213"/>
                <a:gridCol w="1477213"/>
                <a:gridCol w="1477213"/>
                <a:gridCol w="1477213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같이 움직이는 정도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서류값 0.94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손해 볼 가능성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8.9%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9.2%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10.0%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10.6%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11.1%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11.7%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평균적으로 잃는 크기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6.9%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7.1%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7.7%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8.1%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8.5%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8.9%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위험 한 단위당 수익률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3.48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2.95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2.82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2.69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66928" y="5138928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움직이는 정도를 0.50까지 억지로 낮춰도 손해 볼 가능성은 8.9% → 11.7% 오르는 데 그치고, 위험 대비 대가는 2.69로 여전히 이번 주 1등입니다. 두 자산의 출렁임 정도가 20.4%p나 벌어져 있어서, 같이 움직이든 말든 "더 나쁜 쪽"이 거의 항상 같은 자산이기 때문입니다. 출렁임이 비슷한 짝이었다면 이렇게 버티지 못합니다.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" y="5687568"/>
            <a:ext cx="11057839" cy="658368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" y="5687568"/>
            <a:ext cx="1065550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"연 40.0%짜리도 있는데 왜 24.0%짜리를 먼저 권하나요?"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"수익률이 높으면 위험도 큰 것, 맞습니다. 다만 같은 위험을 지고도 남들보다 많이 받는 상품이 따로 있습니다. 이번 주는 그 차이가 3.0배까지 벌어집니다."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2026.08.21 올라온 투자설명서 (접수번호 20260821000193)  ·  원금을 잃을 수 있는 상품입니다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1 — 원금을 지키는 게 먼저인 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제38044회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670048" y="1143000"/>
            <a:ext cx="859536" cy="274320"/>
          </a:xfrm>
          <a:prstGeom prst="rect">
            <a:avLst/>
          </a:prstGeom>
          <a:solidFill>
            <a:srgbClr val="E7F1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70048" y="114300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방어적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02736" y="1143000"/>
            <a:ext cx="859536" cy="274320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2736" y="114300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5361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KOSPI200 · SK하이닉스  ·  36개월  ·  3개월마다 확인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03920" y="1005840"/>
            <a:ext cx="312724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05088" y="11155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되면 연 수익률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05088" y="133502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8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24.0</a:t>
            </a:r>
            <a:pPr indent="0" marL="0">
              <a:buNone/>
            </a:pPr>
            <a:r>
              <a:rPr lang="en-US" sz="2000" b="1" dirty="0">
                <a:solidFill>
                  <a:srgbClr val="F58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66928" y="18836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 → 빠르면 3개월 뒤 10,600원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22677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2677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55648" y="22311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KOSPI200 · SK하이닉스 중 더 많이 떨어진 하나로 판정합니다. 하나만 나빠도 그쪽을 봅니다.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7249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7249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끝나나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55648" y="26883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3개월마다 확인해서 처음 가격의 75% 이상(-25%까지 떨어져도 괜찮다는 뜻)이면 그 자리에서 끝나고 1만원이 10,600원이 되어 돌아옵니다.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1821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1821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원금 지키기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55648" y="31455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끝날 때까지 종가가 단 한 번도 35%(처음 가격에서 -65%) 아래로 안 내려가면, 마지막에 얼마가 됐든 원금과 이자를 다 받습니다.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36393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393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 나는 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755648" y="36027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35% 아래를 한 번이라도 밟았고 마지막 날에도 65% 아래면, 떨어진 만큼 그대로 손실입니다.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회사가 20년 돌려본 손실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0.06%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5,088번 중 3번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6252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2556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 컴퓨터로 다시 돌린 손실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32556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8.9%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32556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17종 평균 23.1% · 낮은 쪽 2번째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05576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1880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1만원의 실제 값어치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1880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10,013원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1880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제값보다 +0.13%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024899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71203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출렁임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71203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60.9%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71203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둘이 같이 움직임 0.94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6928" y="5321808"/>
            <a:ext cx="11057839" cy="512064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5321808"/>
            <a:ext cx="106920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상품을 권하는 이유  </a:t>
            </a:r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컴퓨터로 돌려봤을 때 손해 볼 가능성이 가장 낮은 축에 들면서, 그중에서는 수익률이 제일 높습니다.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2026.08.21 올라온 투자설명서 (접수번호 20260821000193)  ·  원금을 잃을 수 있는 상품입니다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2 — 수익과 안정을 반반 보는 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제38039회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670048" y="1143000"/>
            <a:ext cx="859536" cy="274320"/>
          </a:xfrm>
          <a:prstGeom prst="rect">
            <a:avLst/>
          </a:prstGeom>
          <a:solidFill>
            <a:srgbClr val="FBF2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70048" y="114300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6A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02736" y="1143000"/>
            <a:ext cx="859536" cy="274320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2736" y="114300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종목만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5361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삼성전자 · SK하이닉스  ·  36개월  ·  3개월마다 확인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03920" y="1005840"/>
            <a:ext cx="312724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05088" y="11155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되면 연 수익률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05088" y="133502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8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31.3</a:t>
            </a:r>
            <a:pPr indent="0" marL="0">
              <a:buNone/>
            </a:pPr>
            <a:r>
              <a:rPr lang="en-US" sz="2000" b="1" dirty="0">
                <a:solidFill>
                  <a:srgbClr val="F58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66928" y="18836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 → 빠르면 3개월 뒤 10,783원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22677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2677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55648" y="22311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삼성전자 · SK하이닉스 중 더 많이 떨어진 하나로 판정합니다. 하나만 나빠도 그쪽을 봅니다.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7249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7249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끝나나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55648" y="26883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3개월마다 확인해서 처음 가격의 85% 이상(-15%까지 떨어져도 괜찮다는 뜻)이면 그 자리에서 끝나고 1만원이 10,783원이 되어 돌아옵니다.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1821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1821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원금 지키기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55648" y="31455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끝날 때까지 종가가 단 한 번도 30%(처음 가격에서 -70%) 아래로 안 내려가면, 마지막에 얼마가 됐든 원금과 이자를 다 받습니다.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36393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393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 나는 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755648" y="36027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30% 아래를 한 번이라도 밟았고 마지막 날에도 70% 아래면, 떨어진 만큼 그대로 손실입니다.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회사가 20년 돌려본 손실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0.47%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5,085번 중 24번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6252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2556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 컴퓨터로 다시 돌린 손실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32556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17.8%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32556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17종 평균 23.1% · 낮은 쪽 9번째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05576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1880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1만원의 실제 값어치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1880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9,899원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1880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제값보다 -1.01%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024899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71203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출렁임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71203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60.9%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71203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둘이 같이 움직임 0.87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6928" y="5321808"/>
            <a:ext cx="11057839" cy="512064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5321808"/>
            <a:ext cx="106920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상품을 권하는 이유  </a:t>
            </a:r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 볼 가능성이 한 단계 올라가는 대신, 받는 수익률이 그보다 훨씬 크게 붙는 자리입니다.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2026.08.21 올라온 투자설명서 (접수번호 20260821000193)  ·  원금을 잃을 수 있는 상품입니다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3 — 수익률을 먼저 보는 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제38041회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670048" y="1143000"/>
            <a:ext cx="859536" cy="274320"/>
          </a:xfrm>
          <a:prstGeom prst="rect">
            <a:avLst/>
          </a:prstGeom>
          <a:solidFill>
            <a:srgbClr val="FBF2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70048" y="114300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6A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02736" y="1143000"/>
            <a:ext cx="859536" cy="274320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2736" y="114300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종목만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35424" y="1143000"/>
            <a:ext cx="859536" cy="274320"/>
          </a:xfrm>
          <a:prstGeom prst="rect">
            <a:avLst/>
          </a:prstGeom>
          <a:solidFill>
            <a:srgbClr val="CB60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14300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15361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삼성전자 · SK하이닉스  ·  36개월  ·  3개월마다 확인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1005840"/>
            <a:ext cx="312724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05088" y="11155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되면 연 수익률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05088" y="133502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8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40.0</a:t>
            </a:r>
            <a:pPr indent="0" marL="0">
              <a:buNone/>
            </a:pPr>
            <a:r>
              <a:rPr lang="en-US" sz="2000" b="1" dirty="0">
                <a:solidFill>
                  <a:srgbClr val="F58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66928" y="18836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 달러 → 빠르면 3개월 뒤 11,000달러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22677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677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보나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755648" y="22311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삼성전자 · SK하이닉스 중 더 많이 떨어진 하나로 판정합니다. 하나만 나빠도 그쪽을 봅니다.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27249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7249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끝나나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55648" y="26883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3개월마다 확인해서 처음 가격의 85% 이상(-15%까지 떨어져도 괜찮다는 뜻)이면 그 자리에서 끝나고 1만 달러가 11,000달러가 되어 돌아옵니다.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31821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1821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원금 지키기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55648" y="31455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끝날 때까지 종가가 단 한 번도 35%(처음 가격에서 -65%) 아래로 안 내려가면, 마지막에 얼마가 됐든 원금과 이자를 다 받습니다.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36393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6393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 나는 때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55648" y="36027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35% 아래를 한 번이라도 밟았고 마지막 날에도 70% 아래면, 떨어진 만큼 그대로 손실입니다.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회사가 20년 돌려본 손실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0.47%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3232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5,085번 중 24번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86252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32556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 컴퓨터로 다시 돌린 손실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32556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18.9%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532556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17종 평균 23.1% · 낮은 쪽 10번째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05576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1880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 달러의 실제 값어치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1880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9,965달러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51880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제값보다 -0.35%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024899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71203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출렁임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171203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60.9%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71203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둘이 같이 움직임 0.87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6928" y="5321808"/>
            <a:ext cx="11057839" cy="512064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" y="5321808"/>
            <a:ext cx="106920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상품을 권하는 이유  </a:t>
            </a:r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주에서 가장 높은 수익률입니다. 넣는 순간의 값어치가 크게 깎이지 않은 상품 중에서 골랐습니다. USD로 넣고 USD로 돌려받는 상품이라, 위 수익률에 환율이 오르내린 만큼이 그대로 더해지거나 빠집니다.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2026.08.21 올라온 투자설명서 (접수번호 20260821000193)  ·  원금을 잃을 수 있는 상품입니다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17종 전부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컴퓨터로 다시 돌린 손해 볼 가능성(B)이 낮은 순서. A 옆 괄호는 그 상품을 몇 년치 과거로 돌려봤는지 — 10년에 못 미치면(빨강) 다른 상품과 나란히 비교할 수 없습니다. "만기만" = 중간 하락을 안 따지고 마지막 날 하루만 봅니다.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16736"/>
          <a:ext cx="11057839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606040"/>
                <a:gridCol w="530352"/>
                <a:gridCol w="841248"/>
                <a:gridCol w="914400"/>
                <a:gridCol w="1024128"/>
                <a:gridCol w="822960"/>
                <a:gridCol w="1005840"/>
                <a:gridCol w="566928"/>
                <a:gridCol w="1170432"/>
                <a:gridCol w="841248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 자산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수익률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끝나는 조건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원금 지키는 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가격 출렁임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B. 손해 가능성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A. 서류 손실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값어치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제38032회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KOSPI200 (USD)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75%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방어적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9,909달러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제38044회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KOSPI200 · SK하이닉스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섞임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3개월 / 75%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방어적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0.06%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10,013원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제38031회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KOSPI200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11.3%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방어적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9,843원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제38033회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EuroStoxx50 · KOSPI200 · Nikkei225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방어적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9,890원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제38043회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삼성전자 · SK하이닉스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종목만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75%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0.49%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9,983원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제38037회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삼성전자 · SK하이닉스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종목만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3개월 / 85%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0.47%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9,981원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제38035회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S&amp;P500 · KOSPI200 · Nikkei225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60% (만기만)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0.21%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9,780원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제38036회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KOSPI200 · 삼성전자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섞임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51.7%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9,886원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제38039회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삼성전자 · SK하이닉스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종목만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31.3%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3개월 / 85%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0.47%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9,899원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제38041회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삼성전자 · SK하이닉스 (USD)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종목만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3개월 / 85%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0.47%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9,965달러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제38034회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EuroStoxx50 · S&amp;P500 · KOSPI200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9,743원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제38038회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삼성전자 · SK하이닉스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종목만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75%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21.8%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0.49%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9,936원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제38042회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KOSPI200 · HSCEI · Nikkei225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24.8%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4.21%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9,445원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제38040회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삼성전자 · SK하이닉스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종목만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28.8%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공격적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1.36%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9,930원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제38047회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KOSPI200 · 마이크론 테크놀로지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섞임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98.1%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공격적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1.21%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7,795원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제38046회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마이크론 테크놀로지 · 팔란티어 테크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종목만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75%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98.1%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공격적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2.07%  (2.9년)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6,834원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제38045회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어플라이드 머티어리얼즈 · 마이크론 테크놀로지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종목만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98.1%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58.3%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공격적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3.40%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7,768원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4132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등급은 B(컴퓨터로 다시 돌린 손실 확률) 하나만 보고 나눈 것입니다 — 15% 이하면 방어적, 15~25%면 중간, 25%를 넘으면 공격적. 수익률이나 기준 자산 종류는 등급에 넣지 않았습니다. 전부 원금을 잃을 수 있는 가장 높은 위험 등급이므로, "안전하다"는 뜻이 아니라 서로 견줘 본 순서일 뿐입니다.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2026.08.21 올라온 투자설명서 (접수번호 20260821000193)  ·  원금을 잃을 수 있는 상품입니다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주에는 권하지 않는 상품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수익률만 보면 눈에 띄지만, 그 대가를 손해 볼 가능성이나 값어치에서 치르고 있습니다. 가능성이 큰 순서입니다.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16736"/>
            <a:ext cx="258615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17904"/>
            <a:ext cx="222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제38045회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1847088"/>
            <a:ext cx="2220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어플라이드 머티어리얼즈 · 마이크론 테크놀로지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359152"/>
            <a:ext cx="222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30.2%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손해 58.3%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706624"/>
            <a:ext cx="22203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컴퓨터로 똑같이 돌리면 100번 중 58번이 손실 (이번 주 평균 23번)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1만원을 넣는 순간의 실제 값어치가 7,768원밖에 안 됨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출렁임 98% — 이번 주에서 가장 심한 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90824" y="1316736"/>
            <a:ext cx="258615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3704" y="1517904"/>
            <a:ext cx="222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제38046회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73704" y="1847088"/>
            <a:ext cx="2220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마이크론 테크놀로지 · 팔란티어 테크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73704" y="2359152"/>
            <a:ext cx="222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25.0%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손해 50.4%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73704" y="2706624"/>
            <a:ext cx="22203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컴퓨터로 똑같이 돌리면 100번 중 50번이 손실 (이번 주 평균 23번)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1만원을 넣는 순간의 실제 값어치가 6,834원밖에 안 됨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회사가 과거로 돌려본 기간이 2.9년(721번)뿐 — 큰 폭락장이 아예 빠져 있어 손실 2.07%를 20년 돌려본 상품과 견줄 수 없음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4720" y="1316736"/>
            <a:ext cx="258615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7600" y="1517904"/>
            <a:ext cx="222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제38047회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97600" y="1847088"/>
            <a:ext cx="2220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KOSPI200 · 마이크론 테크놀로지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97600" y="2359152"/>
            <a:ext cx="222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29.0%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손해 43.4%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97600" y="2706624"/>
            <a:ext cx="22203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컴퓨터로 똑같이 돌리면 100번 중 43번이 손실 (이번 주 평균 23번)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1만원을 넣는 순간의 실제 값어치가 7,795원밖에 안 됨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출렁임 98% — 이번 주에서 가장 심한 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38615" y="1316736"/>
            <a:ext cx="258615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21495" y="1517904"/>
            <a:ext cx="222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제38040회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221495" y="1847088"/>
            <a:ext cx="2220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삼성전자 · SK하이닉스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21495" y="2359152"/>
            <a:ext cx="222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35.2%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손해 28.8%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21495" y="2706624"/>
            <a:ext cx="22203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컴퓨터로 똑같이 돌리면 100번 중 29번이 손실 (이번 주 평균 23번)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자산이 똑같은 제38041회가 수익률은 더 높고(연 40.0%) 손해 볼 가능성은 더 낮습니다(18.9%) — 6개월마다 보는 이 상품과 달리 3개월마다 끝날 기회가 옵니다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754880"/>
            <a:ext cx="11057839" cy="804672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4754880"/>
            <a:ext cx="1065550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거르는 기준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컴퓨터로 돌린 손해 볼 가능성이 25%를 넘거나  ② 1만원을 넣는 순간의 값어치가 제값보다 10% 넘게 깎였거나  ③ 회사가 과거로 돌려본 기간이 10년에 못 미쳐 다른 상품과 비교할 수 없는 경우. 셋 중 하나라도 걸리면 이 자리로 내립니다. 수익률이 높아 먼저 눈에 띄는 상품들이라, 상담 전에 걸러두는 편이 낫습니다.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2026.08.21 올라온 투자설명서 (접수번호 20260821000193)  ·  원금을 잃을 수 있는 상품입니다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전에 꼭 짚어드릴 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상담에서 이 여섯 가지를 빠뜨리면 나중에 문제가 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16736"/>
            <a:ext cx="3527450" cy="1481328"/>
          </a:xfrm>
          <a:prstGeom prst="rect">
            <a:avLst/>
          </a:prstGeom>
          <a:solidFill>
            <a:srgbClr val="FDF6F6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44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444752"/>
            <a:ext cx="2795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 마감은 8월 25일(화)입니다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011680"/>
            <a:ext cx="31616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홈페이지에는 2026.08.24~2026.08.28로 나오지만 개인 일반투자자는 8월 25일(화)까지만 청약할 수 있습니다. 이후는 숙려·가입의사확인 기간이라 주문을 받을 수 없습니다.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2122" y="1316736"/>
            <a:ext cx="3527450" cy="148132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5002" y="1444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80762" y="1444752"/>
            <a:ext cx="2795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1만원을 넣어도 1만원어치가 아닙니다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15002" y="2011680"/>
            <a:ext cx="31616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넣는 순간의 실제 값어치가 10,013원부터 6,834원까지 벌어집니다. 차액은 회사 몫과 비용이고, 이마저도 앞으로 들 비용을 이미 뺀 값입니다.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97317" y="1316736"/>
            <a:ext cx="3527450" cy="148132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0197" y="1444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45957" y="1444752"/>
            <a:ext cx="2795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빼면 손해입니다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80197" y="2011680"/>
            <a:ext cx="31616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만기 전에 빼시면 원금이 아니라 그날 계산한 값어치의 95%(가입 6개월 안이면 90%)만 받습니다. 36개월 동안 안 쓸 돈으로만 하셔야 합니다.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017520"/>
            <a:ext cx="3527450" cy="148132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1455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3145536"/>
            <a:ext cx="2795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판정은 그날 종가로만 합니다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49808" y="3712464"/>
            <a:ext cx="31616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장중에 잠깐 뚫고 내려가도 종가가 선 위면 아무 일 없고, 종가가 딱 한 번이라도 아래면 그걸로 기록이 남습니다.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32122" y="3017520"/>
            <a:ext cx="3527450" cy="148132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15002" y="31455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80762" y="3145536"/>
            <a:ext cx="2795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서류의 손실 숫자를 그대로 옮기지 마십시오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15002" y="3712464"/>
            <a:ext cx="31616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서류의 손실 숫자는 "지난 20년이 되풀이된다면"의 답입니다. 추천 1번 제38044회도 서류로는 0.06%지만 똑같은 조건으로 다시 돌리면 8.9%입니다.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97317" y="3017520"/>
            <a:ext cx="3527450" cy="148132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0197" y="31455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45957" y="3145536"/>
            <a:ext cx="2795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내용은 녹음됩니다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80197" y="3712464"/>
            <a:ext cx="31616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일반투자자는 녹음 파일을 달라고 하실 수 있고, 위험을 한 장으로 정리한 설명서도 받습니다. "최대 얼마까지 잃을 수 있는지"는 숙려기간에 따로 알려드립니다. 설명을 건너뛰면 그것도 그대로 기록에 남습니다.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2026.08.21 올라온 투자설명서 (접수번호 20260821000193)  ·  원금을 잃을 수 있는 상품입니다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상담할 때 이 순서로 말씀하시면 됩니다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1번 제38044회 기준입니다. 다른 상품이면 회차·기간·원금 지키는 선 숫자만 바꾸십시오.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347472" cy="34747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8992" y="1316736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"먼저 일정부터 말씀드리면, 청약은 8월 25일(화)까지 넣으셔야 합니다. 그 뒤 이틀은 법으로 정해진 숙려기간이라 주문을 받을 수 없습니다."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1883664"/>
            <a:ext cx="347472" cy="34747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18288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상품은 최장 36개월짜리인데, 3개월마다 끝날 기회가 옵니다. 지금까지는 대부분 첫 번째에 끝났습니다."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395728"/>
            <a:ext cx="347472" cy="34747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2340864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"KOSPI200 · SK하이닉스 중 더 많이 떨어진 하나로 판정합니다."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2907792"/>
            <a:ext cx="347472" cy="34747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" y="2852928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"올라야 버는 게 아니라, 많이 안 떨어지면 버는 구조입니다. 제자리여도 약속한 이자를 다 받습니다."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3419856"/>
            <a:ext cx="347472" cy="34747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8992" y="336499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"대신 35% 아래로 크게 떨어지면 떨어진 만큼 그대로 손실입니다. 원금은 보장되지 않습니다."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931920"/>
            <a:ext cx="347472" cy="34747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" y="3877056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"지난 20년으로 돌려보면 손실은 0.06%였는데 그 기간이 좋았던 덕도 있습니다. 넉넉하게 잡으면 9% 정도로 봅니다."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4443984"/>
            <a:ext cx="347472" cy="34747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443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78992" y="43891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"36개월 동안 안 쓸 돈인지부터 확인해 주세요. 중간에 빼시면 그날 계산한 값어치의 95%만 받습니다."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956048"/>
            <a:ext cx="347472" cy="34747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4901184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"청약을 넣으셔도 바로 확정되는 게 아닙니다. 이틀 숙려기간을 거친 뒤 저희가 다시 연락드려 최종 의사를 확인합니다. 그때 확인이 안 되면 청약금은 2026.08.31에 돌려드립니다."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5541264"/>
            <a:ext cx="11057839" cy="694944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5541264"/>
            <a:ext cx="1065550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"개별 종목이 들어간 건 더 위험하지 않나요?"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"맞습니다. 이번 주도 종목만 담은 상품의 손해 볼 가능성이 지수만 담은 것의 1.8배입니다. 다만 제38044회는 두 자산이 거의 같이 움직이고(0.94, 1이면 완전히 같이 움직임) 원금 지키는 선도 35%로 훨씬 아래에 있어서, 같은 잣대로 재면 지수 상품 대부분보다 오히려 낮게 나옵니다."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2026.08.21 올라온 투자설명서 (접수번호 20260821000193)  ·  원금을 잃을 수 있는 상품입니다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풀이 — 서류에 나오는 말과 맞춰 보기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자료는 어려운 말을 일부러 풀어서 썼습니다. 홈페이지와 투자설명서에는 원래 용어로 적혀 있으니, 고객이 서류를 펴 놓고 물으시면 두 말을 이어드리십시오.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16736"/>
          <a:ext cx="5391760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1316736"/>
                <a:gridCol w="259369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자료에서 쓴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서류 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무슨 뜻인가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 자산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기초자산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상품의 성패를 정하는 주식·지수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처음 가격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최초기준가격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시작하는 날의 종가. 모든 %의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미리 끝나는 기준선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조기상환 배리어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위에 있으면 이자까지 얹어 그 자리에서 끝남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뒤로 갈수록 기준이 낮아짐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스텝다운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시간이 갈수록 끝나기 쉬워지는 구조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원금 지키는 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낙인(KI) 배리어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번도 이 밑으로 안 가면 원금·이자를 다 받음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 떨어진 하나로 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워스트 퍼포머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 오른 쪽은 안 보고 제일 못한 하나만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가격 출렁임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(내재)변동성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앞으로 1년간 얼마나 흔들릴지 시장이 보는 정도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316736"/>
          <a:ext cx="5391760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1316736"/>
                <a:gridCol w="259369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자료에서 쓴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서류 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무슨 뜻인가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같이 움직이는 정도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상관계수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1이면 완전히 같이, 0에 가까우면 따로 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값어치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공정가액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1만원 넣는 순간 이 상품이 실제로 갖는 값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평균적으로 잃는 크기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기대손실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손해 볼 가능성 × 손해 날 때 잃는 정도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숙려기간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서류와 같은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다시 생각해 보시라고 법이 비워 둔 2영업일 이상. 이때는 청약 못 넣음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가입의사 확인기간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서류와 같은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정말 하실 건지 회사가 연락해 확인. 안 닿으면 청약 취소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중간에 빼기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중도상환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원금이 아니라 그날 값어치의 95%(6개월 내 90%)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C6C6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위험등급 1등급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제일 좋다가 아니라 가장 위험하다는 뜻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2026.08.21 올라온 투자설명서 (접수번호 20260821000193)  ·  원금을 잃을 수 있는 상품입니다</a:t>
            </a:r>
            <a:endParaRPr lang="en-US" sz="850" dirty="0"/>
          </a:p>
        </p:txBody>
      </p:sp>
      <p:sp>
        <p:nvSpPr>
          <p:cNvPr id="9" name="Text 4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제38031~38047회 ELS 제안서</dc:title>
  <dc:subject>PptxGenJS Presentation</dc:subject>
  <dc:creator>미래에셋증권</dc:creator>
  <cp:lastModifiedBy>미래에셋증권</cp:lastModifiedBy>
  <cp:revision>1</cp:revision>
  <dcterms:created xsi:type="dcterms:W3CDTF">2026-08-24T01:13:16Z</dcterms:created>
  <dcterms:modified xsi:type="dcterms:W3CDTF">2026-08-24T01:13:16Z</dcterms:modified>
</cp:coreProperties>
</file>