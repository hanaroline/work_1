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맑은 고딕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맑은 고딕"/>
              </a:rPr>
              <a:t>자산군별 손실 확률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손실 확률(평균)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B601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지수형 (6종)</c:v>
                  </c:pt>
                  <c:pt idx="1">
                    <c:v>혼합형 (3종)</c:v>
                  </c:pt>
                  <c:pt idx="2">
                    <c:v>종목형 (8종)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15.8</c:v>
                </c:pt>
                <c:pt idx="1">
                  <c:v>23.3</c:v>
                </c:pt>
                <c:pt idx="2">
                  <c:v>28.4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D3D3D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1270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4888B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회차 17종. 청약 2026.08.24~2026.08.28. 전부 원금비보장 1등급입니다.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마감일을 잘못 안내하면 고객이 청약 기회를 놓칩니다. 홈페이지의 2026.08.28이 아니라 8월 25일(화)이 개인 일반투자자의 마감입니다.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등급은 안전 등급이 아니라 이번 회차 안에서의 상대 순서라는 점을 먼저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공시의 손실 확률을 그대로 "이 상품의 손실 확률"이라고 말하면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"종목형은 위험하지 않나요"라고 물으면 이 장을 펴십시오. 일반론은 맞고, 개별로는 확인이 필요하다는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"종목이 들어갔는데 괜찮나요?" → SK하이닉스가 들어간 혼합형이 맞고, 적용 변동성 60.9%로 지수 평균(40.5%)보다 높은 것도 맞습니다. 다만 같은 조건 손실 확률은 8.9%로 지수형 평균(15.8%)보다 낮고 순수 지수형 6종 중 5종보다도 낮습니다. 상관계수 0.94로 거의 같이 움직여 워스트오브 불이익이 거의 없고, 낙인이 35%로 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"종목이 들어갔는데 괜찮나요?" → 삼성전자·SK하이닉스가 들어간 종목형이 맞고, 적용 변동성 60.9%로 지수 평균(40.5%)보다 높은 것도 맞습니다. 손실 확률도 17.8%로 지수형 평균(15.8%)보다 높습니다. 이 자리에 올린 이유는 안전해서가 아니라 대가가 크기 때문입니다 — 손실 확률 1%당 연 1.76%로, 지수형 평균 0.95%의 1.8배입니다. 원금 보전이 최우선인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"종목이 들어갔는데 괜찮나요?" → 삼성전자·SK하이닉스가 들어간 종목형이 맞고, 적용 변동성 60.9%로 지수 평균(40.5%)보다 높은 것도 맞습니다. 손실 확률도 18.9%로 지수형 평균(15.8%)보다 높습니다. 이 자리에 올린 이유는 안전해서가 아니라 대가가 크기 때문입니다 — 손실 확률 1%당 연 2.11%로, 지수형 평균 0.95%의 2.2배입니다. 원금 보전이 최우선인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1번은 이번 주에만 해당하는 이야기가 아니라 매 회차 반복됩니다. 마감일을 잘못 안내하면 고객이 청약 기회를 놓칩니다.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WEEKLY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7373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제38031~38047회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 제안서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66928" y="356616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투자설명서(일괄신고추가서류) 2026.08.21 공시 원문 기준 · 전 17종 분석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55280" y="1737360"/>
            <a:ext cx="3657600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9202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0" y="21396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2026.08.25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0" y="26883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 (숙려 대상 아닌 경우)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0" y="29077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2026.08.28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0" y="345643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6758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2026.08.31 / 2029.08.31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4133088"/>
            <a:ext cx="69494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242816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추천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제38044회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24.0%  ·  손실 8.9%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방어를 먼저 보는 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9864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제38039회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31.3%  ·  손실 17.8%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함께 보는 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3036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40.0%  ·  손실 18.9%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우선하는 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53949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확인 2026.08.23(일) 14:33 — 현재 청약 진행중 0건. 이 회차는 2026.08.24부터 열립니다.  개인 일반투자자 청약 마감은 8월 25일(화)입니다.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57241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상품위험등급 1등급(매우높은위험) · 투자 권유 참고자료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청약해야 하나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홈페이지와 공시 표지의 청약기간은 2026.08.24~2026.08.28입니다. 그런데 개인 일반투자자는 그 뒤쪽 절반을 쓸 수 없습니다 — 숙려기간과 가입의사확인기간에는 청약 자체가 불가능합니다.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57839" cy="713232"/>
          </a:xfrm>
          <a:prstGeom prst="rect">
            <a:avLst/>
          </a:prstGeom>
          <a:solidFill>
            <a:srgbClr val="F4F8F5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31673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81328" y="131673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접수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090672" y="131673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2026.08.25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49824" y="1316736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 24일(월)~8월 25일(화) · 2일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이때만 주문 가능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112264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12264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481328" y="211226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90672" y="211226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2026.08.26 ~ 2026.08.27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49824" y="2112264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2영업일 이상 · 최대 원금손실 가능금액을 고지받습니다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29077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81328" y="290779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090672" y="290779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2026.08.28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9824" y="2907792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08월 28일 오후 5시까지 · 확인을 못 받으면 청약금은 환불됩니다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703320"/>
            <a:ext cx="110578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7033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481328" y="37033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090672" y="37033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2026.08.31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49824" y="3703320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 · 배정 · 환불 · 최초기준가격 평가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4608576"/>
            <a:ext cx="11057839" cy="67665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" y="4608576"/>
            <a:ext cx="106555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말씀하십시오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"청약은 8월 25일(화)까지 넣으셔야 합니다. 그 뒤 이틀은 법으로 정해진 숙려기간이라 주문을 받을 수 없고, 숙려기간이 끝나면 저희가 다시 연락드려 최종 의사를 확인합니다. 그때 확인이 안 되면 청약이 집행되지 않습니다."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3766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전문투자자·법인 등 숙려제도 대상이 아닌 경우에만 2026.08.28까지 청약할 수 있습니다. 만 65세 이상 고령투자자는 별도 확인 절차가 더해질 수 있습니다.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한눈에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조건과 가격은 투자설명서 원문 그대로이고, 손실 확률은 두 가지 방법으로 각각 쟀습니다.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지수형 6 · 혼합 3 · 종목형 8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9996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113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6456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11.5~40.0%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0113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제38041회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3300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36개월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43417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2029.08.31 만기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66047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67215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 분포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0639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9 / 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267215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 / 중간 / 공격적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3017520"/>
            <a:ext cx="110578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원금비보장 1등급(매우높은위험) 상품입니다. 아래 등급은 안전하다는 뜻이 아니라 17종끼리 견준 순서입니다.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1만원이라도 출발 가치가 다릅니다. 가장 좋은 제38044회는 10,013원, 가장 나쁜 제38046회는 6,834원입니다. 홈페이지 상품 목록에는 나오지 않는 차이입니다.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확률은 이번 회차 평균 23.1%입니다. 가장 낮은 제38032회 8.6%부터 가장 높은 제38045회 58.3%까지 벌어집니다.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기초자산에 종목이 섞이면 평균 손실 확률이 지수형의 1.8배입니다. 다만 개별로는 뒤집히는 경우가 있어, 자산군이 아니라 상품별 손실 확률로 등급을 매겼습니다.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확률을 어떻게 쟀나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둘은 다른 질문에 답하며, 답이 크게 다릅니다. 어느 하나만 보면 상담에서 틀린 말을 하게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모의실험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20년이 그대로 되풀이된다면?"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89888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2003.01.02~2023.08.11 매 영업일에 같은 상품을 새로 샀다고 가정 (제38031회 5,100회)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있었던 가격 경로. 2008년 금융위기도 들어 있습니다.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89888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20년은 대체로 상승장이었고, 상품마다 표본 구간이 다릅니다. 표본 수가 다른 두 상품을 나란히 놓고 비교하면 안 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51296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89040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모의실험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계산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9040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"발행사가 가격 매길 때 쓴 변동성이 실제로 나타난다면?"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89040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74256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전부를 같은 경로 수(40,000회)·같은 기간·같은 판정 규칙으로. 변동성·상관계수는 투자설명서 값 그대로.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89040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4256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표본 구간 차이가 사라져 전 상품을 정직하게 줄 세울 수 있습니다.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89040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74256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기대수익률 0으로 두었고, 발행사가 쓴 내재변동성은 보통 실제보다 높습니다. 보수적인 상한으로 읽어야 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828032"/>
            <a:ext cx="11057839" cy="56692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828032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절대 수준은 A와 B 사이 어딘가입니다. 상품끼리 견줄 때는 B를, "그래서 얼마나 위험한가"를 가늠할 때는 A와 B를 함께 보십시오. 기대수익률을 0%에서 연 6%로 바꿔도 순위는 거의 그대로였습니다.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종목이 섞이면 더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일반적으로 종목형 ELS가 지수형보다 위험하다고 봅니다. 이번 회차에서 그 말이 맞는지 B로 확인했습니다.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88736" y="1316736"/>
          <a:ext cx="5736031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41248"/>
                <a:gridCol w="1207008"/>
                <a:gridCol w="1097280"/>
                <a:gridCol w="10332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13.9%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23.3%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88736" y="3017520"/>
            <a:ext cx="573603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평균으로는 맞습니다. 종목형 손실 확률이 지수형의 1.8배, 적용 변동성은 41% 대 70%로 갈립니다.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상품으로는 뒤집힙니다. 순수 지수형 제38042회가 24.8%로 종목형 대부분보다 위험하고, 제38044회는 8.9%로 17종 중 2번째로 낮습니다.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가른 것은 자산군이 아니라 낙인 깊이와 상관계수였습니다. 제38042회는 낙인 45%(이번 회차 최저 쿠션)에 상관 0.19, 제38044회는 낙인 35%에 상관 0.94입니다.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5029200"/>
            <a:ext cx="5029200" cy="786384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02920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상관계수가 낮으면 "가장 많이 떨어진 하나"로 판정하는 구조에서 크게 불리해집니다. 자산군보다 이쪽이 결정적입니다.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 — 원금 방어를 먼저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제38044회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 ·  36개월  ·  3개월마다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3개월 뒤 10,600원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499616" y="22311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중 더 많이 떨어진 하나로 판정합니다.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499616" y="26883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75% 이상(-25% 이내)이면 그 자리에서 끝나고 1만원이 10,600원이 됩니다.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499616" y="31455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한 번도 35%(-65%) 아래로 종가가 내려간 적이 없으면, 마지막에 얼마든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499616" y="36027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밟은 적이 있고 만기에도 65% 미만이면,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모의실험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0.06%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5,088회 중 3회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모의실험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8.9%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2번째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출발 가치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10,013원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공정가액 대비 +0.13%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 / 상관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기초자산끼리 0.94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돌렸을 때 손실 확률이 가장 낮은 축에 들면서, 그 안에서는 수익률이 가장 높습니다.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2 — 수익과 안정을 함께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제38039회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3개월마다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31.3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3개월 뒤 10,783원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499616" y="22311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499616" y="26883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85% 이상(-15% 이내)이면 그 자리에서 끝나고 1만원이 10,783원이 됩니다.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499616" y="31455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한 번도 30%(-70%) 아래로 종가가 내려간 적이 없으면, 마지막에 얼마든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499616" y="36027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30% 아래를 밟은 적이 있고 만기에도 70% 미만이면,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모의실험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0.47%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5,085회 중 24회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모의실험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17.8%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9번째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출발 가치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9,899원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공정가액 대비 -1.01%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 / 상관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기초자산끼리 0.87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확률이 한 단계 올라가는 대신 수익률이 크게 붙는 구간입니다.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 — 수익률을 우선하는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35424" y="1143000"/>
            <a:ext cx="859536" cy="274320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5424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3개월마다 확인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 달러 → 3개월 뒤 11,000달러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22677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2677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499616" y="22311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27249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27249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99616" y="26883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85% 이상(-15% 이내)이면 그 자리에서 끝나고 1만 달러가 11,000달러가 됩니다.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1821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499616" y="31455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한 번도 35%(-65%) 아래로 종가가 내려간 적이 없으면, 마지막에 얼마든 원금과 이자를 다 받습니다.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3639312"/>
            <a:ext cx="786384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6393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499616" y="3602736"/>
            <a:ext cx="101251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밟은 적이 있고 만기에도 70% 미만이면, 떨어진 만큼 그대로 손실입니다.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모의실험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0.47%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5,085회 중 24회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모의실험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18.9%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10번째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 달러의 출발 가치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9,965달러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공정가액 대비 -0.35%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 / 상관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기초자산끼리 0.87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가장 높은 수익률입니다. 출발 가치가 크게 깎이지 않은 상품 중에서 골랐습니다. USD로 투자하고 USD로 돌려받는 상품이라, 위 수익률에 환율 변동이 그대로 더해지거나 빠집니다.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전체 17종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확률(B)이 낮은 순서. A 옆 괄호는 그 상품의 표본 구간 길이 — 10년에 못 미치면(빨강) 다른 상품과 나란히 비교할 수 없습니다. "만기만" = 낙인이 없어 만기 그날만 봅니다.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2606040"/>
                <a:gridCol w="530352"/>
                <a:gridCol w="841248"/>
                <a:gridCol w="1024128"/>
                <a:gridCol w="1115568"/>
                <a:gridCol w="914400"/>
                <a:gridCol w="1005840"/>
                <a:gridCol w="1280160"/>
                <a:gridCol w="932688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공시 손실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(USD)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9,909달러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0.06%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10,013원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9,890원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9,983원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9,981원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60% (만기만)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9,780원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삼성전자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9,886원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9,899원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 (USD)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9,965달러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9,445원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1.36%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9,930원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7,795원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2.07%  (2.9년)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6,834원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어플라이드 머티어리얼즈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7,768원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권하지 않는 상품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수익률만 보면 눈에 띄지만, 손실 확률이나 가격에서 대가를 치르고 있습니다. 손실 확률이 높은 순서입니다.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제38045회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어플라이드 머티어리얼즈 · 마이크론 테크놀로지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30.2%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손실 58.3%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돌리면 100번 중 58번이 손실 (회차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가치가 7,768원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 98% — 이번 회차 최고 축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0824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3704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제38046회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73704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73704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25.0%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손실 50.4%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73704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돌리면 100번 중 50번이 손실 (회차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가치가 6,834원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 모의실험 표본이 2.9년(721회)뿐 — 큰 하락장이 표본에 없어 손실 2.07%를 20년짜리와 견줄 수 없음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4720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97600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제38047회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97600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마이크론 테크놀로지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97600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29.0%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손실 43.4%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97600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돌리면 100번 중 43번이 손실 (회차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가치가 7,795원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 98% — 이번 회차 최고 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38615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21495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제38040회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221495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21495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35.2%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손실 28.8%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221495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돌리면 100번 중 29번이 손실 (회차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기초자산인 제38041회가 수익률은 더 높고(연 40.0%) 손실 확률은 더 낮습니다(18.9%) — 6개월마다 보는 이 상품과 달리 3개월마다 상환 기회가 옵니다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754880"/>
            <a:ext cx="11057839" cy="804672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754880"/>
            <a:ext cx="1065550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거르는 기준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같은 조건 손실 확률이 25%를 넘거나  ② 1만원 기준 출발 가치가 공정가액보다 10% 넘게 깎였거나  ③ 발행사 모의실험 표본이 10년에 못 미쳐 다른 상품과 비교할 수 없는 경우. 셋 중 하나라도 걸리면 이 자리로 내립니다. 수익률이 높아 먼저 눈에 띄는 상품들이라, 상담 전에 걸러두는 편이 낫습니다.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전 꼭 짚어드릴 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 여섯 가지를 빠뜨리면 나중에 문제가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27450" cy="1481328"/>
          </a:xfrm>
          <a:prstGeom prst="rect">
            <a:avLst/>
          </a:prstGeom>
          <a:solidFill>
            <a:srgbClr val="FDF6F6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마감은 8월 25일(화)입니다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홈페이지에는 2026.08.24~2026.08.28로 나오지만 개인 일반투자자는 8월 25일(화)까지만 청약할 수 있습니다. 이후는 숙려·가입의사확인 기간이라 주문을 받을 수 없습니다.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32122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5002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80762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1만원이 1만원이 아닙니다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15002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공정가액이 10,013원부터 6,834원까지 벌어집니다(각 액면 1만 단위). 게다가 만기까지의 헤지비용은 빠진 값입니다.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97317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97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45957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중간에 깨면 손해입니다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80197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중도상환은 그 시점 공정가액의 95%(가입 6개월 안이면 90%). 3년을 묻어둘 수 있는 돈으로만 하셔야 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15568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종가로 합니다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장중에 잠깐 뚫어도 종가가 위면 괜찮고, 종가가 한 번이라도 아래면 그걸로 기록이 남습니다.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32122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15002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80762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숫자를 그대로 옮기지 마십시오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5002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공시의 손실 확률은 "지난 20년이 되풀이된다면"의 답입니다. 추천 1번 제38044회도 공시로는 0.06%지만 같은 조건으로 다시 돌리면 8.9%입니다.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7317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0197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45957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과정은 녹취됩니다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80197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일반투자자는 녹취 자료를 요청할 수 있고, 투자 위험을 요약한 설명서를 받습니다. 최대 원금손실 가능금액은 숙려기간 중에 따로 고지됩니다. 설명을 건너뛰면 그대로 기록에 남습니다.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시 이 순서로 말씀하시면 됩니다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1번 제38044회 기준입니다. 다른 상품이면 회차·기간·낙인 숫자만 바꾸십시오.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78992" y="131673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"먼저 일정부터 말씀드리면, 청약은 8월 25일(화)까지 넣으셔야 합니다. 그 뒤 이틀은 법으로 정해진 숙려기간이라 주문을 받을 수 없습니다."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78992" y="18288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상품은 3년짜리인데, 3개월마다 끝날 기회가 옵니다. 대부분은 첫 번째에 끝났습니다."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234086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"KOSPI200 · SK하이닉스 중 더 많이 떨어진 하나로 판정합니다."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78992" y="285292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"올라야 버는 게 아니라, 많이 안 떨어지면 버는 구조입니다."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78992" y="336499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"대신 35% 아래로 크게 떨어지면 그 하락률이 그대로 손실로 옵니다. 원금이 보장되지 않습니다."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78992" y="38770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"과거 20년으로 보면 손실은 0.06%였지만 그 구간이 좋았던 덕도 있습니다. 보수적으로는 9% 정도로 봅니다."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78992" y="4389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"3년 동안 안 쓸 돈인지 먼저 확인해 주세요. 중간에 빼면 그날 평가금액의 95%만 받습니다."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490118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"청약을 넣으셔도 바로 확정되는 게 아닙니다. 이틀 숙려기간을 거친 뒤 저희가 다시 연락드려 최종 의사를 확인합니다. 그때 확인이 안 되면 청약금은 2026.08.31에 돌려드립니다."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057839" cy="69494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5541264"/>
            <a:ext cx="1065550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"종목이 들어간 건 더 위험하지 않나요?"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"맞습니다. 이번 회차도 종목형 평균 손실 확률이 지수형의 1.8배입니다. 다만 제38044회는 두 기초자산이 상관계수 0.94로 거의 같이 움직이고 낙인이 35%로 깊어서, 같은 기준으로 재면 지수형 대부분보다 오히려 낮게 나옵니다."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 일괄신고추가서류 접수번호 20260821000193 (2026.08.21 공시)  ·  원금 손실이 발생할 수 있는 상품입니다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제38031~38047회 ELS 제안서</dc:title>
  <dc:subject>PptxGenJS Presentation</dc:subject>
  <dc:creator>미래에셋증권</dc:creator>
  <cp:lastModifiedBy>미래에셋증권</cp:lastModifiedBy>
  <cp:revision>1</cp:revision>
  <dcterms:created xsi:type="dcterms:W3CDTF">2026-08-23T07:17:32Z</dcterms:created>
  <dcterms:modified xsi:type="dcterms:W3CDTF">2026-08-23T07:17:32Z</dcterms:modified>
</cp:coreProperties>
</file>