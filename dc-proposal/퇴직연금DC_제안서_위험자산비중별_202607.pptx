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배분</c:v>
                </c:pt>
              </c:strCache>
            </c:strRef>
          </c:tx>
          <c:dPt>
            <c:idx val="0"/>
            <c:spPr>
              <a:solidFill>
                <a:srgbClr val="F26A1B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cat>
            <c:strRef>
              <c:f>Sheet1!$A$2:$A$3</c:f>
              <c:strCache>
                <c:ptCount val="2"/>
                <c:pt idx="0">
                  <c:v>위험자산(ETF)</c:v>
                </c:pt>
                <c:pt idx="1">
                  <c:v>안전자산(예금)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188720" cy="128016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DD8EA"/>
                </a:solidFill>
                <a:latin typeface="맑은 고딕"/>
                <a:ea typeface="맑은 고딕"/>
                <a:cs typeface="맑은 고딕"/>
              </a:rPr>
              <a:t>미래에셋증권 마포WM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퇴직연금 DC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D7DEEA"/>
                </a:solidFill>
                <a:latin typeface="맑은 고딕"/>
                <a:ea typeface="맑은 고딕"/>
                <a:cs typeface="맑은 고딕"/>
              </a:rPr>
              <a:t>위험자산 비중별 포트폴리오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737360" cy="566928"/>
          </a:xfrm>
          <a:prstGeom prst="round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위험자산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005840" cy="566928"/>
          </a:xfrm>
          <a:prstGeom prst="roundRect">
            <a:avLst/>
          </a:prstGeom>
          <a:noFill/>
          <a:ln w="12700">
            <a:solidFill>
              <a:srgbClr val="AAB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AF0F8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800600"/>
            <a:ext cx="1005840" cy="566928"/>
          </a:xfrm>
          <a:prstGeom prst="roundRect">
            <a:avLst/>
          </a:prstGeom>
          <a:noFill/>
          <a:ln w="12700">
            <a:solidFill>
              <a:srgbClr val="AAB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AF0F8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9C6DC"/>
                </a:solidFill>
                <a:latin typeface="맑은 고딕"/>
                <a:ea typeface="맑은 고딕"/>
                <a:cs typeface="맑은 고딕"/>
              </a:rPr>
              <a:t>미래에셋증권 마포WM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0350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B9C6DC"/>
                </a:solidFill>
                <a:latin typeface="맑은 고딕"/>
                <a:ea typeface="맑은 고딕"/>
                <a:cs typeface="맑은 고딕"/>
              </a:rPr>
              <a:t>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6DC"/>
                </a:solidFill>
                <a:latin typeface="맑은 고딕"/>
                <a:ea typeface="맑은 고딕"/>
                <a:cs typeface="맑은 고딕"/>
              </a:rPr>
              <a:t>퇴직연금 DC 포트폴리오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위험자산 비중 30% · </a:t>
            </a:r>
            <a:r>
              <a:rPr sz="2400" b="1">
                <a:solidFill>
                  <a:srgbClr val="F29F05"/>
                </a:solidFill>
                <a:latin typeface="맑은 고딕"/>
                <a:ea typeface="맑은 고딕"/>
                <a:cs typeface="맑은 고딕"/>
              </a:rPr>
              <a:t>안정추구형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01752"/>
            <a:ext cx="1417320" cy="548640"/>
          </a:xfrm>
          <a:prstGeom prst="round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2994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063240"/>
                <a:gridCol w="1051560"/>
                <a:gridCol w="685800"/>
                <a:gridCol w="960120"/>
                <a:gridCol w="713232"/>
                <a:gridCol w="713232"/>
                <a:gridCol w="713232"/>
                <a:gridCol w="713232"/>
              </a:tblGrid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상품명 · 투자전략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위험등급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비중(%)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금리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(연,%,세전)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수익률 (%)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미국필라델피아반도체나스닥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-7.72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+36.51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+62.40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+133.88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글로벌AI액티브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06A1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-12.27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+23.93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+45.90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+94.51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반도체TOP10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-32.23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+3.82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+54.79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+198.59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예금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D5B4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한국증권금융 정기예금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원리금보장 · 예금자보호(1인 1억원) · AAA 최고 신용등급 · 위험자산 변동성에 대한 안전판(확정금리)</a:t>
                      </a:r>
                    </a:p>
                  </a:txBody>
                  <a:tcPr anchor="ctr" marL="63500" marR="50800" marT="25400" marB="254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8B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매우낮음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※ ETF 기간별 수익률은 고객 직접 확인 기준 · 기준일 별도 표기 · 과거 수익률이 미래 수익을 보장하지 않습니다.</a:t>
            </a:r>
          </a:p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   예금 금리는 세전 연이율(확정)이며 가입시점 고시금리 적용.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0" y="1417320"/>
          <a:ext cx="35661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21488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1148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4224528"/>
            <a:ext cx="324612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투자 포인트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위험자산 30% / 안전자산 70% — 안정추구형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반도체·AI 성장 테마 집중, 예금으로 변동성 하단 방어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예금은 원리금보장·예금자보호로 안전판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미래에셋증권 마포WM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492240"/>
            <a:ext cx="4114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퇴직연금 DC 제안서 · 2026년 7월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6DC"/>
                </a:solidFill>
                <a:latin typeface="맑은 고딕"/>
                <a:ea typeface="맑은 고딕"/>
                <a:cs typeface="맑은 고딕"/>
              </a:rPr>
              <a:t>퇴직연금 DC 포트폴리오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위험자산 비중 50% · </a:t>
            </a:r>
            <a:r>
              <a:rPr sz="2400" b="1">
                <a:solidFill>
                  <a:srgbClr val="F29F05"/>
                </a:solidFill>
                <a:latin typeface="맑은 고딕"/>
                <a:ea typeface="맑은 고딕"/>
                <a:cs typeface="맑은 고딕"/>
              </a:rPr>
              <a:t>위험중립형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01752"/>
            <a:ext cx="1417320" cy="548640"/>
          </a:xfrm>
          <a:prstGeom prst="round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29944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063240"/>
                <a:gridCol w="1051560"/>
                <a:gridCol w="685800"/>
                <a:gridCol w="960120"/>
                <a:gridCol w="713232"/>
                <a:gridCol w="713232"/>
                <a:gridCol w="713232"/>
                <a:gridCol w="713232"/>
              </a:tblGrid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상품명 · 투자전략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위험등급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비중(%)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금리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(연,%,세전)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수익률 (%)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미국필라델피아반도체나스닥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-7.72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+36.51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+62.40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+133.88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글로벌AI액티브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06A1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-12.27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+23.93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+45.90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+94.51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반도체TOP10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-32.23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+3.82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+54.79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+198.59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차이나반도체FACTSET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중국·홍콩 상장 반도체 시총 상위 25종목 · H200 규제에 따른 반도체 자급·AI 인프라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+19.25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+71.73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+71.26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+187.44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예금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D5B4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한국증권금융 정기예금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원리금보장 · 예금자보호(1인 1억원) · AAA 최고 신용등급 · 위험자산 변동성에 대한 안전판(확정금리)</a:t>
                      </a:r>
                    </a:p>
                  </a:txBody>
                  <a:tcPr anchor="ctr" marL="63500" marR="50800" marT="25400" marB="254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8B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매우낮음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※ ETF 기간별 수익률은 고객 직접 확인 기준 · 기준일 별도 표기 · 과거 수익률이 미래 수익을 보장하지 않습니다.</a:t>
            </a:r>
          </a:p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   예금 금리는 세전 연이율(확정)이며 가입시점 고시금리 적용.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0" y="1417320"/>
          <a:ext cx="35661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21488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1148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4224528"/>
            <a:ext cx="324612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투자 포인트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위험자산 50% / 안전자산 50% — 위험중립형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반도체·AI 성장 테마 집중, 예금으로 변동성 하단 방어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예금은 원리금보장·예금자보호로 안전판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미래에셋증권 마포WM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492240"/>
            <a:ext cx="4114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퇴직연금 DC 제안서 · 2026년 7월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9C6DC"/>
                </a:solidFill>
                <a:latin typeface="맑은 고딕"/>
                <a:ea typeface="맑은 고딕"/>
                <a:cs typeface="맑은 고딕"/>
              </a:rPr>
              <a:t>퇴직연금 DC 포트폴리오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위험자산 비중 70% · </a:t>
            </a:r>
            <a:r>
              <a:rPr sz="2400" b="1">
                <a:solidFill>
                  <a:srgbClr val="F29F05"/>
                </a:solidFill>
                <a:latin typeface="맑은 고딕"/>
                <a:ea typeface="맑은 고딕"/>
                <a:cs typeface="맑은 고딕"/>
              </a:rPr>
              <a:t>수익추구형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01752"/>
            <a:ext cx="1417320" cy="548640"/>
          </a:xfrm>
          <a:prstGeom prst="round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929944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063240"/>
                <a:gridCol w="1051560"/>
                <a:gridCol w="685800"/>
                <a:gridCol w="960120"/>
                <a:gridCol w="713232"/>
                <a:gridCol w="713232"/>
                <a:gridCol w="713232"/>
                <a:gridCol w="713232"/>
              </a:tblGrid>
              <a:tr h="38404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상품명 · 투자전략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위험등급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비중(%)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금리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(연,%,세전)</a:t>
                      </a:r>
                    </a:p>
                  </a:txBody>
                  <a:tcPr anchor="ctr" marL="38100" marR="38100" marT="12700" marB="12700">
                    <a:solidFill>
                      <a:srgbClr val="EEF2F8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수익률 (%)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</a:t>
                      </a:r>
                    </a:p>
                  </a:txBody>
                  <a:tcPr anchor="ctr" marL="38100" marR="38100" marT="12700" marB="12700">
                    <a:solidFill>
                      <a:srgbClr val="E7ED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미국필라델피아반도체나스닥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미국 상장 반도체 시총 상위 30종목 · AI 인프라(전력·데이터센터) 실적 가시성 최선호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-7.72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+36.51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+62.40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+133.88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글로벌AI액티브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성장 수혜 글로벌 기업에 액티브 투자 · 공급망 전반 확산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06A1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-12.27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+23.93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+45.90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+94.51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반도체TOP10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반도체 시총 상위 10종목 · 메모리 부족·CAPEX 확산의 한국 반도체 집중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6F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-32.23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+3.82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+54.79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+198.59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ETF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23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TIGER 차이나반도체FACTSET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중국·홍콩 상장 반도체 시총 상위 25종목 · H200 규제에 따른 반도체 자급·AI 인프라 수혜</a:t>
                      </a:r>
                    </a:p>
                  </a:txBody>
                  <a:tcPr anchor="ctr" marL="635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23A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매우높음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445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+19.25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+71.73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+71.26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+187.44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예금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D5B4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한국증권금융 정기예금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5A667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원리금보장 · 예금자보호(1인 1억원) · AAA 최고 신용등급 · 위험자산 변동성에 대한 안전판(확정금리)</a:t>
                      </a:r>
                    </a:p>
                  </a:txBody>
                  <a:tcPr anchor="ctr" marL="63500" marR="50800" marT="25400" marB="254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8B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매우낮음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42A4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3.70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9AA4B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anchor="ctr" marL="38100" marR="38100" marT="12700" marB="12700">
                    <a:solidFill>
                      <a:srgbClr val="F3F8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※ ETF 기간별 수익률은 고객 직접 확인 기준 · 기준일 별도 표기 · 과거 수익률이 미래 수익을 보장하지 않습니다.</a:t>
            </a:r>
          </a:p>
          <a:p>
            <a:pPr algn="l"/>
            <a:r>
              <a:rPr sz="85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   예금 금리는 세전 연이율(확정)이며 가입시점 고시금리 적용.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0" y="1417320"/>
          <a:ext cx="35661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0" y="21488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11480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4224528"/>
            <a:ext cx="324612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투자 포인트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위험자산 70% / 안전자산 30% — 수익추구형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반도체·AI 성장 테마 집중, 예금으로 변동성 하단 방어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374250"/>
                </a:solidFill>
                <a:latin typeface="맑은 고딕"/>
                <a:ea typeface="맑은 고딕"/>
                <a:cs typeface="맑은 고딕"/>
              </a:rPr>
              <a:t>• 예금은 원리금보장·예금자보호로 안전판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2A4C"/>
                </a:solidFill>
                <a:latin typeface="맑은 고딕"/>
                <a:ea typeface="맑은 고딕"/>
                <a:cs typeface="맑은 고딕"/>
              </a:rPr>
              <a:t>미래에셋증권 마포WM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492240"/>
            <a:ext cx="4114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7A8595"/>
                </a:solidFill>
                <a:latin typeface="맑은 고딕"/>
                <a:ea typeface="맑은 고딕"/>
                <a:cs typeface="맑은 고딕"/>
              </a:rPr>
              <a:t>퇴직연금 DC 제안서 · 2026년 7월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